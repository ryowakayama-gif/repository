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24" r:id="rId4"/>
    <p:sldMasterId id="2147484238" r:id="rId5"/>
    <p:sldMasterId id="2147484250" r:id="rId6"/>
  </p:sldMasterIdLst>
  <p:notesMasterIdLst>
    <p:notesMasterId r:id="rId43"/>
  </p:notesMasterIdLst>
  <p:sldIdLst>
    <p:sldId id="744" r:id="rId7"/>
    <p:sldId id="838840606" r:id="rId8"/>
    <p:sldId id="2147472209" r:id="rId9"/>
    <p:sldId id="746" r:id="rId10"/>
    <p:sldId id="747" r:id="rId11"/>
    <p:sldId id="748" r:id="rId12"/>
    <p:sldId id="749" r:id="rId13"/>
    <p:sldId id="717" r:id="rId14"/>
    <p:sldId id="718" r:id="rId15"/>
    <p:sldId id="719" r:id="rId16"/>
    <p:sldId id="838840607" r:id="rId17"/>
    <p:sldId id="722" r:id="rId18"/>
    <p:sldId id="723" r:id="rId19"/>
    <p:sldId id="838840608" r:id="rId20"/>
    <p:sldId id="721" r:id="rId21"/>
    <p:sldId id="720" r:id="rId22"/>
    <p:sldId id="555" r:id="rId23"/>
    <p:sldId id="541" r:id="rId24"/>
    <p:sldId id="2147472210" r:id="rId25"/>
    <p:sldId id="542" r:id="rId26"/>
    <p:sldId id="553" r:id="rId27"/>
    <p:sldId id="543" r:id="rId28"/>
    <p:sldId id="554" r:id="rId29"/>
    <p:sldId id="483" r:id="rId30"/>
    <p:sldId id="544" r:id="rId31"/>
    <p:sldId id="545" r:id="rId32"/>
    <p:sldId id="550" r:id="rId33"/>
    <p:sldId id="551" r:id="rId34"/>
    <p:sldId id="2147472211" r:id="rId35"/>
    <p:sldId id="549" r:id="rId36"/>
    <p:sldId id="726" r:id="rId37"/>
    <p:sldId id="727" r:id="rId38"/>
    <p:sldId id="2147472208" r:id="rId39"/>
    <p:sldId id="838840604" r:id="rId40"/>
    <p:sldId id="838840605" r:id="rId41"/>
    <p:sldId id="2724" r:id="rId42"/>
  </p:sldIdLst>
  <p:sldSz cx="9720263" cy="7021513"/>
  <p:notesSz cx="6807200" cy="9939338"/>
  <p:defaultTextStyle>
    <a:defPPr>
      <a:defRPr lang="ja-JP"/>
    </a:defPPr>
    <a:lvl1pPr marL="0" algn="l" defTabSz="932580" rtl="0" eaLnBrk="1" latinLnBrk="0" hangingPunct="1">
      <a:defRPr kumimoji="1" sz="1800" kern="1200">
        <a:solidFill>
          <a:schemeClr val="tx1"/>
        </a:solidFill>
        <a:latin typeface="+mn-lt"/>
        <a:ea typeface="+mn-ea"/>
        <a:cs typeface="+mn-cs"/>
      </a:defRPr>
    </a:lvl1pPr>
    <a:lvl2pPr marL="466288" algn="l" defTabSz="932580" rtl="0" eaLnBrk="1" latinLnBrk="0" hangingPunct="1">
      <a:defRPr kumimoji="1" sz="1800" kern="1200">
        <a:solidFill>
          <a:schemeClr val="tx1"/>
        </a:solidFill>
        <a:latin typeface="+mn-lt"/>
        <a:ea typeface="+mn-ea"/>
        <a:cs typeface="+mn-cs"/>
      </a:defRPr>
    </a:lvl2pPr>
    <a:lvl3pPr marL="932580" algn="l" defTabSz="932580" rtl="0" eaLnBrk="1" latinLnBrk="0" hangingPunct="1">
      <a:defRPr kumimoji="1" sz="1800" kern="1200">
        <a:solidFill>
          <a:schemeClr val="tx1"/>
        </a:solidFill>
        <a:latin typeface="+mn-lt"/>
        <a:ea typeface="+mn-ea"/>
        <a:cs typeface="+mn-cs"/>
      </a:defRPr>
    </a:lvl3pPr>
    <a:lvl4pPr marL="1398867" algn="l" defTabSz="932580" rtl="0" eaLnBrk="1" latinLnBrk="0" hangingPunct="1">
      <a:defRPr kumimoji="1" sz="1800" kern="1200">
        <a:solidFill>
          <a:schemeClr val="tx1"/>
        </a:solidFill>
        <a:latin typeface="+mn-lt"/>
        <a:ea typeface="+mn-ea"/>
        <a:cs typeface="+mn-cs"/>
      </a:defRPr>
    </a:lvl4pPr>
    <a:lvl5pPr marL="1865158" algn="l" defTabSz="932580" rtl="0" eaLnBrk="1" latinLnBrk="0" hangingPunct="1">
      <a:defRPr kumimoji="1" sz="1800" kern="1200">
        <a:solidFill>
          <a:schemeClr val="tx1"/>
        </a:solidFill>
        <a:latin typeface="+mn-lt"/>
        <a:ea typeface="+mn-ea"/>
        <a:cs typeface="+mn-cs"/>
      </a:defRPr>
    </a:lvl5pPr>
    <a:lvl6pPr marL="2331439" algn="l" defTabSz="932580" rtl="0" eaLnBrk="1" latinLnBrk="0" hangingPunct="1">
      <a:defRPr kumimoji="1" sz="1800" kern="1200">
        <a:solidFill>
          <a:schemeClr val="tx1"/>
        </a:solidFill>
        <a:latin typeface="+mn-lt"/>
        <a:ea typeface="+mn-ea"/>
        <a:cs typeface="+mn-cs"/>
      </a:defRPr>
    </a:lvl6pPr>
    <a:lvl7pPr marL="2797735" algn="l" defTabSz="932580" rtl="0" eaLnBrk="1" latinLnBrk="0" hangingPunct="1">
      <a:defRPr kumimoji="1" sz="1800" kern="1200">
        <a:solidFill>
          <a:schemeClr val="tx1"/>
        </a:solidFill>
        <a:latin typeface="+mn-lt"/>
        <a:ea typeface="+mn-ea"/>
        <a:cs typeface="+mn-cs"/>
      </a:defRPr>
    </a:lvl7pPr>
    <a:lvl8pPr marL="3264024" algn="l" defTabSz="932580" rtl="0" eaLnBrk="1" latinLnBrk="0" hangingPunct="1">
      <a:defRPr kumimoji="1" sz="1800" kern="1200">
        <a:solidFill>
          <a:schemeClr val="tx1"/>
        </a:solidFill>
        <a:latin typeface="+mn-lt"/>
        <a:ea typeface="+mn-ea"/>
        <a:cs typeface="+mn-cs"/>
      </a:defRPr>
    </a:lvl8pPr>
    <a:lvl9pPr marL="3730316" algn="l" defTabSz="93258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pos="3062" userDrawn="1">
          <p15:clr>
            <a:srgbClr val="A4A3A4"/>
          </p15:clr>
        </p15:guide>
      </p15:sldGuideLst>
    </p:ext>
    <p:ext uri="{2D200454-40CA-4A62-9FC3-DE9A4176ACB9}">
      <p15:notesGuideLst xmlns:p15="http://schemas.microsoft.com/office/powerpoint/2012/main">
        <p15:guide id="1" orient="horz" pos="3130">
          <p15:clr>
            <a:srgbClr val="A4A3A4"/>
          </p15:clr>
        </p15:guide>
        <p15:guide id="2" pos="214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0000CC"/>
    <a:srgbClr val="FF66FF"/>
    <a:srgbClr val="FFCC99"/>
    <a:srgbClr val="FFCCFF"/>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305BE7-77E3-42F0-9080-DD94D9ED7607}" v="8" dt="2023-12-25T01:04:02.674"/>
    <p1510:client id="{F1A3E06B-6D5F-44B3-848A-C532660E5576}" v="2" dt="2023-12-25T01:01:17.44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296" autoAdjust="0"/>
  </p:normalViewPr>
  <p:slideViewPr>
    <p:cSldViewPr>
      <p:cViewPr varScale="1">
        <p:scale>
          <a:sx n="84" d="100"/>
          <a:sy n="84" d="100"/>
        </p:scale>
        <p:origin x="1272" y="90"/>
      </p:cViewPr>
      <p:guideLst>
        <p:guide orient="horz" pos="2212"/>
        <p:guide pos="306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1" d="100"/>
          <a:sy n="51" d="100"/>
        </p:scale>
        <p:origin x="-2958" y="-90"/>
      </p:cViewPr>
      <p:guideLst>
        <p:guide orient="horz" pos="3130"/>
        <p:guide pos="2143"/>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滝澤 明也(takizawa-akinari)" userId="a29fa8f6-e34f-4079-94f9-dd0abd8df61f" providerId="ADAL" clId="{F1A3E06B-6D5F-44B3-848A-C532660E5576}"/>
    <pc:docChg chg="delSld">
      <pc:chgData name="滝澤 明也(takizawa-akinari)" userId="a29fa8f6-e34f-4079-94f9-dd0abd8df61f" providerId="ADAL" clId="{F1A3E06B-6D5F-44B3-848A-C532660E5576}" dt="2023-12-25T01:01:54.187" v="7" actId="47"/>
      <pc:docMkLst>
        <pc:docMk/>
      </pc:docMkLst>
      <pc:sldChg chg="del">
        <pc:chgData name="滝澤 明也(takizawa-akinari)" userId="a29fa8f6-e34f-4079-94f9-dd0abd8df61f" providerId="ADAL" clId="{F1A3E06B-6D5F-44B3-848A-C532660E5576}" dt="2023-12-25T01:00:31.518" v="0" actId="47"/>
        <pc:sldMkLst>
          <pc:docMk/>
          <pc:sldMk cId="2242583895" sldId="716"/>
        </pc:sldMkLst>
      </pc:sldChg>
      <pc:sldChg chg="del">
        <pc:chgData name="滝澤 明也(takizawa-akinari)" userId="a29fa8f6-e34f-4079-94f9-dd0abd8df61f" providerId="ADAL" clId="{F1A3E06B-6D5F-44B3-848A-C532660E5576}" dt="2023-12-25T01:01:53.078" v="6" actId="47"/>
        <pc:sldMkLst>
          <pc:docMk/>
          <pc:sldMk cId="2448598455" sldId="738"/>
        </pc:sldMkLst>
      </pc:sldChg>
      <pc:sldChg chg="del">
        <pc:chgData name="滝澤 明也(takizawa-akinari)" userId="a29fa8f6-e34f-4079-94f9-dd0abd8df61f" providerId="ADAL" clId="{F1A3E06B-6D5F-44B3-848A-C532660E5576}" dt="2023-12-25T01:01:47.147" v="2" actId="47"/>
        <pc:sldMkLst>
          <pc:docMk/>
          <pc:sldMk cId="2932572622" sldId="740"/>
        </pc:sldMkLst>
      </pc:sldChg>
      <pc:sldChg chg="del">
        <pc:chgData name="滝澤 明也(takizawa-akinari)" userId="a29fa8f6-e34f-4079-94f9-dd0abd8df61f" providerId="ADAL" clId="{F1A3E06B-6D5F-44B3-848A-C532660E5576}" dt="2023-12-25T01:01:54.187" v="7" actId="47"/>
        <pc:sldMkLst>
          <pc:docMk/>
          <pc:sldMk cId="4112142555" sldId="741"/>
        </pc:sldMkLst>
      </pc:sldChg>
      <pc:sldChg chg="del">
        <pc:chgData name="滝澤 明也(takizawa-akinari)" userId="a29fa8f6-e34f-4079-94f9-dd0abd8df61f" providerId="ADAL" clId="{F1A3E06B-6D5F-44B3-848A-C532660E5576}" dt="2023-12-25T01:01:49.769" v="4" actId="47"/>
        <pc:sldMkLst>
          <pc:docMk/>
          <pc:sldMk cId="2355970331" sldId="742"/>
        </pc:sldMkLst>
      </pc:sldChg>
      <pc:sldChg chg="del">
        <pc:chgData name="滝澤 明也(takizawa-akinari)" userId="a29fa8f6-e34f-4079-94f9-dd0abd8df61f" providerId="ADAL" clId="{F1A3E06B-6D5F-44B3-848A-C532660E5576}" dt="2023-12-25T01:00:32.497" v="1" actId="47"/>
        <pc:sldMkLst>
          <pc:docMk/>
          <pc:sldMk cId="1510640296" sldId="744"/>
        </pc:sldMkLst>
      </pc:sldChg>
      <pc:sldChg chg="del">
        <pc:chgData name="滝澤 明也(takizawa-akinari)" userId="a29fa8f6-e34f-4079-94f9-dd0abd8df61f" providerId="ADAL" clId="{F1A3E06B-6D5F-44B3-848A-C532660E5576}" dt="2023-12-25T01:01:51.656" v="5" actId="47"/>
        <pc:sldMkLst>
          <pc:docMk/>
          <pc:sldMk cId="1928592609" sldId="838840600"/>
        </pc:sldMkLst>
      </pc:sldChg>
      <pc:sldChg chg="del">
        <pc:chgData name="滝澤 明也(takizawa-akinari)" userId="a29fa8f6-e34f-4079-94f9-dd0abd8df61f" providerId="ADAL" clId="{F1A3E06B-6D5F-44B3-848A-C532660E5576}" dt="2023-12-25T01:01:48.727" v="3" actId="47"/>
        <pc:sldMkLst>
          <pc:docMk/>
          <pc:sldMk cId="4263179833" sldId="838840601"/>
        </pc:sldMkLst>
      </pc:sldChg>
    </pc:docChg>
  </pc:docChgLst>
  <pc:docChgLst>
    <pc:chgData name="滝澤 明也(takizawa-akinari)" userId="a29fa8f6-e34f-4079-94f9-dd0abd8df61f" providerId="ADAL" clId="{9A21461D-D3DF-4140-9768-951CA10CAB6B}"/>
    <pc:docChg chg="modSld">
      <pc:chgData name="滝澤 明也(takizawa-akinari)" userId="a29fa8f6-e34f-4079-94f9-dd0abd8df61f" providerId="ADAL" clId="{9A21461D-D3DF-4140-9768-951CA10CAB6B}" dt="2023-11-17T07:57:52.797" v="1078"/>
      <pc:docMkLst>
        <pc:docMk/>
      </pc:docMkLst>
      <pc:sldChg chg="modSp mod">
        <pc:chgData name="滝澤 明也(takizawa-akinari)" userId="a29fa8f6-e34f-4079-94f9-dd0abd8df61f" providerId="ADAL" clId="{9A21461D-D3DF-4140-9768-951CA10CAB6B}" dt="2023-11-17T07:57:52.797" v="1078"/>
        <pc:sldMkLst>
          <pc:docMk/>
          <pc:sldMk cId="3235708535" sldId="716"/>
        </pc:sldMkLst>
        <pc:spChg chg="mod">
          <ac:chgData name="滝澤 明也(takizawa-akinari)" userId="a29fa8f6-e34f-4079-94f9-dd0abd8df61f" providerId="ADAL" clId="{9A21461D-D3DF-4140-9768-951CA10CAB6B}" dt="2023-11-17T07:46:18.479" v="4"/>
          <ac:spMkLst>
            <pc:docMk/>
            <pc:sldMk cId="3235708535" sldId="716"/>
            <ac:spMk id="3" creationId="{00000000-0000-0000-0000-000000000000}"/>
          </ac:spMkLst>
        </pc:spChg>
        <pc:spChg chg="mod">
          <ac:chgData name="滝澤 明也(takizawa-akinari)" userId="a29fa8f6-e34f-4079-94f9-dd0abd8df61f" providerId="ADAL" clId="{9A21461D-D3DF-4140-9768-951CA10CAB6B}" dt="2023-11-17T07:57:52.797" v="1078"/>
          <ac:spMkLst>
            <pc:docMk/>
            <pc:sldMk cId="3235708535" sldId="716"/>
            <ac:spMk id="4" creationId="{00000000-0000-0000-0000-000000000000}"/>
          </ac:spMkLst>
        </pc:spChg>
      </pc:sldChg>
    </pc:docChg>
  </pc:docChgLst>
  <pc:docChgLst>
    <pc:chgData name="滝澤 明也(takizawa-akinari)" userId="a29fa8f6-e34f-4079-94f9-dd0abd8df61f" providerId="ADAL" clId="{18281283-665F-4B83-A252-6DBE7597786E}"/>
    <pc:docChg chg="delSld">
      <pc:chgData name="滝澤 明也(takizawa-akinari)" userId="a29fa8f6-e34f-4079-94f9-dd0abd8df61f" providerId="ADAL" clId="{18281283-665F-4B83-A252-6DBE7597786E}" dt="2023-12-18T09:32:56.139" v="19" actId="47"/>
      <pc:docMkLst>
        <pc:docMk/>
      </pc:docMkLst>
      <pc:sldChg chg="del">
        <pc:chgData name="滝澤 明也(takizawa-akinari)" userId="a29fa8f6-e34f-4079-94f9-dd0abd8df61f" providerId="ADAL" clId="{18281283-665F-4B83-A252-6DBE7597786E}" dt="2023-12-18T09:32:47.743" v="8" actId="47"/>
        <pc:sldMkLst>
          <pc:docMk/>
          <pc:sldMk cId="2434964288" sldId="541"/>
        </pc:sldMkLst>
      </pc:sldChg>
      <pc:sldChg chg="del">
        <pc:chgData name="滝澤 明也(takizawa-akinari)" userId="a29fa8f6-e34f-4079-94f9-dd0abd8df61f" providerId="ADAL" clId="{18281283-665F-4B83-A252-6DBE7597786E}" dt="2023-12-18T09:32:47.928" v="9" actId="47"/>
        <pc:sldMkLst>
          <pc:docMk/>
          <pc:sldMk cId="1397184894" sldId="542"/>
        </pc:sldMkLst>
      </pc:sldChg>
      <pc:sldChg chg="del">
        <pc:chgData name="滝澤 明也(takizawa-akinari)" userId="a29fa8f6-e34f-4079-94f9-dd0abd8df61f" providerId="ADAL" clId="{18281283-665F-4B83-A252-6DBE7597786E}" dt="2023-12-18T09:32:48.300" v="11" actId="47"/>
        <pc:sldMkLst>
          <pc:docMk/>
          <pc:sldMk cId="1434275940" sldId="543"/>
        </pc:sldMkLst>
      </pc:sldChg>
      <pc:sldChg chg="del">
        <pc:chgData name="滝澤 明也(takizawa-akinari)" userId="a29fa8f6-e34f-4079-94f9-dd0abd8df61f" providerId="ADAL" clId="{18281283-665F-4B83-A252-6DBE7597786E}" dt="2023-12-18T09:32:48.106" v="10" actId="47"/>
        <pc:sldMkLst>
          <pc:docMk/>
          <pc:sldMk cId="3097719092" sldId="553"/>
        </pc:sldMkLst>
      </pc:sldChg>
      <pc:sldChg chg="del">
        <pc:chgData name="滝澤 明也(takizawa-akinari)" userId="a29fa8f6-e34f-4079-94f9-dd0abd8df61f" providerId="ADAL" clId="{18281283-665F-4B83-A252-6DBE7597786E}" dt="2023-12-18T09:32:49.123" v="12" actId="47"/>
        <pc:sldMkLst>
          <pc:docMk/>
          <pc:sldMk cId="2919780052" sldId="554"/>
        </pc:sldMkLst>
      </pc:sldChg>
      <pc:sldChg chg="del">
        <pc:chgData name="滝澤 明也(takizawa-akinari)" userId="a29fa8f6-e34f-4079-94f9-dd0abd8df61f" providerId="ADAL" clId="{18281283-665F-4B83-A252-6DBE7597786E}" dt="2023-12-18T09:32:46.315" v="0" actId="47"/>
        <pc:sldMkLst>
          <pc:docMk/>
          <pc:sldMk cId="3235708535" sldId="716"/>
        </pc:sldMkLst>
      </pc:sldChg>
      <pc:sldChg chg="del">
        <pc:chgData name="滝澤 明也(takizawa-akinari)" userId="a29fa8f6-e34f-4079-94f9-dd0abd8df61f" providerId="ADAL" clId="{18281283-665F-4B83-A252-6DBE7597786E}" dt="2023-12-18T09:32:47.591" v="7" actId="47"/>
        <pc:sldMkLst>
          <pc:docMk/>
          <pc:sldMk cId="1590918299" sldId="736"/>
        </pc:sldMkLst>
      </pc:sldChg>
      <pc:sldChg chg="del">
        <pc:chgData name="滝澤 明也(takizawa-akinari)" userId="a29fa8f6-e34f-4079-94f9-dd0abd8df61f" providerId="ADAL" clId="{18281283-665F-4B83-A252-6DBE7597786E}" dt="2023-12-18T09:32:55.385" v="18" actId="47"/>
        <pc:sldMkLst>
          <pc:docMk/>
          <pc:sldMk cId="2448598455" sldId="738"/>
        </pc:sldMkLst>
      </pc:sldChg>
      <pc:sldChg chg="del">
        <pc:chgData name="滝澤 明也(takizawa-akinari)" userId="a29fa8f6-e34f-4079-94f9-dd0abd8df61f" providerId="ADAL" clId="{18281283-665F-4B83-A252-6DBE7597786E}" dt="2023-12-18T09:32:55.091" v="17" actId="47"/>
        <pc:sldMkLst>
          <pc:docMk/>
          <pc:sldMk cId="2932572622" sldId="740"/>
        </pc:sldMkLst>
      </pc:sldChg>
      <pc:sldChg chg="del">
        <pc:chgData name="滝澤 明也(takizawa-akinari)" userId="a29fa8f6-e34f-4079-94f9-dd0abd8df61f" providerId="ADAL" clId="{18281283-665F-4B83-A252-6DBE7597786E}" dt="2023-12-18T09:32:56.139" v="19" actId="47"/>
        <pc:sldMkLst>
          <pc:docMk/>
          <pc:sldMk cId="4112142555" sldId="741"/>
        </pc:sldMkLst>
      </pc:sldChg>
      <pc:sldChg chg="del">
        <pc:chgData name="滝澤 明也(takizawa-akinari)" userId="a29fa8f6-e34f-4079-94f9-dd0abd8df61f" providerId="ADAL" clId="{18281283-665F-4B83-A252-6DBE7597786E}" dt="2023-12-18T09:32:46.358" v="1" actId="47"/>
        <pc:sldMkLst>
          <pc:docMk/>
          <pc:sldMk cId="1510640296" sldId="744"/>
        </pc:sldMkLst>
      </pc:sldChg>
      <pc:sldChg chg="del">
        <pc:chgData name="滝澤 明也(takizawa-akinari)" userId="a29fa8f6-e34f-4079-94f9-dd0abd8df61f" providerId="ADAL" clId="{18281283-665F-4B83-A252-6DBE7597786E}" dt="2023-12-18T09:32:46.696" v="3" actId="47"/>
        <pc:sldMkLst>
          <pc:docMk/>
          <pc:sldMk cId="2190765053" sldId="746"/>
        </pc:sldMkLst>
      </pc:sldChg>
      <pc:sldChg chg="del">
        <pc:chgData name="滝澤 明也(takizawa-akinari)" userId="a29fa8f6-e34f-4079-94f9-dd0abd8df61f" providerId="ADAL" clId="{18281283-665F-4B83-A252-6DBE7597786E}" dt="2023-12-18T09:32:46.921" v="4" actId="47"/>
        <pc:sldMkLst>
          <pc:docMk/>
          <pc:sldMk cId="1668115470" sldId="747"/>
        </pc:sldMkLst>
      </pc:sldChg>
      <pc:sldChg chg="del">
        <pc:chgData name="滝澤 明也(takizawa-akinari)" userId="a29fa8f6-e34f-4079-94f9-dd0abd8df61f" providerId="ADAL" clId="{18281283-665F-4B83-A252-6DBE7597786E}" dt="2023-12-18T09:32:47.155" v="5" actId="47"/>
        <pc:sldMkLst>
          <pc:docMk/>
          <pc:sldMk cId="140447553" sldId="748"/>
        </pc:sldMkLst>
      </pc:sldChg>
      <pc:sldChg chg="del">
        <pc:chgData name="滝澤 明也(takizawa-akinari)" userId="a29fa8f6-e34f-4079-94f9-dd0abd8df61f" providerId="ADAL" clId="{18281283-665F-4B83-A252-6DBE7597786E}" dt="2023-12-18T09:32:47.466" v="6" actId="47"/>
        <pc:sldMkLst>
          <pc:docMk/>
          <pc:sldMk cId="3656130165" sldId="749"/>
        </pc:sldMkLst>
      </pc:sldChg>
      <pc:sldChg chg="del">
        <pc:chgData name="滝澤 明也(takizawa-akinari)" userId="a29fa8f6-e34f-4079-94f9-dd0abd8df61f" providerId="ADAL" clId="{18281283-665F-4B83-A252-6DBE7597786E}" dt="2023-12-18T09:32:54.417" v="15" actId="47"/>
        <pc:sldMkLst>
          <pc:docMk/>
          <pc:sldMk cId="186448405" sldId="838840596"/>
        </pc:sldMkLst>
      </pc:sldChg>
      <pc:sldChg chg="del">
        <pc:chgData name="滝澤 明也(takizawa-akinari)" userId="a29fa8f6-e34f-4079-94f9-dd0abd8df61f" providerId="ADAL" clId="{18281283-665F-4B83-A252-6DBE7597786E}" dt="2023-12-18T09:32:54.178" v="14" actId="47"/>
        <pc:sldMkLst>
          <pc:docMk/>
          <pc:sldMk cId="2355970331" sldId="838840599"/>
        </pc:sldMkLst>
      </pc:sldChg>
      <pc:sldChg chg="del">
        <pc:chgData name="滝澤 明也(takizawa-akinari)" userId="a29fa8f6-e34f-4079-94f9-dd0abd8df61f" providerId="ADAL" clId="{18281283-665F-4B83-A252-6DBE7597786E}" dt="2023-12-18T09:32:54.733" v="16" actId="47"/>
        <pc:sldMkLst>
          <pc:docMk/>
          <pc:sldMk cId="1928592609" sldId="838840600"/>
        </pc:sldMkLst>
      </pc:sldChg>
      <pc:sldChg chg="del">
        <pc:chgData name="滝澤 明也(takizawa-akinari)" userId="a29fa8f6-e34f-4079-94f9-dd0abd8df61f" providerId="ADAL" clId="{18281283-665F-4B83-A252-6DBE7597786E}" dt="2023-12-18T09:32:50.834" v="13" actId="47"/>
        <pc:sldMkLst>
          <pc:docMk/>
          <pc:sldMk cId="4263179833" sldId="838840601"/>
        </pc:sldMkLst>
      </pc:sldChg>
      <pc:sldChg chg="del">
        <pc:chgData name="滝澤 明也(takizawa-akinari)" userId="a29fa8f6-e34f-4079-94f9-dd0abd8df61f" providerId="ADAL" clId="{18281283-665F-4B83-A252-6DBE7597786E}" dt="2023-12-18T09:32:46.546" v="2" actId="47"/>
        <pc:sldMkLst>
          <pc:docMk/>
          <pc:sldMk cId="1760650106" sldId="838840602"/>
        </pc:sldMkLst>
      </pc:sldChg>
    </pc:docChg>
  </pc:docChgLst>
  <pc:docChgLst>
    <pc:chgData name="滝澤 明也(takizawa-akinari)" userId="a29fa8f6-e34f-4079-94f9-dd0abd8df61f" providerId="ADAL" clId="{4E8FB1CA-0196-4473-8768-46C420F433EF}"/>
    <pc:docChg chg="modSld">
      <pc:chgData name="滝澤 明也(takizawa-akinari)" userId="a29fa8f6-e34f-4079-94f9-dd0abd8df61f" providerId="ADAL" clId="{4E8FB1CA-0196-4473-8768-46C420F433EF}" dt="2023-12-19T03:36:17.794" v="8" actId="20577"/>
      <pc:docMkLst>
        <pc:docMk/>
      </pc:docMkLst>
      <pc:sldChg chg="modSp mod">
        <pc:chgData name="滝澤 明也(takizawa-akinari)" userId="a29fa8f6-e34f-4079-94f9-dd0abd8df61f" providerId="ADAL" clId="{4E8FB1CA-0196-4473-8768-46C420F433EF}" dt="2023-12-19T03:36:17.794" v="8" actId="20577"/>
        <pc:sldMkLst>
          <pc:docMk/>
          <pc:sldMk cId="2287315109" sldId="2724"/>
        </pc:sldMkLst>
        <pc:spChg chg="mod">
          <ac:chgData name="滝澤 明也(takizawa-akinari)" userId="a29fa8f6-e34f-4079-94f9-dd0abd8df61f" providerId="ADAL" clId="{4E8FB1CA-0196-4473-8768-46C420F433EF}" dt="2023-12-19T03:36:17.794" v="8" actId="20577"/>
          <ac:spMkLst>
            <pc:docMk/>
            <pc:sldMk cId="2287315109" sldId="2724"/>
            <ac:spMk id="2" creationId="{4A642283-287C-6284-B76C-2660D4618313}"/>
          </ac:spMkLst>
        </pc:spChg>
      </pc:sldChg>
      <pc:sldChg chg="modSp mod">
        <pc:chgData name="滝澤 明也(takizawa-akinari)" userId="a29fa8f6-e34f-4079-94f9-dd0abd8df61f" providerId="ADAL" clId="{4E8FB1CA-0196-4473-8768-46C420F433EF}" dt="2023-12-19T03:35:57.320" v="5" actId="20577"/>
        <pc:sldMkLst>
          <pc:docMk/>
          <pc:sldMk cId="1629696958" sldId="838840603"/>
        </pc:sldMkLst>
        <pc:spChg chg="mod">
          <ac:chgData name="滝澤 明也(takizawa-akinari)" userId="a29fa8f6-e34f-4079-94f9-dd0abd8df61f" providerId="ADAL" clId="{4E8FB1CA-0196-4473-8768-46C420F433EF}" dt="2023-12-19T03:35:20.837" v="2" actId="20577"/>
          <ac:spMkLst>
            <pc:docMk/>
            <pc:sldMk cId="1629696958" sldId="838840603"/>
            <ac:spMk id="11" creationId="{00000000-0000-0000-0000-000000000000}"/>
          </ac:spMkLst>
        </pc:spChg>
        <pc:graphicFrameChg chg="modGraphic">
          <ac:chgData name="滝澤 明也(takizawa-akinari)" userId="a29fa8f6-e34f-4079-94f9-dd0abd8df61f" providerId="ADAL" clId="{4E8FB1CA-0196-4473-8768-46C420F433EF}" dt="2023-12-19T03:35:57.320" v="5" actId="20577"/>
          <ac:graphicFrameMkLst>
            <pc:docMk/>
            <pc:sldMk cId="1629696958" sldId="838840603"/>
            <ac:graphicFrameMk id="4" creationId="{91EBC9EA-25B2-5E25-96D1-C57FFA5CF4BD}"/>
          </ac:graphicFrameMkLst>
        </pc:graphicFrameChg>
      </pc:sldChg>
      <pc:sldChg chg="modSp mod">
        <pc:chgData name="滝澤 明也(takizawa-akinari)" userId="a29fa8f6-e34f-4079-94f9-dd0abd8df61f" providerId="ADAL" clId="{4E8FB1CA-0196-4473-8768-46C420F433EF}" dt="2023-12-19T03:36:13.977" v="7" actId="20577"/>
        <pc:sldMkLst>
          <pc:docMk/>
          <pc:sldMk cId="701406613" sldId="838840604"/>
        </pc:sldMkLst>
        <pc:spChg chg="mod">
          <ac:chgData name="滝澤 明也(takizawa-akinari)" userId="a29fa8f6-e34f-4079-94f9-dd0abd8df61f" providerId="ADAL" clId="{4E8FB1CA-0196-4473-8768-46C420F433EF}" dt="2023-12-19T03:25:54.311" v="1" actId="20577"/>
          <ac:spMkLst>
            <pc:docMk/>
            <pc:sldMk cId="701406613" sldId="838840604"/>
            <ac:spMk id="3" creationId="{00000000-0000-0000-0000-000000000000}"/>
          </ac:spMkLst>
        </pc:spChg>
        <pc:spChg chg="mod">
          <ac:chgData name="滝澤 明也(takizawa-akinari)" userId="a29fa8f6-e34f-4079-94f9-dd0abd8df61f" providerId="ADAL" clId="{4E8FB1CA-0196-4473-8768-46C420F433EF}" dt="2023-12-19T03:36:13.977" v="7" actId="20577"/>
          <ac:spMkLst>
            <pc:docMk/>
            <pc:sldMk cId="701406613" sldId="838840604"/>
            <ac:spMk id="11" creationId="{00000000-0000-0000-0000-000000000000}"/>
          </ac:spMkLst>
        </pc:spChg>
      </pc:sldChg>
    </pc:docChg>
  </pc:docChgLst>
  <pc:docChgLst>
    <pc:chgData name="滝澤 明也(takizawa-akinari)" userId="a29fa8f6-e34f-4079-94f9-dd0abd8df61f" providerId="ADAL" clId="{12E4B55A-D5A8-4466-9EAA-020DC1D4A07F}"/>
    <pc:docChg chg="modSld">
      <pc:chgData name="滝澤 明也(takizawa-akinari)" userId="a29fa8f6-e34f-4079-94f9-dd0abd8df61f" providerId="ADAL" clId="{12E4B55A-D5A8-4466-9EAA-020DC1D4A07F}" dt="2023-12-19T05:52:41.607" v="23"/>
      <pc:docMkLst>
        <pc:docMk/>
      </pc:docMkLst>
      <pc:sldChg chg="modSp">
        <pc:chgData name="滝澤 明也(takizawa-akinari)" userId="a29fa8f6-e34f-4079-94f9-dd0abd8df61f" providerId="ADAL" clId="{12E4B55A-D5A8-4466-9EAA-020DC1D4A07F}" dt="2023-12-19T05:52:18.870" v="20"/>
        <pc:sldMkLst>
          <pc:docMk/>
          <pc:sldMk cId="3721906845" sldId="720"/>
        </pc:sldMkLst>
        <pc:graphicFrameChg chg="mod">
          <ac:chgData name="滝澤 明也(takizawa-akinari)" userId="a29fa8f6-e34f-4079-94f9-dd0abd8df61f" providerId="ADAL" clId="{12E4B55A-D5A8-4466-9EAA-020DC1D4A07F}" dt="2023-12-19T05:52:18.870" v="20"/>
          <ac:graphicFrameMkLst>
            <pc:docMk/>
            <pc:sldMk cId="3721906845" sldId="720"/>
            <ac:graphicFrameMk id="36" creationId="{00000000-0000-0000-0000-000000000000}"/>
          </ac:graphicFrameMkLst>
        </pc:graphicFrameChg>
      </pc:sldChg>
      <pc:sldChg chg="modSp mod">
        <pc:chgData name="滝澤 明也(takizawa-akinari)" userId="a29fa8f6-e34f-4079-94f9-dd0abd8df61f" providerId="ADAL" clId="{12E4B55A-D5A8-4466-9EAA-020DC1D4A07F}" dt="2023-12-19T05:52:03.254" v="19"/>
        <pc:sldMkLst>
          <pc:docMk/>
          <pc:sldMk cId="772798265" sldId="721"/>
        </pc:sldMkLst>
        <pc:graphicFrameChg chg="mod modGraphic">
          <ac:chgData name="滝澤 明也(takizawa-akinari)" userId="a29fa8f6-e34f-4079-94f9-dd0abd8df61f" providerId="ADAL" clId="{12E4B55A-D5A8-4466-9EAA-020DC1D4A07F}" dt="2023-12-19T05:52:03.254" v="19"/>
          <ac:graphicFrameMkLst>
            <pc:docMk/>
            <pc:sldMk cId="772798265" sldId="721"/>
            <ac:graphicFrameMk id="32" creationId="{00000000-0000-0000-0000-000000000000}"/>
          </ac:graphicFrameMkLst>
        </pc:graphicFrameChg>
      </pc:sldChg>
      <pc:sldChg chg="modSp">
        <pc:chgData name="滝澤 明也(takizawa-akinari)" userId="a29fa8f6-e34f-4079-94f9-dd0abd8df61f" providerId="ADAL" clId="{12E4B55A-D5A8-4466-9EAA-020DC1D4A07F}" dt="2023-12-19T05:52:29.054" v="21"/>
        <pc:sldMkLst>
          <pc:docMk/>
          <pc:sldMk cId="4194490949" sldId="726"/>
        </pc:sldMkLst>
        <pc:graphicFrameChg chg="mod">
          <ac:chgData name="滝澤 明也(takizawa-akinari)" userId="a29fa8f6-e34f-4079-94f9-dd0abd8df61f" providerId="ADAL" clId="{12E4B55A-D5A8-4466-9EAA-020DC1D4A07F}" dt="2023-12-19T05:52:29.054" v="21"/>
          <ac:graphicFrameMkLst>
            <pc:docMk/>
            <pc:sldMk cId="4194490949" sldId="726"/>
            <ac:graphicFrameMk id="32" creationId="{00000000-0000-0000-0000-000000000000}"/>
          </ac:graphicFrameMkLst>
        </pc:graphicFrameChg>
      </pc:sldChg>
      <pc:sldChg chg="modSp">
        <pc:chgData name="滝澤 明也(takizawa-akinari)" userId="a29fa8f6-e34f-4079-94f9-dd0abd8df61f" providerId="ADAL" clId="{12E4B55A-D5A8-4466-9EAA-020DC1D4A07F}" dt="2023-12-19T05:52:41.607" v="23"/>
        <pc:sldMkLst>
          <pc:docMk/>
          <pc:sldMk cId="2815599958" sldId="727"/>
        </pc:sldMkLst>
        <pc:graphicFrameChg chg="mod">
          <ac:chgData name="滝澤 明也(takizawa-akinari)" userId="a29fa8f6-e34f-4079-94f9-dd0abd8df61f" providerId="ADAL" clId="{12E4B55A-D5A8-4466-9EAA-020DC1D4A07F}" dt="2023-12-19T05:52:41.607" v="23"/>
          <ac:graphicFrameMkLst>
            <pc:docMk/>
            <pc:sldMk cId="2815599958" sldId="727"/>
            <ac:graphicFrameMk id="36" creationId="{00000000-0000-0000-0000-000000000000}"/>
          </ac:graphicFrameMkLst>
        </pc:graphicFrameChg>
      </pc:sldChg>
    </pc:docChg>
  </pc:docChgLst>
  <pc:docChgLst>
    <pc:chgData name="滝澤 明也(takizawa-akinari)" userId="a29fa8f6-e34f-4079-94f9-dd0abd8df61f" providerId="ADAL" clId="{F84A0519-D2F6-4FCE-8B3C-C7A0363FBDE9}"/>
    <pc:docChg chg="delSld modSld sldOrd">
      <pc:chgData name="滝澤 明也(takizawa-akinari)" userId="a29fa8f6-e34f-4079-94f9-dd0abd8df61f" providerId="ADAL" clId="{F84A0519-D2F6-4FCE-8B3C-C7A0363FBDE9}" dt="2023-12-19T05:00:40.707" v="83" actId="47"/>
      <pc:docMkLst>
        <pc:docMk/>
      </pc:docMkLst>
      <pc:sldChg chg="del">
        <pc:chgData name="滝澤 明也(takizawa-akinari)" userId="a29fa8f6-e34f-4079-94f9-dd0abd8df61f" providerId="ADAL" clId="{F84A0519-D2F6-4FCE-8B3C-C7A0363FBDE9}" dt="2023-12-19T05:00:38.918" v="79" actId="47"/>
        <pc:sldMkLst>
          <pc:docMk/>
          <pc:sldMk cId="2434964288" sldId="541"/>
        </pc:sldMkLst>
      </pc:sldChg>
      <pc:sldChg chg="del">
        <pc:chgData name="滝澤 明也(takizawa-akinari)" userId="a29fa8f6-e34f-4079-94f9-dd0abd8df61f" providerId="ADAL" clId="{F84A0519-D2F6-4FCE-8B3C-C7A0363FBDE9}" dt="2023-12-19T05:00:39.287" v="80" actId="47"/>
        <pc:sldMkLst>
          <pc:docMk/>
          <pc:sldMk cId="1397184894" sldId="542"/>
        </pc:sldMkLst>
      </pc:sldChg>
      <pc:sldChg chg="del">
        <pc:chgData name="滝澤 明也(takizawa-akinari)" userId="a29fa8f6-e34f-4079-94f9-dd0abd8df61f" providerId="ADAL" clId="{F84A0519-D2F6-4FCE-8B3C-C7A0363FBDE9}" dt="2023-12-19T05:00:40.263" v="82" actId="47"/>
        <pc:sldMkLst>
          <pc:docMk/>
          <pc:sldMk cId="1434275940" sldId="543"/>
        </pc:sldMkLst>
      </pc:sldChg>
      <pc:sldChg chg="del">
        <pc:chgData name="滝澤 明也(takizawa-akinari)" userId="a29fa8f6-e34f-4079-94f9-dd0abd8df61f" providerId="ADAL" clId="{F84A0519-D2F6-4FCE-8B3C-C7A0363FBDE9}" dt="2023-12-19T05:00:39.762" v="81" actId="47"/>
        <pc:sldMkLst>
          <pc:docMk/>
          <pc:sldMk cId="3097719092" sldId="553"/>
        </pc:sldMkLst>
      </pc:sldChg>
      <pc:sldChg chg="del">
        <pc:chgData name="滝澤 明也(takizawa-akinari)" userId="a29fa8f6-e34f-4079-94f9-dd0abd8df61f" providerId="ADAL" clId="{F84A0519-D2F6-4FCE-8B3C-C7A0363FBDE9}" dt="2023-12-19T05:00:40.707" v="83" actId="47"/>
        <pc:sldMkLst>
          <pc:docMk/>
          <pc:sldMk cId="2919780052" sldId="554"/>
        </pc:sldMkLst>
      </pc:sldChg>
      <pc:sldChg chg="modSp mod">
        <pc:chgData name="滝澤 明也(takizawa-akinari)" userId="a29fa8f6-e34f-4079-94f9-dd0abd8df61f" providerId="ADAL" clId="{F84A0519-D2F6-4FCE-8B3C-C7A0363FBDE9}" dt="2023-12-19T04:58:09.821" v="43" actId="20577"/>
        <pc:sldMkLst>
          <pc:docMk/>
          <pc:sldMk cId="3721906845" sldId="720"/>
        </pc:sldMkLst>
        <pc:spChg chg="mod">
          <ac:chgData name="滝澤 明也(takizawa-akinari)" userId="a29fa8f6-e34f-4079-94f9-dd0abd8df61f" providerId="ADAL" clId="{F84A0519-D2F6-4FCE-8B3C-C7A0363FBDE9}" dt="2023-12-19T04:58:09.821" v="43" actId="20577"/>
          <ac:spMkLst>
            <pc:docMk/>
            <pc:sldMk cId="3721906845" sldId="720"/>
            <ac:spMk id="3" creationId="{00000000-0000-0000-0000-000000000000}"/>
          </ac:spMkLst>
        </pc:spChg>
      </pc:sldChg>
      <pc:sldChg chg="modSp mod">
        <pc:chgData name="滝澤 明也(takizawa-akinari)" userId="a29fa8f6-e34f-4079-94f9-dd0abd8df61f" providerId="ADAL" clId="{F84A0519-D2F6-4FCE-8B3C-C7A0363FBDE9}" dt="2023-12-19T04:58:07.356" v="42" actId="20577"/>
        <pc:sldMkLst>
          <pc:docMk/>
          <pc:sldMk cId="772798265" sldId="721"/>
        </pc:sldMkLst>
        <pc:spChg chg="mod">
          <ac:chgData name="滝澤 明也(takizawa-akinari)" userId="a29fa8f6-e34f-4079-94f9-dd0abd8df61f" providerId="ADAL" clId="{F84A0519-D2F6-4FCE-8B3C-C7A0363FBDE9}" dt="2023-12-19T04:58:07.356" v="42" actId="20577"/>
          <ac:spMkLst>
            <pc:docMk/>
            <pc:sldMk cId="772798265" sldId="721"/>
            <ac:spMk id="3" creationId="{00000000-0000-0000-0000-000000000000}"/>
          </ac:spMkLst>
        </pc:spChg>
      </pc:sldChg>
      <pc:sldChg chg="modSp mod ord">
        <pc:chgData name="滝澤 明也(takizawa-akinari)" userId="a29fa8f6-e34f-4079-94f9-dd0abd8df61f" providerId="ADAL" clId="{F84A0519-D2F6-4FCE-8B3C-C7A0363FBDE9}" dt="2023-12-19T04:58:25.277" v="58"/>
        <pc:sldMkLst>
          <pc:docMk/>
          <pc:sldMk cId="4194490949" sldId="726"/>
        </pc:sldMkLst>
        <pc:spChg chg="mod">
          <ac:chgData name="滝澤 明也(takizawa-akinari)" userId="a29fa8f6-e34f-4079-94f9-dd0abd8df61f" providerId="ADAL" clId="{F84A0519-D2F6-4FCE-8B3C-C7A0363FBDE9}" dt="2023-12-19T04:58:25.277" v="58"/>
          <ac:spMkLst>
            <pc:docMk/>
            <pc:sldMk cId="4194490949" sldId="726"/>
            <ac:spMk id="3" creationId="{00000000-0000-0000-0000-000000000000}"/>
          </ac:spMkLst>
        </pc:spChg>
      </pc:sldChg>
      <pc:sldChg chg="modSp mod ord">
        <pc:chgData name="滝澤 明也(takizawa-akinari)" userId="a29fa8f6-e34f-4079-94f9-dd0abd8df61f" providerId="ADAL" clId="{F84A0519-D2F6-4FCE-8B3C-C7A0363FBDE9}" dt="2023-12-19T04:58:32.009" v="73"/>
        <pc:sldMkLst>
          <pc:docMk/>
          <pc:sldMk cId="2815599958" sldId="727"/>
        </pc:sldMkLst>
        <pc:spChg chg="mod">
          <ac:chgData name="滝澤 明也(takizawa-akinari)" userId="a29fa8f6-e34f-4079-94f9-dd0abd8df61f" providerId="ADAL" clId="{F84A0519-D2F6-4FCE-8B3C-C7A0363FBDE9}" dt="2023-12-19T04:58:32.009" v="73"/>
          <ac:spMkLst>
            <pc:docMk/>
            <pc:sldMk cId="2815599958" sldId="727"/>
            <ac:spMk id="3" creationId="{00000000-0000-0000-0000-000000000000}"/>
          </ac:spMkLst>
        </pc:spChg>
      </pc:sldChg>
      <pc:sldChg chg="del">
        <pc:chgData name="滝澤 明也(takizawa-akinari)" userId="a29fa8f6-e34f-4079-94f9-dd0abd8df61f" providerId="ADAL" clId="{F84A0519-D2F6-4FCE-8B3C-C7A0363FBDE9}" dt="2023-12-19T04:56:51.413" v="2" actId="47"/>
        <pc:sldMkLst>
          <pc:docMk/>
          <pc:sldMk cId="1277306332" sldId="745"/>
        </pc:sldMkLst>
      </pc:sldChg>
      <pc:sldChg chg="del">
        <pc:chgData name="滝澤 明也(takizawa-akinari)" userId="a29fa8f6-e34f-4079-94f9-dd0abd8df61f" providerId="ADAL" clId="{F84A0519-D2F6-4FCE-8B3C-C7A0363FBDE9}" dt="2023-12-19T05:00:33.194" v="75" actId="47"/>
        <pc:sldMkLst>
          <pc:docMk/>
          <pc:sldMk cId="2190765053" sldId="746"/>
        </pc:sldMkLst>
      </pc:sldChg>
      <pc:sldChg chg="del">
        <pc:chgData name="滝澤 明也(takizawa-akinari)" userId="a29fa8f6-e34f-4079-94f9-dd0abd8df61f" providerId="ADAL" clId="{F84A0519-D2F6-4FCE-8B3C-C7A0363FBDE9}" dt="2023-12-19T05:00:33.623" v="76" actId="47"/>
        <pc:sldMkLst>
          <pc:docMk/>
          <pc:sldMk cId="1668115470" sldId="747"/>
        </pc:sldMkLst>
      </pc:sldChg>
      <pc:sldChg chg="del">
        <pc:chgData name="滝澤 明也(takizawa-akinari)" userId="a29fa8f6-e34f-4079-94f9-dd0abd8df61f" providerId="ADAL" clId="{F84A0519-D2F6-4FCE-8B3C-C7A0363FBDE9}" dt="2023-12-19T05:00:34.277" v="77" actId="47"/>
        <pc:sldMkLst>
          <pc:docMk/>
          <pc:sldMk cId="140447553" sldId="748"/>
        </pc:sldMkLst>
      </pc:sldChg>
      <pc:sldChg chg="del">
        <pc:chgData name="滝澤 明也(takizawa-akinari)" userId="a29fa8f6-e34f-4079-94f9-dd0abd8df61f" providerId="ADAL" clId="{F84A0519-D2F6-4FCE-8B3C-C7A0363FBDE9}" dt="2023-12-19T05:00:34.793" v="78" actId="47"/>
        <pc:sldMkLst>
          <pc:docMk/>
          <pc:sldMk cId="3656130165" sldId="749"/>
        </pc:sldMkLst>
      </pc:sldChg>
      <pc:sldChg chg="del">
        <pc:chgData name="滝澤 明也(takizawa-akinari)" userId="a29fa8f6-e34f-4079-94f9-dd0abd8df61f" providerId="ADAL" clId="{F84A0519-D2F6-4FCE-8B3C-C7A0363FBDE9}" dt="2023-12-19T05:00:32.554" v="74" actId="47"/>
        <pc:sldMkLst>
          <pc:docMk/>
          <pc:sldMk cId="1760650106" sldId="838840602"/>
        </pc:sldMkLst>
      </pc:sldChg>
    </pc:docChg>
  </pc:docChgLst>
  <pc:docChgLst>
    <pc:chgData name="滝澤 明也(takizawa-akinari)" userId="a29fa8f6-e34f-4079-94f9-dd0abd8df61f" providerId="ADAL" clId="{2A197213-D8E8-4186-A8F6-36805EEAFF35}"/>
    <pc:docChg chg="modSld">
      <pc:chgData name="滝澤 明也(takizawa-akinari)" userId="a29fa8f6-e34f-4079-94f9-dd0abd8df61f" providerId="ADAL" clId="{2A197213-D8E8-4186-A8F6-36805EEAFF35}" dt="2023-12-19T08:37:53.249" v="14" actId="20577"/>
      <pc:docMkLst>
        <pc:docMk/>
      </pc:docMkLst>
      <pc:sldChg chg="modSp mod">
        <pc:chgData name="滝澤 明也(takizawa-akinari)" userId="a29fa8f6-e34f-4079-94f9-dd0abd8df61f" providerId="ADAL" clId="{2A197213-D8E8-4186-A8F6-36805EEAFF35}" dt="2023-12-19T08:37:53.249" v="14" actId="20577"/>
        <pc:sldMkLst>
          <pc:docMk/>
          <pc:sldMk cId="2287315109" sldId="2724"/>
        </pc:sldMkLst>
        <pc:spChg chg="mod">
          <ac:chgData name="滝澤 明也(takizawa-akinari)" userId="a29fa8f6-e34f-4079-94f9-dd0abd8df61f" providerId="ADAL" clId="{2A197213-D8E8-4186-A8F6-36805EEAFF35}" dt="2023-12-19T08:37:53.249" v="14" actId="20577"/>
          <ac:spMkLst>
            <pc:docMk/>
            <pc:sldMk cId="2287315109" sldId="2724"/>
            <ac:spMk id="7" creationId="{16697B06-CCDC-4A6A-65EC-120DBBE34942}"/>
          </ac:spMkLst>
        </pc:spChg>
      </pc:sldChg>
    </pc:docChg>
  </pc:docChgLst>
  <pc:docChgLst>
    <pc:chgData name="滝澤 明也(takizawa-akinari)" userId="a29fa8f6-e34f-4079-94f9-dd0abd8df61f" providerId="ADAL" clId="{B3B1FBBC-8019-4187-8001-5EF3B601495E}"/>
    <pc:docChg chg="modSld">
      <pc:chgData name="滝澤 明也(takizawa-akinari)" userId="a29fa8f6-e34f-4079-94f9-dd0abd8df61f" providerId="ADAL" clId="{B3B1FBBC-8019-4187-8001-5EF3B601495E}" dt="2023-12-19T04:40:00.244" v="281"/>
      <pc:docMkLst>
        <pc:docMk/>
      </pc:docMkLst>
      <pc:sldChg chg="modSp mod">
        <pc:chgData name="滝澤 明也(takizawa-akinari)" userId="a29fa8f6-e34f-4079-94f9-dd0abd8df61f" providerId="ADAL" clId="{B3B1FBBC-8019-4187-8001-5EF3B601495E}" dt="2023-12-19T04:40:00.244" v="281"/>
        <pc:sldMkLst>
          <pc:docMk/>
          <pc:sldMk cId="2287315109" sldId="2724"/>
        </pc:sldMkLst>
        <pc:spChg chg="mod">
          <ac:chgData name="滝澤 明也(takizawa-akinari)" userId="a29fa8f6-e34f-4079-94f9-dd0abd8df61f" providerId="ADAL" clId="{B3B1FBBC-8019-4187-8001-5EF3B601495E}" dt="2023-12-19T04:40:00.244" v="281"/>
          <ac:spMkLst>
            <pc:docMk/>
            <pc:sldMk cId="2287315109" sldId="2724"/>
            <ac:spMk id="6" creationId="{C570E7FA-5C65-0065-18D4-01C1EB4D89AD}"/>
          </ac:spMkLst>
        </pc:spChg>
      </pc:sldChg>
      <pc:sldChg chg="modSp mod">
        <pc:chgData name="滝澤 明也(takizawa-akinari)" userId="a29fa8f6-e34f-4079-94f9-dd0abd8df61f" providerId="ADAL" clId="{B3B1FBBC-8019-4187-8001-5EF3B601495E}" dt="2023-12-19T04:36:36.601" v="184" actId="1038"/>
        <pc:sldMkLst>
          <pc:docMk/>
          <pc:sldMk cId="4263179833" sldId="838840601"/>
        </pc:sldMkLst>
        <pc:spChg chg="mod">
          <ac:chgData name="滝澤 明也(takizawa-akinari)" userId="a29fa8f6-e34f-4079-94f9-dd0abd8df61f" providerId="ADAL" clId="{B3B1FBBC-8019-4187-8001-5EF3B601495E}" dt="2023-12-19T04:36:26.441" v="182" actId="20577"/>
          <ac:spMkLst>
            <pc:docMk/>
            <pc:sldMk cId="4263179833" sldId="838840601"/>
            <ac:spMk id="17" creationId="{7E78CF64-8926-D0E2-38B7-C87A828C03A8}"/>
          </ac:spMkLst>
        </pc:spChg>
        <pc:spChg chg="mod">
          <ac:chgData name="滝澤 明也(takizawa-akinari)" userId="a29fa8f6-e34f-4079-94f9-dd0abd8df61f" providerId="ADAL" clId="{B3B1FBBC-8019-4187-8001-5EF3B601495E}" dt="2023-12-19T04:36:31.223" v="183" actId="1038"/>
          <ac:spMkLst>
            <pc:docMk/>
            <pc:sldMk cId="4263179833" sldId="838840601"/>
            <ac:spMk id="19" creationId="{511FC713-2C31-8B69-1786-79A10E504664}"/>
          </ac:spMkLst>
        </pc:spChg>
        <pc:spChg chg="mod">
          <ac:chgData name="滝澤 明也(takizawa-akinari)" userId="a29fa8f6-e34f-4079-94f9-dd0abd8df61f" providerId="ADAL" clId="{B3B1FBBC-8019-4187-8001-5EF3B601495E}" dt="2023-12-19T04:36:36.601" v="184" actId="1038"/>
          <ac:spMkLst>
            <pc:docMk/>
            <pc:sldMk cId="4263179833" sldId="838840601"/>
            <ac:spMk id="20" creationId="{9423174A-C2E6-4839-CC91-02AC2DC3184B}"/>
          </ac:spMkLst>
        </pc:spChg>
      </pc:sldChg>
    </pc:docChg>
  </pc:docChgLst>
  <pc:docChgLst>
    <pc:chgData name="滝澤 明也(takizawa-akinari)" userId="a29fa8f6-e34f-4079-94f9-dd0abd8df61f" providerId="ADAL" clId="{85305BE7-77E3-42F0-9080-DD94D9ED7607}"/>
    <pc:docChg chg="modSld">
      <pc:chgData name="滝澤 明也(takizawa-akinari)" userId="a29fa8f6-e34f-4079-94f9-dd0abd8df61f" providerId="ADAL" clId="{85305BE7-77E3-42F0-9080-DD94D9ED7607}" dt="2023-12-25T01:04:02.674" v="21"/>
      <pc:docMkLst>
        <pc:docMk/>
      </pc:docMkLst>
      <pc:sldChg chg="modSp mod">
        <pc:chgData name="滝澤 明也(takizawa-akinari)" userId="a29fa8f6-e34f-4079-94f9-dd0abd8df61f" providerId="ADAL" clId="{85305BE7-77E3-42F0-9080-DD94D9ED7607}" dt="2023-12-25T01:03:47.574" v="10"/>
        <pc:sldMkLst>
          <pc:docMk/>
          <pc:sldMk cId="2743531618" sldId="2147472209"/>
        </pc:sldMkLst>
        <pc:spChg chg="mod">
          <ac:chgData name="滝澤 明也(takizawa-akinari)" userId="a29fa8f6-e34f-4079-94f9-dd0abd8df61f" providerId="ADAL" clId="{85305BE7-77E3-42F0-9080-DD94D9ED7607}" dt="2023-12-25T01:03:47.574" v="10"/>
          <ac:spMkLst>
            <pc:docMk/>
            <pc:sldMk cId="2743531618" sldId="2147472209"/>
            <ac:spMk id="3" creationId="{00000000-0000-0000-0000-000000000000}"/>
          </ac:spMkLst>
        </pc:spChg>
      </pc:sldChg>
      <pc:sldChg chg="modSp mod">
        <pc:chgData name="滝澤 明也(takizawa-akinari)" userId="a29fa8f6-e34f-4079-94f9-dd0abd8df61f" providerId="ADAL" clId="{85305BE7-77E3-42F0-9080-DD94D9ED7607}" dt="2023-12-25T01:04:02.674" v="21"/>
        <pc:sldMkLst>
          <pc:docMk/>
          <pc:sldMk cId="2845190384" sldId="2147472210"/>
        </pc:sldMkLst>
        <pc:spChg chg="mod">
          <ac:chgData name="滝澤 明也(takizawa-akinari)" userId="a29fa8f6-e34f-4079-94f9-dd0abd8df61f" providerId="ADAL" clId="{85305BE7-77E3-42F0-9080-DD94D9ED7607}" dt="2023-12-25T01:04:02.674" v="21"/>
          <ac:spMkLst>
            <pc:docMk/>
            <pc:sldMk cId="2845190384" sldId="2147472210"/>
            <ac:spMk id="2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8" y="0"/>
            <a:ext cx="2949787" cy="496967"/>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55846" y="0"/>
            <a:ext cx="2949787" cy="496967"/>
          </a:xfrm>
          <a:prstGeom prst="rect">
            <a:avLst/>
          </a:prstGeom>
        </p:spPr>
        <p:txBody>
          <a:bodyPr vert="horz" lIns="91440" tIns="45720" rIns="91440" bIns="45720" rtlCol="0"/>
          <a:lstStyle>
            <a:lvl1pPr algn="r">
              <a:defRPr sz="1200"/>
            </a:lvl1pPr>
          </a:lstStyle>
          <a:p>
            <a:fld id="{9E916A4E-855B-4E10-9FE2-B2029671DBBF}" type="datetimeFigureOut">
              <a:rPr kumimoji="1" lang="ja-JP" altLang="en-US" smtClean="0"/>
              <a:pPr/>
              <a:t>2023/12/26</a:t>
            </a:fld>
            <a:endParaRPr kumimoji="1" lang="ja-JP" altLang="en-US"/>
          </a:p>
        </p:txBody>
      </p:sp>
      <p:sp>
        <p:nvSpPr>
          <p:cNvPr id="4" name="スライド イメージ プレースホルダ 3"/>
          <p:cNvSpPr>
            <a:spLocks noGrp="1" noRot="1" noChangeAspect="1"/>
          </p:cNvSpPr>
          <p:nvPr>
            <p:ph type="sldImg" idx="2"/>
          </p:nvPr>
        </p:nvSpPr>
        <p:spPr>
          <a:xfrm>
            <a:off x="825500" y="746125"/>
            <a:ext cx="5156200" cy="37258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0721" y="4721186"/>
            <a:ext cx="5445760" cy="4472702"/>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8" y="9440662"/>
            <a:ext cx="2949787" cy="496967"/>
          </a:xfrm>
          <a:prstGeom prst="rect">
            <a:avLst/>
          </a:prstGeom>
        </p:spPr>
        <p:txBody>
          <a:bodyPr vert="horz" lIns="91440" tIns="45720" rIns="91440" bIns="45720" rtlCol="0" anchor="b"/>
          <a:lstStyle>
            <a:lvl1pPr algn="l">
              <a:defRPr sz="1200"/>
            </a:lvl1pPr>
          </a:lstStyle>
          <a:p>
            <a:endParaRPr kumimoji="1" lang="ja-JP" altLang="en-US"/>
          </a:p>
        </p:txBody>
      </p:sp>
      <p:sp>
        <p:nvSpPr>
          <p:cNvPr id="9" name="スライド番号プレースホルダ 8"/>
          <p:cNvSpPr>
            <a:spLocks noGrp="1"/>
          </p:cNvSpPr>
          <p:nvPr>
            <p:ph type="sldNum" sz="quarter" idx="5"/>
          </p:nvPr>
        </p:nvSpPr>
        <p:spPr>
          <a:xfrm>
            <a:off x="3855354" y="9440874"/>
            <a:ext cx="2950263" cy="496887"/>
          </a:xfrm>
          <a:prstGeom prst="rect">
            <a:avLst/>
          </a:prstGeom>
        </p:spPr>
        <p:txBody>
          <a:bodyPr vert="horz" lIns="91440" tIns="45720" rIns="91440" bIns="45720" rtlCol="0" anchor="b"/>
          <a:lstStyle>
            <a:lvl1pPr algn="r">
              <a:defRPr sz="1200"/>
            </a:lvl1pPr>
          </a:lstStyle>
          <a:p>
            <a:fld id="{6383D9C0-EA71-4B3A-B74B-F2542B54A649}" type="slidenum">
              <a:rPr kumimoji="1" lang="ja-JP" altLang="en-US" smtClean="0"/>
              <a:pPr/>
              <a:t>‹#›</a:t>
            </a:fld>
            <a:endParaRPr kumimoji="1" lang="ja-JP" altLang="en-US"/>
          </a:p>
        </p:txBody>
      </p:sp>
    </p:spTree>
    <p:extLst>
      <p:ext uri="{BB962C8B-B14F-4D97-AF65-F5344CB8AC3E}">
        <p14:creationId xmlns:p14="http://schemas.microsoft.com/office/powerpoint/2010/main" val="1580029374"/>
      </p:ext>
    </p:extLst>
  </p:cSld>
  <p:clrMap bg1="lt1" tx1="dk1" bg2="lt2" tx2="dk2" accent1="accent1" accent2="accent2" accent3="accent3" accent4="accent4" accent5="accent5" accent6="accent6" hlink="hlink" folHlink="folHlink"/>
  <p:notesStyle>
    <a:lvl1pPr marL="0" algn="l" defTabSz="932580" rtl="0" eaLnBrk="1" latinLnBrk="0" hangingPunct="1">
      <a:defRPr kumimoji="1" sz="1200" kern="1200">
        <a:solidFill>
          <a:schemeClr val="tx1"/>
        </a:solidFill>
        <a:latin typeface="+mn-lt"/>
        <a:ea typeface="+mn-ea"/>
        <a:cs typeface="+mn-cs"/>
      </a:defRPr>
    </a:lvl1pPr>
    <a:lvl2pPr marL="466288" algn="l" defTabSz="932580" rtl="0" eaLnBrk="1" latinLnBrk="0" hangingPunct="1">
      <a:defRPr kumimoji="1" sz="1200" kern="1200">
        <a:solidFill>
          <a:schemeClr val="tx1"/>
        </a:solidFill>
        <a:latin typeface="+mn-lt"/>
        <a:ea typeface="+mn-ea"/>
        <a:cs typeface="+mn-cs"/>
      </a:defRPr>
    </a:lvl2pPr>
    <a:lvl3pPr marL="932580" algn="l" defTabSz="932580" rtl="0" eaLnBrk="1" latinLnBrk="0" hangingPunct="1">
      <a:defRPr kumimoji="1" sz="1200" kern="1200">
        <a:solidFill>
          <a:schemeClr val="tx1"/>
        </a:solidFill>
        <a:latin typeface="+mn-lt"/>
        <a:ea typeface="+mn-ea"/>
        <a:cs typeface="+mn-cs"/>
      </a:defRPr>
    </a:lvl3pPr>
    <a:lvl4pPr marL="1398867" algn="l" defTabSz="932580" rtl="0" eaLnBrk="1" latinLnBrk="0" hangingPunct="1">
      <a:defRPr kumimoji="1" sz="1200" kern="1200">
        <a:solidFill>
          <a:schemeClr val="tx1"/>
        </a:solidFill>
        <a:latin typeface="+mn-lt"/>
        <a:ea typeface="+mn-ea"/>
        <a:cs typeface="+mn-cs"/>
      </a:defRPr>
    </a:lvl4pPr>
    <a:lvl5pPr marL="1865158" algn="l" defTabSz="932580" rtl="0" eaLnBrk="1" latinLnBrk="0" hangingPunct="1">
      <a:defRPr kumimoji="1" sz="1200" kern="1200">
        <a:solidFill>
          <a:schemeClr val="tx1"/>
        </a:solidFill>
        <a:latin typeface="+mn-lt"/>
        <a:ea typeface="+mn-ea"/>
        <a:cs typeface="+mn-cs"/>
      </a:defRPr>
    </a:lvl5pPr>
    <a:lvl6pPr marL="2331439" algn="l" defTabSz="932580" rtl="0" eaLnBrk="1" latinLnBrk="0" hangingPunct="1">
      <a:defRPr kumimoji="1" sz="1200" kern="1200">
        <a:solidFill>
          <a:schemeClr val="tx1"/>
        </a:solidFill>
        <a:latin typeface="+mn-lt"/>
        <a:ea typeface="+mn-ea"/>
        <a:cs typeface="+mn-cs"/>
      </a:defRPr>
    </a:lvl6pPr>
    <a:lvl7pPr marL="2797735" algn="l" defTabSz="932580" rtl="0" eaLnBrk="1" latinLnBrk="0" hangingPunct="1">
      <a:defRPr kumimoji="1" sz="1200" kern="1200">
        <a:solidFill>
          <a:schemeClr val="tx1"/>
        </a:solidFill>
        <a:latin typeface="+mn-lt"/>
        <a:ea typeface="+mn-ea"/>
        <a:cs typeface="+mn-cs"/>
      </a:defRPr>
    </a:lvl7pPr>
    <a:lvl8pPr marL="3264024" algn="l" defTabSz="932580" rtl="0" eaLnBrk="1" latinLnBrk="0" hangingPunct="1">
      <a:defRPr kumimoji="1" sz="1200" kern="1200">
        <a:solidFill>
          <a:schemeClr val="tx1"/>
        </a:solidFill>
        <a:latin typeface="+mn-lt"/>
        <a:ea typeface="+mn-ea"/>
        <a:cs typeface="+mn-cs"/>
      </a:defRPr>
    </a:lvl8pPr>
    <a:lvl9pPr marL="3730316" algn="l" defTabSz="93258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1</a:t>
            </a:fld>
            <a:endParaRPr kumimoji="1" lang="ja-JP" altLang="en-US"/>
          </a:p>
        </p:txBody>
      </p:sp>
    </p:spTree>
    <p:extLst>
      <p:ext uri="{BB962C8B-B14F-4D97-AF65-F5344CB8AC3E}">
        <p14:creationId xmlns:p14="http://schemas.microsoft.com/office/powerpoint/2010/main" val="1834543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2</a:t>
            </a:fld>
            <a:endParaRPr kumimoji="1" lang="ja-JP" altLang="en-US"/>
          </a:p>
        </p:txBody>
      </p:sp>
    </p:spTree>
    <p:extLst>
      <p:ext uri="{BB962C8B-B14F-4D97-AF65-F5344CB8AC3E}">
        <p14:creationId xmlns:p14="http://schemas.microsoft.com/office/powerpoint/2010/main" val="382076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4</a:t>
            </a:fld>
            <a:endParaRPr kumimoji="1" lang="ja-JP" altLang="en-US"/>
          </a:p>
        </p:txBody>
      </p:sp>
    </p:spTree>
    <p:extLst>
      <p:ext uri="{BB962C8B-B14F-4D97-AF65-F5344CB8AC3E}">
        <p14:creationId xmlns:p14="http://schemas.microsoft.com/office/powerpoint/2010/main" val="4004624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5</a:t>
            </a:fld>
            <a:endParaRPr kumimoji="1" lang="ja-JP" altLang="en-US"/>
          </a:p>
        </p:txBody>
      </p:sp>
    </p:spTree>
    <p:extLst>
      <p:ext uri="{BB962C8B-B14F-4D97-AF65-F5344CB8AC3E}">
        <p14:creationId xmlns:p14="http://schemas.microsoft.com/office/powerpoint/2010/main" val="708844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6</a:t>
            </a:fld>
            <a:endParaRPr kumimoji="1" lang="ja-JP" altLang="en-US"/>
          </a:p>
        </p:txBody>
      </p:sp>
    </p:spTree>
    <p:extLst>
      <p:ext uri="{BB962C8B-B14F-4D97-AF65-F5344CB8AC3E}">
        <p14:creationId xmlns:p14="http://schemas.microsoft.com/office/powerpoint/2010/main" val="883207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7</a:t>
            </a:fld>
            <a:endParaRPr kumimoji="1" lang="ja-JP" altLang="en-US"/>
          </a:p>
        </p:txBody>
      </p:sp>
    </p:spTree>
    <p:extLst>
      <p:ext uri="{BB962C8B-B14F-4D97-AF65-F5344CB8AC3E}">
        <p14:creationId xmlns:p14="http://schemas.microsoft.com/office/powerpoint/2010/main" val="3389394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8</a:t>
            </a:fld>
            <a:endParaRPr kumimoji="1" lang="ja-JP" altLang="en-US"/>
          </a:p>
        </p:txBody>
      </p:sp>
    </p:spTree>
    <p:extLst>
      <p:ext uri="{BB962C8B-B14F-4D97-AF65-F5344CB8AC3E}">
        <p14:creationId xmlns:p14="http://schemas.microsoft.com/office/powerpoint/2010/main" val="3216124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9</a:t>
            </a:fld>
            <a:endParaRPr kumimoji="1" lang="ja-JP" altLang="en-US"/>
          </a:p>
        </p:txBody>
      </p:sp>
    </p:spTree>
    <p:extLst>
      <p:ext uri="{BB962C8B-B14F-4D97-AF65-F5344CB8AC3E}">
        <p14:creationId xmlns:p14="http://schemas.microsoft.com/office/powerpoint/2010/main" val="4289103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10</a:t>
            </a:fld>
            <a:endParaRPr kumimoji="1" lang="ja-JP" altLang="en-US"/>
          </a:p>
        </p:txBody>
      </p:sp>
    </p:spTree>
    <p:extLst>
      <p:ext uri="{BB962C8B-B14F-4D97-AF65-F5344CB8AC3E}">
        <p14:creationId xmlns:p14="http://schemas.microsoft.com/office/powerpoint/2010/main" val="3520993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11</a:t>
            </a:fld>
            <a:endParaRPr kumimoji="1" lang="ja-JP" altLang="en-US"/>
          </a:p>
        </p:txBody>
      </p:sp>
    </p:spTree>
    <p:extLst>
      <p:ext uri="{BB962C8B-B14F-4D97-AF65-F5344CB8AC3E}">
        <p14:creationId xmlns:p14="http://schemas.microsoft.com/office/powerpoint/2010/main" val="507089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12</a:t>
            </a:fld>
            <a:endParaRPr kumimoji="1" lang="ja-JP" altLang="en-US"/>
          </a:p>
        </p:txBody>
      </p:sp>
    </p:spTree>
    <p:extLst>
      <p:ext uri="{BB962C8B-B14F-4D97-AF65-F5344CB8AC3E}">
        <p14:creationId xmlns:p14="http://schemas.microsoft.com/office/powerpoint/2010/main" val="3647401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13</a:t>
            </a:fld>
            <a:endParaRPr kumimoji="1" lang="ja-JP" altLang="en-US"/>
          </a:p>
        </p:txBody>
      </p:sp>
    </p:spTree>
    <p:extLst>
      <p:ext uri="{BB962C8B-B14F-4D97-AF65-F5344CB8AC3E}">
        <p14:creationId xmlns:p14="http://schemas.microsoft.com/office/powerpoint/2010/main" val="3040317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14</a:t>
            </a:fld>
            <a:endParaRPr kumimoji="1" lang="ja-JP" altLang="en-US"/>
          </a:p>
        </p:txBody>
      </p:sp>
    </p:spTree>
    <p:extLst>
      <p:ext uri="{BB962C8B-B14F-4D97-AF65-F5344CB8AC3E}">
        <p14:creationId xmlns:p14="http://schemas.microsoft.com/office/powerpoint/2010/main" val="1386230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15</a:t>
            </a:fld>
            <a:endParaRPr kumimoji="1" lang="ja-JP" altLang="en-US"/>
          </a:p>
        </p:txBody>
      </p:sp>
    </p:spTree>
    <p:extLst>
      <p:ext uri="{BB962C8B-B14F-4D97-AF65-F5344CB8AC3E}">
        <p14:creationId xmlns:p14="http://schemas.microsoft.com/office/powerpoint/2010/main" val="292015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16</a:t>
            </a:fld>
            <a:endParaRPr kumimoji="1" lang="ja-JP" altLang="en-US"/>
          </a:p>
        </p:txBody>
      </p:sp>
    </p:spTree>
    <p:extLst>
      <p:ext uri="{BB962C8B-B14F-4D97-AF65-F5344CB8AC3E}">
        <p14:creationId xmlns:p14="http://schemas.microsoft.com/office/powerpoint/2010/main" val="682235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2548729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4982718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88963" y="815975"/>
            <a:ext cx="5651500" cy="4081463"/>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2666841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1059076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683223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4077656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3725790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3215049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11200450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30986072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19118261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41033437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24529161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841375" y="750888"/>
            <a:ext cx="5197475" cy="3754437"/>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F842AE-3295-45B3-93F0-E3FFFE4BC0DD}"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ja-JP" altLang="en-US" sz="1200" b="0" i="0" u="none" strike="noStrike" kern="1200" cap="none" spc="0" normalizeH="0" baseline="0" noProof="0" dirty="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22471408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31</a:t>
            </a:fld>
            <a:endParaRPr kumimoji="1" lang="ja-JP" altLang="en-US"/>
          </a:p>
        </p:txBody>
      </p:sp>
    </p:spTree>
    <p:extLst>
      <p:ext uri="{BB962C8B-B14F-4D97-AF65-F5344CB8AC3E}">
        <p14:creationId xmlns:p14="http://schemas.microsoft.com/office/powerpoint/2010/main" val="36047904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32</a:t>
            </a:fld>
            <a:endParaRPr kumimoji="1" lang="ja-JP" altLang="en-US"/>
          </a:p>
        </p:txBody>
      </p:sp>
    </p:spTree>
    <p:extLst>
      <p:ext uri="{BB962C8B-B14F-4D97-AF65-F5344CB8AC3E}">
        <p14:creationId xmlns:p14="http://schemas.microsoft.com/office/powerpoint/2010/main" val="9397053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383D9C0-EA71-4B3A-B74B-F2542B54A649}" type="slidenum">
              <a:rPr kumimoji="1" lang="ja-JP" altLang="en-US" sz="1200" b="0" i="0" u="none" strike="noStrike" kern="1200" cap="none" spc="0" normalizeH="0" baseline="0" noProof="0" smtClean="0">
                <a:ln>
                  <a:noFill/>
                </a:ln>
                <a:solidFill>
                  <a:srgbClr val="000000"/>
                </a:solidFill>
                <a:effectLst/>
                <a:uLnTx/>
                <a:uFillTx/>
                <a:latin typeface="Arial" charset="0"/>
                <a:ea typeface="ＭＳ Ｐゴシック"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1" lang="ja-JP" altLang="en-US" sz="1200" b="0" i="0" u="none" strike="noStrike" kern="1200" cap="none" spc="0" normalizeH="0" baseline="0" noProof="0">
              <a:ln>
                <a:noFill/>
              </a:ln>
              <a:solidFill>
                <a:srgbClr val="000000"/>
              </a:solidFill>
              <a:effectLst/>
              <a:uLnTx/>
              <a:uFillTx/>
              <a:latin typeface="Arial" charset="0"/>
              <a:ea typeface="ＭＳ Ｐゴシック" pitchFamily="50" charset="-128"/>
              <a:cs typeface="+mn-cs"/>
            </a:endParaRPr>
          </a:p>
        </p:txBody>
      </p:sp>
    </p:spTree>
    <p:extLst>
      <p:ext uri="{BB962C8B-B14F-4D97-AF65-F5344CB8AC3E}">
        <p14:creationId xmlns:p14="http://schemas.microsoft.com/office/powerpoint/2010/main" val="41114037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34</a:t>
            </a:fld>
            <a:endParaRPr kumimoji="1" lang="ja-JP" altLang="en-US"/>
          </a:p>
        </p:txBody>
      </p:sp>
    </p:spTree>
    <p:extLst>
      <p:ext uri="{BB962C8B-B14F-4D97-AF65-F5344CB8AC3E}">
        <p14:creationId xmlns:p14="http://schemas.microsoft.com/office/powerpoint/2010/main" val="7656371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35</a:t>
            </a:fld>
            <a:endParaRPr kumimoji="1" lang="ja-JP" altLang="en-US"/>
          </a:p>
        </p:txBody>
      </p:sp>
    </p:spTree>
    <p:extLst>
      <p:ext uri="{BB962C8B-B14F-4D97-AF65-F5344CB8AC3E}">
        <p14:creationId xmlns:p14="http://schemas.microsoft.com/office/powerpoint/2010/main" val="6546703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6383D9C0-EA71-4B3A-B74B-F2542B54A649}" type="slidenum">
              <a:rPr kumimoji="1" lang="ja-JP" altLang="en-US" smtClean="0"/>
              <a:pPr/>
              <a:t>36</a:t>
            </a:fld>
            <a:endParaRPr kumimoji="1" lang="ja-JP" altLang="en-US"/>
          </a:p>
        </p:txBody>
      </p:sp>
    </p:spTree>
    <p:extLst>
      <p:ext uri="{BB962C8B-B14F-4D97-AF65-F5344CB8AC3E}">
        <p14:creationId xmlns:p14="http://schemas.microsoft.com/office/powerpoint/2010/main" val="2222290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9020" y="2181241"/>
            <a:ext cx="8262224" cy="1505074"/>
          </a:xfrm>
        </p:spPr>
        <p:txBody>
          <a:bodyPr/>
          <a:lstStyle>
            <a:lvl1pPr>
              <a:defRPr>
                <a:solidFill>
                  <a:srgbClr val="4D4D4D"/>
                </a:solidFill>
              </a:defRPr>
            </a:lvl1pPr>
          </a:lstStyle>
          <a:p>
            <a:r>
              <a:rPr lang="ja-JP" altLang="en-US" dirty="0"/>
              <a:t>マスタ タイトルの書式設定</a:t>
            </a:r>
          </a:p>
        </p:txBody>
      </p:sp>
      <p:sp>
        <p:nvSpPr>
          <p:cNvPr id="3" name="サブタイトル 2"/>
          <p:cNvSpPr>
            <a:spLocks noGrp="1"/>
          </p:cNvSpPr>
          <p:nvPr>
            <p:ph type="subTitle" idx="1"/>
          </p:nvPr>
        </p:nvSpPr>
        <p:spPr>
          <a:xfrm>
            <a:off x="1458040" y="3978857"/>
            <a:ext cx="6804184" cy="1794387"/>
          </a:xfrm>
          <a:prstGeom prst="rect">
            <a:avLst/>
          </a:prstGeom>
        </p:spPr>
        <p:txBody>
          <a:bodyPr/>
          <a:lstStyle>
            <a:lvl1pPr marL="0" indent="0" algn="ctr">
              <a:buNone/>
              <a:defRPr>
                <a:solidFill>
                  <a:srgbClr val="4D4D4D"/>
                </a:solidFill>
              </a:defRPr>
            </a:lvl1pPr>
            <a:lvl2pPr marL="448650" indent="0" algn="ctr">
              <a:buNone/>
              <a:defRPr/>
            </a:lvl2pPr>
            <a:lvl3pPr marL="897301" indent="0" algn="ctr">
              <a:buNone/>
              <a:defRPr/>
            </a:lvl3pPr>
            <a:lvl4pPr marL="1345951" indent="0" algn="ctr">
              <a:buNone/>
              <a:defRPr/>
            </a:lvl4pPr>
            <a:lvl5pPr marL="1794601" indent="0" algn="ctr">
              <a:buNone/>
              <a:defRPr/>
            </a:lvl5pPr>
            <a:lvl6pPr marL="2243252" indent="0" algn="ctr">
              <a:buNone/>
              <a:defRPr/>
            </a:lvl6pPr>
            <a:lvl7pPr marL="2691902" indent="0" algn="ctr">
              <a:buNone/>
              <a:defRPr/>
            </a:lvl7pPr>
            <a:lvl8pPr marL="3140553" indent="0" algn="ctr">
              <a:buNone/>
              <a:defRPr/>
            </a:lvl8pPr>
            <a:lvl9pPr marL="3589203" indent="0" algn="ctr">
              <a:buNone/>
              <a:defRPr/>
            </a:lvl9pPr>
          </a:lstStyle>
          <a:p>
            <a:r>
              <a:rPr lang="ja-JP" altLang="en-US" dirty="0"/>
              <a:t>マスタ サブタイトルの書式設定</a:t>
            </a:r>
          </a:p>
        </p:txBody>
      </p:sp>
    </p:spTree>
    <p:extLst>
      <p:ext uri="{BB962C8B-B14F-4D97-AF65-F5344CB8AC3E}">
        <p14:creationId xmlns:p14="http://schemas.microsoft.com/office/powerpoint/2010/main" val="3046478450"/>
      </p:ext>
    </p:extLst>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a:xfrm>
            <a:off x="486013" y="1638358"/>
            <a:ext cx="8748237" cy="4633874"/>
          </a:xfrm>
          <a:prstGeom prst="rect">
            <a:avLst/>
          </a:prstGeo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4129283237"/>
      </p:ext>
    </p:extLst>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67963" y="4511993"/>
            <a:ext cx="8262224" cy="1394550"/>
          </a:xfrm>
        </p:spPr>
        <p:txBody>
          <a:bodyPr/>
          <a:lstStyle>
            <a:lvl1pPr algn="l">
              <a:defRPr sz="3925" b="1" cap="all"/>
            </a:lvl1pPr>
          </a:lstStyle>
          <a:p>
            <a:r>
              <a:rPr lang="ja-JP" altLang="en-US"/>
              <a:t>マスタ タイトルの書式設定</a:t>
            </a:r>
          </a:p>
        </p:txBody>
      </p:sp>
      <p:sp>
        <p:nvSpPr>
          <p:cNvPr id="3" name="テキスト プレースホルダ 2"/>
          <p:cNvSpPr>
            <a:spLocks noGrp="1"/>
          </p:cNvSpPr>
          <p:nvPr>
            <p:ph type="body" idx="1"/>
          </p:nvPr>
        </p:nvSpPr>
        <p:spPr>
          <a:xfrm>
            <a:off x="767963" y="2976018"/>
            <a:ext cx="8262224" cy="1535955"/>
          </a:xfrm>
          <a:prstGeom prst="rect">
            <a:avLst/>
          </a:prstGeom>
        </p:spPr>
        <p:txBody>
          <a:bodyPr anchor="b"/>
          <a:lstStyle>
            <a:lvl1pPr marL="0" indent="0">
              <a:buNone/>
              <a:defRPr sz="1963"/>
            </a:lvl1pPr>
            <a:lvl2pPr marL="448650" indent="0">
              <a:buNone/>
              <a:defRPr sz="1766"/>
            </a:lvl2pPr>
            <a:lvl3pPr marL="897301" indent="0">
              <a:buNone/>
              <a:defRPr sz="1570"/>
            </a:lvl3pPr>
            <a:lvl4pPr marL="1345951" indent="0">
              <a:buNone/>
              <a:defRPr sz="1374"/>
            </a:lvl4pPr>
            <a:lvl5pPr marL="1794601" indent="0">
              <a:buNone/>
              <a:defRPr sz="1374"/>
            </a:lvl5pPr>
            <a:lvl6pPr marL="2243252" indent="0">
              <a:buNone/>
              <a:defRPr sz="1374"/>
            </a:lvl6pPr>
            <a:lvl7pPr marL="2691902" indent="0">
              <a:buNone/>
              <a:defRPr sz="1374"/>
            </a:lvl7pPr>
            <a:lvl8pPr marL="3140553" indent="0">
              <a:buNone/>
              <a:defRPr sz="1374"/>
            </a:lvl8pPr>
            <a:lvl9pPr marL="3589203" indent="0">
              <a:buNone/>
              <a:defRPr sz="1374"/>
            </a:lvl9pPr>
          </a:lstStyle>
          <a:p>
            <a:pPr lvl="0"/>
            <a:r>
              <a:rPr lang="ja-JP" altLang="en-US"/>
              <a:t>マスタ テキストの書式設定</a:t>
            </a:r>
          </a:p>
        </p:txBody>
      </p:sp>
    </p:spTree>
    <p:extLst>
      <p:ext uri="{BB962C8B-B14F-4D97-AF65-F5344CB8AC3E}">
        <p14:creationId xmlns:p14="http://schemas.microsoft.com/office/powerpoint/2010/main" val="967699736"/>
      </p:ext>
    </p:extLst>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486017" y="1638358"/>
            <a:ext cx="4299348" cy="4633874"/>
          </a:xfrm>
          <a:prstGeom prst="rect">
            <a:avLst/>
          </a:prstGeom>
        </p:spPr>
        <p:txBody>
          <a:bodyPr/>
          <a:lstStyle>
            <a:lvl1pPr>
              <a:defRPr sz="2748"/>
            </a:lvl1pPr>
            <a:lvl2pPr>
              <a:defRPr sz="2355"/>
            </a:lvl2pPr>
            <a:lvl3pPr>
              <a:defRPr sz="1963"/>
            </a:lvl3pPr>
            <a:lvl4pPr>
              <a:defRPr sz="1766"/>
            </a:lvl4pPr>
            <a:lvl5pPr>
              <a:defRPr sz="1766"/>
            </a:lvl5pPr>
            <a:lvl6pPr>
              <a:defRPr sz="1766"/>
            </a:lvl6pPr>
            <a:lvl7pPr>
              <a:defRPr sz="1766"/>
            </a:lvl7pPr>
            <a:lvl8pPr>
              <a:defRPr sz="1766"/>
            </a:lvl8pPr>
            <a:lvl9pPr>
              <a:defRPr sz="1766"/>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934902" y="1638358"/>
            <a:ext cx="4299348" cy="4633874"/>
          </a:xfrm>
          <a:prstGeom prst="rect">
            <a:avLst/>
          </a:prstGeom>
        </p:spPr>
        <p:txBody>
          <a:bodyPr/>
          <a:lstStyle>
            <a:lvl1pPr>
              <a:defRPr sz="2748"/>
            </a:lvl1pPr>
            <a:lvl2pPr>
              <a:defRPr sz="2355"/>
            </a:lvl2pPr>
            <a:lvl3pPr>
              <a:defRPr sz="1963"/>
            </a:lvl3pPr>
            <a:lvl4pPr>
              <a:defRPr sz="1766"/>
            </a:lvl4pPr>
            <a:lvl5pPr>
              <a:defRPr sz="1766"/>
            </a:lvl5pPr>
            <a:lvl6pPr>
              <a:defRPr sz="1766"/>
            </a:lvl6pPr>
            <a:lvl7pPr>
              <a:defRPr sz="1766"/>
            </a:lvl7pPr>
            <a:lvl8pPr>
              <a:defRPr sz="1766"/>
            </a:lvl8pPr>
            <a:lvl9pPr>
              <a:defRPr sz="1766"/>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430344564"/>
      </p:ext>
    </p:extLst>
  </p:cSld>
  <p:clrMapOvr>
    <a:masterClrMapping/>
  </p:clrMapOvr>
  <p:transition>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86013" y="281186"/>
            <a:ext cx="8748237" cy="1170252"/>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86013" y="1571714"/>
            <a:ext cx="4294674" cy="655016"/>
          </a:xfrm>
          <a:prstGeom prst="rect">
            <a:avLst/>
          </a:prstGeom>
        </p:spPr>
        <p:txBody>
          <a:bodyPr anchor="b"/>
          <a:lstStyle>
            <a:lvl1pPr marL="0" indent="0">
              <a:buNone/>
              <a:defRPr sz="2355" b="1"/>
            </a:lvl1pPr>
            <a:lvl2pPr marL="448650" indent="0">
              <a:buNone/>
              <a:defRPr sz="1963" b="1"/>
            </a:lvl2pPr>
            <a:lvl3pPr marL="897301" indent="0">
              <a:buNone/>
              <a:defRPr sz="1766" b="1"/>
            </a:lvl3pPr>
            <a:lvl4pPr marL="1345951" indent="0">
              <a:buNone/>
              <a:defRPr sz="1570" b="1"/>
            </a:lvl4pPr>
            <a:lvl5pPr marL="1794601" indent="0">
              <a:buNone/>
              <a:defRPr sz="1570" b="1"/>
            </a:lvl5pPr>
            <a:lvl6pPr marL="2243252" indent="0">
              <a:buNone/>
              <a:defRPr sz="1570" b="1"/>
            </a:lvl6pPr>
            <a:lvl7pPr marL="2691902" indent="0">
              <a:buNone/>
              <a:defRPr sz="1570" b="1"/>
            </a:lvl7pPr>
            <a:lvl8pPr marL="3140553" indent="0">
              <a:buNone/>
              <a:defRPr sz="1570" b="1"/>
            </a:lvl8pPr>
            <a:lvl9pPr marL="3589203" indent="0">
              <a:buNone/>
              <a:defRPr sz="157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86013" y="2226730"/>
            <a:ext cx="4294674" cy="4045497"/>
          </a:xfrm>
          <a:prstGeom prst="rect">
            <a:avLst/>
          </a:prstGeom>
        </p:spPr>
        <p:txBody>
          <a:bodyPr/>
          <a:lstStyle>
            <a:lvl1pPr>
              <a:defRPr sz="2355"/>
            </a:lvl1pPr>
            <a:lvl2pPr>
              <a:defRPr sz="1963"/>
            </a:lvl2pPr>
            <a:lvl3pPr>
              <a:defRPr sz="1766"/>
            </a:lvl3pPr>
            <a:lvl4pPr>
              <a:defRPr sz="1570"/>
            </a:lvl4pPr>
            <a:lvl5pPr>
              <a:defRPr sz="1570"/>
            </a:lvl5pPr>
            <a:lvl6pPr>
              <a:defRPr sz="1570"/>
            </a:lvl6pPr>
            <a:lvl7pPr>
              <a:defRPr sz="1570"/>
            </a:lvl7pPr>
            <a:lvl8pPr>
              <a:defRPr sz="1570"/>
            </a:lvl8pPr>
            <a:lvl9pPr>
              <a:defRPr sz="157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938024" y="1571714"/>
            <a:ext cx="4296232" cy="655016"/>
          </a:xfrm>
          <a:prstGeom prst="rect">
            <a:avLst/>
          </a:prstGeom>
        </p:spPr>
        <p:txBody>
          <a:bodyPr anchor="b"/>
          <a:lstStyle>
            <a:lvl1pPr marL="0" indent="0">
              <a:buNone/>
              <a:defRPr sz="2355" b="1"/>
            </a:lvl1pPr>
            <a:lvl2pPr marL="448650" indent="0">
              <a:buNone/>
              <a:defRPr sz="1963" b="1"/>
            </a:lvl2pPr>
            <a:lvl3pPr marL="897301" indent="0">
              <a:buNone/>
              <a:defRPr sz="1766" b="1"/>
            </a:lvl3pPr>
            <a:lvl4pPr marL="1345951" indent="0">
              <a:buNone/>
              <a:defRPr sz="1570" b="1"/>
            </a:lvl4pPr>
            <a:lvl5pPr marL="1794601" indent="0">
              <a:buNone/>
              <a:defRPr sz="1570" b="1"/>
            </a:lvl5pPr>
            <a:lvl6pPr marL="2243252" indent="0">
              <a:buNone/>
              <a:defRPr sz="1570" b="1"/>
            </a:lvl6pPr>
            <a:lvl7pPr marL="2691902" indent="0">
              <a:buNone/>
              <a:defRPr sz="1570" b="1"/>
            </a:lvl7pPr>
            <a:lvl8pPr marL="3140553" indent="0">
              <a:buNone/>
              <a:defRPr sz="1570" b="1"/>
            </a:lvl8pPr>
            <a:lvl9pPr marL="3589203" indent="0">
              <a:buNone/>
              <a:defRPr sz="157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938024" y="2226730"/>
            <a:ext cx="4296232" cy="4045497"/>
          </a:xfrm>
          <a:prstGeom prst="rect">
            <a:avLst/>
          </a:prstGeom>
        </p:spPr>
        <p:txBody>
          <a:bodyPr/>
          <a:lstStyle>
            <a:lvl1pPr>
              <a:defRPr sz="2355"/>
            </a:lvl1pPr>
            <a:lvl2pPr>
              <a:defRPr sz="1963"/>
            </a:lvl2pPr>
            <a:lvl3pPr>
              <a:defRPr sz="1766"/>
            </a:lvl3pPr>
            <a:lvl4pPr>
              <a:defRPr sz="1570"/>
            </a:lvl4pPr>
            <a:lvl5pPr>
              <a:defRPr sz="1570"/>
            </a:lvl5pPr>
            <a:lvl6pPr>
              <a:defRPr sz="1570"/>
            </a:lvl6pPr>
            <a:lvl7pPr>
              <a:defRPr sz="1570"/>
            </a:lvl7pPr>
            <a:lvl8pPr>
              <a:defRPr sz="1570"/>
            </a:lvl8pPr>
            <a:lvl9pPr>
              <a:defRPr sz="157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633135260"/>
      </p:ext>
    </p:extLst>
  </p:cSld>
  <p:clrMapOvr>
    <a:masterClrMapping/>
  </p:clrMapOvr>
  <p:transition>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スライド番号プレースホルダー 1"/>
          <p:cNvSpPr>
            <a:spLocks noGrp="1"/>
          </p:cNvSpPr>
          <p:nvPr>
            <p:ph type="sldNum" sz="quarter" idx="4"/>
          </p:nvPr>
        </p:nvSpPr>
        <p:spPr>
          <a:xfrm>
            <a:off x="7540295" y="6607201"/>
            <a:ext cx="2187059" cy="373831"/>
          </a:xfrm>
          <a:prstGeom prst="rect">
            <a:avLst/>
          </a:prstGeom>
        </p:spPr>
        <p:txBody>
          <a:bodyPr vert="horz" lIns="91440" tIns="45720" rIns="91440" bIns="45720" rtlCol="0" anchor="ctr"/>
          <a:lstStyle>
            <a:lvl1pPr algn="r">
              <a:defRPr sz="1178">
                <a:solidFill>
                  <a:schemeClr val="tx1"/>
                </a:solidFill>
              </a:defRPr>
            </a:lvl1pPr>
          </a:lstStyle>
          <a:p>
            <a:fld id="{1FD3AF2E-D2BE-4FD3-AF98-104E9E31AE3C}" type="slidenum">
              <a:rPr lang="ja-JP" altLang="en-US" smtClean="0"/>
              <a:pPr/>
              <a:t>‹#›</a:t>
            </a:fld>
            <a:endParaRPr lang="ja-JP" altLang="en-US" dirty="0"/>
          </a:p>
        </p:txBody>
      </p:sp>
    </p:spTree>
    <p:extLst>
      <p:ext uri="{BB962C8B-B14F-4D97-AF65-F5344CB8AC3E}">
        <p14:creationId xmlns:p14="http://schemas.microsoft.com/office/powerpoint/2010/main" val="2069187161"/>
      </p:ext>
    </p:extLst>
  </p:cSld>
  <p:clrMapOvr>
    <a:masterClrMapping/>
  </p:clrMapOvr>
  <p:transition>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4"/>
          </p:nvPr>
        </p:nvSpPr>
        <p:spPr>
          <a:xfrm>
            <a:off x="7540295" y="6648836"/>
            <a:ext cx="2187059" cy="373831"/>
          </a:xfrm>
          <a:prstGeom prst="rect">
            <a:avLst/>
          </a:prstGeom>
        </p:spPr>
        <p:txBody>
          <a:bodyPr vert="horz" lIns="91440" tIns="45720" rIns="91440" bIns="45720" rtlCol="0" anchor="ctr"/>
          <a:lstStyle>
            <a:lvl1pPr algn="r">
              <a:defRPr sz="1178">
                <a:solidFill>
                  <a:schemeClr val="tx1"/>
                </a:solidFill>
              </a:defRPr>
            </a:lvl1pPr>
          </a:lstStyle>
          <a:p>
            <a:fld id="{1FD3AF2E-D2BE-4FD3-AF98-104E9E31AE3C}" type="slidenum">
              <a:rPr lang="ja-JP" altLang="en-US" smtClean="0"/>
              <a:pPr/>
              <a:t>‹#›</a:t>
            </a:fld>
            <a:endParaRPr lang="ja-JP" altLang="en-US" dirty="0"/>
          </a:p>
        </p:txBody>
      </p:sp>
    </p:spTree>
    <p:extLst>
      <p:ext uri="{BB962C8B-B14F-4D97-AF65-F5344CB8AC3E}">
        <p14:creationId xmlns:p14="http://schemas.microsoft.com/office/powerpoint/2010/main" val="3641448212"/>
      </p:ext>
    </p:extLst>
  </p:cSld>
  <p:clrMapOvr>
    <a:masterClrMapping/>
  </p:clrMapOvr>
  <p:transition>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スライド番号プレースホルダー 2"/>
          <p:cNvSpPr>
            <a:spLocks noGrp="1"/>
          </p:cNvSpPr>
          <p:nvPr>
            <p:ph type="sldNum" sz="quarter" idx="10"/>
          </p:nvPr>
        </p:nvSpPr>
        <p:spPr/>
        <p:txBody>
          <a:bodyPr/>
          <a:lstStyle/>
          <a:p>
            <a:fld id="{1FD3AF2E-D2BE-4FD3-AF98-104E9E31AE3C}" type="slidenum">
              <a:rPr lang="ja-JP" altLang="en-US" smtClean="0"/>
              <a:pPr/>
              <a:t>‹#›</a:t>
            </a:fld>
            <a:endParaRPr lang="ja-JP" altLang="en-US" dirty="0"/>
          </a:p>
        </p:txBody>
      </p:sp>
    </p:spTree>
    <p:extLst>
      <p:ext uri="{BB962C8B-B14F-4D97-AF65-F5344CB8AC3E}">
        <p14:creationId xmlns:p14="http://schemas.microsoft.com/office/powerpoint/2010/main" val="1644329350"/>
      </p:ext>
    </p:extLst>
  </p:cSld>
  <p:clrMapOvr>
    <a:masterClrMapping/>
  </p:clrMapOvr>
  <p:transition>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86013" y="279560"/>
            <a:ext cx="3198029" cy="1189756"/>
          </a:xfrm>
        </p:spPr>
        <p:txBody>
          <a:bodyPr anchor="b"/>
          <a:lstStyle>
            <a:lvl1pPr algn="l">
              <a:defRPr sz="1963" b="1"/>
            </a:lvl1pPr>
          </a:lstStyle>
          <a:p>
            <a:r>
              <a:rPr lang="ja-JP" altLang="en-US"/>
              <a:t>マスタ タイトルの書式設定</a:t>
            </a:r>
          </a:p>
        </p:txBody>
      </p:sp>
      <p:sp>
        <p:nvSpPr>
          <p:cNvPr id="3" name="コンテンツ プレースホルダ 2"/>
          <p:cNvSpPr>
            <a:spLocks noGrp="1"/>
          </p:cNvSpPr>
          <p:nvPr>
            <p:ph idx="1"/>
          </p:nvPr>
        </p:nvSpPr>
        <p:spPr>
          <a:xfrm>
            <a:off x="3800871" y="279563"/>
            <a:ext cx="5433379" cy="5992667"/>
          </a:xfrm>
          <a:prstGeom prst="rect">
            <a:avLst/>
          </a:prstGeom>
        </p:spPr>
        <p:txBody>
          <a:bodyPr/>
          <a:lstStyle>
            <a:lvl1pPr>
              <a:defRPr sz="3140"/>
            </a:lvl1pPr>
            <a:lvl2pPr>
              <a:defRPr sz="2748"/>
            </a:lvl2pPr>
            <a:lvl3pPr>
              <a:defRPr sz="2355"/>
            </a:lvl3pPr>
            <a:lvl4pPr>
              <a:defRPr sz="1963"/>
            </a:lvl4pPr>
            <a:lvl5pPr>
              <a:defRPr sz="1963"/>
            </a:lvl5pPr>
            <a:lvl6pPr>
              <a:defRPr sz="1963"/>
            </a:lvl6pPr>
            <a:lvl7pPr>
              <a:defRPr sz="1963"/>
            </a:lvl7pPr>
            <a:lvl8pPr>
              <a:defRPr sz="1963"/>
            </a:lvl8pPr>
            <a:lvl9pPr>
              <a:defRPr sz="1963"/>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86013" y="1469319"/>
            <a:ext cx="3198029" cy="4802910"/>
          </a:xfrm>
          <a:prstGeom prst="rect">
            <a:avLst/>
          </a:prstGeom>
        </p:spPr>
        <p:txBody>
          <a:bodyPr/>
          <a:lstStyle>
            <a:lvl1pPr marL="0" indent="0">
              <a:buNone/>
              <a:defRPr sz="1374"/>
            </a:lvl1pPr>
            <a:lvl2pPr marL="448650" indent="0">
              <a:buNone/>
              <a:defRPr sz="1178"/>
            </a:lvl2pPr>
            <a:lvl3pPr marL="897301" indent="0">
              <a:buNone/>
              <a:defRPr sz="981"/>
            </a:lvl3pPr>
            <a:lvl4pPr marL="1345951" indent="0">
              <a:buNone/>
              <a:defRPr sz="883"/>
            </a:lvl4pPr>
            <a:lvl5pPr marL="1794601" indent="0">
              <a:buNone/>
              <a:defRPr sz="883"/>
            </a:lvl5pPr>
            <a:lvl6pPr marL="2243252" indent="0">
              <a:buNone/>
              <a:defRPr sz="883"/>
            </a:lvl6pPr>
            <a:lvl7pPr marL="2691902" indent="0">
              <a:buNone/>
              <a:defRPr sz="883"/>
            </a:lvl7pPr>
            <a:lvl8pPr marL="3140553" indent="0">
              <a:buNone/>
              <a:defRPr sz="883"/>
            </a:lvl8pPr>
            <a:lvl9pPr marL="3589203" indent="0">
              <a:buNone/>
              <a:defRPr sz="883"/>
            </a:lvl9pPr>
          </a:lstStyle>
          <a:p>
            <a:pPr lvl="0"/>
            <a:r>
              <a:rPr lang="ja-JP" altLang="en-US"/>
              <a:t>マスタ テキストの書式設定</a:t>
            </a:r>
          </a:p>
        </p:txBody>
      </p:sp>
    </p:spTree>
    <p:extLst>
      <p:ext uri="{BB962C8B-B14F-4D97-AF65-F5344CB8AC3E}">
        <p14:creationId xmlns:p14="http://schemas.microsoft.com/office/powerpoint/2010/main" val="394077435"/>
      </p:ext>
    </p:extLst>
  </p:cSld>
  <p:clrMapOvr>
    <a:masterClrMapping/>
  </p:clrMapOvr>
  <p:transition>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05115" y="4915059"/>
            <a:ext cx="5832158" cy="580251"/>
          </a:xfrm>
        </p:spPr>
        <p:txBody>
          <a:bodyPr anchor="b"/>
          <a:lstStyle>
            <a:lvl1pPr algn="l">
              <a:defRPr sz="1963" b="1"/>
            </a:lvl1pPr>
          </a:lstStyle>
          <a:p>
            <a:r>
              <a:rPr lang="ja-JP" altLang="en-US"/>
              <a:t>マスタ タイトルの書式設定</a:t>
            </a:r>
          </a:p>
        </p:txBody>
      </p:sp>
      <p:sp>
        <p:nvSpPr>
          <p:cNvPr id="3" name="図プレースホルダ 2"/>
          <p:cNvSpPr>
            <a:spLocks noGrp="1"/>
          </p:cNvSpPr>
          <p:nvPr>
            <p:ph type="pic" idx="1"/>
          </p:nvPr>
        </p:nvSpPr>
        <p:spPr>
          <a:xfrm>
            <a:off x="1905115" y="627385"/>
            <a:ext cx="5832158" cy="4212908"/>
          </a:xfrm>
          <a:prstGeom prst="rect">
            <a:avLst/>
          </a:prstGeom>
        </p:spPr>
        <p:txBody>
          <a:bodyPr/>
          <a:lstStyle>
            <a:lvl1pPr marL="0" indent="0">
              <a:buNone/>
              <a:defRPr sz="3140"/>
            </a:lvl1pPr>
            <a:lvl2pPr marL="448650" indent="0">
              <a:buNone/>
              <a:defRPr sz="2748"/>
            </a:lvl2pPr>
            <a:lvl3pPr marL="897301" indent="0">
              <a:buNone/>
              <a:defRPr sz="2355"/>
            </a:lvl3pPr>
            <a:lvl4pPr marL="1345951" indent="0">
              <a:buNone/>
              <a:defRPr sz="1963"/>
            </a:lvl4pPr>
            <a:lvl5pPr marL="1794601" indent="0">
              <a:buNone/>
              <a:defRPr sz="1963"/>
            </a:lvl5pPr>
            <a:lvl6pPr marL="2243252" indent="0">
              <a:buNone/>
              <a:defRPr sz="1963"/>
            </a:lvl6pPr>
            <a:lvl7pPr marL="2691902" indent="0">
              <a:buNone/>
              <a:defRPr sz="1963"/>
            </a:lvl7pPr>
            <a:lvl8pPr marL="3140553" indent="0">
              <a:buNone/>
              <a:defRPr sz="1963"/>
            </a:lvl8pPr>
            <a:lvl9pPr marL="3589203" indent="0">
              <a:buNone/>
              <a:defRPr sz="1963"/>
            </a:lvl9pPr>
          </a:lstStyle>
          <a:p>
            <a:endParaRPr lang="ja-JP" altLang="en-US"/>
          </a:p>
        </p:txBody>
      </p:sp>
      <p:sp>
        <p:nvSpPr>
          <p:cNvPr id="4" name="テキスト プレースホルダ 3"/>
          <p:cNvSpPr>
            <a:spLocks noGrp="1"/>
          </p:cNvSpPr>
          <p:nvPr>
            <p:ph type="body" sz="half" idx="2"/>
          </p:nvPr>
        </p:nvSpPr>
        <p:spPr>
          <a:xfrm>
            <a:off x="1905115" y="5495310"/>
            <a:ext cx="5832158" cy="824052"/>
          </a:xfrm>
          <a:prstGeom prst="rect">
            <a:avLst/>
          </a:prstGeom>
        </p:spPr>
        <p:txBody>
          <a:bodyPr/>
          <a:lstStyle>
            <a:lvl1pPr marL="0" indent="0">
              <a:buNone/>
              <a:defRPr sz="1374"/>
            </a:lvl1pPr>
            <a:lvl2pPr marL="448650" indent="0">
              <a:buNone/>
              <a:defRPr sz="1178"/>
            </a:lvl2pPr>
            <a:lvl3pPr marL="897301" indent="0">
              <a:buNone/>
              <a:defRPr sz="981"/>
            </a:lvl3pPr>
            <a:lvl4pPr marL="1345951" indent="0">
              <a:buNone/>
              <a:defRPr sz="883"/>
            </a:lvl4pPr>
            <a:lvl5pPr marL="1794601" indent="0">
              <a:buNone/>
              <a:defRPr sz="883"/>
            </a:lvl5pPr>
            <a:lvl6pPr marL="2243252" indent="0">
              <a:buNone/>
              <a:defRPr sz="883"/>
            </a:lvl6pPr>
            <a:lvl7pPr marL="2691902" indent="0">
              <a:buNone/>
              <a:defRPr sz="883"/>
            </a:lvl7pPr>
            <a:lvl8pPr marL="3140553" indent="0">
              <a:buNone/>
              <a:defRPr sz="883"/>
            </a:lvl8pPr>
            <a:lvl9pPr marL="3589203" indent="0">
              <a:buNone/>
              <a:defRPr sz="883"/>
            </a:lvl9pPr>
          </a:lstStyle>
          <a:p>
            <a:pPr lvl="0"/>
            <a:r>
              <a:rPr lang="ja-JP" altLang="en-US"/>
              <a:t>マスタ テキストの書式設定</a:t>
            </a:r>
          </a:p>
        </p:txBody>
      </p:sp>
    </p:spTree>
    <p:extLst>
      <p:ext uri="{BB962C8B-B14F-4D97-AF65-F5344CB8AC3E}">
        <p14:creationId xmlns:p14="http://schemas.microsoft.com/office/powerpoint/2010/main" val="1402544959"/>
      </p:ext>
    </p:extLst>
  </p:cSld>
  <p:clrMapOvr>
    <a:masterClrMapping/>
  </p:clrMapOvr>
  <p:transition>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a:xfrm>
            <a:off x="486013" y="1638358"/>
            <a:ext cx="8748237" cy="4633874"/>
          </a:xfrm>
          <a:prstGeom prst="rect">
            <a:avLst/>
          </a:prstGeo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097390689"/>
      </p:ext>
    </p:extLst>
  </p:cSld>
  <p:clrMapOvr>
    <a:masterClrMapping/>
  </p:clrMapOvr>
  <p:transition>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992671" y="193417"/>
            <a:ext cx="2241579" cy="607881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267939" y="193417"/>
            <a:ext cx="6575198" cy="6078810"/>
          </a:xfrm>
          <a:prstGeom prst="rect">
            <a:avLst/>
          </a:prstGeo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655646697"/>
      </p:ext>
    </p:extLst>
  </p:cSld>
  <p:clrMapOvr>
    <a:masterClrMapping/>
  </p:clrMapOvr>
  <p:transition>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スライド番号プレースホルダー 2"/>
          <p:cNvSpPr>
            <a:spLocks noGrp="1"/>
          </p:cNvSpPr>
          <p:nvPr>
            <p:ph type="sldNum" sz="quarter" idx="10"/>
          </p:nvPr>
        </p:nvSpPr>
        <p:spPr/>
        <p:txBody>
          <a:bodyPr/>
          <a:lstStyle/>
          <a:p>
            <a:fld id="{1FD3AF2E-D2BE-4FD3-AF98-104E9E31AE3C}" type="slidenum">
              <a:rPr lang="ja-JP" altLang="en-US" smtClean="0"/>
              <a:pPr/>
              <a:t>‹#›</a:t>
            </a:fld>
            <a:endParaRPr lang="ja-JP" altLang="en-US" dirty="0"/>
          </a:p>
        </p:txBody>
      </p:sp>
    </p:spTree>
    <p:extLst>
      <p:ext uri="{BB962C8B-B14F-4D97-AF65-F5344CB8AC3E}">
        <p14:creationId xmlns:p14="http://schemas.microsoft.com/office/powerpoint/2010/main" val="2054658709"/>
      </p:ext>
    </p:extLst>
  </p:cSld>
  <p:clrMapOvr>
    <a:masterClrMapping/>
  </p:clrMapOvr>
  <p:transition>
    <p:push/>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9034" y="2181293"/>
            <a:ext cx="8262224" cy="1505074"/>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458054" y="3978859"/>
            <a:ext cx="6804185" cy="1794387"/>
          </a:xfrm>
        </p:spPr>
        <p:txBody>
          <a:bodyPr/>
          <a:lstStyle>
            <a:lvl1pPr marL="0" indent="0" algn="ctr">
              <a:buNone/>
              <a:defRPr>
                <a:solidFill>
                  <a:schemeClr val="tx1">
                    <a:tint val="75000"/>
                  </a:schemeClr>
                </a:solidFill>
              </a:defRPr>
            </a:lvl1pPr>
            <a:lvl2pPr marL="448040" indent="0" algn="ctr">
              <a:buNone/>
              <a:defRPr>
                <a:solidFill>
                  <a:schemeClr val="tx1">
                    <a:tint val="75000"/>
                  </a:schemeClr>
                </a:solidFill>
              </a:defRPr>
            </a:lvl2pPr>
            <a:lvl3pPr marL="896081" indent="0" algn="ctr">
              <a:buNone/>
              <a:defRPr>
                <a:solidFill>
                  <a:schemeClr val="tx1">
                    <a:tint val="75000"/>
                  </a:schemeClr>
                </a:solidFill>
              </a:defRPr>
            </a:lvl3pPr>
            <a:lvl4pPr marL="1344121" indent="0" algn="ctr">
              <a:buNone/>
              <a:defRPr>
                <a:solidFill>
                  <a:schemeClr val="tx1">
                    <a:tint val="75000"/>
                  </a:schemeClr>
                </a:solidFill>
              </a:defRPr>
            </a:lvl4pPr>
            <a:lvl5pPr marL="1792160" indent="0" algn="ctr">
              <a:buNone/>
              <a:defRPr>
                <a:solidFill>
                  <a:schemeClr val="tx1">
                    <a:tint val="75000"/>
                  </a:schemeClr>
                </a:solidFill>
              </a:defRPr>
            </a:lvl5pPr>
            <a:lvl6pPr marL="2240200" indent="0" algn="ctr">
              <a:buNone/>
              <a:defRPr>
                <a:solidFill>
                  <a:schemeClr val="tx1">
                    <a:tint val="75000"/>
                  </a:schemeClr>
                </a:solidFill>
              </a:defRPr>
            </a:lvl6pPr>
            <a:lvl7pPr marL="2688241" indent="0" algn="ctr">
              <a:buNone/>
              <a:defRPr>
                <a:solidFill>
                  <a:schemeClr val="tx1">
                    <a:tint val="75000"/>
                  </a:schemeClr>
                </a:solidFill>
              </a:defRPr>
            </a:lvl7pPr>
            <a:lvl8pPr marL="3136282" indent="0" algn="ctr">
              <a:buNone/>
              <a:defRPr>
                <a:solidFill>
                  <a:schemeClr val="tx1">
                    <a:tint val="75000"/>
                  </a:schemeClr>
                </a:solidFill>
              </a:defRPr>
            </a:lvl8pPr>
            <a:lvl9pPr marL="3584321"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9D5E52CB-7720-4B9A-AF9A-D2A48F8F8891}"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dirty="0">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3162925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CFFA191-8264-4FB9-B5D9-A26025C5066A}"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dirty="0">
              <a:solidFill>
                <a:prstClr val="black">
                  <a:tint val="75000"/>
                </a:prstClr>
              </a:solidFill>
            </a:endParaRPr>
          </a:p>
        </p:txBody>
      </p:sp>
      <p:sp>
        <p:nvSpPr>
          <p:cNvPr id="6" name="スライド番号プレースホルダー 5"/>
          <p:cNvSpPr>
            <a:spLocks noGrp="1"/>
          </p:cNvSpPr>
          <p:nvPr>
            <p:ph type="sldNum" sz="quarter" idx="12"/>
          </p:nvPr>
        </p:nvSpPr>
        <p:spPr>
          <a:xfrm>
            <a:off x="7452208" y="6619441"/>
            <a:ext cx="2268062" cy="373831"/>
          </a:xfrm>
        </p:spPr>
        <p:txBody>
          <a:bodyPr/>
          <a:lstStyle>
            <a:lvl1pPr>
              <a:defRPr>
                <a:solidFill>
                  <a:schemeClr val="tx1"/>
                </a:solidFill>
              </a:defRPr>
            </a:lvl1p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3636308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67856" y="4512048"/>
            <a:ext cx="8262224" cy="1394550"/>
          </a:xfrm>
        </p:spPr>
        <p:txBody>
          <a:bodyPr anchor="t"/>
          <a:lstStyle>
            <a:lvl1pPr algn="l">
              <a:defRPr sz="3925"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67856" y="2976044"/>
            <a:ext cx="8262224" cy="1535955"/>
          </a:xfrm>
        </p:spPr>
        <p:txBody>
          <a:bodyPr anchor="b"/>
          <a:lstStyle>
            <a:lvl1pPr marL="0" indent="0">
              <a:buNone/>
              <a:defRPr sz="1963">
                <a:solidFill>
                  <a:schemeClr val="tx1">
                    <a:tint val="75000"/>
                  </a:schemeClr>
                </a:solidFill>
              </a:defRPr>
            </a:lvl1pPr>
            <a:lvl2pPr marL="448040" indent="0">
              <a:buNone/>
              <a:defRPr sz="1766">
                <a:solidFill>
                  <a:schemeClr val="tx1">
                    <a:tint val="75000"/>
                  </a:schemeClr>
                </a:solidFill>
              </a:defRPr>
            </a:lvl2pPr>
            <a:lvl3pPr marL="896081" indent="0">
              <a:buNone/>
              <a:defRPr sz="1570">
                <a:solidFill>
                  <a:schemeClr val="tx1">
                    <a:tint val="75000"/>
                  </a:schemeClr>
                </a:solidFill>
              </a:defRPr>
            </a:lvl3pPr>
            <a:lvl4pPr marL="1344121" indent="0">
              <a:buNone/>
              <a:defRPr sz="1374">
                <a:solidFill>
                  <a:schemeClr val="tx1">
                    <a:tint val="75000"/>
                  </a:schemeClr>
                </a:solidFill>
              </a:defRPr>
            </a:lvl4pPr>
            <a:lvl5pPr marL="1792160" indent="0">
              <a:buNone/>
              <a:defRPr sz="1374">
                <a:solidFill>
                  <a:schemeClr val="tx1">
                    <a:tint val="75000"/>
                  </a:schemeClr>
                </a:solidFill>
              </a:defRPr>
            </a:lvl5pPr>
            <a:lvl6pPr marL="2240200" indent="0">
              <a:buNone/>
              <a:defRPr sz="1374">
                <a:solidFill>
                  <a:schemeClr val="tx1">
                    <a:tint val="75000"/>
                  </a:schemeClr>
                </a:solidFill>
              </a:defRPr>
            </a:lvl6pPr>
            <a:lvl7pPr marL="2688241" indent="0">
              <a:buNone/>
              <a:defRPr sz="1374">
                <a:solidFill>
                  <a:schemeClr val="tx1">
                    <a:tint val="75000"/>
                  </a:schemeClr>
                </a:solidFill>
              </a:defRPr>
            </a:lvl7pPr>
            <a:lvl8pPr marL="3136282" indent="0">
              <a:buNone/>
              <a:defRPr sz="1374">
                <a:solidFill>
                  <a:schemeClr val="tx1">
                    <a:tint val="75000"/>
                  </a:schemeClr>
                </a:solidFill>
              </a:defRPr>
            </a:lvl8pPr>
            <a:lvl9pPr marL="3584321" indent="0">
              <a:buNone/>
              <a:defRPr sz="1374">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D3CE578F-F6AB-4E92-A8C8-3F27A7A16852}"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dirty="0">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2531116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526551" y="1638386"/>
            <a:ext cx="4654251" cy="4633874"/>
          </a:xfrm>
        </p:spPr>
        <p:txBody>
          <a:bodyPr/>
          <a:lstStyle>
            <a:lvl1pPr>
              <a:defRPr sz="2748"/>
            </a:lvl1pPr>
            <a:lvl2pPr>
              <a:defRPr sz="2355"/>
            </a:lvl2pPr>
            <a:lvl3pPr>
              <a:defRPr sz="1963"/>
            </a:lvl3pPr>
            <a:lvl4pPr>
              <a:defRPr sz="1766"/>
            </a:lvl4pPr>
            <a:lvl5pPr>
              <a:defRPr sz="1766"/>
            </a:lvl5pPr>
            <a:lvl6pPr>
              <a:defRPr sz="1766"/>
            </a:lvl6pPr>
            <a:lvl7pPr>
              <a:defRPr sz="1766"/>
            </a:lvl7pPr>
            <a:lvl8pPr>
              <a:defRPr sz="1766"/>
            </a:lvl8pPr>
            <a:lvl9pPr>
              <a:defRPr sz="1766"/>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5342805" y="1638386"/>
            <a:ext cx="4655939" cy="4633874"/>
          </a:xfrm>
        </p:spPr>
        <p:txBody>
          <a:bodyPr/>
          <a:lstStyle>
            <a:lvl1pPr>
              <a:defRPr sz="2748"/>
            </a:lvl1pPr>
            <a:lvl2pPr>
              <a:defRPr sz="2355"/>
            </a:lvl2pPr>
            <a:lvl3pPr>
              <a:defRPr sz="1963"/>
            </a:lvl3pPr>
            <a:lvl4pPr>
              <a:defRPr sz="1766"/>
            </a:lvl4pPr>
            <a:lvl5pPr>
              <a:defRPr sz="1766"/>
            </a:lvl5pPr>
            <a:lvl6pPr>
              <a:defRPr sz="1766"/>
            </a:lvl6pPr>
            <a:lvl7pPr>
              <a:defRPr sz="1766"/>
            </a:lvl7pPr>
            <a:lvl8pPr>
              <a:defRPr sz="1766"/>
            </a:lvl8pPr>
            <a:lvl9pPr>
              <a:defRPr sz="1766"/>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13508425-8C88-4481-89B8-EAA2F9D4D3CA}"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6" name="フッター プレースホルダー 5"/>
          <p:cNvSpPr>
            <a:spLocks noGrp="1"/>
          </p:cNvSpPr>
          <p:nvPr>
            <p:ph type="ftr" sz="quarter" idx="11"/>
          </p:nvPr>
        </p:nvSpPr>
        <p:spPr/>
        <p:txBody>
          <a:bodyPr/>
          <a:lstStyle/>
          <a:p>
            <a:endParaRPr lang="ja-JP" altLang="en-US" dirty="0">
              <a:solidFill>
                <a:prstClr val="black">
                  <a:tint val="75000"/>
                </a:prstClr>
              </a:solidFill>
            </a:endParaRPr>
          </a:p>
        </p:txBody>
      </p:sp>
      <p:sp>
        <p:nvSpPr>
          <p:cNvPr id="7" name="スライド番号プレースホルダー 6"/>
          <p:cNvSpPr>
            <a:spLocks noGrp="1"/>
          </p:cNvSpPr>
          <p:nvPr>
            <p:ph type="sldNum" sz="quarter" idx="12"/>
          </p:nvPr>
        </p:nvSpPr>
        <p:spPr/>
        <p:txBody>
          <a:body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24784190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86063" y="281187"/>
            <a:ext cx="8748236" cy="1170252"/>
          </a:xfrm>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86058" y="1571716"/>
            <a:ext cx="4294805" cy="655016"/>
          </a:xfrm>
        </p:spPr>
        <p:txBody>
          <a:bodyPr anchor="b"/>
          <a:lstStyle>
            <a:lvl1pPr marL="0" indent="0">
              <a:buNone/>
              <a:defRPr sz="2355" b="1"/>
            </a:lvl1pPr>
            <a:lvl2pPr marL="448040" indent="0">
              <a:buNone/>
              <a:defRPr sz="1963" b="1"/>
            </a:lvl2pPr>
            <a:lvl3pPr marL="896081" indent="0">
              <a:buNone/>
              <a:defRPr sz="1766" b="1"/>
            </a:lvl3pPr>
            <a:lvl4pPr marL="1344121" indent="0">
              <a:buNone/>
              <a:defRPr sz="1570" b="1"/>
            </a:lvl4pPr>
            <a:lvl5pPr marL="1792160" indent="0">
              <a:buNone/>
              <a:defRPr sz="1570" b="1"/>
            </a:lvl5pPr>
            <a:lvl6pPr marL="2240200" indent="0">
              <a:buNone/>
              <a:defRPr sz="1570" b="1"/>
            </a:lvl6pPr>
            <a:lvl7pPr marL="2688241" indent="0">
              <a:buNone/>
              <a:defRPr sz="1570" b="1"/>
            </a:lvl7pPr>
            <a:lvl8pPr marL="3136282" indent="0">
              <a:buNone/>
              <a:defRPr sz="1570" b="1"/>
            </a:lvl8pPr>
            <a:lvl9pPr marL="3584321" indent="0">
              <a:buNone/>
              <a:defRPr sz="157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86058" y="2226730"/>
            <a:ext cx="4294805" cy="4045497"/>
          </a:xfrm>
        </p:spPr>
        <p:txBody>
          <a:bodyPr/>
          <a:lstStyle>
            <a:lvl1pPr>
              <a:defRPr sz="2355"/>
            </a:lvl1pPr>
            <a:lvl2pPr>
              <a:defRPr sz="1963"/>
            </a:lvl2pPr>
            <a:lvl3pPr>
              <a:defRPr sz="1766"/>
            </a:lvl3pPr>
            <a:lvl4pPr>
              <a:defRPr sz="1570"/>
            </a:lvl4pPr>
            <a:lvl5pPr>
              <a:defRPr sz="1570"/>
            </a:lvl5pPr>
            <a:lvl6pPr>
              <a:defRPr sz="1570"/>
            </a:lvl6pPr>
            <a:lvl7pPr>
              <a:defRPr sz="1570"/>
            </a:lvl7pPr>
            <a:lvl8pPr>
              <a:defRPr sz="1570"/>
            </a:lvl8pPr>
            <a:lvl9pPr>
              <a:defRPr sz="157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937766" y="1571716"/>
            <a:ext cx="4296491" cy="655016"/>
          </a:xfrm>
        </p:spPr>
        <p:txBody>
          <a:bodyPr anchor="b"/>
          <a:lstStyle>
            <a:lvl1pPr marL="0" indent="0">
              <a:buNone/>
              <a:defRPr sz="2355" b="1"/>
            </a:lvl1pPr>
            <a:lvl2pPr marL="448040" indent="0">
              <a:buNone/>
              <a:defRPr sz="1963" b="1"/>
            </a:lvl2pPr>
            <a:lvl3pPr marL="896081" indent="0">
              <a:buNone/>
              <a:defRPr sz="1766" b="1"/>
            </a:lvl3pPr>
            <a:lvl4pPr marL="1344121" indent="0">
              <a:buNone/>
              <a:defRPr sz="1570" b="1"/>
            </a:lvl4pPr>
            <a:lvl5pPr marL="1792160" indent="0">
              <a:buNone/>
              <a:defRPr sz="1570" b="1"/>
            </a:lvl5pPr>
            <a:lvl6pPr marL="2240200" indent="0">
              <a:buNone/>
              <a:defRPr sz="1570" b="1"/>
            </a:lvl6pPr>
            <a:lvl7pPr marL="2688241" indent="0">
              <a:buNone/>
              <a:defRPr sz="1570" b="1"/>
            </a:lvl7pPr>
            <a:lvl8pPr marL="3136282" indent="0">
              <a:buNone/>
              <a:defRPr sz="1570" b="1"/>
            </a:lvl8pPr>
            <a:lvl9pPr marL="3584321" indent="0">
              <a:buNone/>
              <a:defRPr sz="157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937766" y="2226730"/>
            <a:ext cx="4296491" cy="4045497"/>
          </a:xfrm>
        </p:spPr>
        <p:txBody>
          <a:bodyPr/>
          <a:lstStyle>
            <a:lvl1pPr>
              <a:defRPr sz="2355"/>
            </a:lvl1pPr>
            <a:lvl2pPr>
              <a:defRPr sz="1963"/>
            </a:lvl2pPr>
            <a:lvl3pPr>
              <a:defRPr sz="1766"/>
            </a:lvl3pPr>
            <a:lvl4pPr>
              <a:defRPr sz="1570"/>
            </a:lvl4pPr>
            <a:lvl5pPr>
              <a:defRPr sz="1570"/>
            </a:lvl5pPr>
            <a:lvl6pPr>
              <a:defRPr sz="1570"/>
            </a:lvl6pPr>
            <a:lvl7pPr>
              <a:defRPr sz="1570"/>
            </a:lvl7pPr>
            <a:lvl8pPr>
              <a:defRPr sz="1570"/>
            </a:lvl8pPr>
            <a:lvl9pPr>
              <a:defRPr sz="157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EF605288-80B9-4414-B0DD-40AD2C7E3132}"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8" name="フッター プレースホルダー 7"/>
          <p:cNvSpPr>
            <a:spLocks noGrp="1"/>
          </p:cNvSpPr>
          <p:nvPr>
            <p:ph type="ftr" sz="quarter" idx="11"/>
          </p:nvPr>
        </p:nvSpPr>
        <p:spPr/>
        <p:txBody>
          <a:bodyPr/>
          <a:lstStyle/>
          <a:p>
            <a:endParaRPr lang="ja-JP" altLang="en-US" dirty="0">
              <a:solidFill>
                <a:prstClr val="black">
                  <a:tint val="75000"/>
                </a:prstClr>
              </a:solidFill>
            </a:endParaRPr>
          </a:p>
        </p:txBody>
      </p:sp>
      <p:sp>
        <p:nvSpPr>
          <p:cNvPr id="9" name="スライド番号プレースホルダー 8"/>
          <p:cNvSpPr>
            <a:spLocks noGrp="1"/>
          </p:cNvSpPr>
          <p:nvPr>
            <p:ph type="sldNum" sz="quarter" idx="12"/>
          </p:nvPr>
        </p:nvSpPr>
        <p:spPr/>
        <p:txBody>
          <a:body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37729861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A5CA4026-1C1A-4434-B6AC-50D4EE102B9C}"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4" name="フッター プレースホルダー 3"/>
          <p:cNvSpPr>
            <a:spLocks noGrp="1"/>
          </p:cNvSpPr>
          <p:nvPr>
            <p:ph type="ftr" sz="quarter" idx="11"/>
          </p:nvPr>
        </p:nvSpPr>
        <p:spPr/>
        <p:txBody>
          <a:bodyPr/>
          <a:lstStyle/>
          <a:p>
            <a:endParaRPr lang="ja-JP" altLang="en-US" dirty="0">
              <a:solidFill>
                <a:prstClr val="black">
                  <a:tint val="75000"/>
                </a:prstClr>
              </a:solidFill>
            </a:endParaRPr>
          </a:p>
        </p:txBody>
      </p:sp>
      <p:sp>
        <p:nvSpPr>
          <p:cNvPr id="5" name="スライド番号プレースホルダー 4"/>
          <p:cNvSpPr>
            <a:spLocks noGrp="1"/>
          </p:cNvSpPr>
          <p:nvPr>
            <p:ph type="sldNum" sz="quarter" idx="12"/>
          </p:nvPr>
        </p:nvSpPr>
        <p:spPr/>
        <p:txBody>
          <a:body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17083930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C06D3C09-AB1E-49E3-B9D1-F60E69FCBB55}"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3" name="フッター プレースホルダー 2"/>
          <p:cNvSpPr>
            <a:spLocks noGrp="1"/>
          </p:cNvSpPr>
          <p:nvPr>
            <p:ph type="ftr" sz="quarter" idx="11"/>
          </p:nvPr>
        </p:nvSpPr>
        <p:spPr/>
        <p:txBody>
          <a:bodyPr/>
          <a:lstStyle/>
          <a:p>
            <a:endParaRPr lang="ja-JP" altLang="en-US" dirty="0">
              <a:solidFill>
                <a:prstClr val="black">
                  <a:tint val="75000"/>
                </a:prstClr>
              </a:solidFill>
            </a:endParaRPr>
          </a:p>
        </p:txBody>
      </p:sp>
      <p:sp>
        <p:nvSpPr>
          <p:cNvPr id="4" name="スライド番号プレースホルダー 3"/>
          <p:cNvSpPr>
            <a:spLocks noGrp="1"/>
          </p:cNvSpPr>
          <p:nvPr>
            <p:ph type="sldNum" sz="quarter" idx="12"/>
          </p:nvPr>
        </p:nvSpPr>
        <p:spPr/>
        <p:txBody>
          <a:body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30970007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86061" y="279563"/>
            <a:ext cx="3197900" cy="1189757"/>
          </a:xfrm>
        </p:spPr>
        <p:txBody>
          <a:bodyPr anchor="b"/>
          <a:lstStyle>
            <a:lvl1pPr algn="l">
              <a:defRPr sz="1963"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800369" y="279566"/>
            <a:ext cx="5433897" cy="5992667"/>
          </a:xfrm>
        </p:spPr>
        <p:txBody>
          <a:bodyPr/>
          <a:lstStyle>
            <a:lvl1pPr>
              <a:defRPr sz="3140"/>
            </a:lvl1pPr>
            <a:lvl2pPr>
              <a:defRPr sz="2748"/>
            </a:lvl2pPr>
            <a:lvl3pPr>
              <a:defRPr sz="2355"/>
            </a:lvl3pPr>
            <a:lvl4pPr>
              <a:defRPr sz="1963"/>
            </a:lvl4pPr>
            <a:lvl5pPr>
              <a:defRPr sz="1963"/>
            </a:lvl5pPr>
            <a:lvl6pPr>
              <a:defRPr sz="1963"/>
            </a:lvl6pPr>
            <a:lvl7pPr>
              <a:defRPr sz="1963"/>
            </a:lvl7pPr>
            <a:lvl8pPr>
              <a:defRPr sz="1963"/>
            </a:lvl8pPr>
            <a:lvl9pPr>
              <a:defRPr sz="1963"/>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86061" y="1469320"/>
            <a:ext cx="3197900" cy="4802909"/>
          </a:xfrm>
        </p:spPr>
        <p:txBody>
          <a:bodyPr/>
          <a:lstStyle>
            <a:lvl1pPr marL="0" indent="0">
              <a:buNone/>
              <a:defRPr sz="1374"/>
            </a:lvl1pPr>
            <a:lvl2pPr marL="448040" indent="0">
              <a:buNone/>
              <a:defRPr sz="1178"/>
            </a:lvl2pPr>
            <a:lvl3pPr marL="896081" indent="0">
              <a:buNone/>
              <a:defRPr sz="981"/>
            </a:lvl3pPr>
            <a:lvl4pPr marL="1344121" indent="0">
              <a:buNone/>
              <a:defRPr sz="883"/>
            </a:lvl4pPr>
            <a:lvl5pPr marL="1792160" indent="0">
              <a:buNone/>
              <a:defRPr sz="883"/>
            </a:lvl5pPr>
            <a:lvl6pPr marL="2240200" indent="0">
              <a:buNone/>
              <a:defRPr sz="883"/>
            </a:lvl6pPr>
            <a:lvl7pPr marL="2688241" indent="0">
              <a:buNone/>
              <a:defRPr sz="883"/>
            </a:lvl7pPr>
            <a:lvl8pPr marL="3136282" indent="0">
              <a:buNone/>
              <a:defRPr sz="883"/>
            </a:lvl8pPr>
            <a:lvl9pPr marL="3584321" indent="0">
              <a:buNone/>
              <a:defRPr sz="883"/>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714CF17F-91BE-449B-AB65-35580F09F9B2}"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6" name="フッター プレースホルダー 5"/>
          <p:cNvSpPr>
            <a:spLocks noGrp="1"/>
          </p:cNvSpPr>
          <p:nvPr>
            <p:ph type="ftr" sz="quarter" idx="11"/>
          </p:nvPr>
        </p:nvSpPr>
        <p:spPr/>
        <p:txBody>
          <a:bodyPr/>
          <a:lstStyle/>
          <a:p>
            <a:endParaRPr lang="ja-JP" altLang="en-US" dirty="0">
              <a:solidFill>
                <a:prstClr val="black">
                  <a:tint val="75000"/>
                </a:prstClr>
              </a:solidFill>
            </a:endParaRPr>
          </a:p>
        </p:txBody>
      </p:sp>
      <p:sp>
        <p:nvSpPr>
          <p:cNvPr id="7" name="スライド番号プレースホルダー 6"/>
          <p:cNvSpPr>
            <a:spLocks noGrp="1"/>
          </p:cNvSpPr>
          <p:nvPr>
            <p:ph type="sldNum" sz="quarter" idx="12"/>
          </p:nvPr>
        </p:nvSpPr>
        <p:spPr/>
        <p:txBody>
          <a:body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34701140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05244" y="4915085"/>
            <a:ext cx="5832158" cy="580251"/>
          </a:xfrm>
        </p:spPr>
        <p:txBody>
          <a:bodyPr anchor="b"/>
          <a:lstStyle>
            <a:lvl1pPr algn="l">
              <a:defRPr sz="1963" b="1"/>
            </a:lvl1pPr>
          </a:lstStyle>
          <a:p>
            <a:r>
              <a:rPr kumimoji="1" lang="ja-JP" altLang="en-US"/>
              <a:t>マスター タイトルの書式設定</a:t>
            </a:r>
          </a:p>
        </p:txBody>
      </p:sp>
      <p:sp>
        <p:nvSpPr>
          <p:cNvPr id="3" name="図プレースホルダー 2"/>
          <p:cNvSpPr>
            <a:spLocks noGrp="1"/>
          </p:cNvSpPr>
          <p:nvPr>
            <p:ph type="pic" idx="1"/>
          </p:nvPr>
        </p:nvSpPr>
        <p:spPr>
          <a:xfrm>
            <a:off x="1905244" y="627412"/>
            <a:ext cx="5832158" cy="4212908"/>
          </a:xfrm>
        </p:spPr>
        <p:txBody>
          <a:bodyPr/>
          <a:lstStyle>
            <a:lvl1pPr marL="0" indent="0">
              <a:buNone/>
              <a:defRPr sz="3140"/>
            </a:lvl1pPr>
            <a:lvl2pPr marL="448040" indent="0">
              <a:buNone/>
              <a:defRPr sz="2748"/>
            </a:lvl2pPr>
            <a:lvl3pPr marL="896081" indent="0">
              <a:buNone/>
              <a:defRPr sz="2355"/>
            </a:lvl3pPr>
            <a:lvl4pPr marL="1344121" indent="0">
              <a:buNone/>
              <a:defRPr sz="1963"/>
            </a:lvl4pPr>
            <a:lvl5pPr marL="1792160" indent="0">
              <a:buNone/>
              <a:defRPr sz="1963"/>
            </a:lvl5pPr>
            <a:lvl6pPr marL="2240200" indent="0">
              <a:buNone/>
              <a:defRPr sz="1963"/>
            </a:lvl6pPr>
            <a:lvl7pPr marL="2688241" indent="0">
              <a:buNone/>
              <a:defRPr sz="1963"/>
            </a:lvl7pPr>
            <a:lvl8pPr marL="3136282" indent="0">
              <a:buNone/>
              <a:defRPr sz="1963"/>
            </a:lvl8pPr>
            <a:lvl9pPr marL="3584321" indent="0">
              <a:buNone/>
              <a:defRPr sz="1963"/>
            </a:lvl9pPr>
          </a:lstStyle>
          <a:p>
            <a:endParaRPr kumimoji="1" lang="ja-JP" altLang="en-US" dirty="0"/>
          </a:p>
        </p:txBody>
      </p:sp>
      <p:sp>
        <p:nvSpPr>
          <p:cNvPr id="4" name="テキスト プレースホルダー 3"/>
          <p:cNvSpPr>
            <a:spLocks noGrp="1"/>
          </p:cNvSpPr>
          <p:nvPr>
            <p:ph type="body" sz="half" idx="2"/>
          </p:nvPr>
        </p:nvSpPr>
        <p:spPr>
          <a:xfrm>
            <a:off x="1905244" y="5495312"/>
            <a:ext cx="5832158" cy="824052"/>
          </a:xfrm>
        </p:spPr>
        <p:txBody>
          <a:bodyPr/>
          <a:lstStyle>
            <a:lvl1pPr marL="0" indent="0">
              <a:buNone/>
              <a:defRPr sz="1374"/>
            </a:lvl1pPr>
            <a:lvl2pPr marL="448040" indent="0">
              <a:buNone/>
              <a:defRPr sz="1178"/>
            </a:lvl2pPr>
            <a:lvl3pPr marL="896081" indent="0">
              <a:buNone/>
              <a:defRPr sz="981"/>
            </a:lvl3pPr>
            <a:lvl4pPr marL="1344121" indent="0">
              <a:buNone/>
              <a:defRPr sz="883"/>
            </a:lvl4pPr>
            <a:lvl5pPr marL="1792160" indent="0">
              <a:buNone/>
              <a:defRPr sz="883"/>
            </a:lvl5pPr>
            <a:lvl6pPr marL="2240200" indent="0">
              <a:buNone/>
              <a:defRPr sz="883"/>
            </a:lvl6pPr>
            <a:lvl7pPr marL="2688241" indent="0">
              <a:buNone/>
              <a:defRPr sz="883"/>
            </a:lvl7pPr>
            <a:lvl8pPr marL="3136282" indent="0">
              <a:buNone/>
              <a:defRPr sz="883"/>
            </a:lvl8pPr>
            <a:lvl9pPr marL="3584321" indent="0">
              <a:buNone/>
              <a:defRPr sz="883"/>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FFDEFBE8-8B60-4C0A-B9C3-88FDEAE6C5DD}"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6" name="フッター プレースホルダー 5"/>
          <p:cNvSpPr>
            <a:spLocks noGrp="1"/>
          </p:cNvSpPr>
          <p:nvPr>
            <p:ph type="ftr" sz="quarter" idx="11"/>
          </p:nvPr>
        </p:nvSpPr>
        <p:spPr/>
        <p:txBody>
          <a:bodyPr/>
          <a:lstStyle/>
          <a:p>
            <a:endParaRPr lang="ja-JP" altLang="en-US" dirty="0">
              <a:solidFill>
                <a:prstClr val="black">
                  <a:tint val="75000"/>
                </a:prstClr>
              </a:solidFill>
            </a:endParaRPr>
          </a:p>
        </p:txBody>
      </p:sp>
      <p:sp>
        <p:nvSpPr>
          <p:cNvPr id="7" name="スライド番号プレースホルダー 6"/>
          <p:cNvSpPr>
            <a:spLocks noGrp="1"/>
          </p:cNvSpPr>
          <p:nvPr>
            <p:ph type="sldNum" sz="quarter" idx="12"/>
          </p:nvPr>
        </p:nvSpPr>
        <p:spPr/>
        <p:txBody>
          <a:body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34862390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94DD834-C935-4C8A-ACAE-DFCE7671D209}"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dirty="0">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7704985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631094" y="281214"/>
            <a:ext cx="2367627" cy="5991040"/>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526534" y="281214"/>
            <a:ext cx="6942564" cy="5991040"/>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901DDC8-04F3-472F-B6E8-4C9BBD951096}"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dirty="0">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B1C9D502-7DD1-418A-AEC2-39ED2C6C71DC}" type="slidenum">
              <a:rPr lang="ja-JP" altLang="en-US" smtClean="0">
                <a:solidFill>
                  <a:prstClr val="black"/>
                </a:solidFill>
              </a:rPr>
              <a:pPr/>
              <a:t>‹#›</a:t>
            </a:fld>
            <a:endParaRPr lang="ja-JP" altLang="en-US" dirty="0">
              <a:solidFill>
                <a:prstClr val="black"/>
              </a:solidFill>
            </a:endParaRPr>
          </a:p>
        </p:txBody>
      </p:sp>
    </p:spTree>
    <p:extLst>
      <p:ext uri="{BB962C8B-B14F-4D97-AF65-F5344CB8AC3E}">
        <p14:creationId xmlns:p14="http://schemas.microsoft.com/office/powerpoint/2010/main" val="1977189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9020" y="2181222"/>
            <a:ext cx="8262223" cy="1505074"/>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458040" y="3978858"/>
            <a:ext cx="6804184" cy="1794387"/>
          </a:xfrm>
        </p:spPr>
        <p:txBody>
          <a:bodyPr/>
          <a:lstStyle>
            <a:lvl1pPr marL="0" indent="0" algn="ctr">
              <a:buNone/>
              <a:defRPr>
                <a:solidFill>
                  <a:schemeClr val="tx1">
                    <a:tint val="75000"/>
                  </a:schemeClr>
                </a:solidFill>
              </a:defRPr>
            </a:lvl1pPr>
            <a:lvl2pPr marL="448605" indent="0" algn="ctr">
              <a:buNone/>
              <a:defRPr>
                <a:solidFill>
                  <a:schemeClr val="tx1">
                    <a:tint val="75000"/>
                  </a:schemeClr>
                </a:solidFill>
              </a:defRPr>
            </a:lvl2pPr>
            <a:lvl3pPr marL="897212" indent="0" algn="ctr">
              <a:buNone/>
              <a:defRPr>
                <a:solidFill>
                  <a:schemeClr val="tx1">
                    <a:tint val="75000"/>
                  </a:schemeClr>
                </a:solidFill>
              </a:defRPr>
            </a:lvl3pPr>
            <a:lvl4pPr marL="1345817" indent="0" algn="ctr">
              <a:buNone/>
              <a:defRPr>
                <a:solidFill>
                  <a:schemeClr val="tx1">
                    <a:tint val="75000"/>
                  </a:schemeClr>
                </a:solidFill>
              </a:defRPr>
            </a:lvl4pPr>
            <a:lvl5pPr marL="1794425" indent="0" algn="ctr">
              <a:buNone/>
              <a:defRPr>
                <a:solidFill>
                  <a:schemeClr val="tx1">
                    <a:tint val="75000"/>
                  </a:schemeClr>
                </a:solidFill>
              </a:defRPr>
            </a:lvl5pPr>
            <a:lvl6pPr marL="2243030" indent="0" algn="ctr">
              <a:buNone/>
              <a:defRPr>
                <a:solidFill>
                  <a:schemeClr val="tx1">
                    <a:tint val="75000"/>
                  </a:schemeClr>
                </a:solidFill>
              </a:defRPr>
            </a:lvl6pPr>
            <a:lvl7pPr marL="2691636" indent="0" algn="ctr">
              <a:buNone/>
              <a:defRPr>
                <a:solidFill>
                  <a:schemeClr val="tx1">
                    <a:tint val="75000"/>
                  </a:schemeClr>
                </a:solidFill>
              </a:defRPr>
            </a:lvl7pPr>
            <a:lvl8pPr marL="3140242" indent="0" algn="ctr">
              <a:buNone/>
              <a:defRPr>
                <a:solidFill>
                  <a:schemeClr val="tx1">
                    <a:tint val="75000"/>
                  </a:schemeClr>
                </a:solidFill>
              </a:defRPr>
            </a:lvl8pPr>
            <a:lvl9pPr marL="3588848"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B419DAA7-FE44-42FF-8B80-134704FC235E}" type="datetime1">
              <a:rPr kumimoji="1" lang="ja-JP" altLang="en-US" smtClean="0"/>
              <a:t>2023/12/26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a:xfrm>
            <a:off x="7444940" y="6647684"/>
            <a:ext cx="2268061" cy="373831"/>
          </a:xfrm>
        </p:spPr>
        <p:txBody>
          <a:bodyPr/>
          <a:lstStyle>
            <a:lvl1pPr>
              <a:defRPr>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3321950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20827CD-C2FB-48D9-8C09-8E33BB3BB220}" type="datetime1">
              <a:rPr kumimoji="1" lang="ja-JP" altLang="en-US" smtClean="0"/>
              <a:t>2023/12/26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a:xfrm>
            <a:off x="7452202" y="6647684"/>
            <a:ext cx="2268061" cy="373831"/>
          </a:xfrm>
        </p:spPr>
        <p:txBody>
          <a:bodyPr/>
          <a:lstStyle>
            <a:lvl1pPr>
              <a:defRPr>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7377706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67834" y="4511975"/>
            <a:ext cx="8262223" cy="1394550"/>
          </a:xfrm>
        </p:spPr>
        <p:txBody>
          <a:bodyPr anchor="t"/>
          <a:lstStyle>
            <a:lvl1pPr algn="l">
              <a:defRPr sz="3925"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67834" y="2976020"/>
            <a:ext cx="8262223" cy="1535955"/>
          </a:xfrm>
        </p:spPr>
        <p:txBody>
          <a:bodyPr anchor="b"/>
          <a:lstStyle>
            <a:lvl1pPr marL="0" indent="0">
              <a:buNone/>
              <a:defRPr sz="1962">
                <a:solidFill>
                  <a:schemeClr val="tx1">
                    <a:tint val="75000"/>
                  </a:schemeClr>
                </a:solidFill>
              </a:defRPr>
            </a:lvl1pPr>
            <a:lvl2pPr marL="448605" indent="0">
              <a:buNone/>
              <a:defRPr sz="1766">
                <a:solidFill>
                  <a:schemeClr val="tx1">
                    <a:tint val="75000"/>
                  </a:schemeClr>
                </a:solidFill>
              </a:defRPr>
            </a:lvl2pPr>
            <a:lvl3pPr marL="897212" indent="0">
              <a:buNone/>
              <a:defRPr sz="1570">
                <a:solidFill>
                  <a:schemeClr val="tx1">
                    <a:tint val="75000"/>
                  </a:schemeClr>
                </a:solidFill>
              </a:defRPr>
            </a:lvl3pPr>
            <a:lvl4pPr marL="1345817" indent="0">
              <a:buNone/>
              <a:defRPr sz="1373">
                <a:solidFill>
                  <a:schemeClr val="tx1">
                    <a:tint val="75000"/>
                  </a:schemeClr>
                </a:solidFill>
              </a:defRPr>
            </a:lvl4pPr>
            <a:lvl5pPr marL="1794425" indent="0">
              <a:buNone/>
              <a:defRPr sz="1373">
                <a:solidFill>
                  <a:schemeClr val="tx1">
                    <a:tint val="75000"/>
                  </a:schemeClr>
                </a:solidFill>
              </a:defRPr>
            </a:lvl5pPr>
            <a:lvl6pPr marL="2243030" indent="0">
              <a:buNone/>
              <a:defRPr sz="1373">
                <a:solidFill>
                  <a:schemeClr val="tx1">
                    <a:tint val="75000"/>
                  </a:schemeClr>
                </a:solidFill>
              </a:defRPr>
            </a:lvl6pPr>
            <a:lvl7pPr marL="2691636" indent="0">
              <a:buNone/>
              <a:defRPr sz="1373">
                <a:solidFill>
                  <a:schemeClr val="tx1">
                    <a:tint val="75000"/>
                  </a:schemeClr>
                </a:solidFill>
              </a:defRPr>
            </a:lvl7pPr>
            <a:lvl8pPr marL="3140242" indent="0">
              <a:buNone/>
              <a:defRPr sz="1373">
                <a:solidFill>
                  <a:schemeClr val="tx1">
                    <a:tint val="75000"/>
                  </a:schemeClr>
                </a:solidFill>
              </a:defRPr>
            </a:lvl8pPr>
            <a:lvl9pPr marL="3588848" indent="0">
              <a:buNone/>
              <a:defRPr sz="1373">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A8B414B2-8142-436B-92CC-03287CCA0A95}" type="datetime1">
              <a:rPr kumimoji="1" lang="ja-JP" altLang="en-US" smtClean="0"/>
              <a:t>2023/12/26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a:xfrm>
            <a:off x="7448058" y="6647684"/>
            <a:ext cx="2268061" cy="373831"/>
          </a:xfrm>
        </p:spPr>
        <p:txBody>
          <a:bodyPr/>
          <a:lstStyle>
            <a:lvl1pPr>
              <a:defRPr>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40399484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86014" y="1638355"/>
            <a:ext cx="4293116" cy="4633874"/>
          </a:xfrm>
        </p:spPr>
        <p:txBody>
          <a:bodyPr/>
          <a:lstStyle>
            <a:lvl1pPr>
              <a:defRPr sz="2748"/>
            </a:lvl1pPr>
            <a:lvl2pPr>
              <a:defRPr sz="2355"/>
            </a:lvl2pPr>
            <a:lvl3pPr>
              <a:defRPr sz="1962"/>
            </a:lvl3pPr>
            <a:lvl4pPr>
              <a:defRPr sz="1766"/>
            </a:lvl4pPr>
            <a:lvl5pPr>
              <a:defRPr sz="1766"/>
            </a:lvl5pPr>
            <a:lvl6pPr>
              <a:defRPr sz="1766"/>
            </a:lvl6pPr>
            <a:lvl7pPr>
              <a:defRPr sz="1766"/>
            </a:lvl7pPr>
            <a:lvl8pPr>
              <a:defRPr sz="1766"/>
            </a:lvl8pPr>
            <a:lvl9pPr>
              <a:defRPr sz="1766"/>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941134" y="1638355"/>
            <a:ext cx="4293116" cy="4633874"/>
          </a:xfrm>
        </p:spPr>
        <p:txBody>
          <a:bodyPr/>
          <a:lstStyle>
            <a:lvl1pPr>
              <a:defRPr sz="2748"/>
            </a:lvl1pPr>
            <a:lvl2pPr>
              <a:defRPr sz="2355"/>
            </a:lvl2pPr>
            <a:lvl3pPr>
              <a:defRPr sz="1962"/>
            </a:lvl3pPr>
            <a:lvl4pPr>
              <a:defRPr sz="1766"/>
            </a:lvl4pPr>
            <a:lvl5pPr>
              <a:defRPr sz="1766"/>
            </a:lvl5pPr>
            <a:lvl6pPr>
              <a:defRPr sz="1766"/>
            </a:lvl6pPr>
            <a:lvl7pPr>
              <a:defRPr sz="1766"/>
            </a:lvl7pPr>
            <a:lvl8pPr>
              <a:defRPr sz="1766"/>
            </a:lvl8pPr>
            <a:lvl9pPr>
              <a:defRPr sz="1766"/>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4A436AE2-4526-4030-A397-5385A583DB0C}" type="datetime1">
              <a:rPr kumimoji="1" lang="ja-JP" altLang="en-US" smtClean="0"/>
              <a:t>2023/12/26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a:xfrm>
            <a:off x="7448882" y="6622819"/>
            <a:ext cx="2268061" cy="373831"/>
          </a:xfrm>
        </p:spPr>
        <p:txBody>
          <a:bodyPr/>
          <a:lstStyle>
            <a:lvl1pPr>
              <a:defRPr>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35875917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86013" y="1571714"/>
            <a:ext cx="4294804" cy="655016"/>
          </a:xfrm>
        </p:spPr>
        <p:txBody>
          <a:bodyPr anchor="b"/>
          <a:lstStyle>
            <a:lvl1pPr marL="0" indent="0">
              <a:buNone/>
              <a:defRPr sz="2355" b="1"/>
            </a:lvl1pPr>
            <a:lvl2pPr marL="448605" indent="0">
              <a:buNone/>
              <a:defRPr sz="1962" b="1"/>
            </a:lvl2pPr>
            <a:lvl3pPr marL="897212" indent="0">
              <a:buNone/>
              <a:defRPr sz="1766" b="1"/>
            </a:lvl3pPr>
            <a:lvl4pPr marL="1345817" indent="0">
              <a:buNone/>
              <a:defRPr sz="1570" b="1"/>
            </a:lvl4pPr>
            <a:lvl5pPr marL="1794425" indent="0">
              <a:buNone/>
              <a:defRPr sz="1570" b="1"/>
            </a:lvl5pPr>
            <a:lvl6pPr marL="2243030" indent="0">
              <a:buNone/>
              <a:defRPr sz="1570" b="1"/>
            </a:lvl6pPr>
            <a:lvl7pPr marL="2691636" indent="0">
              <a:buNone/>
              <a:defRPr sz="1570" b="1"/>
            </a:lvl7pPr>
            <a:lvl8pPr marL="3140242" indent="0">
              <a:buNone/>
              <a:defRPr sz="1570" b="1"/>
            </a:lvl8pPr>
            <a:lvl9pPr marL="3588848" indent="0">
              <a:buNone/>
              <a:defRPr sz="157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86013" y="2226730"/>
            <a:ext cx="4294804" cy="4045497"/>
          </a:xfrm>
        </p:spPr>
        <p:txBody>
          <a:bodyPr/>
          <a:lstStyle>
            <a:lvl1pPr>
              <a:defRPr sz="2355"/>
            </a:lvl1pPr>
            <a:lvl2pPr>
              <a:defRPr sz="1962"/>
            </a:lvl2pPr>
            <a:lvl3pPr>
              <a:defRPr sz="1766"/>
            </a:lvl3pPr>
            <a:lvl4pPr>
              <a:defRPr sz="1570"/>
            </a:lvl4pPr>
            <a:lvl5pPr>
              <a:defRPr sz="1570"/>
            </a:lvl5pPr>
            <a:lvl6pPr>
              <a:defRPr sz="1570"/>
            </a:lvl6pPr>
            <a:lvl7pPr>
              <a:defRPr sz="1570"/>
            </a:lvl7pPr>
            <a:lvl8pPr>
              <a:defRPr sz="1570"/>
            </a:lvl8pPr>
            <a:lvl9pPr>
              <a:defRPr sz="157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937759" y="1571714"/>
            <a:ext cx="4296492" cy="655016"/>
          </a:xfrm>
        </p:spPr>
        <p:txBody>
          <a:bodyPr anchor="b"/>
          <a:lstStyle>
            <a:lvl1pPr marL="0" indent="0">
              <a:buNone/>
              <a:defRPr sz="2355" b="1"/>
            </a:lvl1pPr>
            <a:lvl2pPr marL="448605" indent="0">
              <a:buNone/>
              <a:defRPr sz="1962" b="1"/>
            </a:lvl2pPr>
            <a:lvl3pPr marL="897212" indent="0">
              <a:buNone/>
              <a:defRPr sz="1766" b="1"/>
            </a:lvl3pPr>
            <a:lvl4pPr marL="1345817" indent="0">
              <a:buNone/>
              <a:defRPr sz="1570" b="1"/>
            </a:lvl4pPr>
            <a:lvl5pPr marL="1794425" indent="0">
              <a:buNone/>
              <a:defRPr sz="1570" b="1"/>
            </a:lvl5pPr>
            <a:lvl6pPr marL="2243030" indent="0">
              <a:buNone/>
              <a:defRPr sz="1570" b="1"/>
            </a:lvl6pPr>
            <a:lvl7pPr marL="2691636" indent="0">
              <a:buNone/>
              <a:defRPr sz="1570" b="1"/>
            </a:lvl7pPr>
            <a:lvl8pPr marL="3140242" indent="0">
              <a:buNone/>
              <a:defRPr sz="1570" b="1"/>
            </a:lvl8pPr>
            <a:lvl9pPr marL="3588848" indent="0">
              <a:buNone/>
              <a:defRPr sz="157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937759" y="2226730"/>
            <a:ext cx="4296492" cy="4045497"/>
          </a:xfrm>
        </p:spPr>
        <p:txBody>
          <a:bodyPr/>
          <a:lstStyle>
            <a:lvl1pPr>
              <a:defRPr sz="2355"/>
            </a:lvl1pPr>
            <a:lvl2pPr>
              <a:defRPr sz="1962"/>
            </a:lvl2pPr>
            <a:lvl3pPr>
              <a:defRPr sz="1766"/>
            </a:lvl3pPr>
            <a:lvl4pPr>
              <a:defRPr sz="1570"/>
            </a:lvl4pPr>
            <a:lvl5pPr>
              <a:defRPr sz="1570"/>
            </a:lvl5pPr>
            <a:lvl6pPr>
              <a:defRPr sz="1570"/>
            </a:lvl6pPr>
            <a:lvl7pPr>
              <a:defRPr sz="1570"/>
            </a:lvl7pPr>
            <a:lvl8pPr>
              <a:defRPr sz="1570"/>
            </a:lvl8pPr>
            <a:lvl9pPr>
              <a:defRPr sz="157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EC245431-E16A-4B38-BE58-A3FD4DB789BB}" type="datetime1">
              <a:rPr kumimoji="1" lang="ja-JP" altLang="en-US" smtClean="0"/>
              <a:t>2023/12/26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a:xfrm>
            <a:off x="7452202" y="6647684"/>
            <a:ext cx="2268061" cy="373831"/>
          </a:xfrm>
        </p:spPr>
        <p:txBody>
          <a:bodyPr/>
          <a:lstStyle>
            <a:lvl1pPr>
              <a:defRPr>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37490284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C13AF159-55EA-488F-A0DA-65C3125602A0}" type="datetime1">
              <a:rPr kumimoji="1" lang="ja-JP" altLang="en-US" smtClean="0"/>
              <a:t>2023/12/26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a:xfrm>
            <a:off x="7403815" y="6613573"/>
            <a:ext cx="2268061" cy="373831"/>
          </a:xfrm>
        </p:spPr>
        <p:txBody>
          <a:bodyPr/>
          <a:lstStyle>
            <a:lvl1pPr>
              <a:defRPr sz="1174">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9884873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6AB9CA1-C376-4F22-80C7-2EFF4FC7EF0C}" type="datetime1">
              <a:rPr kumimoji="1" lang="ja-JP" altLang="en-US" smtClean="0"/>
              <a:t>2023/12/26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a:xfrm>
            <a:off x="7424702" y="6647684"/>
            <a:ext cx="2268061" cy="373831"/>
          </a:xfrm>
        </p:spPr>
        <p:txBody>
          <a:bodyPr/>
          <a:lstStyle>
            <a:lvl1pPr>
              <a:defRPr>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3988742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86014" y="279560"/>
            <a:ext cx="3197899" cy="1189756"/>
          </a:xfrm>
        </p:spPr>
        <p:txBody>
          <a:bodyPr anchor="b"/>
          <a:lstStyle>
            <a:lvl1pPr algn="l">
              <a:defRPr sz="1962"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800355" y="279563"/>
            <a:ext cx="5433897" cy="5992667"/>
          </a:xfrm>
        </p:spPr>
        <p:txBody>
          <a:bodyPr/>
          <a:lstStyle>
            <a:lvl1pPr>
              <a:defRPr sz="3139"/>
            </a:lvl1pPr>
            <a:lvl2pPr>
              <a:defRPr sz="2748"/>
            </a:lvl2pPr>
            <a:lvl3pPr>
              <a:defRPr sz="2355"/>
            </a:lvl3pPr>
            <a:lvl4pPr>
              <a:defRPr sz="1962"/>
            </a:lvl4pPr>
            <a:lvl5pPr>
              <a:defRPr sz="1962"/>
            </a:lvl5pPr>
            <a:lvl6pPr>
              <a:defRPr sz="1962"/>
            </a:lvl6pPr>
            <a:lvl7pPr>
              <a:defRPr sz="1962"/>
            </a:lvl7pPr>
            <a:lvl8pPr>
              <a:defRPr sz="1962"/>
            </a:lvl8pPr>
            <a:lvl9pPr>
              <a:defRPr sz="1962"/>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86014" y="1469319"/>
            <a:ext cx="3197899" cy="4802910"/>
          </a:xfrm>
        </p:spPr>
        <p:txBody>
          <a:bodyPr/>
          <a:lstStyle>
            <a:lvl1pPr marL="0" indent="0">
              <a:buNone/>
              <a:defRPr sz="1373"/>
            </a:lvl1pPr>
            <a:lvl2pPr marL="448605" indent="0">
              <a:buNone/>
              <a:defRPr sz="1177"/>
            </a:lvl2pPr>
            <a:lvl3pPr marL="897212" indent="0">
              <a:buNone/>
              <a:defRPr sz="981"/>
            </a:lvl3pPr>
            <a:lvl4pPr marL="1345817" indent="0">
              <a:buNone/>
              <a:defRPr sz="884"/>
            </a:lvl4pPr>
            <a:lvl5pPr marL="1794425" indent="0">
              <a:buNone/>
              <a:defRPr sz="884"/>
            </a:lvl5pPr>
            <a:lvl6pPr marL="2243030" indent="0">
              <a:buNone/>
              <a:defRPr sz="884"/>
            </a:lvl6pPr>
            <a:lvl7pPr marL="2691636" indent="0">
              <a:buNone/>
              <a:defRPr sz="884"/>
            </a:lvl7pPr>
            <a:lvl8pPr marL="3140242" indent="0">
              <a:buNone/>
              <a:defRPr sz="884"/>
            </a:lvl8pPr>
            <a:lvl9pPr marL="3588848" indent="0">
              <a:buNone/>
              <a:defRPr sz="884"/>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E241ED5E-8BCA-4FD2-A79D-D3280D236FEB}" type="datetime1">
              <a:rPr kumimoji="1" lang="ja-JP" altLang="en-US" smtClean="0"/>
              <a:t>2023/12/26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a:xfrm>
            <a:off x="7452202" y="6622819"/>
            <a:ext cx="2268061" cy="373831"/>
          </a:xfrm>
        </p:spPr>
        <p:txBody>
          <a:bodyPr/>
          <a:lstStyle>
            <a:lvl1pPr>
              <a:defRPr>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12094335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05240" y="4915059"/>
            <a:ext cx="5832158" cy="580251"/>
          </a:xfrm>
        </p:spPr>
        <p:txBody>
          <a:bodyPr anchor="b"/>
          <a:lstStyle>
            <a:lvl1pPr algn="l">
              <a:defRPr sz="1962" b="1"/>
            </a:lvl1pPr>
          </a:lstStyle>
          <a:p>
            <a:r>
              <a:rPr kumimoji="1" lang="ja-JP" altLang="en-US"/>
              <a:t>マスター タイトルの書式設定</a:t>
            </a:r>
          </a:p>
        </p:txBody>
      </p:sp>
      <p:sp>
        <p:nvSpPr>
          <p:cNvPr id="3" name="図プレースホルダー 2"/>
          <p:cNvSpPr>
            <a:spLocks noGrp="1"/>
          </p:cNvSpPr>
          <p:nvPr>
            <p:ph type="pic" idx="1"/>
          </p:nvPr>
        </p:nvSpPr>
        <p:spPr>
          <a:xfrm>
            <a:off x="1905240" y="627385"/>
            <a:ext cx="5832158" cy="4212908"/>
          </a:xfrm>
        </p:spPr>
        <p:txBody>
          <a:bodyPr/>
          <a:lstStyle>
            <a:lvl1pPr marL="0" indent="0">
              <a:buNone/>
              <a:defRPr sz="3139"/>
            </a:lvl1pPr>
            <a:lvl2pPr marL="448605" indent="0">
              <a:buNone/>
              <a:defRPr sz="2748"/>
            </a:lvl2pPr>
            <a:lvl3pPr marL="897212" indent="0">
              <a:buNone/>
              <a:defRPr sz="2355"/>
            </a:lvl3pPr>
            <a:lvl4pPr marL="1345817" indent="0">
              <a:buNone/>
              <a:defRPr sz="1962"/>
            </a:lvl4pPr>
            <a:lvl5pPr marL="1794425" indent="0">
              <a:buNone/>
              <a:defRPr sz="1962"/>
            </a:lvl5pPr>
            <a:lvl6pPr marL="2243030" indent="0">
              <a:buNone/>
              <a:defRPr sz="1962"/>
            </a:lvl6pPr>
            <a:lvl7pPr marL="2691636" indent="0">
              <a:buNone/>
              <a:defRPr sz="1962"/>
            </a:lvl7pPr>
            <a:lvl8pPr marL="3140242" indent="0">
              <a:buNone/>
              <a:defRPr sz="1962"/>
            </a:lvl8pPr>
            <a:lvl9pPr marL="3588848" indent="0">
              <a:buNone/>
              <a:defRPr sz="1962"/>
            </a:lvl9pPr>
          </a:lstStyle>
          <a:p>
            <a:r>
              <a:rPr kumimoji="1" lang="ja-JP" altLang="en-US"/>
              <a:t>図を追加</a:t>
            </a:r>
          </a:p>
        </p:txBody>
      </p:sp>
      <p:sp>
        <p:nvSpPr>
          <p:cNvPr id="4" name="テキスト プレースホルダー 3"/>
          <p:cNvSpPr>
            <a:spLocks noGrp="1"/>
          </p:cNvSpPr>
          <p:nvPr>
            <p:ph type="body" sz="half" idx="2"/>
          </p:nvPr>
        </p:nvSpPr>
        <p:spPr>
          <a:xfrm>
            <a:off x="1905240" y="5495310"/>
            <a:ext cx="5832158" cy="824052"/>
          </a:xfrm>
        </p:spPr>
        <p:txBody>
          <a:bodyPr/>
          <a:lstStyle>
            <a:lvl1pPr marL="0" indent="0">
              <a:buNone/>
              <a:defRPr sz="1373"/>
            </a:lvl1pPr>
            <a:lvl2pPr marL="448605" indent="0">
              <a:buNone/>
              <a:defRPr sz="1177"/>
            </a:lvl2pPr>
            <a:lvl3pPr marL="897212" indent="0">
              <a:buNone/>
              <a:defRPr sz="981"/>
            </a:lvl3pPr>
            <a:lvl4pPr marL="1345817" indent="0">
              <a:buNone/>
              <a:defRPr sz="884"/>
            </a:lvl4pPr>
            <a:lvl5pPr marL="1794425" indent="0">
              <a:buNone/>
              <a:defRPr sz="884"/>
            </a:lvl5pPr>
            <a:lvl6pPr marL="2243030" indent="0">
              <a:buNone/>
              <a:defRPr sz="884"/>
            </a:lvl6pPr>
            <a:lvl7pPr marL="2691636" indent="0">
              <a:buNone/>
              <a:defRPr sz="884"/>
            </a:lvl7pPr>
            <a:lvl8pPr marL="3140242" indent="0">
              <a:buNone/>
              <a:defRPr sz="884"/>
            </a:lvl8pPr>
            <a:lvl9pPr marL="3588848" indent="0">
              <a:buNone/>
              <a:defRPr sz="884"/>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A637EA9-0378-4E08-BC89-DC6977BEC03D}" type="datetime1">
              <a:rPr kumimoji="1" lang="ja-JP" altLang="en-US" smtClean="0"/>
              <a:t>2023/12/26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a:xfrm>
            <a:off x="7452202" y="6647684"/>
            <a:ext cx="2268061" cy="373831"/>
          </a:xfrm>
        </p:spPr>
        <p:txBody>
          <a:bodyPr/>
          <a:lstStyle>
            <a:lvl1pPr>
              <a:defRPr>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38633839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B01A4E0-6FB9-474F-9B66-118556C6AA78}" type="datetime1">
              <a:rPr kumimoji="1" lang="ja-JP" altLang="en-US" smtClean="0"/>
              <a:t>2023/12/26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a:xfrm>
            <a:off x="7439998" y="6647684"/>
            <a:ext cx="2268061" cy="373831"/>
          </a:xfrm>
        </p:spPr>
        <p:txBody>
          <a:bodyPr/>
          <a:lstStyle>
            <a:lvl1pPr>
              <a:defRPr>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13754377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047190" y="281189"/>
            <a:ext cx="2187060" cy="5991041"/>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86014" y="281189"/>
            <a:ext cx="6399173" cy="5991041"/>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48AF0B9-284A-49E7-9EE5-0B4EC25B8491}" type="datetime1">
              <a:rPr kumimoji="1" lang="ja-JP" altLang="en-US" smtClean="0"/>
              <a:t>2023/12/26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a:xfrm>
            <a:off x="7432350" y="6647684"/>
            <a:ext cx="2268061" cy="373831"/>
          </a:xfrm>
        </p:spPr>
        <p:txBody>
          <a:bodyPr/>
          <a:lstStyle>
            <a:lvl1pPr>
              <a:defRPr>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3073026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0835" name="Rectangle 3"/>
          <p:cNvSpPr>
            <a:spLocks noGrp="1" noChangeArrowheads="1"/>
          </p:cNvSpPr>
          <p:nvPr>
            <p:ph type="title"/>
          </p:nvPr>
        </p:nvSpPr>
        <p:spPr bwMode="auto">
          <a:xfrm>
            <a:off x="267930" y="193419"/>
            <a:ext cx="8902454" cy="4047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ja-JP" altLang="en-US"/>
              <a:t>マスタ タイトルの書式設定</a:t>
            </a:r>
          </a:p>
        </p:txBody>
      </p:sp>
      <p:sp>
        <p:nvSpPr>
          <p:cNvPr id="2" name="スライド番号プレースホルダー 1"/>
          <p:cNvSpPr>
            <a:spLocks noGrp="1"/>
          </p:cNvSpPr>
          <p:nvPr>
            <p:ph type="sldNum" sz="quarter" idx="4"/>
          </p:nvPr>
        </p:nvSpPr>
        <p:spPr>
          <a:xfrm>
            <a:off x="7540295" y="6648836"/>
            <a:ext cx="2187059" cy="373831"/>
          </a:xfrm>
          <a:prstGeom prst="rect">
            <a:avLst/>
          </a:prstGeom>
        </p:spPr>
        <p:txBody>
          <a:bodyPr vert="horz" lIns="91440" tIns="45720" rIns="91440" bIns="45720" rtlCol="0" anchor="ctr"/>
          <a:lstStyle>
            <a:lvl1pPr algn="r">
              <a:defRPr sz="1178">
                <a:solidFill>
                  <a:schemeClr val="tx1"/>
                </a:solidFill>
              </a:defRPr>
            </a:lvl1pPr>
          </a:lstStyle>
          <a:p>
            <a:fld id="{1FD3AF2E-D2BE-4FD3-AF98-104E9E31AE3C}" type="slidenum">
              <a:rPr lang="ja-JP" altLang="en-US" smtClean="0"/>
              <a:pPr/>
              <a:t>‹#›</a:t>
            </a:fld>
            <a:endParaRPr lang="ja-JP" altLang="en-US" dirty="0"/>
          </a:p>
        </p:txBody>
      </p:sp>
    </p:spTree>
    <p:extLst>
      <p:ext uri="{BB962C8B-B14F-4D97-AF65-F5344CB8AC3E}">
        <p14:creationId xmlns:p14="http://schemas.microsoft.com/office/powerpoint/2010/main" val="1263456139"/>
      </p:ext>
    </p:extLst>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29" r:id="rId5"/>
    <p:sldLayoutId id="2147484230" r:id="rId6"/>
    <p:sldLayoutId id="2147484231" r:id="rId7"/>
    <p:sldLayoutId id="2147484232" r:id="rId8"/>
    <p:sldLayoutId id="2147484233" r:id="rId9"/>
    <p:sldLayoutId id="2147484234" r:id="rId10"/>
    <p:sldLayoutId id="2147484235" r:id="rId11"/>
    <p:sldLayoutId id="2147484236" r:id="rId12"/>
    <p:sldLayoutId id="2147484237" r:id="rId13"/>
  </p:sldLayoutIdLst>
  <p:transition>
    <p:push/>
  </p:transition>
  <p:hf hdr="0" ftr="0" dt="0"/>
  <p:txStyles>
    <p:titleStyle>
      <a:lvl1pPr algn="l" rtl="0" fontAlgn="base">
        <a:spcBef>
          <a:spcPct val="0"/>
        </a:spcBef>
        <a:spcAft>
          <a:spcPct val="0"/>
        </a:spcAft>
        <a:defRPr kumimoji="1" sz="2159">
          <a:solidFill>
            <a:srgbClr val="5F5F5F"/>
          </a:solidFill>
          <a:latin typeface="+mj-lt"/>
          <a:ea typeface="+mj-ea"/>
          <a:cs typeface="+mj-cs"/>
        </a:defRPr>
      </a:lvl1pPr>
      <a:lvl2pPr algn="l" rtl="0" fontAlgn="base">
        <a:spcBef>
          <a:spcPct val="0"/>
        </a:spcBef>
        <a:spcAft>
          <a:spcPct val="0"/>
        </a:spcAft>
        <a:defRPr kumimoji="1" sz="2159">
          <a:solidFill>
            <a:srgbClr val="5F5F5F"/>
          </a:solidFill>
          <a:latin typeface="メイリオ" pitchFamily="50" charset="-128"/>
          <a:ea typeface="メイリオ" pitchFamily="50" charset="-128"/>
          <a:cs typeface="ＭＳ Ｐゴシック" charset="-128"/>
        </a:defRPr>
      </a:lvl2pPr>
      <a:lvl3pPr algn="l" rtl="0" fontAlgn="base">
        <a:spcBef>
          <a:spcPct val="0"/>
        </a:spcBef>
        <a:spcAft>
          <a:spcPct val="0"/>
        </a:spcAft>
        <a:defRPr kumimoji="1" sz="2159">
          <a:solidFill>
            <a:srgbClr val="5F5F5F"/>
          </a:solidFill>
          <a:latin typeface="メイリオ" pitchFamily="50" charset="-128"/>
          <a:ea typeface="メイリオ" pitchFamily="50" charset="-128"/>
          <a:cs typeface="ＭＳ Ｐゴシック" charset="-128"/>
        </a:defRPr>
      </a:lvl3pPr>
      <a:lvl4pPr algn="l" rtl="0" fontAlgn="base">
        <a:spcBef>
          <a:spcPct val="0"/>
        </a:spcBef>
        <a:spcAft>
          <a:spcPct val="0"/>
        </a:spcAft>
        <a:defRPr kumimoji="1" sz="2159">
          <a:solidFill>
            <a:srgbClr val="5F5F5F"/>
          </a:solidFill>
          <a:latin typeface="メイリオ" pitchFamily="50" charset="-128"/>
          <a:ea typeface="メイリオ" pitchFamily="50" charset="-128"/>
          <a:cs typeface="ＭＳ Ｐゴシック" charset="-128"/>
        </a:defRPr>
      </a:lvl4pPr>
      <a:lvl5pPr algn="l" rtl="0" fontAlgn="base">
        <a:spcBef>
          <a:spcPct val="0"/>
        </a:spcBef>
        <a:spcAft>
          <a:spcPct val="0"/>
        </a:spcAft>
        <a:defRPr kumimoji="1" sz="2159">
          <a:solidFill>
            <a:srgbClr val="5F5F5F"/>
          </a:solidFill>
          <a:latin typeface="メイリオ" pitchFamily="50" charset="-128"/>
          <a:ea typeface="メイリオ" pitchFamily="50" charset="-128"/>
          <a:cs typeface="ＭＳ Ｐゴシック" charset="-128"/>
        </a:defRPr>
      </a:lvl5pPr>
      <a:lvl6pPr marL="448650" algn="l" rtl="0" fontAlgn="base">
        <a:spcBef>
          <a:spcPct val="0"/>
        </a:spcBef>
        <a:spcAft>
          <a:spcPct val="0"/>
        </a:spcAft>
        <a:defRPr kumimoji="1" sz="2159">
          <a:solidFill>
            <a:srgbClr val="5F5F5F"/>
          </a:solidFill>
          <a:latin typeface="メイリオ" pitchFamily="50" charset="-128"/>
          <a:ea typeface="メイリオ" pitchFamily="50" charset="-128"/>
          <a:cs typeface="ＭＳ Ｐゴシック" charset="-128"/>
        </a:defRPr>
      </a:lvl6pPr>
      <a:lvl7pPr marL="897301" algn="l" rtl="0" fontAlgn="base">
        <a:spcBef>
          <a:spcPct val="0"/>
        </a:spcBef>
        <a:spcAft>
          <a:spcPct val="0"/>
        </a:spcAft>
        <a:defRPr kumimoji="1" sz="2159">
          <a:solidFill>
            <a:srgbClr val="5F5F5F"/>
          </a:solidFill>
          <a:latin typeface="メイリオ" pitchFamily="50" charset="-128"/>
          <a:ea typeface="メイリオ" pitchFamily="50" charset="-128"/>
          <a:cs typeface="ＭＳ Ｐゴシック" charset="-128"/>
        </a:defRPr>
      </a:lvl7pPr>
      <a:lvl8pPr marL="1345951" algn="l" rtl="0" fontAlgn="base">
        <a:spcBef>
          <a:spcPct val="0"/>
        </a:spcBef>
        <a:spcAft>
          <a:spcPct val="0"/>
        </a:spcAft>
        <a:defRPr kumimoji="1" sz="2159">
          <a:solidFill>
            <a:srgbClr val="5F5F5F"/>
          </a:solidFill>
          <a:latin typeface="メイリオ" pitchFamily="50" charset="-128"/>
          <a:ea typeface="メイリオ" pitchFamily="50" charset="-128"/>
          <a:cs typeface="ＭＳ Ｐゴシック" charset="-128"/>
        </a:defRPr>
      </a:lvl8pPr>
      <a:lvl9pPr marL="1794601" algn="l" rtl="0" fontAlgn="base">
        <a:spcBef>
          <a:spcPct val="0"/>
        </a:spcBef>
        <a:spcAft>
          <a:spcPct val="0"/>
        </a:spcAft>
        <a:defRPr kumimoji="1" sz="2159">
          <a:solidFill>
            <a:srgbClr val="5F5F5F"/>
          </a:solidFill>
          <a:latin typeface="メイリオ" pitchFamily="50" charset="-128"/>
          <a:ea typeface="メイリオ" pitchFamily="50" charset="-128"/>
          <a:cs typeface="ＭＳ Ｐゴシック" charset="-128"/>
        </a:defRPr>
      </a:lvl9pPr>
    </p:titleStyle>
    <p:bodyStyle>
      <a:lvl1pPr marL="336488" indent="-336488" algn="l" rtl="0" fontAlgn="base">
        <a:spcBef>
          <a:spcPct val="20000"/>
        </a:spcBef>
        <a:spcAft>
          <a:spcPct val="0"/>
        </a:spcAft>
        <a:buChar char="•"/>
        <a:defRPr kumimoji="1" sz="3140">
          <a:solidFill>
            <a:schemeClr val="tx1"/>
          </a:solidFill>
          <a:latin typeface="+mn-lt"/>
          <a:ea typeface="+mn-ea"/>
          <a:cs typeface="+mn-cs"/>
        </a:defRPr>
      </a:lvl1pPr>
      <a:lvl2pPr marL="729057" indent="-280406" algn="l" rtl="0" fontAlgn="base">
        <a:spcBef>
          <a:spcPct val="20000"/>
        </a:spcBef>
        <a:spcAft>
          <a:spcPct val="0"/>
        </a:spcAft>
        <a:buChar char="–"/>
        <a:defRPr kumimoji="1" sz="2748">
          <a:solidFill>
            <a:schemeClr val="tx1"/>
          </a:solidFill>
          <a:latin typeface="+mn-lt"/>
          <a:ea typeface="+mn-ea"/>
        </a:defRPr>
      </a:lvl2pPr>
      <a:lvl3pPr marL="1121626" indent="-224325" algn="l" rtl="0" fontAlgn="base">
        <a:spcBef>
          <a:spcPct val="20000"/>
        </a:spcBef>
        <a:spcAft>
          <a:spcPct val="0"/>
        </a:spcAft>
        <a:buChar char="•"/>
        <a:defRPr kumimoji="1" sz="2355">
          <a:solidFill>
            <a:schemeClr val="tx1"/>
          </a:solidFill>
          <a:latin typeface="+mn-lt"/>
          <a:ea typeface="+mn-ea"/>
        </a:defRPr>
      </a:lvl3pPr>
      <a:lvl4pPr marL="1570276" indent="-224325" algn="l" rtl="0" fontAlgn="base">
        <a:spcBef>
          <a:spcPct val="20000"/>
        </a:spcBef>
        <a:spcAft>
          <a:spcPct val="0"/>
        </a:spcAft>
        <a:buChar char="–"/>
        <a:defRPr kumimoji="1" sz="1963">
          <a:solidFill>
            <a:schemeClr val="tx1"/>
          </a:solidFill>
          <a:latin typeface="+mn-lt"/>
          <a:ea typeface="+mn-ea"/>
        </a:defRPr>
      </a:lvl4pPr>
      <a:lvl5pPr marL="2018927" indent="-224325" algn="l" rtl="0" fontAlgn="base">
        <a:spcBef>
          <a:spcPct val="20000"/>
        </a:spcBef>
        <a:spcAft>
          <a:spcPct val="0"/>
        </a:spcAft>
        <a:buChar char="»"/>
        <a:defRPr kumimoji="1" sz="1963">
          <a:solidFill>
            <a:schemeClr val="tx1"/>
          </a:solidFill>
          <a:latin typeface="+mn-lt"/>
          <a:ea typeface="+mn-ea"/>
        </a:defRPr>
      </a:lvl5pPr>
      <a:lvl6pPr marL="2467577" indent="-224325" algn="l" rtl="0" fontAlgn="base">
        <a:spcBef>
          <a:spcPct val="20000"/>
        </a:spcBef>
        <a:spcAft>
          <a:spcPct val="0"/>
        </a:spcAft>
        <a:buChar char="»"/>
        <a:defRPr kumimoji="1" sz="1963">
          <a:solidFill>
            <a:schemeClr val="tx1"/>
          </a:solidFill>
          <a:latin typeface="+mn-lt"/>
          <a:ea typeface="+mn-ea"/>
        </a:defRPr>
      </a:lvl6pPr>
      <a:lvl7pPr marL="2916227" indent="-224325" algn="l" rtl="0" fontAlgn="base">
        <a:spcBef>
          <a:spcPct val="20000"/>
        </a:spcBef>
        <a:spcAft>
          <a:spcPct val="0"/>
        </a:spcAft>
        <a:buChar char="»"/>
        <a:defRPr kumimoji="1" sz="1963">
          <a:solidFill>
            <a:schemeClr val="tx1"/>
          </a:solidFill>
          <a:latin typeface="+mn-lt"/>
          <a:ea typeface="+mn-ea"/>
        </a:defRPr>
      </a:lvl7pPr>
      <a:lvl8pPr marL="3364878" indent="-224325" algn="l" rtl="0" fontAlgn="base">
        <a:spcBef>
          <a:spcPct val="20000"/>
        </a:spcBef>
        <a:spcAft>
          <a:spcPct val="0"/>
        </a:spcAft>
        <a:buChar char="»"/>
        <a:defRPr kumimoji="1" sz="1963">
          <a:solidFill>
            <a:schemeClr val="tx1"/>
          </a:solidFill>
          <a:latin typeface="+mn-lt"/>
          <a:ea typeface="+mn-ea"/>
        </a:defRPr>
      </a:lvl8pPr>
      <a:lvl9pPr marL="3813528" indent="-224325" algn="l" rtl="0" fontAlgn="base">
        <a:spcBef>
          <a:spcPct val="20000"/>
        </a:spcBef>
        <a:spcAft>
          <a:spcPct val="0"/>
        </a:spcAft>
        <a:buChar char="»"/>
        <a:defRPr kumimoji="1" sz="1963">
          <a:solidFill>
            <a:schemeClr val="tx1"/>
          </a:solidFill>
          <a:latin typeface="+mn-lt"/>
          <a:ea typeface="+mn-ea"/>
        </a:defRPr>
      </a:lvl9pPr>
    </p:bodyStyle>
    <p:otherStyle>
      <a:defPPr>
        <a:defRPr lang="ja-JP"/>
      </a:defPPr>
      <a:lvl1pPr marL="0" algn="l" defTabSz="897301" rtl="0" eaLnBrk="1" latinLnBrk="0" hangingPunct="1">
        <a:defRPr kumimoji="1" sz="1766" kern="1200">
          <a:solidFill>
            <a:schemeClr val="tx1"/>
          </a:solidFill>
          <a:latin typeface="+mn-lt"/>
          <a:ea typeface="+mn-ea"/>
          <a:cs typeface="+mn-cs"/>
        </a:defRPr>
      </a:lvl1pPr>
      <a:lvl2pPr marL="448650" algn="l" defTabSz="897301" rtl="0" eaLnBrk="1" latinLnBrk="0" hangingPunct="1">
        <a:defRPr kumimoji="1" sz="1766" kern="1200">
          <a:solidFill>
            <a:schemeClr val="tx1"/>
          </a:solidFill>
          <a:latin typeface="+mn-lt"/>
          <a:ea typeface="+mn-ea"/>
          <a:cs typeface="+mn-cs"/>
        </a:defRPr>
      </a:lvl2pPr>
      <a:lvl3pPr marL="897301" algn="l" defTabSz="897301" rtl="0" eaLnBrk="1" latinLnBrk="0" hangingPunct="1">
        <a:defRPr kumimoji="1" sz="1766" kern="1200">
          <a:solidFill>
            <a:schemeClr val="tx1"/>
          </a:solidFill>
          <a:latin typeface="+mn-lt"/>
          <a:ea typeface="+mn-ea"/>
          <a:cs typeface="+mn-cs"/>
        </a:defRPr>
      </a:lvl3pPr>
      <a:lvl4pPr marL="1345951" algn="l" defTabSz="897301" rtl="0" eaLnBrk="1" latinLnBrk="0" hangingPunct="1">
        <a:defRPr kumimoji="1" sz="1766" kern="1200">
          <a:solidFill>
            <a:schemeClr val="tx1"/>
          </a:solidFill>
          <a:latin typeface="+mn-lt"/>
          <a:ea typeface="+mn-ea"/>
          <a:cs typeface="+mn-cs"/>
        </a:defRPr>
      </a:lvl4pPr>
      <a:lvl5pPr marL="1794601" algn="l" defTabSz="897301" rtl="0" eaLnBrk="1" latinLnBrk="0" hangingPunct="1">
        <a:defRPr kumimoji="1" sz="1766" kern="1200">
          <a:solidFill>
            <a:schemeClr val="tx1"/>
          </a:solidFill>
          <a:latin typeface="+mn-lt"/>
          <a:ea typeface="+mn-ea"/>
          <a:cs typeface="+mn-cs"/>
        </a:defRPr>
      </a:lvl5pPr>
      <a:lvl6pPr marL="2243252" algn="l" defTabSz="897301" rtl="0" eaLnBrk="1" latinLnBrk="0" hangingPunct="1">
        <a:defRPr kumimoji="1" sz="1766" kern="1200">
          <a:solidFill>
            <a:schemeClr val="tx1"/>
          </a:solidFill>
          <a:latin typeface="+mn-lt"/>
          <a:ea typeface="+mn-ea"/>
          <a:cs typeface="+mn-cs"/>
        </a:defRPr>
      </a:lvl6pPr>
      <a:lvl7pPr marL="2691902" algn="l" defTabSz="897301" rtl="0" eaLnBrk="1" latinLnBrk="0" hangingPunct="1">
        <a:defRPr kumimoji="1" sz="1766" kern="1200">
          <a:solidFill>
            <a:schemeClr val="tx1"/>
          </a:solidFill>
          <a:latin typeface="+mn-lt"/>
          <a:ea typeface="+mn-ea"/>
          <a:cs typeface="+mn-cs"/>
        </a:defRPr>
      </a:lvl7pPr>
      <a:lvl8pPr marL="3140553" algn="l" defTabSz="897301" rtl="0" eaLnBrk="1" latinLnBrk="0" hangingPunct="1">
        <a:defRPr kumimoji="1" sz="1766" kern="1200">
          <a:solidFill>
            <a:schemeClr val="tx1"/>
          </a:solidFill>
          <a:latin typeface="+mn-lt"/>
          <a:ea typeface="+mn-ea"/>
          <a:cs typeface="+mn-cs"/>
        </a:defRPr>
      </a:lvl8pPr>
      <a:lvl9pPr marL="3589203" algn="l" defTabSz="897301" rtl="0" eaLnBrk="1" latinLnBrk="0" hangingPunct="1">
        <a:defRPr kumimoji="1" sz="1766"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86063" y="281187"/>
            <a:ext cx="8748236" cy="1170252"/>
          </a:xfrm>
          <a:prstGeom prst="rect">
            <a:avLst/>
          </a:prstGeom>
        </p:spPr>
        <p:txBody>
          <a:bodyPr vert="horz" lIns="91315" tIns="45658" rIns="91315" bIns="45658"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86063" y="1638386"/>
            <a:ext cx="8748236" cy="4633874"/>
          </a:xfrm>
          <a:prstGeom prst="rect">
            <a:avLst/>
          </a:prstGeom>
        </p:spPr>
        <p:txBody>
          <a:bodyPr vert="horz" lIns="91315" tIns="45658" rIns="91315" bIns="45658"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86016" y="6507976"/>
            <a:ext cx="2268062" cy="373831"/>
          </a:xfrm>
          <a:prstGeom prst="rect">
            <a:avLst/>
          </a:prstGeom>
        </p:spPr>
        <p:txBody>
          <a:bodyPr vert="horz" lIns="91315" tIns="45658" rIns="91315" bIns="45658" rtlCol="0" anchor="ctr"/>
          <a:lstStyle>
            <a:lvl1pPr algn="l">
              <a:defRPr sz="1178">
                <a:solidFill>
                  <a:schemeClr val="tx1">
                    <a:tint val="75000"/>
                  </a:schemeClr>
                </a:solidFill>
              </a:defRPr>
            </a:lvl1pPr>
          </a:lstStyle>
          <a:p>
            <a:pPr defTabSz="896081"/>
            <a:fld id="{6082AC49-F25D-45C9-BE84-397507D56A0E}" type="datetime1">
              <a:rPr lang="ja-JP" altLang="en-US" smtClean="0">
                <a:solidFill>
                  <a:prstClr val="black">
                    <a:tint val="75000"/>
                  </a:prstClr>
                </a:solidFill>
              </a:rPr>
              <a:t>2023/12/26</a:t>
            </a:fld>
            <a:endParaRPr lang="ja-JP" altLang="en-US" dirty="0">
              <a:solidFill>
                <a:prstClr val="black">
                  <a:tint val="75000"/>
                </a:prstClr>
              </a:solidFill>
            </a:endParaRPr>
          </a:p>
        </p:txBody>
      </p:sp>
      <p:sp>
        <p:nvSpPr>
          <p:cNvPr id="5" name="フッター プレースホルダー 4"/>
          <p:cNvSpPr>
            <a:spLocks noGrp="1"/>
          </p:cNvSpPr>
          <p:nvPr>
            <p:ph type="ftr" sz="quarter" idx="3"/>
          </p:nvPr>
        </p:nvSpPr>
        <p:spPr>
          <a:xfrm>
            <a:off x="3321105" y="6507976"/>
            <a:ext cx="3078083" cy="373831"/>
          </a:xfrm>
          <a:prstGeom prst="rect">
            <a:avLst/>
          </a:prstGeom>
        </p:spPr>
        <p:txBody>
          <a:bodyPr vert="horz" lIns="91315" tIns="45658" rIns="91315" bIns="45658" rtlCol="0" anchor="ctr"/>
          <a:lstStyle>
            <a:lvl1pPr algn="ctr">
              <a:defRPr sz="1178">
                <a:solidFill>
                  <a:schemeClr val="tx1">
                    <a:tint val="75000"/>
                  </a:schemeClr>
                </a:solidFill>
              </a:defRPr>
            </a:lvl1pPr>
          </a:lstStyle>
          <a:p>
            <a:pPr defTabSz="896081"/>
            <a:endParaRPr lang="ja-JP" altLang="en-US" dirty="0">
              <a:solidFill>
                <a:prstClr val="black">
                  <a:tint val="75000"/>
                </a:prstClr>
              </a:solidFill>
            </a:endParaRPr>
          </a:p>
        </p:txBody>
      </p:sp>
      <p:sp>
        <p:nvSpPr>
          <p:cNvPr id="6" name="スライド番号プレースホルダー 5"/>
          <p:cNvSpPr>
            <a:spLocks noGrp="1"/>
          </p:cNvSpPr>
          <p:nvPr>
            <p:ph type="sldNum" sz="quarter" idx="4"/>
          </p:nvPr>
        </p:nvSpPr>
        <p:spPr>
          <a:xfrm>
            <a:off x="7262889" y="6614816"/>
            <a:ext cx="2268062" cy="373831"/>
          </a:xfrm>
          <a:prstGeom prst="rect">
            <a:avLst/>
          </a:prstGeom>
        </p:spPr>
        <p:txBody>
          <a:bodyPr vert="horz" lIns="91315" tIns="45658" rIns="91315" bIns="45658" rtlCol="0" anchor="ctr"/>
          <a:lstStyle>
            <a:lvl1pPr algn="r">
              <a:defRPr sz="1178">
                <a:solidFill>
                  <a:schemeClr val="tx1"/>
                </a:solidFill>
              </a:defRPr>
            </a:lvl1pPr>
          </a:lstStyle>
          <a:p>
            <a:pPr defTabSz="896081"/>
            <a:fld id="{B1C9D502-7DD1-418A-AEC2-39ED2C6C71DC}" type="slidenum">
              <a:rPr lang="ja-JP" altLang="en-US" smtClean="0">
                <a:solidFill>
                  <a:prstClr val="black"/>
                </a:solidFill>
              </a:rPr>
              <a:pPr defTabSz="896081"/>
              <a:t>‹#›</a:t>
            </a:fld>
            <a:endParaRPr lang="ja-JP" altLang="en-US" dirty="0">
              <a:solidFill>
                <a:prstClr val="black"/>
              </a:solidFill>
            </a:endParaRPr>
          </a:p>
        </p:txBody>
      </p:sp>
    </p:spTree>
    <p:extLst>
      <p:ext uri="{BB962C8B-B14F-4D97-AF65-F5344CB8AC3E}">
        <p14:creationId xmlns:p14="http://schemas.microsoft.com/office/powerpoint/2010/main" val="2748681593"/>
      </p:ext>
    </p:extLst>
  </p:cSld>
  <p:clrMap bg1="lt1" tx1="dk1" bg2="lt2" tx2="dk2" accent1="accent1" accent2="accent2" accent3="accent3" accent4="accent4" accent5="accent5" accent6="accent6" hlink="hlink" folHlink="folHlink"/>
  <p:sldLayoutIdLst>
    <p:sldLayoutId id="2147484239" r:id="rId1"/>
    <p:sldLayoutId id="2147484240" r:id="rId2"/>
    <p:sldLayoutId id="2147484241" r:id="rId3"/>
    <p:sldLayoutId id="2147484242" r:id="rId4"/>
    <p:sldLayoutId id="2147484243" r:id="rId5"/>
    <p:sldLayoutId id="2147484244" r:id="rId6"/>
    <p:sldLayoutId id="2147484245" r:id="rId7"/>
    <p:sldLayoutId id="2147484246" r:id="rId8"/>
    <p:sldLayoutId id="2147484247" r:id="rId9"/>
    <p:sldLayoutId id="2147484248" r:id="rId10"/>
    <p:sldLayoutId id="2147484249" r:id="rId11"/>
  </p:sldLayoutIdLst>
  <p:hf hdr="0" ftr="0" dt="0"/>
  <p:txStyles>
    <p:titleStyle>
      <a:lvl1pPr algn="ctr" defTabSz="896081" rtl="0" eaLnBrk="1" latinLnBrk="0" hangingPunct="1">
        <a:spcBef>
          <a:spcPct val="0"/>
        </a:spcBef>
        <a:buNone/>
        <a:defRPr kumimoji="1" sz="4318" kern="1200">
          <a:solidFill>
            <a:schemeClr val="tx1"/>
          </a:solidFill>
          <a:latin typeface="+mj-lt"/>
          <a:ea typeface="+mj-ea"/>
          <a:cs typeface="+mj-cs"/>
        </a:defRPr>
      </a:lvl1pPr>
    </p:titleStyle>
    <p:bodyStyle>
      <a:lvl1pPr marL="336030" indent="-336030" algn="l" defTabSz="896081" rtl="0" eaLnBrk="1" latinLnBrk="0" hangingPunct="1">
        <a:spcBef>
          <a:spcPct val="20000"/>
        </a:spcBef>
        <a:buFont typeface="Arial" panose="020B0604020202020204" pitchFamily="34" charset="0"/>
        <a:buChar char="•"/>
        <a:defRPr kumimoji="1" sz="3140" kern="1200">
          <a:solidFill>
            <a:schemeClr val="tx1"/>
          </a:solidFill>
          <a:latin typeface="+mn-lt"/>
          <a:ea typeface="+mn-ea"/>
          <a:cs typeface="+mn-cs"/>
        </a:defRPr>
      </a:lvl1pPr>
      <a:lvl2pPr marL="728065" indent="-280026" algn="l" defTabSz="896081" rtl="0" eaLnBrk="1" latinLnBrk="0" hangingPunct="1">
        <a:spcBef>
          <a:spcPct val="20000"/>
        </a:spcBef>
        <a:buFont typeface="Arial" panose="020B0604020202020204" pitchFamily="34" charset="0"/>
        <a:buChar char="–"/>
        <a:defRPr kumimoji="1" sz="2748" kern="1200">
          <a:solidFill>
            <a:schemeClr val="tx1"/>
          </a:solidFill>
          <a:latin typeface="+mn-lt"/>
          <a:ea typeface="+mn-ea"/>
          <a:cs typeface="+mn-cs"/>
        </a:defRPr>
      </a:lvl2pPr>
      <a:lvl3pPr marL="1120101" indent="-224020" algn="l" defTabSz="896081" rtl="0" eaLnBrk="1" latinLnBrk="0" hangingPunct="1">
        <a:spcBef>
          <a:spcPct val="20000"/>
        </a:spcBef>
        <a:buFont typeface="Arial" panose="020B0604020202020204" pitchFamily="34" charset="0"/>
        <a:buChar char="•"/>
        <a:defRPr kumimoji="1" sz="2355" kern="1200">
          <a:solidFill>
            <a:schemeClr val="tx1"/>
          </a:solidFill>
          <a:latin typeface="+mn-lt"/>
          <a:ea typeface="+mn-ea"/>
          <a:cs typeface="+mn-cs"/>
        </a:defRPr>
      </a:lvl3pPr>
      <a:lvl4pPr marL="1568140" indent="-224020" algn="l" defTabSz="896081" rtl="0" eaLnBrk="1" latinLnBrk="0" hangingPunct="1">
        <a:spcBef>
          <a:spcPct val="20000"/>
        </a:spcBef>
        <a:buFont typeface="Arial" panose="020B0604020202020204" pitchFamily="34" charset="0"/>
        <a:buChar char="–"/>
        <a:defRPr kumimoji="1" sz="1963" kern="1200">
          <a:solidFill>
            <a:schemeClr val="tx1"/>
          </a:solidFill>
          <a:latin typeface="+mn-lt"/>
          <a:ea typeface="+mn-ea"/>
          <a:cs typeface="+mn-cs"/>
        </a:defRPr>
      </a:lvl4pPr>
      <a:lvl5pPr marL="2016181" indent="-224020" algn="l" defTabSz="896081" rtl="0" eaLnBrk="1" latinLnBrk="0" hangingPunct="1">
        <a:spcBef>
          <a:spcPct val="20000"/>
        </a:spcBef>
        <a:buFont typeface="Arial" panose="020B0604020202020204" pitchFamily="34" charset="0"/>
        <a:buChar char="»"/>
        <a:defRPr kumimoji="1" sz="1963" kern="1200">
          <a:solidFill>
            <a:schemeClr val="tx1"/>
          </a:solidFill>
          <a:latin typeface="+mn-lt"/>
          <a:ea typeface="+mn-ea"/>
          <a:cs typeface="+mn-cs"/>
        </a:defRPr>
      </a:lvl5pPr>
      <a:lvl6pPr marL="2464221" indent="-224020" algn="l" defTabSz="896081" rtl="0" eaLnBrk="1" latinLnBrk="0" hangingPunct="1">
        <a:spcBef>
          <a:spcPct val="20000"/>
        </a:spcBef>
        <a:buFont typeface="Arial" panose="020B0604020202020204" pitchFamily="34" charset="0"/>
        <a:buChar char="•"/>
        <a:defRPr kumimoji="1" sz="1963" kern="1200">
          <a:solidFill>
            <a:schemeClr val="tx1"/>
          </a:solidFill>
          <a:latin typeface="+mn-lt"/>
          <a:ea typeface="+mn-ea"/>
          <a:cs typeface="+mn-cs"/>
        </a:defRPr>
      </a:lvl6pPr>
      <a:lvl7pPr marL="2912261" indent="-224020" algn="l" defTabSz="896081" rtl="0" eaLnBrk="1" latinLnBrk="0" hangingPunct="1">
        <a:spcBef>
          <a:spcPct val="20000"/>
        </a:spcBef>
        <a:buFont typeface="Arial" panose="020B0604020202020204" pitchFamily="34" charset="0"/>
        <a:buChar char="•"/>
        <a:defRPr kumimoji="1" sz="1963" kern="1200">
          <a:solidFill>
            <a:schemeClr val="tx1"/>
          </a:solidFill>
          <a:latin typeface="+mn-lt"/>
          <a:ea typeface="+mn-ea"/>
          <a:cs typeface="+mn-cs"/>
        </a:defRPr>
      </a:lvl7pPr>
      <a:lvl8pPr marL="3360302" indent="-224020" algn="l" defTabSz="896081" rtl="0" eaLnBrk="1" latinLnBrk="0" hangingPunct="1">
        <a:spcBef>
          <a:spcPct val="20000"/>
        </a:spcBef>
        <a:buFont typeface="Arial" panose="020B0604020202020204" pitchFamily="34" charset="0"/>
        <a:buChar char="•"/>
        <a:defRPr kumimoji="1" sz="1963" kern="1200">
          <a:solidFill>
            <a:schemeClr val="tx1"/>
          </a:solidFill>
          <a:latin typeface="+mn-lt"/>
          <a:ea typeface="+mn-ea"/>
          <a:cs typeface="+mn-cs"/>
        </a:defRPr>
      </a:lvl8pPr>
      <a:lvl9pPr marL="3808341" indent="-224020" algn="l" defTabSz="896081" rtl="0" eaLnBrk="1" latinLnBrk="0" hangingPunct="1">
        <a:spcBef>
          <a:spcPct val="20000"/>
        </a:spcBef>
        <a:buFont typeface="Arial" panose="020B0604020202020204" pitchFamily="34" charset="0"/>
        <a:buChar char="•"/>
        <a:defRPr kumimoji="1" sz="1963" kern="1200">
          <a:solidFill>
            <a:schemeClr val="tx1"/>
          </a:solidFill>
          <a:latin typeface="+mn-lt"/>
          <a:ea typeface="+mn-ea"/>
          <a:cs typeface="+mn-cs"/>
        </a:defRPr>
      </a:lvl9pPr>
    </p:bodyStyle>
    <p:otherStyle>
      <a:defPPr>
        <a:defRPr lang="ja-JP"/>
      </a:defPPr>
      <a:lvl1pPr marL="0" algn="l" defTabSz="896081" rtl="0" eaLnBrk="1" latinLnBrk="0" hangingPunct="1">
        <a:defRPr kumimoji="1" sz="1766" kern="1200">
          <a:solidFill>
            <a:schemeClr val="tx1"/>
          </a:solidFill>
          <a:latin typeface="+mn-lt"/>
          <a:ea typeface="+mn-ea"/>
          <a:cs typeface="+mn-cs"/>
        </a:defRPr>
      </a:lvl1pPr>
      <a:lvl2pPr marL="448040" algn="l" defTabSz="896081" rtl="0" eaLnBrk="1" latinLnBrk="0" hangingPunct="1">
        <a:defRPr kumimoji="1" sz="1766" kern="1200">
          <a:solidFill>
            <a:schemeClr val="tx1"/>
          </a:solidFill>
          <a:latin typeface="+mn-lt"/>
          <a:ea typeface="+mn-ea"/>
          <a:cs typeface="+mn-cs"/>
        </a:defRPr>
      </a:lvl2pPr>
      <a:lvl3pPr marL="896081" algn="l" defTabSz="896081" rtl="0" eaLnBrk="1" latinLnBrk="0" hangingPunct="1">
        <a:defRPr kumimoji="1" sz="1766" kern="1200">
          <a:solidFill>
            <a:schemeClr val="tx1"/>
          </a:solidFill>
          <a:latin typeface="+mn-lt"/>
          <a:ea typeface="+mn-ea"/>
          <a:cs typeface="+mn-cs"/>
        </a:defRPr>
      </a:lvl3pPr>
      <a:lvl4pPr marL="1344121" algn="l" defTabSz="896081" rtl="0" eaLnBrk="1" latinLnBrk="0" hangingPunct="1">
        <a:defRPr kumimoji="1" sz="1766" kern="1200">
          <a:solidFill>
            <a:schemeClr val="tx1"/>
          </a:solidFill>
          <a:latin typeface="+mn-lt"/>
          <a:ea typeface="+mn-ea"/>
          <a:cs typeface="+mn-cs"/>
        </a:defRPr>
      </a:lvl4pPr>
      <a:lvl5pPr marL="1792160" algn="l" defTabSz="896081" rtl="0" eaLnBrk="1" latinLnBrk="0" hangingPunct="1">
        <a:defRPr kumimoji="1" sz="1766" kern="1200">
          <a:solidFill>
            <a:schemeClr val="tx1"/>
          </a:solidFill>
          <a:latin typeface="+mn-lt"/>
          <a:ea typeface="+mn-ea"/>
          <a:cs typeface="+mn-cs"/>
        </a:defRPr>
      </a:lvl5pPr>
      <a:lvl6pPr marL="2240200" algn="l" defTabSz="896081" rtl="0" eaLnBrk="1" latinLnBrk="0" hangingPunct="1">
        <a:defRPr kumimoji="1" sz="1766" kern="1200">
          <a:solidFill>
            <a:schemeClr val="tx1"/>
          </a:solidFill>
          <a:latin typeface="+mn-lt"/>
          <a:ea typeface="+mn-ea"/>
          <a:cs typeface="+mn-cs"/>
        </a:defRPr>
      </a:lvl6pPr>
      <a:lvl7pPr marL="2688241" algn="l" defTabSz="896081" rtl="0" eaLnBrk="1" latinLnBrk="0" hangingPunct="1">
        <a:defRPr kumimoji="1" sz="1766" kern="1200">
          <a:solidFill>
            <a:schemeClr val="tx1"/>
          </a:solidFill>
          <a:latin typeface="+mn-lt"/>
          <a:ea typeface="+mn-ea"/>
          <a:cs typeface="+mn-cs"/>
        </a:defRPr>
      </a:lvl7pPr>
      <a:lvl8pPr marL="3136282" algn="l" defTabSz="896081" rtl="0" eaLnBrk="1" latinLnBrk="0" hangingPunct="1">
        <a:defRPr kumimoji="1" sz="1766" kern="1200">
          <a:solidFill>
            <a:schemeClr val="tx1"/>
          </a:solidFill>
          <a:latin typeface="+mn-lt"/>
          <a:ea typeface="+mn-ea"/>
          <a:cs typeface="+mn-cs"/>
        </a:defRPr>
      </a:lvl8pPr>
      <a:lvl9pPr marL="3584321" algn="l" defTabSz="896081" rtl="0" eaLnBrk="1" latinLnBrk="0" hangingPunct="1">
        <a:defRPr kumimoji="1" sz="1766"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86013" y="281186"/>
            <a:ext cx="8748237" cy="1170252"/>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86013" y="1638355"/>
            <a:ext cx="8748237" cy="463387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86014" y="6507905"/>
            <a:ext cx="2268061" cy="373831"/>
          </a:xfrm>
          <a:prstGeom prst="rect">
            <a:avLst/>
          </a:prstGeom>
        </p:spPr>
        <p:txBody>
          <a:bodyPr vert="horz" lIns="91440" tIns="45720" rIns="91440" bIns="45720" rtlCol="0" anchor="ctr"/>
          <a:lstStyle>
            <a:lvl1pPr algn="l">
              <a:defRPr sz="1177">
                <a:solidFill>
                  <a:schemeClr val="tx1">
                    <a:tint val="75000"/>
                  </a:schemeClr>
                </a:solidFill>
              </a:defRPr>
            </a:lvl1pPr>
          </a:lstStyle>
          <a:p>
            <a:fld id="{C51D38A2-564F-46E0-89BD-5D7726274317}" type="datetime1">
              <a:rPr kumimoji="1" lang="ja-JP" altLang="en-US" smtClean="0"/>
              <a:t>2023/12/26</a:t>
            </a:fld>
            <a:endParaRPr kumimoji="1" lang="ja-JP" altLang="en-US"/>
          </a:p>
        </p:txBody>
      </p:sp>
      <p:sp>
        <p:nvSpPr>
          <p:cNvPr id="5" name="フッター プレースホルダー 4"/>
          <p:cNvSpPr>
            <a:spLocks noGrp="1"/>
          </p:cNvSpPr>
          <p:nvPr>
            <p:ph type="ftr" sz="quarter" idx="3"/>
          </p:nvPr>
        </p:nvSpPr>
        <p:spPr>
          <a:xfrm>
            <a:off x="3321090" y="6507905"/>
            <a:ext cx="3078083" cy="373831"/>
          </a:xfrm>
          <a:prstGeom prst="rect">
            <a:avLst/>
          </a:prstGeom>
        </p:spPr>
        <p:txBody>
          <a:bodyPr vert="horz" lIns="91440" tIns="45720" rIns="91440" bIns="45720" rtlCol="0" anchor="ctr"/>
          <a:lstStyle>
            <a:lvl1pPr algn="ctr">
              <a:defRPr sz="1177">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7452202" y="6647684"/>
            <a:ext cx="2268061" cy="373831"/>
          </a:xfrm>
          <a:prstGeom prst="rect">
            <a:avLst/>
          </a:prstGeom>
        </p:spPr>
        <p:txBody>
          <a:bodyPr vert="horz" lIns="91440" tIns="45720" rIns="91440" bIns="45720" rtlCol="0" anchor="ctr"/>
          <a:lstStyle>
            <a:lvl1pPr algn="r">
              <a:defRPr sz="1177">
                <a:solidFill>
                  <a:schemeClr val="tx1"/>
                </a:solidFill>
              </a:defRPr>
            </a:lvl1pPr>
          </a:lstStyle>
          <a:p>
            <a:fld id="{9E2A29CB-BA86-48A6-80E1-CB8750A963B5}" type="slidenum">
              <a:rPr lang="ja-JP" altLang="en-US" smtClean="0"/>
              <a:pPr/>
              <a:t>‹#›</a:t>
            </a:fld>
            <a:endParaRPr lang="ja-JP" altLang="en-US"/>
          </a:p>
        </p:txBody>
      </p:sp>
    </p:spTree>
    <p:extLst>
      <p:ext uri="{BB962C8B-B14F-4D97-AF65-F5344CB8AC3E}">
        <p14:creationId xmlns:p14="http://schemas.microsoft.com/office/powerpoint/2010/main" val="3195737675"/>
      </p:ext>
    </p:extLst>
  </p:cSld>
  <p:clrMap bg1="lt1" tx1="dk1" bg2="lt2" tx2="dk2" accent1="accent1" accent2="accent2" accent3="accent3" accent4="accent4" accent5="accent5" accent6="accent6" hlink="hlink" folHlink="folHlink"/>
  <p:sldLayoutIdLst>
    <p:sldLayoutId id="2147484251" r:id="rId1"/>
    <p:sldLayoutId id="2147484252" r:id="rId2"/>
    <p:sldLayoutId id="2147484253" r:id="rId3"/>
    <p:sldLayoutId id="2147484254" r:id="rId4"/>
    <p:sldLayoutId id="2147484255" r:id="rId5"/>
    <p:sldLayoutId id="2147484256" r:id="rId6"/>
    <p:sldLayoutId id="2147484257" r:id="rId7"/>
    <p:sldLayoutId id="2147484258" r:id="rId8"/>
    <p:sldLayoutId id="2147484259" r:id="rId9"/>
    <p:sldLayoutId id="2147484260" r:id="rId10"/>
    <p:sldLayoutId id="2147484261" r:id="rId11"/>
  </p:sldLayoutIdLst>
  <p:hf hdr="0" ftr="0" dt="0"/>
  <p:txStyles>
    <p:titleStyle>
      <a:lvl1pPr algn="ctr" defTabSz="897212" rtl="0" eaLnBrk="1" latinLnBrk="0" hangingPunct="1">
        <a:spcBef>
          <a:spcPct val="0"/>
        </a:spcBef>
        <a:buNone/>
        <a:defRPr kumimoji="1" sz="4318" kern="1200">
          <a:solidFill>
            <a:schemeClr val="tx1"/>
          </a:solidFill>
          <a:latin typeface="+mj-lt"/>
          <a:ea typeface="+mj-ea"/>
          <a:cs typeface="+mj-cs"/>
        </a:defRPr>
      </a:lvl1pPr>
    </p:titleStyle>
    <p:bodyStyle>
      <a:lvl1pPr marL="336455" indent="-336455" algn="l" defTabSz="897212" rtl="0" eaLnBrk="1" latinLnBrk="0" hangingPunct="1">
        <a:spcBef>
          <a:spcPct val="20000"/>
        </a:spcBef>
        <a:buFont typeface="Arial" pitchFamily="34" charset="0"/>
        <a:buChar char="•"/>
        <a:defRPr kumimoji="1" sz="3139" kern="1200">
          <a:solidFill>
            <a:schemeClr val="tx1"/>
          </a:solidFill>
          <a:latin typeface="+mn-lt"/>
          <a:ea typeface="+mn-ea"/>
          <a:cs typeface="+mn-cs"/>
        </a:defRPr>
      </a:lvl1pPr>
      <a:lvl2pPr marL="728985" indent="-280378" algn="l" defTabSz="897212" rtl="0" eaLnBrk="1" latinLnBrk="0" hangingPunct="1">
        <a:spcBef>
          <a:spcPct val="20000"/>
        </a:spcBef>
        <a:buFont typeface="Arial" pitchFamily="34" charset="0"/>
        <a:buChar char="–"/>
        <a:defRPr kumimoji="1" sz="2748" kern="1200">
          <a:solidFill>
            <a:schemeClr val="tx1"/>
          </a:solidFill>
          <a:latin typeface="+mn-lt"/>
          <a:ea typeface="+mn-ea"/>
          <a:cs typeface="+mn-cs"/>
        </a:defRPr>
      </a:lvl2pPr>
      <a:lvl3pPr marL="1121516" indent="-224304" algn="l" defTabSz="897212" rtl="0" eaLnBrk="1" latinLnBrk="0" hangingPunct="1">
        <a:spcBef>
          <a:spcPct val="20000"/>
        </a:spcBef>
        <a:buFont typeface="Arial" pitchFamily="34" charset="0"/>
        <a:buChar char="•"/>
        <a:defRPr kumimoji="1" sz="2355" kern="1200">
          <a:solidFill>
            <a:schemeClr val="tx1"/>
          </a:solidFill>
          <a:latin typeface="+mn-lt"/>
          <a:ea typeface="+mn-ea"/>
          <a:cs typeface="+mn-cs"/>
        </a:defRPr>
      </a:lvl3pPr>
      <a:lvl4pPr marL="1570121" indent="-224304" algn="l" defTabSz="897212" rtl="0" eaLnBrk="1" latinLnBrk="0" hangingPunct="1">
        <a:spcBef>
          <a:spcPct val="20000"/>
        </a:spcBef>
        <a:buFont typeface="Arial" pitchFamily="34" charset="0"/>
        <a:buChar char="–"/>
        <a:defRPr kumimoji="1" sz="1962" kern="1200">
          <a:solidFill>
            <a:schemeClr val="tx1"/>
          </a:solidFill>
          <a:latin typeface="+mn-lt"/>
          <a:ea typeface="+mn-ea"/>
          <a:cs typeface="+mn-cs"/>
        </a:defRPr>
      </a:lvl4pPr>
      <a:lvl5pPr marL="2018728" indent="-224304" algn="l" defTabSz="897212" rtl="0" eaLnBrk="1" latinLnBrk="0" hangingPunct="1">
        <a:spcBef>
          <a:spcPct val="20000"/>
        </a:spcBef>
        <a:buFont typeface="Arial" pitchFamily="34" charset="0"/>
        <a:buChar char="»"/>
        <a:defRPr kumimoji="1" sz="1962" kern="1200">
          <a:solidFill>
            <a:schemeClr val="tx1"/>
          </a:solidFill>
          <a:latin typeface="+mn-lt"/>
          <a:ea typeface="+mn-ea"/>
          <a:cs typeface="+mn-cs"/>
        </a:defRPr>
      </a:lvl5pPr>
      <a:lvl6pPr marL="2467334" indent="-224304" algn="l" defTabSz="897212" rtl="0" eaLnBrk="1" latinLnBrk="0" hangingPunct="1">
        <a:spcBef>
          <a:spcPct val="20000"/>
        </a:spcBef>
        <a:buFont typeface="Arial" pitchFamily="34" charset="0"/>
        <a:buChar char="•"/>
        <a:defRPr kumimoji="1" sz="1962" kern="1200">
          <a:solidFill>
            <a:schemeClr val="tx1"/>
          </a:solidFill>
          <a:latin typeface="+mn-lt"/>
          <a:ea typeface="+mn-ea"/>
          <a:cs typeface="+mn-cs"/>
        </a:defRPr>
      </a:lvl6pPr>
      <a:lvl7pPr marL="2915940" indent="-224304" algn="l" defTabSz="897212" rtl="0" eaLnBrk="1" latinLnBrk="0" hangingPunct="1">
        <a:spcBef>
          <a:spcPct val="20000"/>
        </a:spcBef>
        <a:buFont typeface="Arial" pitchFamily="34" charset="0"/>
        <a:buChar char="•"/>
        <a:defRPr kumimoji="1" sz="1962" kern="1200">
          <a:solidFill>
            <a:schemeClr val="tx1"/>
          </a:solidFill>
          <a:latin typeface="+mn-lt"/>
          <a:ea typeface="+mn-ea"/>
          <a:cs typeface="+mn-cs"/>
        </a:defRPr>
      </a:lvl7pPr>
      <a:lvl8pPr marL="3364546" indent="-224304" algn="l" defTabSz="897212" rtl="0" eaLnBrk="1" latinLnBrk="0" hangingPunct="1">
        <a:spcBef>
          <a:spcPct val="20000"/>
        </a:spcBef>
        <a:buFont typeface="Arial" pitchFamily="34" charset="0"/>
        <a:buChar char="•"/>
        <a:defRPr kumimoji="1" sz="1962" kern="1200">
          <a:solidFill>
            <a:schemeClr val="tx1"/>
          </a:solidFill>
          <a:latin typeface="+mn-lt"/>
          <a:ea typeface="+mn-ea"/>
          <a:cs typeface="+mn-cs"/>
        </a:defRPr>
      </a:lvl8pPr>
      <a:lvl9pPr marL="3813152" indent="-224304" algn="l" defTabSz="897212" rtl="0" eaLnBrk="1" latinLnBrk="0" hangingPunct="1">
        <a:spcBef>
          <a:spcPct val="20000"/>
        </a:spcBef>
        <a:buFont typeface="Arial" pitchFamily="34" charset="0"/>
        <a:buChar char="•"/>
        <a:defRPr kumimoji="1" sz="1962" kern="1200">
          <a:solidFill>
            <a:schemeClr val="tx1"/>
          </a:solidFill>
          <a:latin typeface="+mn-lt"/>
          <a:ea typeface="+mn-ea"/>
          <a:cs typeface="+mn-cs"/>
        </a:defRPr>
      </a:lvl9pPr>
    </p:bodyStyle>
    <p:otherStyle>
      <a:defPPr>
        <a:defRPr lang="ja-JP"/>
      </a:defPPr>
      <a:lvl1pPr marL="0" algn="l" defTabSz="897212" rtl="0" eaLnBrk="1" latinLnBrk="0" hangingPunct="1">
        <a:defRPr kumimoji="1" sz="1766" kern="1200">
          <a:solidFill>
            <a:schemeClr val="tx1"/>
          </a:solidFill>
          <a:latin typeface="+mn-lt"/>
          <a:ea typeface="+mn-ea"/>
          <a:cs typeface="+mn-cs"/>
        </a:defRPr>
      </a:lvl1pPr>
      <a:lvl2pPr marL="448605" algn="l" defTabSz="897212" rtl="0" eaLnBrk="1" latinLnBrk="0" hangingPunct="1">
        <a:defRPr kumimoji="1" sz="1766" kern="1200">
          <a:solidFill>
            <a:schemeClr val="tx1"/>
          </a:solidFill>
          <a:latin typeface="+mn-lt"/>
          <a:ea typeface="+mn-ea"/>
          <a:cs typeface="+mn-cs"/>
        </a:defRPr>
      </a:lvl2pPr>
      <a:lvl3pPr marL="897212" algn="l" defTabSz="897212" rtl="0" eaLnBrk="1" latinLnBrk="0" hangingPunct="1">
        <a:defRPr kumimoji="1" sz="1766" kern="1200">
          <a:solidFill>
            <a:schemeClr val="tx1"/>
          </a:solidFill>
          <a:latin typeface="+mn-lt"/>
          <a:ea typeface="+mn-ea"/>
          <a:cs typeface="+mn-cs"/>
        </a:defRPr>
      </a:lvl3pPr>
      <a:lvl4pPr marL="1345817" algn="l" defTabSz="897212" rtl="0" eaLnBrk="1" latinLnBrk="0" hangingPunct="1">
        <a:defRPr kumimoji="1" sz="1766" kern="1200">
          <a:solidFill>
            <a:schemeClr val="tx1"/>
          </a:solidFill>
          <a:latin typeface="+mn-lt"/>
          <a:ea typeface="+mn-ea"/>
          <a:cs typeface="+mn-cs"/>
        </a:defRPr>
      </a:lvl4pPr>
      <a:lvl5pPr marL="1794425" algn="l" defTabSz="897212" rtl="0" eaLnBrk="1" latinLnBrk="0" hangingPunct="1">
        <a:defRPr kumimoji="1" sz="1766" kern="1200">
          <a:solidFill>
            <a:schemeClr val="tx1"/>
          </a:solidFill>
          <a:latin typeface="+mn-lt"/>
          <a:ea typeface="+mn-ea"/>
          <a:cs typeface="+mn-cs"/>
        </a:defRPr>
      </a:lvl5pPr>
      <a:lvl6pPr marL="2243030" algn="l" defTabSz="897212" rtl="0" eaLnBrk="1" latinLnBrk="0" hangingPunct="1">
        <a:defRPr kumimoji="1" sz="1766" kern="1200">
          <a:solidFill>
            <a:schemeClr val="tx1"/>
          </a:solidFill>
          <a:latin typeface="+mn-lt"/>
          <a:ea typeface="+mn-ea"/>
          <a:cs typeface="+mn-cs"/>
        </a:defRPr>
      </a:lvl6pPr>
      <a:lvl7pPr marL="2691636" algn="l" defTabSz="897212" rtl="0" eaLnBrk="1" latinLnBrk="0" hangingPunct="1">
        <a:defRPr kumimoji="1" sz="1766" kern="1200">
          <a:solidFill>
            <a:schemeClr val="tx1"/>
          </a:solidFill>
          <a:latin typeface="+mn-lt"/>
          <a:ea typeface="+mn-ea"/>
          <a:cs typeface="+mn-cs"/>
        </a:defRPr>
      </a:lvl7pPr>
      <a:lvl8pPr marL="3140242" algn="l" defTabSz="897212" rtl="0" eaLnBrk="1" latinLnBrk="0" hangingPunct="1">
        <a:defRPr kumimoji="1" sz="1766" kern="1200">
          <a:solidFill>
            <a:schemeClr val="tx1"/>
          </a:solidFill>
          <a:latin typeface="+mn-lt"/>
          <a:ea typeface="+mn-ea"/>
          <a:cs typeface="+mn-cs"/>
        </a:defRPr>
      </a:lvl8pPr>
      <a:lvl9pPr marL="3588848" algn="l" defTabSz="897212" rtl="0" eaLnBrk="1" latinLnBrk="0" hangingPunct="1">
        <a:defRPr kumimoji="1" sz="176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3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0"/>
            <a:ext cx="9720263" cy="558756"/>
          </a:xfrm>
          <a:prstGeom prst="rect">
            <a:avLst/>
          </a:prstGeom>
          <a:solidFill>
            <a:srgbClr val="002060"/>
          </a:solidFill>
          <a:ln w="19050">
            <a:noFill/>
            <a:miter lim="800000"/>
            <a:headEnd/>
            <a:tailEnd/>
          </a:ln>
        </p:spPr>
        <p:txBody>
          <a:bodyPr wrap="square" tIns="35325" bIns="35325" anchor="ctr">
            <a:noAutofit/>
          </a:bodyPr>
          <a:lstStyle/>
          <a:p>
            <a:pPr algn="ctr" defTabSz="897172"/>
            <a:r>
              <a:rPr lang="en-US" altLang="ja-JP" b="1" dirty="0">
                <a:solidFill>
                  <a:prstClr val="white"/>
                </a:solidFill>
                <a:latin typeface="メイリオ" panose="020B0604030504040204" pitchFamily="50" charset="-128"/>
                <a:ea typeface="メイリオ" panose="020B0604030504040204" pitchFamily="50" charset="-128"/>
              </a:rPr>
              <a:t>2024</a:t>
            </a:r>
            <a:r>
              <a:rPr lang="ja-JP" altLang="en-US" b="1" dirty="0">
                <a:solidFill>
                  <a:prstClr val="white"/>
                </a:solidFill>
                <a:latin typeface="メイリオ" panose="020B0604030504040204" pitchFamily="50" charset="-128"/>
                <a:ea typeface="メイリオ" panose="020B0604030504040204" pitchFamily="50" charset="-128"/>
              </a:rPr>
              <a:t>年度（市町村分）保険者機能強化推進交付金等に係る評価結果の概要</a:t>
            </a:r>
            <a:endParaRPr lang="en-US" altLang="ja-JP" b="1" dirty="0">
              <a:solidFill>
                <a:prstClr val="white"/>
              </a:solidFill>
              <a:latin typeface="メイリオ" panose="020B0604030504040204" pitchFamily="50" charset="-128"/>
              <a:ea typeface="メイリオ" panose="020B0604030504040204" pitchFamily="50" charset="-128"/>
            </a:endParaRPr>
          </a:p>
        </p:txBody>
      </p:sp>
      <p:graphicFrame>
        <p:nvGraphicFramePr>
          <p:cNvPr id="2" name="表 1">
            <a:extLst>
              <a:ext uri="{FF2B5EF4-FFF2-40B4-BE49-F238E27FC236}">
                <a16:creationId xmlns:a16="http://schemas.microsoft.com/office/drawing/2014/main" id="{D032D1AA-94D8-006F-1589-685936A43DA8}"/>
              </a:ext>
            </a:extLst>
          </p:cNvPr>
          <p:cNvGraphicFramePr>
            <a:graphicFrameLocks noGrp="1"/>
          </p:cNvGraphicFramePr>
          <p:nvPr/>
        </p:nvGraphicFramePr>
        <p:xfrm>
          <a:off x="176759" y="3366757"/>
          <a:ext cx="9432011" cy="3527999"/>
        </p:xfrm>
        <a:graphic>
          <a:graphicData uri="http://schemas.openxmlformats.org/drawingml/2006/table">
            <a:tbl>
              <a:tblPr/>
              <a:tblGrid>
                <a:gridCol w="445345">
                  <a:extLst>
                    <a:ext uri="{9D8B030D-6E8A-4147-A177-3AD203B41FA5}">
                      <a16:colId xmlns:a16="http://schemas.microsoft.com/office/drawing/2014/main" val="1607846628"/>
                    </a:ext>
                  </a:extLst>
                </a:gridCol>
                <a:gridCol w="345641">
                  <a:extLst>
                    <a:ext uri="{9D8B030D-6E8A-4147-A177-3AD203B41FA5}">
                      <a16:colId xmlns:a16="http://schemas.microsoft.com/office/drawing/2014/main" val="760299535"/>
                    </a:ext>
                  </a:extLst>
                </a:gridCol>
                <a:gridCol w="345641">
                  <a:extLst>
                    <a:ext uri="{9D8B030D-6E8A-4147-A177-3AD203B41FA5}">
                      <a16:colId xmlns:a16="http://schemas.microsoft.com/office/drawing/2014/main" val="1034440510"/>
                    </a:ext>
                  </a:extLst>
                </a:gridCol>
                <a:gridCol w="345641">
                  <a:extLst>
                    <a:ext uri="{9D8B030D-6E8A-4147-A177-3AD203B41FA5}">
                      <a16:colId xmlns:a16="http://schemas.microsoft.com/office/drawing/2014/main" val="2188848968"/>
                    </a:ext>
                  </a:extLst>
                </a:gridCol>
                <a:gridCol w="345641">
                  <a:extLst>
                    <a:ext uri="{9D8B030D-6E8A-4147-A177-3AD203B41FA5}">
                      <a16:colId xmlns:a16="http://schemas.microsoft.com/office/drawing/2014/main" val="1180580484"/>
                    </a:ext>
                  </a:extLst>
                </a:gridCol>
                <a:gridCol w="345641">
                  <a:extLst>
                    <a:ext uri="{9D8B030D-6E8A-4147-A177-3AD203B41FA5}">
                      <a16:colId xmlns:a16="http://schemas.microsoft.com/office/drawing/2014/main" val="2874781061"/>
                    </a:ext>
                  </a:extLst>
                </a:gridCol>
                <a:gridCol w="345641">
                  <a:extLst>
                    <a:ext uri="{9D8B030D-6E8A-4147-A177-3AD203B41FA5}">
                      <a16:colId xmlns:a16="http://schemas.microsoft.com/office/drawing/2014/main" val="2130050213"/>
                    </a:ext>
                  </a:extLst>
                </a:gridCol>
                <a:gridCol w="345641">
                  <a:extLst>
                    <a:ext uri="{9D8B030D-6E8A-4147-A177-3AD203B41FA5}">
                      <a16:colId xmlns:a16="http://schemas.microsoft.com/office/drawing/2014/main" val="3638216351"/>
                    </a:ext>
                  </a:extLst>
                </a:gridCol>
                <a:gridCol w="345641">
                  <a:extLst>
                    <a:ext uri="{9D8B030D-6E8A-4147-A177-3AD203B41FA5}">
                      <a16:colId xmlns:a16="http://schemas.microsoft.com/office/drawing/2014/main" val="2688597204"/>
                    </a:ext>
                  </a:extLst>
                </a:gridCol>
                <a:gridCol w="345641">
                  <a:extLst>
                    <a:ext uri="{9D8B030D-6E8A-4147-A177-3AD203B41FA5}">
                      <a16:colId xmlns:a16="http://schemas.microsoft.com/office/drawing/2014/main" val="912155075"/>
                    </a:ext>
                  </a:extLst>
                </a:gridCol>
                <a:gridCol w="345641">
                  <a:extLst>
                    <a:ext uri="{9D8B030D-6E8A-4147-A177-3AD203B41FA5}">
                      <a16:colId xmlns:a16="http://schemas.microsoft.com/office/drawing/2014/main" val="779052557"/>
                    </a:ext>
                  </a:extLst>
                </a:gridCol>
                <a:gridCol w="345641">
                  <a:extLst>
                    <a:ext uri="{9D8B030D-6E8A-4147-A177-3AD203B41FA5}">
                      <a16:colId xmlns:a16="http://schemas.microsoft.com/office/drawing/2014/main" val="3633534216"/>
                    </a:ext>
                  </a:extLst>
                </a:gridCol>
                <a:gridCol w="345641">
                  <a:extLst>
                    <a:ext uri="{9D8B030D-6E8A-4147-A177-3AD203B41FA5}">
                      <a16:colId xmlns:a16="http://schemas.microsoft.com/office/drawing/2014/main" val="2376868136"/>
                    </a:ext>
                  </a:extLst>
                </a:gridCol>
                <a:gridCol w="345641">
                  <a:extLst>
                    <a:ext uri="{9D8B030D-6E8A-4147-A177-3AD203B41FA5}">
                      <a16:colId xmlns:a16="http://schemas.microsoft.com/office/drawing/2014/main" val="39959877"/>
                    </a:ext>
                  </a:extLst>
                </a:gridCol>
                <a:gridCol w="345641">
                  <a:extLst>
                    <a:ext uri="{9D8B030D-6E8A-4147-A177-3AD203B41FA5}">
                      <a16:colId xmlns:a16="http://schemas.microsoft.com/office/drawing/2014/main" val="3278027975"/>
                    </a:ext>
                  </a:extLst>
                </a:gridCol>
                <a:gridCol w="345641">
                  <a:extLst>
                    <a:ext uri="{9D8B030D-6E8A-4147-A177-3AD203B41FA5}">
                      <a16:colId xmlns:a16="http://schemas.microsoft.com/office/drawing/2014/main" val="2812091645"/>
                    </a:ext>
                  </a:extLst>
                </a:gridCol>
                <a:gridCol w="345641">
                  <a:extLst>
                    <a:ext uri="{9D8B030D-6E8A-4147-A177-3AD203B41FA5}">
                      <a16:colId xmlns:a16="http://schemas.microsoft.com/office/drawing/2014/main" val="657451268"/>
                    </a:ext>
                  </a:extLst>
                </a:gridCol>
                <a:gridCol w="345641">
                  <a:extLst>
                    <a:ext uri="{9D8B030D-6E8A-4147-A177-3AD203B41FA5}">
                      <a16:colId xmlns:a16="http://schemas.microsoft.com/office/drawing/2014/main" val="1310722808"/>
                    </a:ext>
                  </a:extLst>
                </a:gridCol>
                <a:gridCol w="345641">
                  <a:extLst>
                    <a:ext uri="{9D8B030D-6E8A-4147-A177-3AD203B41FA5}">
                      <a16:colId xmlns:a16="http://schemas.microsoft.com/office/drawing/2014/main" val="1073513647"/>
                    </a:ext>
                  </a:extLst>
                </a:gridCol>
                <a:gridCol w="345641">
                  <a:extLst>
                    <a:ext uri="{9D8B030D-6E8A-4147-A177-3AD203B41FA5}">
                      <a16:colId xmlns:a16="http://schemas.microsoft.com/office/drawing/2014/main" val="3139433536"/>
                    </a:ext>
                  </a:extLst>
                </a:gridCol>
                <a:gridCol w="345641">
                  <a:extLst>
                    <a:ext uri="{9D8B030D-6E8A-4147-A177-3AD203B41FA5}">
                      <a16:colId xmlns:a16="http://schemas.microsoft.com/office/drawing/2014/main" val="4015927485"/>
                    </a:ext>
                  </a:extLst>
                </a:gridCol>
                <a:gridCol w="345641">
                  <a:extLst>
                    <a:ext uri="{9D8B030D-6E8A-4147-A177-3AD203B41FA5}">
                      <a16:colId xmlns:a16="http://schemas.microsoft.com/office/drawing/2014/main" val="66986765"/>
                    </a:ext>
                  </a:extLst>
                </a:gridCol>
                <a:gridCol w="345641">
                  <a:extLst>
                    <a:ext uri="{9D8B030D-6E8A-4147-A177-3AD203B41FA5}">
                      <a16:colId xmlns:a16="http://schemas.microsoft.com/office/drawing/2014/main" val="4031891800"/>
                    </a:ext>
                  </a:extLst>
                </a:gridCol>
                <a:gridCol w="345641">
                  <a:extLst>
                    <a:ext uri="{9D8B030D-6E8A-4147-A177-3AD203B41FA5}">
                      <a16:colId xmlns:a16="http://schemas.microsoft.com/office/drawing/2014/main" val="349870086"/>
                    </a:ext>
                  </a:extLst>
                </a:gridCol>
                <a:gridCol w="345641">
                  <a:extLst>
                    <a:ext uri="{9D8B030D-6E8A-4147-A177-3AD203B41FA5}">
                      <a16:colId xmlns:a16="http://schemas.microsoft.com/office/drawing/2014/main" val="4051265373"/>
                    </a:ext>
                  </a:extLst>
                </a:gridCol>
                <a:gridCol w="345641">
                  <a:extLst>
                    <a:ext uri="{9D8B030D-6E8A-4147-A177-3AD203B41FA5}">
                      <a16:colId xmlns:a16="http://schemas.microsoft.com/office/drawing/2014/main" val="25324327"/>
                    </a:ext>
                  </a:extLst>
                </a:gridCol>
                <a:gridCol w="345641">
                  <a:extLst>
                    <a:ext uri="{9D8B030D-6E8A-4147-A177-3AD203B41FA5}">
                      <a16:colId xmlns:a16="http://schemas.microsoft.com/office/drawing/2014/main" val="3440510662"/>
                    </a:ext>
                  </a:extLst>
                </a:gridCol>
              </a:tblGrid>
              <a:tr h="276372">
                <a:tc rowSpan="2">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1">
                        <a:lumMod val="40000"/>
                        <a:lumOff val="60000"/>
                      </a:schemeClr>
                    </a:solidFill>
                  </a:tcPr>
                </a:tc>
                <a:tc gridSpan="11">
                  <a:txBody>
                    <a:bodyPr/>
                    <a:lstStyle/>
                    <a:p>
                      <a:pPr algn="ctr" rtl="0" fontAlgn="ctr"/>
                      <a:r>
                        <a:rPr lang="zh-TW" altLang="en-US" sz="700" b="0" i="0" u="none" strike="noStrike">
                          <a:solidFill>
                            <a:srgbClr val="000000"/>
                          </a:solidFill>
                          <a:effectLst/>
                          <a:latin typeface="メイリオ" panose="020B0604030504040204" pitchFamily="50" charset="-128"/>
                          <a:ea typeface="メイリオ" panose="020B0604030504040204" pitchFamily="50" charset="-128"/>
                        </a:rPr>
                        <a:t>保険者機能強化推進交付金</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1">
                  <a:txBody>
                    <a:bodyPr/>
                    <a:lstStyle/>
                    <a:p>
                      <a:pPr algn="ctr" rtl="0" fontAlgn="ctr"/>
                      <a:r>
                        <a:rPr lang="zh-TW" altLang="en-US" sz="700" b="0" i="0" u="none" strike="noStrike">
                          <a:solidFill>
                            <a:srgbClr val="000000"/>
                          </a:solidFill>
                          <a:effectLst/>
                          <a:latin typeface="メイリオ" panose="020B0604030504040204" pitchFamily="50" charset="-128"/>
                          <a:ea typeface="メイリオ" panose="020B0604030504040204" pitchFamily="50" charset="-128"/>
                        </a:rPr>
                        <a:t>介護保険保険者努力支援交付金</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rowSpan="2" gridSpan="4">
                  <a:txBody>
                    <a:bodyPr/>
                    <a:lstStyle/>
                    <a:p>
                      <a:pPr algn="ctr"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合計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rowSpan="2" hMerge="1">
                  <a:txBody>
                    <a:bodyPr/>
                    <a:lstStyle/>
                    <a:p>
                      <a:endParaRPr kumimoji="1" lang="ja-JP" altLang="en-US"/>
                    </a:p>
                  </a:txBody>
                  <a:tcPr/>
                </a:tc>
                <a:tc rowSpan="2" hMerge="1">
                  <a:txBody>
                    <a:bodyPr/>
                    <a:lstStyle/>
                    <a:p>
                      <a:endParaRPr kumimoji="1" lang="ja-JP" altLang="en-US"/>
                    </a:p>
                  </a:txBody>
                  <a:tcPr/>
                </a:tc>
                <a:tc rowSpan="2" hMerge="1">
                  <a:txBody>
                    <a:bodyPr/>
                    <a:lstStyle/>
                    <a:p>
                      <a:endParaRPr kumimoji="1" lang="ja-JP" altLang="en-US"/>
                    </a:p>
                  </a:txBody>
                  <a:tcPr/>
                </a:tc>
                <a:extLst>
                  <a:ext uri="{0D108BD9-81ED-4DB2-BD59-A6C34878D82A}">
                    <a16:rowId xmlns:a16="http://schemas.microsoft.com/office/drawing/2014/main" val="513707922"/>
                  </a:ext>
                </a:extLst>
              </a:tr>
              <a:tr h="810590">
                <a:tc vMerge="1">
                  <a:txBody>
                    <a:bodyPr/>
                    <a:lstStyle/>
                    <a:p>
                      <a:endParaRPr kumimoji="1" lang="ja-JP" altLang="en-US"/>
                    </a:p>
                  </a:txBody>
                  <a:tcPr/>
                </a:tc>
                <a:tc gridSpan="3">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Ⅰ</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持続可能な地域のあるべき姿</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Ⅱ</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　公平・公正な給付を行う体制の構築</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Ⅲ</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　介護人材の確保その他のサービス提供基盤の整備</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rowSpan="2">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Ⅳ</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a:t>
                      </a: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高齢者の状況に応じた自立した日常生活</a:t>
                      </a: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endParaRPr lang="en-US" altLang="ja-JP" sz="700" b="0" i="0" u="none" strike="noStrike">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アウトカム指標群）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1">
                        <a:lumMod val="40000"/>
                        <a:lumOff val="60000"/>
                      </a:schemeClr>
                    </a:solidFill>
                  </a:tcPr>
                </a:tc>
                <a:tc rowSpan="2">
                  <a:txBody>
                    <a:bodyPr/>
                    <a:lstStyle/>
                    <a:p>
                      <a:pPr algn="ctr" rtl="0" fontAlgn="ctr"/>
                      <a:r>
                        <a:rPr lang="zh-TW" altLang="en-US" sz="700" b="0" i="0" u="none" strike="noStrike" dirty="0">
                          <a:solidFill>
                            <a:srgbClr val="000000"/>
                          </a:solidFill>
                          <a:effectLst/>
                          <a:latin typeface="メイリオ" panose="020B0604030504040204" pitchFamily="50" charset="-128"/>
                          <a:ea typeface="メイリオ" panose="020B0604030504040204" pitchFamily="50" charset="-128"/>
                        </a:rPr>
                        <a:t>推進交付金合計</a:t>
                      </a:r>
                    </a:p>
                  </a:txBody>
                  <a:tcPr marL="3699" marR="3699" marT="3699" marB="0" vert="eaVert"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38100" cap="flat" cmpd="sng" algn="ctr">
                      <a:solidFill>
                        <a:srgbClr val="FF0000"/>
                      </a:solidFill>
                      <a:prstDash val="solid"/>
                      <a:round/>
                      <a:headEnd type="none" w="med" len="med"/>
                      <a:tailEnd type="none" w="med" len="med"/>
                    </a:lnB>
                    <a:solidFill>
                      <a:schemeClr val="accent1">
                        <a:lumMod val="40000"/>
                        <a:lumOff val="60000"/>
                      </a:schemeClr>
                    </a:solidFill>
                  </a:tcPr>
                </a:tc>
                <a:tc gridSpan="3">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Ⅰ</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　介護予防</a:t>
                      </a: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日常生活支援の推進</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Ⅱ</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　認知症総合支援の推進</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Ⅲ</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在宅医療・在宅介護連携の構築</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rowSpan="2">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Ⅳ</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a:t>
                      </a: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高齢者の状況に応じた自立した日常生活</a:t>
                      </a: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（アウトカム指標群）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1">
                        <a:lumMod val="40000"/>
                        <a:lumOff val="60000"/>
                      </a:schemeClr>
                    </a:solidFill>
                  </a:tcPr>
                </a:tc>
                <a:tc rowSpan="2">
                  <a:txBody>
                    <a:bodyPr/>
                    <a:lstStyle/>
                    <a:p>
                      <a:pPr algn="ctr" rtl="0" fontAlgn="ctr"/>
                      <a:r>
                        <a:rPr lang="zh-TW" altLang="en-US" sz="700" b="0" i="0" u="none" strike="noStrike" dirty="0">
                          <a:solidFill>
                            <a:srgbClr val="000000"/>
                          </a:solidFill>
                          <a:effectLst/>
                          <a:latin typeface="メイリオ" panose="020B0604030504040204" pitchFamily="50" charset="-128"/>
                          <a:ea typeface="メイリオ" panose="020B0604030504040204" pitchFamily="50" charset="-128"/>
                        </a:rPr>
                        <a:t>努力支援交付金合計</a:t>
                      </a:r>
                    </a:p>
                  </a:txBody>
                  <a:tcPr marL="3699" marR="3699" marT="3699" marB="0" vert="eaVert"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38100" cap="flat" cmpd="sng" algn="ctr">
                      <a:solidFill>
                        <a:srgbClr val="FF0000"/>
                      </a:solidFill>
                      <a:prstDash val="solid"/>
                      <a:round/>
                      <a:headEnd type="none" w="med" len="med"/>
                      <a:tailEnd type="none" w="med" len="med"/>
                    </a:lnB>
                    <a:solidFill>
                      <a:schemeClr val="accent1">
                        <a:lumMod val="40000"/>
                        <a:lumOff val="60000"/>
                      </a:schemeClr>
                    </a:solidFill>
                  </a:tcPr>
                </a:tc>
                <a:tc gridSpan="4"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99902797"/>
                  </a:ext>
                </a:extLst>
              </a:tr>
              <a:tr h="1068440">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38100" cap="flat" cmpd="sng" algn="ctr">
                      <a:solidFill>
                        <a:srgbClr val="FF0000"/>
                      </a:solidFill>
                      <a:prstDash val="solid"/>
                      <a:round/>
                      <a:headEnd type="none" w="med" len="med"/>
                      <a:tailEnd type="none" w="med" len="med"/>
                    </a:lnB>
                    <a:solidFill>
                      <a:schemeClr val="accent1">
                        <a:lumMod val="40000"/>
                        <a:lumOff val="60000"/>
                      </a:schemeClr>
                    </a:solid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1">
                        <a:lumMod val="40000"/>
                        <a:lumOff val="60000"/>
                      </a:schemeClr>
                    </a:solid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1">
                        <a:lumMod val="40000"/>
                        <a:lumOff val="60000"/>
                      </a:schemeClr>
                    </a:solid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1">
                        <a:lumMod val="40000"/>
                        <a:lumOff val="60000"/>
                      </a:schemeClr>
                    </a:solidFill>
                  </a:tcPr>
                </a:tc>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1">
                        <a:lumMod val="40000"/>
                        <a:lumOff val="60000"/>
                      </a:schemeClr>
                    </a:solid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1">
                        <a:lumMod val="40000"/>
                        <a:lumOff val="60000"/>
                      </a:schemeClr>
                    </a:solid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1">
                        <a:lumMod val="40000"/>
                        <a:lumOff val="60000"/>
                      </a:schemeClr>
                    </a:solidFill>
                  </a:tcPr>
                </a:tc>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zh-TW"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アウトカム計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38100" cap="flat" cmpd="sng" algn="ctr">
                      <a:solidFill>
                        <a:srgbClr val="FF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328992493"/>
                  </a:ext>
                </a:extLst>
              </a:tr>
              <a:tr h="276372">
                <a:tc>
                  <a:txBody>
                    <a:bodyPr/>
                    <a:lstStyle/>
                    <a:p>
                      <a:pPr algn="ctr" rtl="0" fontAlgn="ctr"/>
                      <a:r>
                        <a:rPr lang="ja-JP" altLang="en-US" sz="700" b="1" i="0" u="none" strike="noStrike" dirty="0">
                          <a:solidFill>
                            <a:srgbClr val="000000"/>
                          </a:solidFill>
                          <a:effectLst/>
                          <a:latin typeface="メイリオ" panose="020B0604030504040204" pitchFamily="50" charset="-128"/>
                          <a:ea typeface="メイリオ" panose="020B0604030504040204" pitchFamily="50" charset="-128"/>
                        </a:rPr>
                        <a:t>配点</a:t>
                      </a:r>
                    </a:p>
                  </a:txBody>
                  <a:tcPr marL="3699" marR="3699" marT="3699" marB="0" anchor="ctr">
                    <a:lnL w="3810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64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36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68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32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64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36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400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52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48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64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36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68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32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400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380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220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200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800</a:t>
                      </a:r>
                    </a:p>
                  </a:txBody>
                  <a:tcPr marL="3699" marR="3699" marT="3699" marB="0" anchor="ctr">
                    <a:lnL w="6350" cap="flat" cmpd="sng" algn="ctr">
                      <a:solidFill>
                        <a:srgbClr val="00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2722606242"/>
                  </a:ext>
                </a:extLst>
              </a:tr>
              <a:tr h="276372">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平均点</a:t>
                      </a:r>
                    </a:p>
                  </a:txBody>
                  <a:tcPr marL="3699" marR="3699" marT="3699" marB="0" anchor="ctr">
                    <a:lnL w="3810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46.3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9.8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56.2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42.4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17.5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59.8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33.8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41.0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48.6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205.6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31.4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20.1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51.5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42.4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12.1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54.5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49.3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12.8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62.1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48.6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216.7</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245.7</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79.5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97.2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422.4</a:t>
                      </a:r>
                    </a:p>
                  </a:txBody>
                  <a:tcPr marL="3699" marR="3699" marT="3699" marB="0" anchor="ctr">
                    <a:lnL w="6350" cap="flat" cmpd="sng" algn="ctr">
                      <a:solidFill>
                        <a:srgbClr val="00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290380408"/>
                  </a:ext>
                </a:extLst>
              </a:tr>
              <a:tr h="543481">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平均</a:t>
                      </a: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得点率</a:t>
                      </a:r>
                    </a:p>
                  </a:txBody>
                  <a:tcPr marL="3699" marR="3699" marT="3699" marB="0" anchor="ctr">
                    <a:lnL w="3810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72.4%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27.3%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56.2%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62.3%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54.6%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59.8%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52.9%</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20.0%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41.0%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48.6%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51.4%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60.4%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41.9%</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51.5%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66.3%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33.6%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54.5%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72.5%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62.1%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48.6%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54.2%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64.6%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36.1%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48.6%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52.8%</a:t>
                      </a:r>
                    </a:p>
                  </a:txBody>
                  <a:tcPr marL="3699" marR="3699" marT="3699" marB="0" anchor="ctr">
                    <a:lnL w="6350" cap="flat" cmpd="sng" algn="ctr">
                      <a:solidFill>
                        <a:srgbClr val="00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452680928"/>
                  </a:ext>
                </a:extLst>
              </a:tr>
              <a:tr h="276372">
                <a:tc>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中央値</a:t>
                      </a:r>
                    </a:p>
                  </a:txBody>
                  <a:tcPr marL="3699" marR="3699" marT="3699" marB="0" anchor="ctr">
                    <a:lnL w="3810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9</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58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34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209</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33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20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56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12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222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252</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lnBlToTr w="6350" cap="flat" cmpd="sng" algn="ctr">
                      <a:noFill/>
                      <a:prstDash val="solid"/>
                      <a:round/>
                      <a:headEnd type="none" w="med" len="med"/>
                      <a:tailEnd type="none" w="med" len="med"/>
                    </a:lnBlToTr>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80</a:t>
                      </a:r>
                      <a:endParaRPr lang="ja-JP" altLang="en-US" sz="700" b="0" i="0" u="none" strike="noStrike" dirty="0">
                        <a:solidFill>
                          <a:srgbClr val="000000"/>
                        </a:solidFill>
                        <a:effectLst/>
                        <a:latin typeface="メイリオ" panose="020B0604030504040204" pitchFamily="50" charset="-128"/>
                        <a:ea typeface="メイリオ" panose="020B0604030504040204" pitchFamily="50" charset="-128"/>
                      </a:endParaRP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lnBlToTr w="6350" cap="flat" cmpd="sng" algn="ctr">
                      <a:noFill/>
                      <a:prstDash val="solid"/>
                      <a:round/>
                      <a:headEnd type="none" w="med" len="med"/>
                      <a:tailEnd type="none" w="med" len="med"/>
                    </a:lnBlToTr>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100</a:t>
                      </a:r>
                      <a:endParaRPr lang="ja-JP" altLang="en-US" sz="700" b="0" i="0" u="none" strike="noStrike" dirty="0">
                        <a:solidFill>
                          <a:srgbClr val="000000"/>
                        </a:solidFill>
                        <a:effectLst/>
                        <a:latin typeface="メイリオ" panose="020B0604030504040204" pitchFamily="50" charset="-128"/>
                        <a:ea typeface="メイリオ" panose="020B0604030504040204" pitchFamily="50" charset="-128"/>
                      </a:endParaRP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lnBlToTr w="6350" cap="flat" cmpd="sng" algn="ctr">
                      <a:noFill/>
                      <a:prstDash val="solid"/>
                      <a:round/>
                      <a:headEnd type="none" w="med" len="med"/>
                      <a:tailEnd type="none" w="med" len="med"/>
                    </a:lnBlToTr>
                    <a:solidFill>
                      <a:srgbClr val="FFF2CC"/>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428</a:t>
                      </a:r>
                    </a:p>
                  </a:txBody>
                  <a:tcPr marL="3699" marR="3699" marT="3699" marB="0" anchor="ctr">
                    <a:lnL w="6350" cap="flat" cmpd="sng" algn="ctr">
                      <a:solidFill>
                        <a:srgbClr val="00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2CC"/>
                    </a:solidFill>
                  </a:tcPr>
                </a:tc>
                <a:extLst>
                  <a:ext uri="{0D108BD9-81ED-4DB2-BD59-A6C34878D82A}">
                    <a16:rowId xmlns:a16="http://schemas.microsoft.com/office/drawing/2014/main" val="3717243087"/>
                  </a:ext>
                </a:extLst>
              </a:tr>
            </a:tbl>
          </a:graphicData>
        </a:graphic>
      </p:graphicFrame>
      <p:sp>
        <p:nvSpPr>
          <p:cNvPr id="5" name="正方形/長方形 4">
            <a:extLst>
              <a:ext uri="{FF2B5EF4-FFF2-40B4-BE49-F238E27FC236}">
                <a16:creationId xmlns:a16="http://schemas.microsoft.com/office/drawing/2014/main" id="{1EB6A072-9285-D9F8-1F8E-267BFE35299A}"/>
              </a:ext>
            </a:extLst>
          </p:cNvPr>
          <p:cNvSpPr/>
          <p:nvPr/>
        </p:nvSpPr>
        <p:spPr>
          <a:xfrm>
            <a:off x="108131" y="702756"/>
            <a:ext cx="9500639" cy="2520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r>
              <a:rPr lang="ja-JP" altLang="en-US" sz="1300" dirty="0">
                <a:solidFill>
                  <a:schemeClr val="tx1"/>
                </a:solidFill>
                <a:latin typeface="メイリオ" panose="020B0604030504040204" pitchFamily="50" charset="-128"/>
                <a:ea typeface="メイリオ" panose="020B0604030504040204" pitchFamily="50" charset="-128"/>
              </a:rPr>
              <a:t>○　</a:t>
            </a:r>
            <a:r>
              <a:rPr lang="en-US" altLang="ja-JP" sz="1300" dirty="0">
                <a:solidFill>
                  <a:schemeClr val="tx1"/>
                </a:solidFill>
                <a:latin typeface="メイリオ" panose="020B0604030504040204" pitchFamily="50" charset="-128"/>
                <a:ea typeface="メイリオ" panose="020B0604030504040204" pitchFamily="50" charset="-128"/>
              </a:rPr>
              <a:t>2024</a:t>
            </a:r>
            <a:r>
              <a:rPr lang="ja-JP" altLang="en-US" sz="1300" dirty="0">
                <a:solidFill>
                  <a:schemeClr val="tx1"/>
                </a:solidFill>
                <a:latin typeface="メイリオ" panose="020B0604030504040204" pitchFamily="50" charset="-128"/>
                <a:ea typeface="メイリオ" panose="020B0604030504040204" pitchFamily="50" charset="-128"/>
              </a:rPr>
              <a:t>年（令和</a:t>
            </a:r>
            <a:r>
              <a:rPr lang="en-US" altLang="ja-JP" sz="1300" dirty="0">
                <a:solidFill>
                  <a:schemeClr val="tx1"/>
                </a:solidFill>
                <a:latin typeface="メイリオ" panose="020B0604030504040204" pitchFamily="50" charset="-128"/>
                <a:ea typeface="メイリオ" panose="020B0604030504040204" pitchFamily="50" charset="-128"/>
              </a:rPr>
              <a:t>6</a:t>
            </a:r>
            <a:r>
              <a:rPr lang="ja-JP" altLang="en-US" sz="1300" dirty="0">
                <a:solidFill>
                  <a:schemeClr val="tx1"/>
                </a:solidFill>
                <a:latin typeface="メイリオ" panose="020B0604030504040204" pitchFamily="50" charset="-128"/>
                <a:ea typeface="メイリオ" panose="020B0604030504040204" pitchFamily="50" charset="-128"/>
              </a:rPr>
              <a:t>年度）における保険者機能強化推進交付金等の配分に活用するため、国において令和</a:t>
            </a:r>
            <a:r>
              <a:rPr lang="en-US" altLang="ja-JP" sz="1300" dirty="0">
                <a:solidFill>
                  <a:schemeClr val="tx1"/>
                </a:solidFill>
                <a:latin typeface="メイリオ" panose="020B0604030504040204" pitchFamily="50" charset="-128"/>
                <a:ea typeface="メイリオ" panose="020B0604030504040204" pitchFamily="50" charset="-128"/>
              </a:rPr>
              <a:t>6</a:t>
            </a:r>
            <a:r>
              <a:rPr lang="ja-JP" altLang="en-US" sz="1300" dirty="0">
                <a:solidFill>
                  <a:schemeClr val="tx1"/>
                </a:solidFill>
                <a:latin typeface="メイリオ" panose="020B0604030504040204" pitchFamily="50" charset="-128"/>
                <a:ea typeface="メイリオ" panose="020B0604030504040204" pitchFamily="50" charset="-128"/>
              </a:rPr>
              <a:t>年度評価指標を定め、これに基づき、</a:t>
            </a:r>
            <a:r>
              <a:rPr lang="en-US" altLang="ja-JP" sz="1300" dirty="0">
                <a:solidFill>
                  <a:schemeClr val="tx1"/>
                </a:solidFill>
                <a:latin typeface="メイリオ" panose="020B0604030504040204" pitchFamily="50" charset="-128"/>
                <a:ea typeface="メイリオ" panose="020B0604030504040204" pitchFamily="50" charset="-128"/>
              </a:rPr>
              <a:t>1,741</a:t>
            </a:r>
            <a:r>
              <a:rPr lang="ja-JP" altLang="en-US" sz="1300" dirty="0">
                <a:solidFill>
                  <a:schemeClr val="tx1"/>
                </a:solidFill>
                <a:latin typeface="メイリオ" panose="020B0604030504040204" pitchFamily="50" charset="-128"/>
                <a:ea typeface="メイリオ" panose="020B0604030504040204" pitchFamily="50" charset="-128"/>
              </a:rPr>
              <a:t>市町村が自らの取組等について評価を行った結果は、次のとおりである。</a:t>
            </a:r>
            <a:endParaRPr lang="en-US" altLang="ja-JP" sz="1300" dirty="0">
              <a:solidFill>
                <a:schemeClr val="tx1"/>
              </a:solidFill>
              <a:latin typeface="メイリオ" panose="020B0604030504040204" pitchFamily="50" charset="-128"/>
              <a:ea typeface="メイリオ" panose="020B0604030504040204" pitchFamily="50" charset="-128"/>
            </a:endParaRPr>
          </a:p>
          <a:p>
            <a:pPr marL="179388" indent="-179388"/>
            <a:endParaRPr lang="en-US" altLang="ja-JP" sz="800" dirty="0">
              <a:solidFill>
                <a:schemeClr val="tx1"/>
              </a:solidFill>
              <a:latin typeface="メイリオ" panose="020B0604030504040204" pitchFamily="50" charset="-128"/>
              <a:ea typeface="メイリオ" panose="020B0604030504040204" pitchFamily="50" charset="-128"/>
            </a:endParaRPr>
          </a:p>
          <a:p>
            <a:pPr marL="179388" indent="-179388"/>
            <a:r>
              <a:rPr lang="ja-JP" altLang="en-US" sz="1300" dirty="0">
                <a:solidFill>
                  <a:schemeClr val="tx1"/>
                </a:solidFill>
                <a:latin typeface="メイリオ" panose="020B0604030504040204" pitchFamily="50" charset="-128"/>
                <a:ea typeface="メイリオ" panose="020B0604030504040204" pitchFamily="50" charset="-128"/>
              </a:rPr>
              <a:t>　</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平均点</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b="1" u="sng" dirty="0">
                <a:solidFill>
                  <a:srgbClr val="FF0000"/>
                </a:solidFill>
                <a:latin typeface="游ゴシック" panose="020B0400000000000000" pitchFamily="50" charset="-128"/>
                <a:ea typeface="游ゴシック" panose="020B0400000000000000" pitchFamily="50" charset="-128"/>
              </a:rPr>
              <a:t>422</a:t>
            </a:r>
            <a:r>
              <a:rPr lang="ja-JP" altLang="en-US" sz="1300" b="1" u="sng" dirty="0">
                <a:solidFill>
                  <a:srgbClr val="FF0000"/>
                </a:solidFill>
                <a:latin typeface="游ゴシック" panose="020B0400000000000000" pitchFamily="50" charset="-128"/>
                <a:ea typeface="游ゴシック" panose="020B0400000000000000" pitchFamily="50" charset="-128"/>
              </a:rPr>
              <a:t>点</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800</a:t>
            </a:r>
            <a:r>
              <a:rPr lang="ja-JP" altLang="en-US" sz="1300" dirty="0">
                <a:solidFill>
                  <a:schemeClr val="tx1"/>
                </a:solidFill>
                <a:latin typeface="游ゴシック" panose="020B0400000000000000" pitchFamily="50" charset="-128"/>
                <a:ea typeface="游ゴシック" panose="020B0400000000000000" pitchFamily="50" charset="-128"/>
              </a:rPr>
              <a:t>点満点）　</a:t>
            </a:r>
            <a:r>
              <a:rPr lang="en-US" altLang="ja-JP" sz="1300" dirty="0">
                <a:solidFill>
                  <a:schemeClr val="tx1"/>
                </a:solidFill>
                <a:latin typeface="游ゴシック" panose="020B0400000000000000" pitchFamily="50" charset="-128"/>
                <a:ea typeface="游ゴシック" panose="020B0400000000000000" pitchFamily="50" charset="-128"/>
              </a:rPr>
              <a:t>【R5</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1,156</a:t>
            </a:r>
            <a:r>
              <a:rPr lang="ja-JP" altLang="en-US" sz="1300" dirty="0">
                <a:solidFill>
                  <a:schemeClr val="tx1"/>
                </a:solidFill>
                <a:latin typeface="游ゴシック" panose="020B0400000000000000" pitchFamily="50" charset="-128"/>
                <a:ea typeface="游ゴシック" panose="020B0400000000000000" pitchFamily="50" charset="-128"/>
              </a:rPr>
              <a:t>点（</a:t>
            </a:r>
            <a:r>
              <a:rPr lang="en-US" altLang="ja-JP" sz="1300" dirty="0">
                <a:solidFill>
                  <a:schemeClr val="tx1"/>
                </a:solidFill>
                <a:latin typeface="游ゴシック" panose="020B0400000000000000" pitchFamily="50" charset="-128"/>
                <a:ea typeface="游ゴシック" panose="020B0400000000000000" pitchFamily="50" charset="-128"/>
              </a:rPr>
              <a:t>2,185</a:t>
            </a:r>
            <a:r>
              <a:rPr lang="ja-JP" altLang="en-US" sz="1300" dirty="0">
                <a:solidFill>
                  <a:schemeClr val="tx1"/>
                </a:solidFill>
                <a:latin typeface="游ゴシック" panose="020B0400000000000000" pitchFamily="50" charset="-128"/>
                <a:ea typeface="游ゴシック" panose="020B0400000000000000" pitchFamily="50" charset="-128"/>
              </a:rPr>
              <a:t>点満点）</a:t>
            </a:r>
            <a:r>
              <a:rPr lang="en-US" altLang="ja-JP" sz="1300" dirty="0">
                <a:solidFill>
                  <a:schemeClr val="tx1"/>
                </a:solidFill>
                <a:latin typeface="游ゴシック" panose="020B0400000000000000" pitchFamily="50" charset="-128"/>
                <a:ea typeface="游ゴシック" panose="020B0400000000000000" pitchFamily="50" charset="-128"/>
              </a:rPr>
              <a:t>】</a:t>
            </a:r>
          </a:p>
          <a:p>
            <a:pPr marL="179388" indent="-179388"/>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平均得点率</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b="1" u="sng" dirty="0">
                <a:solidFill>
                  <a:srgbClr val="FF0000"/>
                </a:solidFill>
                <a:latin typeface="游ゴシック" panose="020B0400000000000000" pitchFamily="50" charset="-128"/>
                <a:ea typeface="游ゴシック" panose="020B0400000000000000" pitchFamily="50" charset="-128"/>
              </a:rPr>
              <a:t>52.8</a:t>
            </a:r>
            <a:r>
              <a:rPr lang="ja-JP" altLang="en-US" sz="1300" b="1" u="sng" dirty="0">
                <a:solidFill>
                  <a:srgbClr val="FF0000"/>
                </a:solidFill>
                <a:latin typeface="游ゴシック" panose="020B0400000000000000" pitchFamily="50" charset="-128"/>
                <a:ea typeface="游ゴシック" panose="020B0400000000000000" pitchFamily="50" charset="-128"/>
              </a:rPr>
              <a:t>％</a:t>
            </a:r>
            <a:r>
              <a:rPr lang="ja-JP" altLang="en-US" sz="1300" b="1" dirty="0">
                <a:solidFill>
                  <a:schemeClr val="tx1"/>
                </a:solidFill>
                <a:latin typeface="游ゴシック" panose="020B0400000000000000" pitchFamily="50" charset="-128"/>
                <a:ea typeface="游ゴシック" panose="020B0400000000000000" pitchFamily="50" charset="-128"/>
              </a:rPr>
              <a:t>　</a:t>
            </a:r>
            <a:r>
              <a:rPr lang="en-US" altLang="ja-JP" sz="1300" dirty="0">
                <a:solidFill>
                  <a:schemeClr val="tx1"/>
                </a:solidFill>
                <a:latin typeface="游ゴシック" panose="020B0400000000000000" pitchFamily="50" charset="-128"/>
                <a:ea typeface="游ゴシック" panose="020B0400000000000000" pitchFamily="50" charset="-128"/>
              </a:rPr>
              <a:t>【R5</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52.9</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a:t>
            </a:r>
          </a:p>
          <a:p>
            <a:pPr marL="360363" indent="-360363"/>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得点トップ</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　</a:t>
            </a:r>
            <a:r>
              <a:rPr lang="ja-JP" altLang="en-US" sz="1300" b="1" u="sng" dirty="0">
                <a:solidFill>
                  <a:srgbClr val="FF0000"/>
                </a:solidFill>
                <a:latin typeface="游ゴシック" panose="020B0400000000000000" pitchFamily="50" charset="-128"/>
                <a:ea typeface="游ゴシック" panose="020B0400000000000000" pitchFamily="50" charset="-128"/>
              </a:rPr>
              <a:t>小松市（石川県）</a:t>
            </a:r>
            <a:r>
              <a:rPr lang="en-US" altLang="ja-JP" sz="1300" b="1" u="sng" dirty="0">
                <a:solidFill>
                  <a:srgbClr val="FF0000"/>
                </a:solidFill>
                <a:latin typeface="游ゴシック" panose="020B0400000000000000" pitchFamily="50" charset="-128"/>
                <a:ea typeface="游ゴシック" panose="020B0400000000000000" pitchFamily="50" charset="-128"/>
              </a:rPr>
              <a:t>663</a:t>
            </a:r>
            <a:r>
              <a:rPr lang="ja-JP" altLang="en-US" sz="1300" b="1" u="sng" dirty="0">
                <a:solidFill>
                  <a:srgbClr val="FF0000"/>
                </a:solidFill>
                <a:latin typeface="游ゴシック" panose="020B0400000000000000" pitchFamily="50" charset="-128"/>
                <a:ea typeface="游ゴシック" panose="020B0400000000000000" pitchFamily="50" charset="-128"/>
              </a:rPr>
              <a:t>点</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82.9%</a:t>
            </a:r>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dirty="0">
                <a:solidFill>
                  <a:schemeClr val="tx1"/>
                </a:solidFill>
                <a:latin typeface="游ゴシック" panose="020B0400000000000000" pitchFamily="50" charset="-128"/>
                <a:ea typeface="游ゴシック" panose="020B0400000000000000" pitchFamily="50" charset="-128"/>
              </a:rPr>
              <a:t>【R5</a:t>
            </a:r>
            <a:r>
              <a:rPr lang="ja-JP" altLang="en-US" sz="1300" dirty="0">
                <a:solidFill>
                  <a:schemeClr val="tx1"/>
                </a:solidFill>
                <a:latin typeface="游ゴシック" panose="020B0400000000000000" pitchFamily="50" charset="-128"/>
                <a:ea typeface="游ゴシック" panose="020B0400000000000000" pitchFamily="50" charset="-128"/>
              </a:rPr>
              <a:t>：上砂川町（北海道）の</a:t>
            </a:r>
            <a:r>
              <a:rPr lang="en-US" altLang="ja-JP" sz="1300" dirty="0">
                <a:solidFill>
                  <a:schemeClr val="tx1"/>
                </a:solidFill>
                <a:latin typeface="游ゴシック" panose="020B0400000000000000" pitchFamily="50" charset="-128"/>
                <a:ea typeface="游ゴシック" panose="020B0400000000000000" pitchFamily="50" charset="-128"/>
              </a:rPr>
              <a:t>1,968</a:t>
            </a:r>
            <a:r>
              <a:rPr lang="ja-JP" altLang="en-US" sz="1300" dirty="0">
                <a:solidFill>
                  <a:schemeClr val="tx1"/>
                </a:solidFill>
                <a:latin typeface="游ゴシック" panose="020B0400000000000000" pitchFamily="50" charset="-128"/>
                <a:ea typeface="游ゴシック" panose="020B0400000000000000" pitchFamily="50" charset="-128"/>
              </a:rPr>
              <a:t>点（得点</a:t>
            </a:r>
            <a:r>
              <a:rPr lang="en-US" altLang="ja-JP" sz="1300" dirty="0">
                <a:solidFill>
                  <a:schemeClr val="tx1"/>
                </a:solidFill>
                <a:latin typeface="游ゴシック" panose="020B0400000000000000" pitchFamily="50" charset="-128"/>
                <a:ea typeface="游ゴシック" panose="020B0400000000000000" pitchFamily="50" charset="-128"/>
              </a:rPr>
              <a:t>90.1</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a:t>
            </a:r>
          </a:p>
          <a:p>
            <a:pPr marL="360363" indent="-360363"/>
            <a:endParaRPr lang="en-US" altLang="ja-JP" sz="800" dirty="0">
              <a:solidFill>
                <a:schemeClr val="tx1"/>
              </a:solidFill>
              <a:latin typeface="游ゴシック" panose="020B0400000000000000" pitchFamily="50" charset="-128"/>
              <a:ea typeface="游ゴシック" panose="020B0400000000000000" pitchFamily="50" charset="-128"/>
            </a:endParaRPr>
          </a:p>
          <a:p>
            <a:pPr marL="180975" indent="-180975"/>
            <a:r>
              <a:rPr lang="ja-JP" altLang="en-US" sz="1300" dirty="0">
                <a:solidFill>
                  <a:schemeClr val="tx1"/>
                </a:solidFill>
                <a:latin typeface="メイリオ" panose="020B0604030504040204" pitchFamily="50" charset="-128"/>
                <a:ea typeface="メイリオ" panose="020B0604030504040204" pitchFamily="50" charset="-128"/>
              </a:rPr>
              <a:t>○　令和６年度評価指標については、アウトプット・中間アウトカムに関する評価指標の充実を図りつつ、アウトカムとの関連性が必ずしも高くない評価指標の縮減を行うなど、前年度評価指標から大幅な見直しを行っているが、平均得点率についてみれば、前年度とは大きく変わりがない結果となった。</a:t>
            </a:r>
            <a:endParaRPr lang="en-US" altLang="ja-JP" sz="1300" dirty="0">
              <a:solidFill>
                <a:schemeClr val="tx1"/>
              </a:solidFill>
              <a:latin typeface="メイリオ" panose="020B0604030504040204" pitchFamily="50" charset="-128"/>
              <a:ea typeface="メイリオ" panose="020B0604030504040204" pitchFamily="50" charset="-128"/>
            </a:endParaRPr>
          </a:p>
          <a:p>
            <a:pPr marL="360363" indent="-360363"/>
            <a:endParaRPr lang="en-US" altLang="ja-JP" sz="800" dirty="0">
              <a:solidFill>
                <a:schemeClr val="tx1"/>
              </a:solidFill>
              <a:latin typeface="メイリオ" panose="020B0604030504040204" pitchFamily="50" charset="-128"/>
              <a:ea typeface="メイリオ" panose="020B0604030504040204" pitchFamily="50" charset="-128"/>
            </a:endParaRPr>
          </a:p>
          <a:p>
            <a:pPr marL="180975" indent="-180975"/>
            <a:r>
              <a:rPr lang="ja-JP" altLang="en-US" sz="1300" dirty="0">
                <a:solidFill>
                  <a:schemeClr val="tx1"/>
                </a:solidFill>
                <a:latin typeface="メイリオ" panose="020B0604030504040204" pitchFamily="50" charset="-128"/>
                <a:ea typeface="メイリオ" panose="020B0604030504040204" pitchFamily="50" charset="-128"/>
              </a:rPr>
              <a:t>○　分野別に見ると、支援の目標</a:t>
            </a:r>
            <a:r>
              <a:rPr lang="en-US" altLang="ja-JP" sz="1300" dirty="0">
                <a:solidFill>
                  <a:schemeClr val="tx1"/>
                </a:solidFill>
                <a:latin typeface="メイリオ" panose="020B0604030504040204" pitchFamily="50" charset="-128"/>
                <a:ea typeface="メイリオ" panose="020B0604030504040204" pitchFamily="50" charset="-128"/>
              </a:rPr>
              <a:t>Ⅲ</a:t>
            </a:r>
            <a:r>
              <a:rPr lang="ja-JP" altLang="en-US" sz="1300" dirty="0">
                <a:solidFill>
                  <a:schemeClr val="tx1"/>
                </a:solidFill>
                <a:latin typeface="メイリオ" panose="020B0604030504040204" pitchFamily="50" charset="-128"/>
                <a:ea typeface="メイリオ" panose="020B0604030504040204" pitchFamily="50" charset="-128"/>
              </a:rPr>
              <a:t>（在宅医療介護連携関連）の得点率が最も高く、推進の目標</a:t>
            </a:r>
            <a:r>
              <a:rPr lang="en-US" altLang="ja-JP" sz="1300" dirty="0">
                <a:solidFill>
                  <a:schemeClr val="tx1"/>
                </a:solidFill>
                <a:latin typeface="メイリオ" panose="020B0604030504040204" pitchFamily="50" charset="-128"/>
                <a:ea typeface="メイリオ" panose="020B0604030504040204" pitchFamily="50" charset="-128"/>
              </a:rPr>
              <a:t>Ⅲ</a:t>
            </a:r>
            <a:r>
              <a:rPr lang="ja-JP" altLang="en-US" sz="1300" dirty="0">
                <a:solidFill>
                  <a:schemeClr val="tx1"/>
                </a:solidFill>
                <a:latin typeface="メイリオ" panose="020B0604030504040204" pitchFamily="50" charset="-128"/>
                <a:ea typeface="メイリオ" panose="020B0604030504040204" pitchFamily="50" charset="-128"/>
              </a:rPr>
              <a:t>（介護人材確保関連）の得点率が最も低い。</a:t>
            </a:r>
            <a:endParaRPr lang="en-US" altLang="ja-JP" sz="1300" dirty="0">
              <a:solidFill>
                <a:schemeClr val="tx1"/>
              </a:solidFill>
              <a:latin typeface="メイリオ" panose="020B0604030504040204" pitchFamily="50" charset="-128"/>
              <a:ea typeface="メイリオ" panose="020B0604030504040204" pitchFamily="50" charset="-128"/>
            </a:endParaRPr>
          </a:p>
        </p:txBody>
      </p:sp>
      <p:sp>
        <p:nvSpPr>
          <p:cNvPr id="7" name="スライド番号プレースホルダー 9">
            <a:extLst>
              <a:ext uri="{FF2B5EF4-FFF2-40B4-BE49-F238E27FC236}">
                <a16:creationId xmlns:a16="http://schemas.microsoft.com/office/drawing/2014/main" id="{8F3B8181-B634-E7C2-7BB8-1ECEDA28ACF8}"/>
              </a:ext>
            </a:extLst>
          </p:cNvPr>
          <p:cNvSpPr>
            <a:spLocks noGrp="1"/>
          </p:cNvSpPr>
          <p:nvPr>
            <p:ph type="sldNum" sz="quarter" idx="12"/>
          </p:nvPr>
        </p:nvSpPr>
        <p:spPr>
          <a:xfrm>
            <a:off x="7380131" y="6606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1</a:t>
            </a:fld>
            <a:endParaRPr lang="ja-JP" altLang="en-US" sz="1178"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08374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20522"/>
            <a:ext cx="9720263" cy="434933"/>
          </a:xfrm>
          <a:prstGeom prst="rect">
            <a:avLst/>
          </a:prstGeom>
          <a:solidFill>
            <a:srgbClr val="002060"/>
          </a:solidFill>
          <a:ln w="19050">
            <a:noFill/>
            <a:miter lim="800000"/>
            <a:headEnd/>
            <a:tailEnd/>
          </a:ln>
        </p:spPr>
        <p:txBody>
          <a:bodyPr wrap="square" tIns="35325" bIns="35325" anchor="ctr">
            <a:noAutofit/>
          </a:bodyPr>
          <a:lstStyle/>
          <a:p>
            <a:pPr algn="ctr" defTabSz="897172">
              <a:defRPr/>
            </a:pPr>
            <a:r>
              <a:rPr lang="en-US" altLang="ja-JP" sz="1600" b="1" dirty="0">
                <a:solidFill>
                  <a:prstClr val="white"/>
                </a:solidFill>
                <a:latin typeface="メイリオ" panose="020B0604030504040204" pitchFamily="50" charset="-128"/>
                <a:ea typeface="メイリオ" panose="020B0604030504040204" pitchFamily="50" charset="-128"/>
              </a:rPr>
              <a:t>2024</a:t>
            </a:r>
            <a:r>
              <a:rPr lang="ja-JP" altLang="en-US" sz="1600" b="1" dirty="0">
                <a:solidFill>
                  <a:prstClr val="white"/>
                </a:solidFill>
                <a:latin typeface="メイリオ" panose="020B0604030504040204" pitchFamily="50" charset="-128"/>
                <a:ea typeface="メイリオ" panose="020B0604030504040204" pitchFamily="50" charset="-128"/>
              </a:rPr>
              <a:t>年度（市町村分）保険者機能強化推進交付金等に係る総合得点＜推進</a:t>
            </a:r>
            <a:r>
              <a:rPr lang="en-US" altLang="ja-JP" sz="1600" b="1" dirty="0">
                <a:solidFill>
                  <a:prstClr val="white"/>
                </a:solidFill>
                <a:latin typeface="メイリオ" panose="020B0604030504040204" pitchFamily="50" charset="-128"/>
                <a:ea typeface="メイリオ" panose="020B0604030504040204" pitchFamily="50" charset="-128"/>
              </a:rPr>
              <a:t>+</a:t>
            </a:r>
            <a:r>
              <a:rPr lang="ja-JP" altLang="en-US" sz="1600" b="1" dirty="0">
                <a:solidFill>
                  <a:prstClr val="white"/>
                </a:solidFill>
                <a:latin typeface="メイリオ" panose="020B0604030504040204" pitchFamily="50" charset="-128"/>
                <a:ea typeface="メイリオ" panose="020B0604030504040204" pitchFamily="50" charset="-128"/>
              </a:rPr>
              <a:t>支援＞</a:t>
            </a:r>
            <a:endParaRPr lang="en-US" altLang="ja-JP" sz="1600" b="1" dirty="0">
              <a:solidFill>
                <a:prstClr val="white"/>
              </a:solidFill>
              <a:latin typeface="メイリオ" panose="020B0604030504040204" pitchFamily="50" charset="-128"/>
              <a:ea typeface="メイリオ" panose="020B0604030504040204" pitchFamily="50" charset="-128"/>
            </a:endParaRPr>
          </a:p>
        </p:txBody>
      </p:sp>
      <p:sp>
        <p:nvSpPr>
          <p:cNvPr id="10" name="スライド番号プレースホルダー 9"/>
          <p:cNvSpPr>
            <a:spLocks noGrp="1"/>
          </p:cNvSpPr>
          <p:nvPr>
            <p:ph type="sldNum" sz="quarter" idx="12"/>
          </p:nvPr>
        </p:nvSpPr>
        <p:spPr>
          <a:xfrm>
            <a:off x="7344070" y="6592925"/>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2</a:t>
            </a:fld>
            <a:endParaRPr lang="ja-JP" altLang="en-US" sz="1178" b="1">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58B8CF25-9F9B-43AC-BC95-1B5FE7AFCE99}"/>
              </a:ext>
            </a:extLst>
          </p:cNvPr>
          <p:cNvPicPr>
            <a:picLocks noChangeAspect="1"/>
          </p:cNvPicPr>
          <p:nvPr/>
        </p:nvPicPr>
        <p:blipFill>
          <a:blip r:embed="rId3"/>
          <a:stretch>
            <a:fillRect/>
          </a:stretch>
        </p:blipFill>
        <p:spPr>
          <a:xfrm>
            <a:off x="341470" y="560550"/>
            <a:ext cx="9037320" cy="6131052"/>
          </a:xfrm>
          <a:prstGeom prst="rect">
            <a:avLst/>
          </a:prstGeom>
        </p:spPr>
      </p:pic>
    </p:spTree>
    <p:extLst>
      <p:ext uri="{BB962C8B-B14F-4D97-AF65-F5344CB8AC3E}">
        <p14:creationId xmlns:p14="http://schemas.microsoft.com/office/powerpoint/2010/main" val="3235708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 y="-17244"/>
            <a:ext cx="9720263" cy="432000"/>
          </a:xfrm>
          <a:prstGeom prst="rect">
            <a:avLst/>
          </a:prstGeom>
          <a:solidFill>
            <a:srgbClr val="002060"/>
          </a:solidFill>
          <a:ln w="19050">
            <a:noFill/>
            <a:miter lim="800000"/>
            <a:headEnd/>
            <a:tailEnd/>
          </a:ln>
        </p:spPr>
        <p:txBody>
          <a:bodyPr wrap="square" tIns="35325" bIns="35325" anchor="ctr">
            <a:noAutofit/>
          </a:bodyPr>
          <a:lstStyle/>
          <a:p>
            <a:pPr algn="ctr" defTabSz="897172"/>
            <a:r>
              <a:rPr lang="en-US" altLang="ja-JP" sz="1600" b="1" dirty="0">
                <a:solidFill>
                  <a:prstClr val="white"/>
                </a:solidFill>
                <a:latin typeface="メイリオ" panose="020B0604030504040204" pitchFamily="50" charset="-128"/>
                <a:ea typeface="メイリオ" panose="020B0604030504040204" pitchFamily="50" charset="-128"/>
              </a:rPr>
              <a:t>2024</a:t>
            </a:r>
            <a:r>
              <a:rPr lang="ja-JP" altLang="en-US" sz="1600" b="1" dirty="0">
                <a:solidFill>
                  <a:prstClr val="white"/>
                </a:solidFill>
                <a:latin typeface="メイリオ" panose="020B0604030504040204" pitchFamily="50" charset="-128"/>
                <a:ea typeface="メイリオ" panose="020B0604030504040204" pitchFamily="50" charset="-128"/>
              </a:rPr>
              <a:t>年度（市町村分）　保険者機能強化推進交付金等交付見込額（案）＜推進</a:t>
            </a:r>
            <a:r>
              <a:rPr lang="en-US" altLang="ja-JP" sz="1600" b="1" dirty="0">
                <a:solidFill>
                  <a:prstClr val="white"/>
                </a:solidFill>
                <a:latin typeface="メイリオ" panose="020B0604030504040204" pitchFamily="50" charset="-128"/>
                <a:ea typeface="メイリオ" panose="020B0604030504040204" pitchFamily="50" charset="-128"/>
              </a:rPr>
              <a:t>+</a:t>
            </a:r>
            <a:r>
              <a:rPr lang="ja-JP" altLang="en-US" sz="1600" b="1" dirty="0">
                <a:solidFill>
                  <a:prstClr val="white"/>
                </a:solidFill>
                <a:latin typeface="メイリオ" panose="020B0604030504040204" pitchFamily="50" charset="-128"/>
                <a:ea typeface="メイリオ" panose="020B0604030504040204" pitchFamily="50" charset="-128"/>
              </a:rPr>
              <a:t>支援＞</a:t>
            </a:r>
            <a:endParaRPr lang="en-US" altLang="ja-JP" sz="1600" b="1" dirty="0">
              <a:solidFill>
                <a:prstClr val="white"/>
              </a:solidFill>
              <a:latin typeface="メイリオ" panose="020B0604030504040204" pitchFamily="50" charset="-128"/>
              <a:ea typeface="メイリオ" panose="020B0604030504040204" pitchFamily="50" charset="-128"/>
            </a:endParaRPr>
          </a:p>
        </p:txBody>
      </p:sp>
      <p:pic>
        <p:nvPicPr>
          <p:cNvPr id="5" name="図 4">
            <a:extLst>
              <a:ext uri="{FF2B5EF4-FFF2-40B4-BE49-F238E27FC236}">
                <a16:creationId xmlns:a16="http://schemas.microsoft.com/office/drawing/2014/main" id="{AA0EF700-44D5-9E21-4950-025D0F76F3CD}"/>
              </a:ext>
            </a:extLst>
          </p:cNvPr>
          <p:cNvPicPr>
            <a:picLocks noChangeAspect="1"/>
          </p:cNvPicPr>
          <p:nvPr/>
        </p:nvPicPr>
        <p:blipFill>
          <a:blip r:embed="rId2"/>
          <a:stretch>
            <a:fillRect/>
          </a:stretch>
        </p:blipFill>
        <p:spPr>
          <a:xfrm>
            <a:off x="181450" y="490950"/>
            <a:ext cx="9357360" cy="6039612"/>
          </a:xfrm>
          <a:prstGeom prst="rect">
            <a:avLst/>
          </a:prstGeom>
        </p:spPr>
      </p:pic>
      <p:sp>
        <p:nvSpPr>
          <p:cNvPr id="2" name="テキスト ボックス 1">
            <a:extLst>
              <a:ext uri="{FF2B5EF4-FFF2-40B4-BE49-F238E27FC236}">
                <a16:creationId xmlns:a16="http://schemas.microsoft.com/office/drawing/2014/main" id="{A9AF010C-95C0-6AEA-8C68-BF8D3FD3B405}"/>
              </a:ext>
            </a:extLst>
          </p:cNvPr>
          <p:cNvSpPr txBox="1"/>
          <p:nvPr/>
        </p:nvSpPr>
        <p:spPr>
          <a:xfrm>
            <a:off x="36131" y="6606756"/>
            <a:ext cx="9720263" cy="369332"/>
          </a:xfrm>
          <a:prstGeom prst="rect">
            <a:avLst/>
          </a:prstGeom>
          <a:noFill/>
        </p:spPr>
        <p:txBody>
          <a:bodyPr wrap="square" rtlCol="0">
            <a:spAutoFit/>
          </a:bodyPr>
          <a:lstStyle/>
          <a:p>
            <a:r>
              <a:rPr kumimoji="1" lang="en-US" altLang="ja-JP" sz="900" dirty="0">
                <a:latin typeface="HGｺﾞｼｯｸM" panose="020B0609000000000000" pitchFamily="49" charset="-128"/>
                <a:ea typeface="HGｺﾞｼｯｸM" panose="020B0609000000000000" pitchFamily="49" charset="-128"/>
              </a:rPr>
              <a:t>※</a:t>
            </a:r>
            <a:r>
              <a:rPr kumimoji="1" lang="ja-JP" altLang="en-US" sz="900" dirty="0">
                <a:latin typeface="HGｺﾞｼｯｸM" panose="020B0609000000000000" pitchFamily="49" charset="-128"/>
                <a:ea typeface="HGｺﾞｼｯｸM" panose="020B0609000000000000" pitchFamily="49" charset="-128"/>
              </a:rPr>
              <a:t>　令和</a:t>
            </a:r>
            <a:r>
              <a:rPr kumimoji="1" lang="en-US" altLang="ja-JP" sz="900" dirty="0">
                <a:latin typeface="HGｺﾞｼｯｸM" panose="020B0609000000000000" pitchFamily="49" charset="-128"/>
                <a:ea typeface="HGｺﾞｼｯｸM" panose="020B0609000000000000" pitchFamily="49" charset="-128"/>
              </a:rPr>
              <a:t>6</a:t>
            </a:r>
            <a:r>
              <a:rPr kumimoji="1" lang="ja-JP" altLang="en-US" sz="900" dirty="0">
                <a:latin typeface="HGｺﾞｼｯｸM" panose="020B0609000000000000" pitchFamily="49" charset="-128"/>
                <a:ea typeface="HGｺﾞｼｯｸM" panose="020B0609000000000000" pitchFamily="49" charset="-128"/>
              </a:rPr>
              <a:t>年度の交付金の配分に当たっては、予算額の縮減等を踏まえ、令和</a:t>
            </a:r>
            <a:r>
              <a:rPr kumimoji="1" lang="en-US" altLang="ja-JP" sz="900" dirty="0">
                <a:latin typeface="HGｺﾞｼｯｸM" panose="020B0609000000000000" pitchFamily="49" charset="-128"/>
                <a:ea typeface="HGｺﾞｼｯｸM" panose="020B0609000000000000" pitchFamily="49" charset="-128"/>
              </a:rPr>
              <a:t>5</a:t>
            </a:r>
            <a:r>
              <a:rPr kumimoji="1" lang="ja-JP" altLang="en-US" sz="900" dirty="0">
                <a:latin typeface="HGｺﾞｼｯｸM" panose="020B0609000000000000" pitchFamily="49" charset="-128"/>
                <a:ea typeface="HGｺﾞｼｯｸM" panose="020B0609000000000000" pitchFamily="49" charset="-128"/>
              </a:rPr>
              <a:t>年度交付額からの激変緩和措置を講じていることから、交付見込額は得点順位と必ずしも一致しない。</a:t>
            </a:r>
            <a:endParaRPr kumimoji="1" lang="en-US" altLang="ja-JP" sz="900" dirty="0">
              <a:latin typeface="HGｺﾞｼｯｸM" panose="020B0609000000000000" pitchFamily="49" charset="-128"/>
              <a:ea typeface="HGｺﾞｼｯｸM" panose="020B0609000000000000" pitchFamily="49" charset="-128"/>
            </a:endParaRPr>
          </a:p>
          <a:p>
            <a:r>
              <a:rPr kumimoji="1" lang="ja-JP" altLang="en-US" sz="900" dirty="0">
                <a:latin typeface="HGｺﾞｼｯｸM" panose="020B0609000000000000" pitchFamily="49" charset="-128"/>
                <a:ea typeface="HGｺﾞｼｯｸM" panose="020B0609000000000000" pitchFamily="49" charset="-128"/>
              </a:rPr>
              <a:t>　　また、実際の交付額については、各市町村の評価得点等により配分した交付見込額と、各市町村からの所要見込額とを比較して低い方の額を交付する。</a:t>
            </a:r>
          </a:p>
        </p:txBody>
      </p:sp>
      <p:sp>
        <p:nvSpPr>
          <p:cNvPr id="4" name="スライド番号プレースホルダー 9">
            <a:extLst>
              <a:ext uri="{FF2B5EF4-FFF2-40B4-BE49-F238E27FC236}">
                <a16:creationId xmlns:a16="http://schemas.microsoft.com/office/drawing/2014/main" id="{3B082011-D651-827E-027F-0DC6CA4212B3}"/>
              </a:ext>
            </a:extLst>
          </p:cNvPr>
          <p:cNvSpPr>
            <a:spLocks noGrp="1"/>
          </p:cNvSpPr>
          <p:nvPr>
            <p:ph type="sldNum" sz="quarter" idx="12"/>
          </p:nvPr>
        </p:nvSpPr>
        <p:spPr>
          <a:xfrm>
            <a:off x="7344070" y="6592925"/>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3</a:t>
            </a:fld>
            <a:endParaRPr lang="ja-JP" altLang="en-US" sz="1178"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43531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17637"/>
            <a:ext cx="9720263" cy="462411"/>
          </a:xfrm>
          <a:prstGeom prst="rect">
            <a:avLst/>
          </a:prstGeom>
          <a:solidFill>
            <a:srgbClr val="002060"/>
          </a:solidFill>
          <a:ln w="19050">
            <a:noFill/>
            <a:miter lim="800000"/>
            <a:headEnd/>
            <a:tailEnd/>
          </a:ln>
        </p:spPr>
        <p:txBody>
          <a:bodyPr wrap="square" tIns="35325" bIns="35325" anchor="ctr">
            <a:noAutofit/>
          </a:bodyPr>
          <a:lstStyle/>
          <a:p>
            <a:pPr algn="ctr" defTabSz="897172"/>
            <a:r>
              <a:rPr lang="en-US" altLang="ja-JP" sz="1600" b="1" dirty="0">
                <a:solidFill>
                  <a:prstClr val="white"/>
                </a:solidFill>
                <a:latin typeface="メイリオ" panose="020B0604030504040204" pitchFamily="50" charset="-128"/>
                <a:ea typeface="メイリオ" panose="020B0604030504040204" pitchFamily="50" charset="-128"/>
              </a:rPr>
              <a:t>2024</a:t>
            </a:r>
            <a:r>
              <a:rPr lang="ja-JP" altLang="en-US" sz="1600" b="1" dirty="0">
                <a:solidFill>
                  <a:prstClr val="white"/>
                </a:solidFill>
                <a:latin typeface="メイリオ" panose="020B0604030504040204" pitchFamily="50" charset="-128"/>
                <a:ea typeface="メイリオ" panose="020B0604030504040204" pitchFamily="50" charset="-128"/>
              </a:rPr>
              <a:t>年度（市町村分）保険者機能強化推進交付金に係る得点＜①目標別＞</a:t>
            </a:r>
          </a:p>
        </p:txBody>
      </p:sp>
      <p:sp>
        <p:nvSpPr>
          <p:cNvPr id="21" name="スライド番号プレースホルダー 20"/>
          <p:cNvSpPr>
            <a:spLocks noGrp="1"/>
          </p:cNvSpPr>
          <p:nvPr>
            <p:ph type="sldNum" sz="quarter" idx="12"/>
          </p:nvPr>
        </p:nvSpPr>
        <p:spPr>
          <a:xfrm>
            <a:off x="7308131"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4</a:t>
            </a:fld>
            <a:endParaRPr lang="ja-JP" altLang="en-US" sz="1178" b="1">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094FAFB7-ACB3-7299-9225-8D74A0EC6A8E}"/>
              </a:ext>
            </a:extLst>
          </p:cNvPr>
          <p:cNvPicPr>
            <a:picLocks noChangeAspect="1"/>
          </p:cNvPicPr>
          <p:nvPr/>
        </p:nvPicPr>
        <p:blipFill>
          <a:blip r:embed="rId3"/>
          <a:stretch>
            <a:fillRect/>
          </a:stretch>
        </p:blipFill>
        <p:spPr>
          <a:xfrm>
            <a:off x="341470" y="486756"/>
            <a:ext cx="9037320" cy="6129528"/>
          </a:xfrm>
          <a:prstGeom prst="rect">
            <a:avLst/>
          </a:prstGeom>
        </p:spPr>
      </p:pic>
    </p:spTree>
    <p:extLst>
      <p:ext uri="{BB962C8B-B14F-4D97-AF65-F5344CB8AC3E}">
        <p14:creationId xmlns:p14="http://schemas.microsoft.com/office/powerpoint/2010/main" val="2190765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17637"/>
            <a:ext cx="9720263" cy="462411"/>
          </a:xfrm>
          <a:prstGeom prst="rect">
            <a:avLst/>
          </a:prstGeom>
          <a:solidFill>
            <a:srgbClr val="002060"/>
          </a:solidFill>
          <a:ln w="19050">
            <a:noFill/>
            <a:miter lim="800000"/>
            <a:headEnd/>
            <a:tailEnd/>
          </a:ln>
        </p:spPr>
        <p:txBody>
          <a:bodyPr wrap="square" tIns="35325" bIns="35325" anchor="ctr">
            <a:noAutofit/>
          </a:bodyPr>
          <a:lstStyle/>
          <a:p>
            <a:pPr algn="ctr" defTabSz="897172"/>
            <a:r>
              <a:rPr lang="en-US" altLang="ja-JP" sz="1600" b="1" dirty="0">
                <a:solidFill>
                  <a:prstClr val="white"/>
                </a:solidFill>
                <a:latin typeface="メイリオ" panose="020B0604030504040204" pitchFamily="50" charset="-128"/>
                <a:ea typeface="メイリオ" panose="020B0604030504040204" pitchFamily="50" charset="-128"/>
              </a:rPr>
              <a:t>2024</a:t>
            </a:r>
            <a:r>
              <a:rPr lang="ja-JP" altLang="en-US" sz="1600" b="1" dirty="0">
                <a:solidFill>
                  <a:prstClr val="white"/>
                </a:solidFill>
                <a:latin typeface="メイリオ" panose="020B0604030504040204" pitchFamily="50" charset="-128"/>
                <a:ea typeface="メイリオ" panose="020B0604030504040204" pitchFamily="50" charset="-128"/>
              </a:rPr>
              <a:t>年度（市町村分）保険者機能強化推進交付金に係る得点＜②指標群別＞</a:t>
            </a:r>
          </a:p>
        </p:txBody>
      </p:sp>
      <p:sp>
        <p:nvSpPr>
          <p:cNvPr id="21" name="スライド番号プレースホルダー 20"/>
          <p:cNvSpPr>
            <a:spLocks noGrp="1"/>
          </p:cNvSpPr>
          <p:nvPr>
            <p:ph type="sldNum" sz="quarter" idx="12"/>
          </p:nvPr>
        </p:nvSpPr>
        <p:spPr>
          <a:xfrm>
            <a:off x="7308131"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5</a:t>
            </a:fld>
            <a:endParaRPr lang="ja-JP" altLang="en-US" sz="1178" b="1">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EEFB2D15-7179-1F78-DEDA-DFC73F6E93D4}"/>
              </a:ext>
            </a:extLst>
          </p:cNvPr>
          <p:cNvPicPr>
            <a:picLocks noChangeAspect="1"/>
          </p:cNvPicPr>
          <p:nvPr/>
        </p:nvPicPr>
        <p:blipFill>
          <a:blip r:embed="rId3"/>
          <a:stretch>
            <a:fillRect/>
          </a:stretch>
        </p:blipFill>
        <p:spPr>
          <a:xfrm>
            <a:off x="343027" y="602124"/>
            <a:ext cx="9035796" cy="6129528"/>
          </a:xfrm>
          <a:prstGeom prst="rect">
            <a:avLst/>
          </a:prstGeom>
        </p:spPr>
      </p:pic>
    </p:spTree>
    <p:extLst>
      <p:ext uri="{BB962C8B-B14F-4D97-AF65-F5344CB8AC3E}">
        <p14:creationId xmlns:p14="http://schemas.microsoft.com/office/powerpoint/2010/main" val="1668115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17637"/>
            <a:ext cx="9720263" cy="462411"/>
          </a:xfrm>
          <a:prstGeom prst="rect">
            <a:avLst/>
          </a:prstGeom>
          <a:solidFill>
            <a:srgbClr val="002060"/>
          </a:solidFill>
          <a:ln w="19050">
            <a:noFill/>
            <a:miter lim="800000"/>
            <a:headEnd/>
            <a:tailEnd/>
          </a:ln>
        </p:spPr>
        <p:txBody>
          <a:bodyPr wrap="square" tIns="35325" bIns="35325" anchor="ctr">
            <a:noAutofit/>
          </a:bodyPr>
          <a:lstStyle/>
          <a:p>
            <a:pPr algn="ctr" defTabSz="897172"/>
            <a:r>
              <a:rPr lang="en-US" altLang="ja-JP" sz="1600" b="1" dirty="0">
                <a:solidFill>
                  <a:prstClr val="white"/>
                </a:solidFill>
                <a:latin typeface="メイリオ" panose="020B0604030504040204" pitchFamily="50" charset="-128"/>
                <a:ea typeface="メイリオ" panose="020B0604030504040204" pitchFamily="50" charset="-128"/>
              </a:rPr>
              <a:t>2024</a:t>
            </a:r>
            <a:r>
              <a:rPr lang="ja-JP" altLang="en-US" sz="1600" b="1" dirty="0">
                <a:solidFill>
                  <a:prstClr val="white"/>
                </a:solidFill>
                <a:latin typeface="メイリオ" panose="020B0604030504040204" pitchFamily="50" charset="-128"/>
                <a:ea typeface="メイリオ" panose="020B0604030504040204" pitchFamily="50" charset="-128"/>
              </a:rPr>
              <a:t>年度（市町村分）介護保険保険者努力支援交付金に係る得点＜①目標別＞</a:t>
            </a:r>
          </a:p>
        </p:txBody>
      </p:sp>
      <p:sp>
        <p:nvSpPr>
          <p:cNvPr id="21" name="スライド番号プレースホルダー 20"/>
          <p:cNvSpPr>
            <a:spLocks noGrp="1"/>
          </p:cNvSpPr>
          <p:nvPr>
            <p:ph type="sldNum" sz="quarter" idx="12"/>
          </p:nvPr>
        </p:nvSpPr>
        <p:spPr>
          <a:xfrm>
            <a:off x="7308131"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6</a:t>
            </a:fld>
            <a:endParaRPr lang="ja-JP" altLang="en-US" sz="1178" b="1">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0CE95C08-566D-E843-4F95-D2C7F1C674B0}"/>
              </a:ext>
            </a:extLst>
          </p:cNvPr>
          <p:cNvPicPr>
            <a:picLocks noChangeAspect="1"/>
          </p:cNvPicPr>
          <p:nvPr/>
        </p:nvPicPr>
        <p:blipFill>
          <a:blip r:embed="rId3"/>
          <a:stretch>
            <a:fillRect/>
          </a:stretch>
        </p:blipFill>
        <p:spPr>
          <a:xfrm>
            <a:off x="343757" y="445230"/>
            <a:ext cx="9032748" cy="6131052"/>
          </a:xfrm>
          <a:prstGeom prst="rect">
            <a:avLst/>
          </a:prstGeom>
        </p:spPr>
      </p:pic>
    </p:spTree>
    <p:extLst>
      <p:ext uri="{BB962C8B-B14F-4D97-AF65-F5344CB8AC3E}">
        <p14:creationId xmlns:p14="http://schemas.microsoft.com/office/powerpoint/2010/main" val="140447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17637"/>
            <a:ext cx="9720263" cy="462411"/>
          </a:xfrm>
          <a:prstGeom prst="rect">
            <a:avLst/>
          </a:prstGeom>
          <a:solidFill>
            <a:srgbClr val="002060"/>
          </a:solidFill>
          <a:ln w="19050">
            <a:noFill/>
            <a:miter lim="800000"/>
            <a:headEnd/>
            <a:tailEnd/>
          </a:ln>
        </p:spPr>
        <p:txBody>
          <a:bodyPr wrap="square" tIns="35325" bIns="35325" anchor="ctr">
            <a:noAutofit/>
          </a:bodyPr>
          <a:lstStyle/>
          <a:p>
            <a:pPr algn="ctr" defTabSz="897172"/>
            <a:r>
              <a:rPr lang="en-US" altLang="ja-JP" sz="1600" b="1" dirty="0">
                <a:solidFill>
                  <a:prstClr val="white"/>
                </a:solidFill>
                <a:latin typeface="メイリオ" panose="020B0604030504040204" pitchFamily="50" charset="-128"/>
                <a:ea typeface="メイリオ" panose="020B0604030504040204" pitchFamily="50" charset="-128"/>
              </a:rPr>
              <a:t>2024</a:t>
            </a:r>
            <a:r>
              <a:rPr lang="ja-JP" altLang="en-US" sz="1600" b="1" dirty="0">
                <a:solidFill>
                  <a:prstClr val="white"/>
                </a:solidFill>
                <a:latin typeface="メイリオ" panose="020B0604030504040204" pitchFamily="50" charset="-128"/>
                <a:ea typeface="メイリオ" panose="020B0604030504040204" pitchFamily="50" charset="-128"/>
              </a:rPr>
              <a:t>年度（市町村分）介護保険保険者努力支援交付金に係る得点＜②指標群別＞</a:t>
            </a:r>
          </a:p>
        </p:txBody>
      </p:sp>
      <p:sp>
        <p:nvSpPr>
          <p:cNvPr id="21" name="スライド番号プレースホルダー 20"/>
          <p:cNvSpPr>
            <a:spLocks noGrp="1"/>
          </p:cNvSpPr>
          <p:nvPr>
            <p:ph type="sldNum" sz="quarter" idx="12"/>
          </p:nvPr>
        </p:nvSpPr>
        <p:spPr>
          <a:xfrm>
            <a:off x="7308131"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7</a:t>
            </a:fld>
            <a:endParaRPr lang="ja-JP" altLang="en-US" sz="1178" b="1">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5568F0F4-1611-CD19-7C60-E875A26EBB58}"/>
              </a:ext>
            </a:extLst>
          </p:cNvPr>
          <p:cNvPicPr>
            <a:picLocks noChangeAspect="1"/>
          </p:cNvPicPr>
          <p:nvPr/>
        </p:nvPicPr>
        <p:blipFill>
          <a:blip r:embed="rId3"/>
          <a:stretch>
            <a:fillRect/>
          </a:stretch>
        </p:blipFill>
        <p:spPr>
          <a:xfrm>
            <a:off x="344551" y="590619"/>
            <a:ext cx="9032748" cy="6131052"/>
          </a:xfrm>
          <a:prstGeom prst="rect">
            <a:avLst/>
          </a:prstGeom>
        </p:spPr>
      </p:pic>
    </p:spTree>
    <p:extLst>
      <p:ext uri="{BB962C8B-B14F-4D97-AF65-F5344CB8AC3E}">
        <p14:creationId xmlns:p14="http://schemas.microsoft.com/office/powerpoint/2010/main" val="3656130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20522"/>
            <a:ext cx="9720263" cy="434933"/>
          </a:xfrm>
          <a:prstGeom prst="rect">
            <a:avLst/>
          </a:prstGeom>
          <a:solidFill>
            <a:srgbClr val="002060"/>
          </a:solidFill>
          <a:ln w="19050">
            <a:noFill/>
            <a:miter lim="800000"/>
            <a:headEnd/>
            <a:tailEnd/>
          </a:ln>
        </p:spPr>
        <p:txBody>
          <a:bodyPr wrap="square" tIns="35325" bIns="35325" anchor="ctr">
            <a:noAutofit/>
          </a:bodyPr>
          <a:lstStyle/>
          <a:p>
            <a:pPr algn="ctr" defTabSz="897172">
              <a:defRPr/>
            </a:pPr>
            <a:r>
              <a:rPr lang="en-US" altLang="ja-JP" sz="1600" b="1" dirty="0">
                <a:solidFill>
                  <a:prstClr val="white"/>
                </a:solidFill>
                <a:latin typeface="メイリオ" panose="020B0604030504040204" pitchFamily="50" charset="-128"/>
                <a:ea typeface="メイリオ" panose="020B0604030504040204" pitchFamily="50" charset="-128"/>
              </a:rPr>
              <a:t>2024</a:t>
            </a:r>
            <a:r>
              <a:rPr lang="ja-JP" altLang="en-US" sz="1600" b="1" dirty="0">
                <a:solidFill>
                  <a:prstClr val="white"/>
                </a:solidFill>
                <a:latin typeface="メイリオ" panose="020B0604030504040204" pitchFamily="50" charset="-128"/>
                <a:ea typeface="メイリオ" panose="020B0604030504040204" pitchFamily="50" charset="-128"/>
              </a:rPr>
              <a:t>年度（市町村分）推進：目標</a:t>
            </a:r>
            <a:r>
              <a:rPr lang="en-US" altLang="ja-JP" sz="1600" b="1" dirty="0">
                <a:solidFill>
                  <a:prstClr val="white"/>
                </a:solidFill>
                <a:latin typeface="メイリオ" panose="020B0604030504040204" pitchFamily="50" charset="-128"/>
                <a:ea typeface="メイリオ" panose="020B0604030504040204" pitchFamily="50" charset="-128"/>
              </a:rPr>
              <a:t>Ⅰ</a:t>
            </a:r>
            <a:r>
              <a:rPr lang="ja-JP" altLang="en-US" sz="1600" b="1" dirty="0">
                <a:solidFill>
                  <a:prstClr val="white"/>
                </a:solidFill>
                <a:latin typeface="メイリオ" panose="020B0604030504040204" pitchFamily="50" charset="-128"/>
                <a:ea typeface="メイリオ" panose="020B0604030504040204" pitchFamily="50" charset="-128"/>
              </a:rPr>
              <a:t>「持続可能な地域のあるべき姿をかたちにする」得点</a:t>
            </a:r>
            <a:endParaRPr lang="en-US" altLang="ja-JP" sz="1600" b="1" dirty="0">
              <a:solidFill>
                <a:prstClr val="white"/>
              </a:solidFill>
              <a:latin typeface="メイリオ" panose="020B0604030504040204" pitchFamily="50" charset="-128"/>
              <a:ea typeface="メイリオ" panose="020B0604030504040204" pitchFamily="50" charset="-128"/>
            </a:endParaRPr>
          </a:p>
        </p:txBody>
      </p:sp>
      <p:sp>
        <p:nvSpPr>
          <p:cNvPr id="10" name="スライド番号プレースホルダー 9"/>
          <p:cNvSpPr>
            <a:spLocks noGrp="1"/>
          </p:cNvSpPr>
          <p:nvPr>
            <p:ph type="sldNum" sz="quarter" idx="12"/>
          </p:nvPr>
        </p:nvSpPr>
        <p:spPr>
          <a:xfrm>
            <a:off x="7308131"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8</a:t>
            </a:fld>
            <a:endParaRPr lang="ja-JP" altLang="en-US" sz="1178" b="1">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055FD9EF-896B-CA47-65C4-A057C43C2196}"/>
              </a:ext>
            </a:extLst>
          </p:cNvPr>
          <p:cNvPicPr>
            <a:picLocks noChangeAspect="1"/>
          </p:cNvPicPr>
          <p:nvPr/>
        </p:nvPicPr>
        <p:blipFill>
          <a:blip r:embed="rId3"/>
          <a:stretch>
            <a:fillRect/>
          </a:stretch>
        </p:blipFill>
        <p:spPr>
          <a:xfrm>
            <a:off x="516506" y="592143"/>
            <a:ext cx="9041892" cy="6129528"/>
          </a:xfrm>
          <a:prstGeom prst="rect">
            <a:avLst/>
          </a:prstGeom>
        </p:spPr>
      </p:pic>
    </p:spTree>
    <p:extLst>
      <p:ext uri="{BB962C8B-B14F-4D97-AF65-F5344CB8AC3E}">
        <p14:creationId xmlns:p14="http://schemas.microsoft.com/office/powerpoint/2010/main" val="2893845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20522"/>
            <a:ext cx="9720263" cy="434933"/>
          </a:xfrm>
          <a:prstGeom prst="rect">
            <a:avLst/>
          </a:prstGeom>
          <a:solidFill>
            <a:srgbClr val="002060"/>
          </a:solidFill>
          <a:ln w="19050">
            <a:noFill/>
            <a:miter lim="800000"/>
            <a:headEnd/>
            <a:tailEnd/>
          </a:ln>
        </p:spPr>
        <p:txBody>
          <a:bodyPr wrap="square" tIns="35325" bIns="35325" anchor="ctr">
            <a:noAutofit/>
          </a:bodyPr>
          <a:lstStyle/>
          <a:p>
            <a:pPr algn="ctr" defTabSz="897172">
              <a:defRPr/>
            </a:pPr>
            <a:r>
              <a:rPr lang="en-US" altLang="zh-TW" sz="1600" b="1" dirty="0">
                <a:solidFill>
                  <a:prstClr val="white"/>
                </a:solidFill>
                <a:latin typeface="メイリオ" panose="020B0604030504040204" pitchFamily="50" charset="-128"/>
                <a:ea typeface="メイリオ" panose="020B0604030504040204" pitchFamily="50" charset="-128"/>
              </a:rPr>
              <a:t>2024</a:t>
            </a:r>
            <a:r>
              <a:rPr lang="zh-TW" altLang="en-US" sz="1600" b="1" dirty="0">
                <a:solidFill>
                  <a:prstClr val="white"/>
                </a:solidFill>
                <a:latin typeface="メイリオ" panose="020B0604030504040204" pitchFamily="50" charset="-128"/>
                <a:ea typeface="メイリオ" panose="020B0604030504040204" pitchFamily="50" charset="-128"/>
              </a:rPr>
              <a:t>年度（市町村分）推進：</a:t>
            </a:r>
            <a:r>
              <a:rPr lang="ja-JP" altLang="en-US" sz="1600" b="1" dirty="0">
                <a:solidFill>
                  <a:prstClr val="white"/>
                </a:solidFill>
                <a:latin typeface="メイリオ" panose="020B0604030504040204" pitchFamily="50" charset="-128"/>
                <a:ea typeface="メイリオ" panose="020B0604030504040204" pitchFamily="50" charset="-128"/>
              </a:rPr>
              <a:t>目標</a:t>
            </a:r>
            <a:r>
              <a:rPr lang="en-US" altLang="ja-JP" sz="1600" b="1" dirty="0">
                <a:solidFill>
                  <a:prstClr val="white"/>
                </a:solidFill>
                <a:latin typeface="メイリオ" panose="020B0604030504040204" pitchFamily="50" charset="-128"/>
                <a:ea typeface="メイリオ" panose="020B0604030504040204" pitchFamily="50" charset="-128"/>
              </a:rPr>
              <a:t>Ⅱ</a:t>
            </a:r>
            <a:r>
              <a:rPr lang="ja-JP" altLang="en-US" sz="1600" b="1" dirty="0">
                <a:solidFill>
                  <a:prstClr val="white"/>
                </a:solidFill>
                <a:latin typeface="メイリオ" panose="020B0604030504040204" pitchFamily="50" charset="-128"/>
                <a:ea typeface="メイリオ" panose="020B0604030504040204" pitchFamily="50" charset="-128"/>
              </a:rPr>
              <a:t>「公正・公平な給付を行う体制を構築する」得点</a:t>
            </a:r>
            <a:endParaRPr lang="en-US" altLang="ja-JP" sz="1600" b="1" dirty="0">
              <a:solidFill>
                <a:prstClr val="white"/>
              </a:solidFill>
              <a:latin typeface="メイリオ" panose="020B0604030504040204" pitchFamily="50" charset="-128"/>
              <a:ea typeface="メイリオ" panose="020B0604030504040204" pitchFamily="50" charset="-128"/>
            </a:endParaRPr>
          </a:p>
        </p:txBody>
      </p:sp>
      <p:sp>
        <p:nvSpPr>
          <p:cNvPr id="10" name="スライド番号プレースホルダー 9"/>
          <p:cNvSpPr>
            <a:spLocks noGrp="1"/>
          </p:cNvSpPr>
          <p:nvPr>
            <p:ph type="sldNum" sz="quarter" idx="12"/>
          </p:nvPr>
        </p:nvSpPr>
        <p:spPr>
          <a:xfrm>
            <a:off x="7344070"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9</a:t>
            </a:fld>
            <a:endParaRPr lang="ja-JP" altLang="en-US" sz="1178" b="1">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337E0C91-2DE2-2C2B-F76F-C4E7856F75A1}"/>
              </a:ext>
            </a:extLst>
          </p:cNvPr>
          <p:cNvPicPr>
            <a:picLocks noChangeAspect="1"/>
          </p:cNvPicPr>
          <p:nvPr/>
        </p:nvPicPr>
        <p:blipFill>
          <a:blip r:embed="rId3"/>
          <a:stretch>
            <a:fillRect/>
          </a:stretch>
        </p:blipFill>
        <p:spPr>
          <a:xfrm>
            <a:off x="343027" y="576225"/>
            <a:ext cx="9035796" cy="6131052"/>
          </a:xfrm>
          <a:prstGeom prst="rect">
            <a:avLst/>
          </a:prstGeom>
        </p:spPr>
      </p:pic>
    </p:spTree>
    <p:extLst>
      <p:ext uri="{BB962C8B-B14F-4D97-AF65-F5344CB8AC3E}">
        <p14:creationId xmlns:p14="http://schemas.microsoft.com/office/powerpoint/2010/main" val="718455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20522"/>
            <a:ext cx="9720263" cy="434933"/>
          </a:xfrm>
          <a:prstGeom prst="rect">
            <a:avLst/>
          </a:prstGeom>
          <a:solidFill>
            <a:srgbClr val="002060"/>
          </a:solidFill>
          <a:ln w="19050">
            <a:noFill/>
            <a:miter lim="800000"/>
            <a:headEnd/>
            <a:tailEnd/>
          </a:ln>
        </p:spPr>
        <p:txBody>
          <a:bodyPr wrap="square" tIns="35325" bIns="35325" anchor="ctr">
            <a:noAutofit/>
          </a:bodyPr>
          <a:lstStyle/>
          <a:p>
            <a:pPr algn="ctr" defTabSz="897172">
              <a:defRPr/>
            </a:pPr>
            <a:r>
              <a:rPr lang="en-US" altLang="zh-TW" sz="1500" b="1" dirty="0">
                <a:solidFill>
                  <a:prstClr val="white"/>
                </a:solidFill>
                <a:latin typeface="メイリオ" panose="020B0604030504040204" pitchFamily="50" charset="-128"/>
                <a:ea typeface="メイリオ" panose="020B0604030504040204" pitchFamily="50" charset="-128"/>
              </a:rPr>
              <a:t>2024</a:t>
            </a:r>
            <a:r>
              <a:rPr lang="zh-TW" altLang="en-US" sz="1500" b="1" dirty="0">
                <a:solidFill>
                  <a:prstClr val="white"/>
                </a:solidFill>
                <a:latin typeface="メイリオ" panose="020B0604030504040204" pitchFamily="50" charset="-128"/>
                <a:ea typeface="メイリオ" panose="020B0604030504040204" pitchFamily="50" charset="-128"/>
              </a:rPr>
              <a:t>年度（市町村分）推進：</a:t>
            </a:r>
            <a:r>
              <a:rPr lang="ja-JP" altLang="en-US" sz="1500" b="1" dirty="0">
                <a:solidFill>
                  <a:prstClr val="white"/>
                </a:solidFill>
                <a:latin typeface="メイリオ" panose="020B0604030504040204" pitchFamily="50" charset="-128"/>
                <a:ea typeface="メイリオ" panose="020B0604030504040204" pitchFamily="50" charset="-128"/>
              </a:rPr>
              <a:t>目標</a:t>
            </a:r>
            <a:r>
              <a:rPr lang="en-US" altLang="ja-JP" sz="1500" b="1" dirty="0">
                <a:solidFill>
                  <a:prstClr val="white"/>
                </a:solidFill>
                <a:latin typeface="メイリオ" panose="020B0604030504040204" pitchFamily="50" charset="-128"/>
                <a:ea typeface="メイリオ" panose="020B0604030504040204" pitchFamily="50" charset="-128"/>
              </a:rPr>
              <a:t>Ⅲ</a:t>
            </a:r>
            <a:r>
              <a:rPr lang="ja-JP" altLang="en-US" sz="1500" b="1" dirty="0">
                <a:solidFill>
                  <a:prstClr val="white"/>
                </a:solidFill>
                <a:latin typeface="メイリオ" panose="020B0604030504040204" pitchFamily="50" charset="-128"/>
                <a:ea typeface="メイリオ" panose="020B0604030504040204" pitchFamily="50" charset="-128"/>
              </a:rPr>
              <a:t>「介護人材の確保その他のサービス提供基盤の整備を推進する」得点</a:t>
            </a:r>
            <a:endParaRPr lang="en-US" altLang="ja-JP" sz="1500" b="1" dirty="0">
              <a:solidFill>
                <a:prstClr val="white"/>
              </a:solidFill>
              <a:latin typeface="メイリオ" panose="020B0604030504040204" pitchFamily="50" charset="-128"/>
              <a:ea typeface="メイリオ" panose="020B0604030504040204" pitchFamily="50" charset="-128"/>
            </a:endParaRPr>
          </a:p>
        </p:txBody>
      </p:sp>
      <p:sp>
        <p:nvSpPr>
          <p:cNvPr id="10" name="スライド番号プレースホルダー 9"/>
          <p:cNvSpPr>
            <a:spLocks noGrp="1"/>
          </p:cNvSpPr>
          <p:nvPr>
            <p:ph type="sldNum" sz="quarter" idx="12"/>
          </p:nvPr>
        </p:nvSpPr>
        <p:spPr>
          <a:xfrm>
            <a:off x="7308131"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10</a:t>
            </a:fld>
            <a:endParaRPr lang="ja-JP" altLang="en-US" sz="1178" b="1">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A2B32E3F-2751-5230-B141-52C7AFB822F4}"/>
              </a:ext>
            </a:extLst>
          </p:cNvPr>
          <p:cNvPicPr>
            <a:picLocks noChangeAspect="1"/>
          </p:cNvPicPr>
          <p:nvPr/>
        </p:nvPicPr>
        <p:blipFill>
          <a:blip r:embed="rId3"/>
          <a:stretch>
            <a:fillRect/>
          </a:stretch>
        </p:blipFill>
        <p:spPr>
          <a:xfrm>
            <a:off x="538872" y="447548"/>
            <a:ext cx="9037320" cy="6128004"/>
          </a:xfrm>
          <a:prstGeom prst="rect">
            <a:avLst/>
          </a:prstGeom>
        </p:spPr>
      </p:pic>
    </p:spTree>
    <p:extLst>
      <p:ext uri="{BB962C8B-B14F-4D97-AF65-F5344CB8AC3E}">
        <p14:creationId xmlns:p14="http://schemas.microsoft.com/office/powerpoint/2010/main" val="3781252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20522"/>
            <a:ext cx="9720263" cy="434933"/>
          </a:xfrm>
          <a:prstGeom prst="rect">
            <a:avLst/>
          </a:prstGeom>
          <a:solidFill>
            <a:srgbClr val="002060"/>
          </a:solidFill>
          <a:ln w="19050">
            <a:noFill/>
            <a:miter lim="800000"/>
            <a:headEnd/>
            <a:tailEnd/>
          </a:ln>
        </p:spPr>
        <p:txBody>
          <a:bodyPr wrap="square" tIns="35325" bIns="35325" anchor="ctr">
            <a:noAutofit/>
          </a:bodyPr>
          <a:lstStyle/>
          <a:p>
            <a:pPr algn="ctr" defTabSz="897172">
              <a:defRPr/>
            </a:pPr>
            <a:r>
              <a:rPr lang="en-US" altLang="zh-TW" sz="1600" b="1" dirty="0">
                <a:solidFill>
                  <a:prstClr val="white"/>
                </a:solidFill>
                <a:latin typeface="メイリオ" panose="020B0604030504040204" pitchFamily="50" charset="-128"/>
                <a:ea typeface="メイリオ" panose="020B0604030504040204" pitchFamily="50" charset="-128"/>
              </a:rPr>
              <a:t>2024</a:t>
            </a:r>
            <a:r>
              <a:rPr lang="zh-TW" altLang="en-US" sz="1600" b="1" dirty="0">
                <a:solidFill>
                  <a:prstClr val="white"/>
                </a:solidFill>
                <a:latin typeface="メイリオ" panose="020B0604030504040204" pitchFamily="50" charset="-128"/>
                <a:ea typeface="メイリオ" panose="020B0604030504040204" pitchFamily="50" charset="-128"/>
              </a:rPr>
              <a:t>年度（市町村分）支援：目標</a:t>
            </a:r>
            <a:r>
              <a:rPr lang="en-US" altLang="ja-JP" sz="1600" b="1" dirty="0">
                <a:solidFill>
                  <a:prstClr val="white"/>
                </a:solidFill>
                <a:latin typeface="メイリオ" panose="020B0604030504040204" pitchFamily="50" charset="-128"/>
                <a:ea typeface="メイリオ" panose="020B0604030504040204" pitchFamily="50" charset="-128"/>
              </a:rPr>
              <a:t>Ⅰ</a:t>
            </a:r>
            <a:r>
              <a:rPr lang="ja-JP" altLang="en-US" sz="1600" b="1" dirty="0">
                <a:solidFill>
                  <a:prstClr val="white"/>
                </a:solidFill>
                <a:latin typeface="メイリオ" panose="020B0604030504040204" pitchFamily="50" charset="-128"/>
                <a:ea typeface="メイリオ" panose="020B0604030504040204" pitchFamily="50" charset="-128"/>
              </a:rPr>
              <a:t>「介護予防</a:t>
            </a:r>
            <a:r>
              <a:rPr lang="en-US" altLang="ja-JP" sz="1600" b="1" dirty="0">
                <a:solidFill>
                  <a:prstClr val="white"/>
                </a:solidFill>
                <a:latin typeface="メイリオ" panose="020B0604030504040204" pitchFamily="50" charset="-128"/>
                <a:ea typeface="メイリオ" panose="020B0604030504040204" pitchFamily="50" charset="-128"/>
              </a:rPr>
              <a:t>/</a:t>
            </a:r>
            <a:r>
              <a:rPr lang="ja-JP" altLang="en-US" sz="1600" b="1" dirty="0">
                <a:solidFill>
                  <a:prstClr val="white"/>
                </a:solidFill>
                <a:latin typeface="メイリオ" panose="020B0604030504040204" pitchFamily="50" charset="-128"/>
                <a:ea typeface="メイリオ" panose="020B0604030504040204" pitchFamily="50" charset="-128"/>
              </a:rPr>
              <a:t>日常生活支援を推進する」得点</a:t>
            </a:r>
            <a:endParaRPr lang="en-US" altLang="ja-JP" sz="1600" b="1" dirty="0">
              <a:solidFill>
                <a:prstClr val="white"/>
              </a:solidFill>
              <a:latin typeface="メイリオ" panose="020B0604030504040204" pitchFamily="50" charset="-128"/>
              <a:ea typeface="メイリオ" panose="020B0604030504040204" pitchFamily="50" charset="-128"/>
            </a:endParaRPr>
          </a:p>
        </p:txBody>
      </p:sp>
      <p:sp>
        <p:nvSpPr>
          <p:cNvPr id="10" name="スライド番号プレースホルダー 9"/>
          <p:cNvSpPr>
            <a:spLocks noGrp="1"/>
          </p:cNvSpPr>
          <p:nvPr>
            <p:ph type="sldNum" sz="quarter" idx="12"/>
          </p:nvPr>
        </p:nvSpPr>
        <p:spPr>
          <a:xfrm>
            <a:off x="7308131"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11</a:t>
            </a:fld>
            <a:endParaRPr lang="ja-JP" altLang="en-US" sz="1178" b="1">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42A730E5-3DE2-9040-E2F9-54C9E354EBC9}"/>
              </a:ext>
            </a:extLst>
          </p:cNvPr>
          <p:cNvPicPr>
            <a:picLocks noChangeAspect="1"/>
          </p:cNvPicPr>
          <p:nvPr/>
        </p:nvPicPr>
        <p:blipFill>
          <a:blip r:embed="rId3"/>
          <a:stretch>
            <a:fillRect/>
          </a:stretch>
        </p:blipFill>
        <p:spPr>
          <a:xfrm>
            <a:off x="828131" y="395517"/>
            <a:ext cx="8141954" cy="6569808"/>
          </a:xfrm>
          <a:prstGeom prst="rect">
            <a:avLst/>
          </a:prstGeom>
        </p:spPr>
      </p:pic>
    </p:spTree>
    <p:extLst>
      <p:ext uri="{BB962C8B-B14F-4D97-AF65-F5344CB8AC3E}">
        <p14:creationId xmlns:p14="http://schemas.microsoft.com/office/powerpoint/2010/main" val="1137296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20522"/>
            <a:ext cx="9720263" cy="434933"/>
          </a:xfrm>
          <a:prstGeom prst="rect">
            <a:avLst/>
          </a:prstGeom>
          <a:solidFill>
            <a:srgbClr val="002060"/>
          </a:solidFill>
          <a:ln w="19050">
            <a:noFill/>
            <a:miter lim="800000"/>
            <a:headEnd/>
            <a:tailEnd/>
          </a:ln>
        </p:spPr>
        <p:txBody>
          <a:bodyPr wrap="square" tIns="35325" bIns="35325" anchor="ctr">
            <a:noAutofit/>
          </a:bodyPr>
          <a:lstStyle/>
          <a:p>
            <a:pPr algn="ctr" defTabSz="897172">
              <a:defRPr/>
            </a:pPr>
            <a:r>
              <a:rPr lang="en-US" altLang="zh-TW" sz="1600" b="1" dirty="0">
                <a:solidFill>
                  <a:prstClr val="white"/>
                </a:solidFill>
                <a:latin typeface="メイリオ" panose="020B0604030504040204" pitchFamily="50" charset="-128"/>
                <a:ea typeface="メイリオ" panose="020B0604030504040204" pitchFamily="50" charset="-128"/>
              </a:rPr>
              <a:t>2024</a:t>
            </a:r>
            <a:r>
              <a:rPr lang="zh-TW" altLang="en-US" sz="1600" b="1" dirty="0">
                <a:solidFill>
                  <a:prstClr val="white"/>
                </a:solidFill>
                <a:latin typeface="メイリオ" panose="020B0604030504040204" pitchFamily="50" charset="-128"/>
                <a:ea typeface="メイリオ" panose="020B0604030504040204" pitchFamily="50" charset="-128"/>
              </a:rPr>
              <a:t>年度（市町村分）</a:t>
            </a:r>
            <a:r>
              <a:rPr lang="ja-JP" altLang="en-US" sz="1600" b="1" dirty="0">
                <a:solidFill>
                  <a:prstClr val="white"/>
                </a:solidFill>
                <a:latin typeface="メイリオ" panose="020B0604030504040204" pitchFamily="50" charset="-128"/>
                <a:ea typeface="メイリオ" panose="020B0604030504040204" pitchFamily="50" charset="-128"/>
              </a:rPr>
              <a:t>支援</a:t>
            </a:r>
            <a:r>
              <a:rPr lang="zh-TW" altLang="en-US" sz="1600" b="1" dirty="0">
                <a:solidFill>
                  <a:prstClr val="white"/>
                </a:solidFill>
                <a:latin typeface="メイリオ" panose="020B0604030504040204" pitchFamily="50" charset="-128"/>
                <a:ea typeface="メイリオ" panose="020B0604030504040204" pitchFamily="50" charset="-128"/>
              </a:rPr>
              <a:t>：</a:t>
            </a:r>
            <a:r>
              <a:rPr lang="ja-JP" altLang="en-US" sz="1600" b="1" dirty="0">
                <a:solidFill>
                  <a:prstClr val="white"/>
                </a:solidFill>
                <a:latin typeface="メイリオ" panose="020B0604030504040204" pitchFamily="50" charset="-128"/>
                <a:ea typeface="メイリオ" panose="020B0604030504040204" pitchFamily="50" charset="-128"/>
              </a:rPr>
              <a:t>目標</a:t>
            </a:r>
            <a:r>
              <a:rPr lang="en-US" altLang="ja-JP" sz="1600" b="1" dirty="0">
                <a:solidFill>
                  <a:prstClr val="white"/>
                </a:solidFill>
                <a:latin typeface="メイリオ" panose="020B0604030504040204" pitchFamily="50" charset="-128"/>
                <a:ea typeface="メイリオ" panose="020B0604030504040204" pitchFamily="50" charset="-128"/>
              </a:rPr>
              <a:t>Ⅱ</a:t>
            </a:r>
            <a:r>
              <a:rPr lang="ja-JP" altLang="en-US" sz="1600" b="1" dirty="0">
                <a:solidFill>
                  <a:prstClr val="white"/>
                </a:solidFill>
                <a:latin typeface="メイリオ" panose="020B0604030504040204" pitchFamily="50" charset="-128"/>
                <a:ea typeface="メイリオ" panose="020B0604030504040204" pitchFamily="50" charset="-128"/>
              </a:rPr>
              <a:t>「認知症総合支援を推進する」得点</a:t>
            </a:r>
            <a:endParaRPr lang="en-US" altLang="ja-JP" sz="1600" b="1" dirty="0">
              <a:solidFill>
                <a:prstClr val="white"/>
              </a:solidFill>
              <a:latin typeface="メイリオ" panose="020B0604030504040204" pitchFamily="50" charset="-128"/>
              <a:ea typeface="メイリオ" panose="020B0604030504040204" pitchFamily="50" charset="-128"/>
            </a:endParaRPr>
          </a:p>
        </p:txBody>
      </p:sp>
      <p:sp>
        <p:nvSpPr>
          <p:cNvPr id="10" name="スライド番号プレースホルダー 9"/>
          <p:cNvSpPr>
            <a:spLocks noGrp="1"/>
          </p:cNvSpPr>
          <p:nvPr>
            <p:ph type="sldNum" sz="quarter" idx="12"/>
          </p:nvPr>
        </p:nvSpPr>
        <p:spPr>
          <a:xfrm>
            <a:off x="7344070"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12</a:t>
            </a:fld>
            <a:endParaRPr lang="ja-JP" altLang="en-US" sz="1178" b="1">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C884B682-D2AA-C400-7A43-4FBBB84119F9}"/>
              </a:ext>
            </a:extLst>
          </p:cNvPr>
          <p:cNvPicPr>
            <a:picLocks noChangeAspect="1"/>
          </p:cNvPicPr>
          <p:nvPr/>
        </p:nvPicPr>
        <p:blipFill>
          <a:blip r:embed="rId3"/>
          <a:stretch>
            <a:fillRect/>
          </a:stretch>
        </p:blipFill>
        <p:spPr>
          <a:xfrm>
            <a:off x="339947" y="445230"/>
            <a:ext cx="9040368" cy="6131052"/>
          </a:xfrm>
          <a:prstGeom prst="rect">
            <a:avLst/>
          </a:prstGeom>
        </p:spPr>
      </p:pic>
    </p:spTree>
    <p:extLst>
      <p:ext uri="{BB962C8B-B14F-4D97-AF65-F5344CB8AC3E}">
        <p14:creationId xmlns:p14="http://schemas.microsoft.com/office/powerpoint/2010/main" val="3669710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20522"/>
            <a:ext cx="9720263" cy="434933"/>
          </a:xfrm>
          <a:prstGeom prst="rect">
            <a:avLst/>
          </a:prstGeom>
          <a:solidFill>
            <a:srgbClr val="002060"/>
          </a:solidFill>
          <a:ln w="19050">
            <a:noFill/>
            <a:miter lim="800000"/>
            <a:headEnd/>
            <a:tailEnd/>
          </a:ln>
        </p:spPr>
        <p:txBody>
          <a:bodyPr wrap="square" tIns="35325" bIns="35325" anchor="ctr">
            <a:noAutofit/>
          </a:bodyPr>
          <a:lstStyle/>
          <a:p>
            <a:pPr algn="ctr" defTabSz="897172">
              <a:defRPr/>
            </a:pPr>
            <a:r>
              <a:rPr lang="en-US" altLang="zh-TW" sz="1600" b="1" dirty="0">
                <a:solidFill>
                  <a:prstClr val="white"/>
                </a:solidFill>
                <a:latin typeface="メイリオ" panose="020B0604030504040204" pitchFamily="50" charset="-128"/>
                <a:ea typeface="メイリオ" panose="020B0604030504040204" pitchFamily="50" charset="-128"/>
              </a:rPr>
              <a:t>2024</a:t>
            </a:r>
            <a:r>
              <a:rPr lang="zh-TW" altLang="en-US" sz="1600" b="1" dirty="0">
                <a:solidFill>
                  <a:prstClr val="white"/>
                </a:solidFill>
                <a:latin typeface="メイリオ" panose="020B0604030504040204" pitchFamily="50" charset="-128"/>
                <a:ea typeface="メイリオ" panose="020B0604030504040204" pitchFamily="50" charset="-128"/>
              </a:rPr>
              <a:t>年度（市町村分）支援：目標</a:t>
            </a:r>
            <a:r>
              <a:rPr lang="en-US" altLang="ja-JP" sz="1600" b="1" dirty="0">
                <a:solidFill>
                  <a:prstClr val="white"/>
                </a:solidFill>
                <a:latin typeface="メイリオ" panose="020B0604030504040204" pitchFamily="50" charset="-128"/>
                <a:ea typeface="メイリオ" panose="020B0604030504040204" pitchFamily="50" charset="-128"/>
              </a:rPr>
              <a:t>Ⅲ</a:t>
            </a:r>
            <a:r>
              <a:rPr lang="ja-JP" altLang="en-US" sz="1600" b="1" dirty="0">
                <a:solidFill>
                  <a:prstClr val="white"/>
                </a:solidFill>
                <a:latin typeface="メイリオ" panose="020B0604030504040204" pitchFamily="50" charset="-128"/>
                <a:ea typeface="メイリオ" panose="020B0604030504040204" pitchFamily="50" charset="-128"/>
              </a:rPr>
              <a:t>「在宅医療・在宅介護連携の体制を構築する」得点</a:t>
            </a:r>
            <a:endParaRPr lang="en-US" altLang="ja-JP" sz="1600" b="1" dirty="0">
              <a:solidFill>
                <a:prstClr val="white"/>
              </a:solidFill>
              <a:latin typeface="メイリオ" panose="020B0604030504040204" pitchFamily="50" charset="-128"/>
              <a:ea typeface="メイリオ" panose="020B0604030504040204" pitchFamily="50" charset="-128"/>
            </a:endParaRPr>
          </a:p>
        </p:txBody>
      </p:sp>
      <p:sp>
        <p:nvSpPr>
          <p:cNvPr id="10" name="スライド番号プレースホルダー 9"/>
          <p:cNvSpPr>
            <a:spLocks noGrp="1"/>
          </p:cNvSpPr>
          <p:nvPr>
            <p:ph type="sldNum" sz="quarter" idx="12"/>
          </p:nvPr>
        </p:nvSpPr>
        <p:spPr>
          <a:xfrm>
            <a:off x="7308131"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13</a:t>
            </a:fld>
            <a:endParaRPr lang="ja-JP" altLang="en-US" sz="1178" b="1" dirty="0">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86EA0E79-F13B-7174-3FE6-BBD09132D7D3}"/>
              </a:ext>
            </a:extLst>
          </p:cNvPr>
          <p:cNvPicPr>
            <a:picLocks noChangeAspect="1"/>
          </p:cNvPicPr>
          <p:nvPr/>
        </p:nvPicPr>
        <p:blipFill>
          <a:blip r:embed="rId3"/>
          <a:stretch>
            <a:fillRect/>
          </a:stretch>
        </p:blipFill>
        <p:spPr>
          <a:xfrm>
            <a:off x="344551" y="446786"/>
            <a:ext cx="9032748" cy="6129528"/>
          </a:xfrm>
          <a:prstGeom prst="rect">
            <a:avLst/>
          </a:prstGeom>
        </p:spPr>
      </p:pic>
    </p:spTree>
    <p:extLst>
      <p:ext uri="{BB962C8B-B14F-4D97-AF65-F5344CB8AC3E}">
        <p14:creationId xmlns:p14="http://schemas.microsoft.com/office/powerpoint/2010/main" val="1100024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20522"/>
            <a:ext cx="9720263" cy="434933"/>
          </a:xfrm>
          <a:prstGeom prst="rect">
            <a:avLst/>
          </a:prstGeom>
          <a:solidFill>
            <a:srgbClr val="002060"/>
          </a:solidFill>
          <a:ln w="19050">
            <a:noFill/>
            <a:miter lim="800000"/>
            <a:headEnd/>
            <a:tailEnd/>
          </a:ln>
        </p:spPr>
        <p:txBody>
          <a:bodyPr wrap="square" tIns="35325" bIns="35325" anchor="ctr">
            <a:noAutofit/>
          </a:bodyPr>
          <a:lstStyle/>
          <a:p>
            <a:pPr algn="ctr" defTabSz="897172">
              <a:defRPr/>
            </a:pPr>
            <a:r>
              <a:rPr lang="en-US" altLang="zh-TW" sz="1300" b="1" dirty="0">
                <a:solidFill>
                  <a:prstClr val="white"/>
                </a:solidFill>
                <a:latin typeface="メイリオ" panose="020B0604030504040204" pitchFamily="50" charset="-128"/>
                <a:ea typeface="メイリオ" panose="020B0604030504040204" pitchFamily="50" charset="-128"/>
              </a:rPr>
              <a:t>2024</a:t>
            </a:r>
            <a:r>
              <a:rPr lang="zh-TW" altLang="en-US" sz="1300" b="1" dirty="0">
                <a:solidFill>
                  <a:prstClr val="white"/>
                </a:solidFill>
                <a:latin typeface="メイリオ" panose="020B0604030504040204" pitchFamily="50" charset="-128"/>
                <a:ea typeface="メイリオ" panose="020B0604030504040204" pitchFamily="50" charset="-128"/>
              </a:rPr>
              <a:t>年度（市町村分）</a:t>
            </a:r>
            <a:r>
              <a:rPr lang="ja-JP" altLang="en-US" sz="1300" b="1" dirty="0">
                <a:solidFill>
                  <a:prstClr val="white"/>
                </a:solidFill>
                <a:latin typeface="メイリオ" panose="020B0604030504040204" pitchFamily="50" charset="-128"/>
                <a:ea typeface="メイリオ" panose="020B0604030504040204" pitchFamily="50" charset="-128"/>
              </a:rPr>
              <a:t>推進・支援共通：目標</a:t>
            </a:r>
            <a:r>
              <a:rPr lang="en-US" altLang="ja-JP" sz="1300" b="1" dirty="0">
                <a:solidFill>
                  <a:prstClr val="white"/>
                </a:solidFill>
                <a:latin typeface="メイリオ" panose="020B0604030504040204" pitchFamily="50" charset="-128"/>
                <a:ea typeface="メイリオ" panose="020B0604030504040204" pitchFamily="50" charset="-128"/>
              </a:rPr>
              <a:t>Ⅳ</a:t>
            </a:r>
            <a:r>
              <a:rPr lang="ja-JP" altLang="en-US" sz="1300" b="1" dirty="0">
                <a:solidFill>
                  <a:prstClr val="white"/>
                </a:solidFill>
                <a:latin typeface="メイリオ" panose="020B0604030504040204" pitchFamily="50" charset="-128"/>
                <a:ea typeface="メイリオ" panose="020B0604030504040204" pitchFamily="50" charset="-128"/>
              </a:rPr>
              <a:t>「高齢者がその状況に応じて可能な限り自立した日常生活を営む」得点</a:t>
            </a:r>
            <a:endParaRPr lang="en-US" altLang="ja-JP" sz="1300" b="1" dirty="0">
              <a:solidFill>
                <a:prstClr val="white"/>
              </a:solidFill>
              <a:latin typeface="メイリオ" panose="020B0604030504040204" pitchFamily="50" charset="-128"/>
              <a:ea typeface="メイリオ" panose="020B0604030504040204" pitchFamily="50" charset="-128"/>
            </a:endParaRPr>
          </a:p>
        </p:txBody>
      </p:sp>
      <p:sp>
        <p:nvSpPr>
          <p:cNvPr id="10" name="スライド番号プレースホルダー 9"/>
          <p:cNvSpPr>
            <a:spLocks noGrp="1"/>
          </p:cNvSpPr>
          <p:nvPr>
            <p:ph type="sldNum" sz="quarter" idx="12"/>
          </p:nvPr>
        </p:nvSpPr>
        <p:spPr>
          <a:xfrm>
            <a:off x="7308131"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14</a:t>
            </a:fld>
            <a:endParaRPr lang="ja-JP" altLang="en-US" sz="1178" b="1">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61BD23B4-1E28-555B-473B-A5D7AA810840}"/>
              </a:ext>
            </a:extLst>
          </p:cNvPr>
          <p:cNvPicPr>
            <a:picLocks noChangeAspect="1"/>
          </p:cNvPicPr>
          <p:nvPr/>
        </p:nvPicPr>
        <p:blipFill>
          <a:blip r:embed="rId3"/>
          <a:stretch>
            <a:fillRect/>
          </a:stretch>
        </p:blipFill>
        <p:spPr>
          <a:xfrm>
            <a:off x="341503" y="590619"/>
            <a:ext cx="9038844" cy="6131052"/>
          </a:xfrm>
          <a:prstGeom prst="rect">
            <a:avLst/>
          </a:prstGeom>
        </p:spPr>
      </p:pic>
    </p:spTree>
    <p:extLst>
      <p:ext uri="{BB962C8B-B14F-4D97-AF65-F5344CB8AC3E}">
        <p14:creationId xmlns:p14="http://schemas.microsoft.com/office/powerpoint/2010/main" val="1733700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20522"/>
            <a:ext cx="9720263" cy="434934"/>
          </a:xfrm>
          <a:prstGeom prst="rect">
            <a:avLst/>
          </a:prstGeom>
          <a:pattFill prst="dkUpDiag">
            <a:fgClr>
              <a:srgbClr val="003579"/>
            </a:fgClr>
            <a:bgClr>
              <a:srgbClr val="004292"/>
            </a:bgClr>
          </a:pattFill>
          <a:ln w="12700" cap="flat" cmpd="sng" algn="ctr">
            <a:noFill/>
            <a:prstDash val="solid"/>
            <a:miter lim="800000"/>
          </a:ln>
          <a:effectLst/>
        </p:spPr>
        <p:txBody>
          <a:bodyPr lIns="360000" tIns="180000" rIns="326585" bIns="108000" rtlCol="0" anchor="ctr"/>
          <a:lstStyle/>
          <a:p>
            <a:pPr algn="ctr" defTabSz="457200"/>
            <a:r>
              <a:rPr lang="ja-JP" altLang="en-US" sz="2000" b="1" kern="0" dirty="0">
                <a:solidFill>
                  <a:srgbClr val="FFFFFF"/>
                </a:solidFill>
                <a:latin typeface="Meiryo" panose="020B0604030504040204" pitchFamily="34" charset="-128"/>
                <a:ea typeface="Meiryo" panose="020B0604030504040204" pitchFamily="34" charset="-128"/>
              </a:rPr>
              <a:t>（参考）令和６年度保険者機能強化推進交付金評価指標（市町村分）</a:t>
            </a:r>
            <a:endParaRPr lang="en-US" altLang="ja-JP" sz="2000" b="1" kern="0" dirty="0">
              <a:solidFill>
                <a:srgbClr val="FFFFFF"/>
              </a:solidFill>
              <a:latin typeface="Meiryo" panose="020B0604030504040204" pitchFamily="34" charset="-128"/>
              <a:ea typeface="Meiryo" panose="020B0604030504040204" pitchFamily="34" charset="-128"/>
            </a:endParaRPr>
          </a:p>
        </p:txBody>
      </p:sp>
      <p:graphicFrame>
        <p:nvGraphicFramePr>
          <p:cNvPr id="2" name="表 1"/>
          <p:cNvGraphicFramePr>
            <a:graphicFrameLocks noGrp="1"/>
          </p:cNvGraphicFramePr>
          <p:nvPr/>
        </p:nvGraphicFramePr>
        <p:xfrm>
          <a:off x="108131" y="619307"/>
          <a:ext cx="6984773" cy="6264697"/>
        </p:xfrm>
        <a:graphic>
          <a:graphicData uri="http://schemas.openxmlformats.org/drawingml/2006/table">
            <a:tbl>
              <a:tblPr firstRow="1" bandRow="1">
                <a:tableStyleId>{5C22544A-7EE6-4342-B048-85BDC9FD1C3A}</a:tableStyleId>
              </a:tblPr>
              <a:tblGrid>
                <a:gridCol w="392402">
                  <a:extLst>
                    <a:ext uri="{9D8B030D-6E8A-4147-A177-3AD203B41FA5}">
                      <a16:colId xmlns:a16="http://schemas.microsoft.com/office/drawing/2014/main" val="3309622065"/>
                    </a:ext>
                  </a:extLst>
                </a:gridCol>
                <a:gridCol w="3928118">
                  <a:extLst>
                    <a:ext uri="{9D8B030D-6E8A-4147-A177-3AD203B41FA5}">
                      <a16:colId xmlns:a16="http://schemas.microsoft.com/office/drawing/2014/main" val="1200025529"/>
                    </a:ext>
                  </a:extLst>
                </a:gridCol>
                <a:gridCol w="2664253">
                  <a:extLst>
                    <a:ext uri="{9D8B030D-6E8A-4147-A177-3AD203B41FA5}">
                      <a16:colId xmlns:a16="http://schemas.microsoft.com/office/drawing/2014/main" val="1076154131"/>
                    </a:ext>
                  </a:extLst>
                </a:gridCol>
              </a:tblGrid>
              <a:tr h="280062">
                <a:tc>
                  <a:txBody>
                    <a:bodyPr/>
                    <a:lstStyle/>
                    <a:p>
                      <a:pPr>
                        <a:lnSpc>
                          <a:spcPts val="1400"/>
                        </a:lnSpc>
                      </a:pPr>
                      <a:endParaRPr kumimoji="1" lang="ja-JP" altLang="en-US" sz="1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ts val="1400"/>
                        </a:lnSpc>
                      </a:pPr>
                      <a:r>
                        <a:rPr kumimoji="1" lang="ja-JP" altLang="en-US" sz="1000" dirty="0"/>
                        <a:t>体制・取組指標群（プロセス指標）</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ts val="1400"/>
                        </a:lnSpc>
                      </a:pPr>
                      <a:r>
                        <a:rPr kumimoji="1" lang="ja-JP" altLang="en-US" sz="1000" dirty="0"/>
                        <a:t>活動指標群</a:t>
                      </a:r>
                      <a:r>
                        <a:rPr kumimoji="1" lang="ja-JP" altLang="en-US" sz="900" dirty="0"/>
                        <a:t>（中間アウトカム・アウトプット指標）</a:t>
                      </a:r>
                      <a:endParaRPr kumimoji="1" lang="ja-JP" altLang="en-US" sz="1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3466751"/>
                  </a:ext>
                </a:extLst>
              </a:tr>
              <a:tr h="278272">
                <a:tc rowSpan="11">
                  <a:txBody>
                    <a:bodyPr/>
                    <a:lstStyle/>
                    <a:p>
                      <a:pPr algn="ctr">
                        <a:lnSpc>
                          <a:spcPts val="1400"/>
                        </a:lnSpc>
                      </a:pPr>
                      <a:r>
                        <a:rPr kumimoji="1" lang="ja-JP" altLang="en-US" sz="1000" dirty="0"/>
                        <a:t>保険者機能強化推進交付金</a:t>
                      </a:r>
                    </a:p>
                  </a:txBody>
                  <a:tcPr vert="eaVert">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gridSpan="2">
                  <a:txBody>
                    <a:bodyPr/>
                    <a:lstStyle/>
                    <a:p>
                      <a:pPr>
                        <a:lnSpc>
                          <a:spcPts val="1400"/>
                        </a:lnSpc>
                      </a:pPr>
                      <a:r>
                        <a:rPr kumimoji="1" lang="ja-JP" altLang="en-US" sz="1050" dirty="0">
                          <a:latin typeface="ＤＦ特太ゴシック体" panose="020B0509000000000000" pitchFamily="49" charset="-128"/>
                          <a:ea typeface="ＤＦ特太ゴシック体" panose="020B0509000000000000" pitchFamily="49" charset="-128"/>
                        </a:rPr>
                        <a:t>目標</a:t>
                      </a:r>
                      <a:r>
                        <a:rPr kumimoji="1" lang="en-US" altLang="ja-JP" sz="1050" dirty="0">
                          <a:latin typeface="ＤＦ特太ゴシック体" panose="020B0509000000000000" pitchFamily="49" charset="-128"/>
                          <a:ea typeface="ＤＦ特太ゴシック体" panose="020B0509000000000000" pitchFamily="49" charset="-128"/>
                        </a:rPr>
                        <a:t>Ⅰ</a:t>
                      </a:r>
                      <a:r>
                        <a:rPr kumimoji="1" lang="ja-JP" altLang="en-US" sz="1050" dirty="0">
                          <a:latin typeface="ＤＦ特太ゴシック体" panose="020B0509000000000000" pitchFamily="49" charset="-128"/>
                          <a:ea typeface="ＤＦ特太ゴシック体" panose="020B0509000000000000" pitchFamily="49" charset="-128"/>
                        </a:rPr>
                        <a:t>　持続可能な地域のあるべき姿をかたちにする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extLst>
                  <a:ext uri="{0D108BD9-81ED-4DB2-BD59-A6C34878D82A}">
                    <a16:rowId xmlns:a16="http://schemas.microsoft.com/office/drawing/2014/main" val="3271202915"/>
                  </a:ext>
                </a:extLst>
              </a:tr>
              <a:tr h="553308">
                <a:tc vMerge="1">
                  <a:txBody>
                    <a:bodyPr/>
                    <a:lstStyle/>
                    <a:p>
                      <a:endParaRPr kumimoji="1" lang="ja-JP" altLang="en-US"/>
                    </a:p>
                  </a:txBody>
                  <a:tcPr/>
                </a:tc>
                <a:tc>
                  <a:txBody>
                    <a:bodyPr/>
                    <a:lstStyle/>
                    <a:p>
                      <a:pPr marL="0" indent="0" algn="l">
                        <a:lnSpc>
                          <a:spcPts val="1400"/>
                        </a:lnSpc>
                      </a:pPr>
                      <a:r>
                        <a:rPr kumimoji="1" lang="ja-JP" altLang="en-US" sz="1000" kern="1200" dirty="0">
                          <a:solidFill>
                            <a:schemeClr val="tx1"/>
                          </a:solidFill>
                          <a:latin typeface="+mn-lt"/>
                          <a:ea typeface="+mn-ea"/>
                          <a:cs typeface="+mn-cs"/>
                        </a:rPr>
                        <a:t>１　地域の介護保険事業の特徴を把握しているか。</a:t>
                      </a:r>
                      <a:endParaRPr kumimoji="1" lang="en-US" altLang="ja-JP" sz="1000" kern="1200" dirty="0">
                        <a:solidFill>
                          <a:schemeClr val="tx1"/>
                        </a:solidFill>
                        <a:latin typeface="+mn-lt"/>
                        <a:ea typeface="+mn-ea"/>
                        <a:cs typeface="+mn-cs"/>
                      </a:endParaRPr>
                    </a:p>
                    <a:p>
                      <a:pPr marL="180975" indent="-180975" algn="l">
                        <a:lnSpc>
                          <a:spcPts val="1400"/>
                        </a:lnSpc>
                      </a:pPr>
                      <a:r>
                        <a:rPr kumimoji="1" lang="ja-JP" altLang="en-US" sz="10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地域の介護保険事業の特徴を把握し、これを地域の中で共有できているかどうかを評価</a:t>
                      </a:r>
                      <a:endParaRPr kumimoji="1" lang="en-US" altLang="ja-JP"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4">
                  <a:txBody>
                    <a:bodyPr/>
                    <a:lstStyle/>
                    <a:p>
                      <a:pPr marL="0" indent="0" algn="just">
                        <a:lnSpc>
                          <a:spcPts val="1400"/>
                        </a:lnSpc>
                      </a:pPr>
                      <a:r>
                        <a:rPr kumimoji="1" lang="ja-JP" altLang="en-US" sz="1000" kern="1200" dirty="0">
                          <a:solidFill>
                            <a:schemeClr val="tx1"/>
                          </a:solidFill>
                          <a:latin typeface="+mn-lt"/>
                          <a:ea typeface="+mn-ea"/>
                          <a:cs typeface="+mn-cs"/>
                        </a:rPr>
                        <a:t>１　今年度の評価得点</a:t>
                      </a:r>
                    </a:p>
                    <a:p>
                      <a:pPr marL="0" indent="0" algn="just">
                        <a:lnSpc>
                          <a:spcPts val="1400"/>
                        </a:lnSpc>
                      </a:pPr>
                      <a:r>
                        <a:rPr kumimoji="1" lang="ja-JP" altLang="en-US" sz="1000" kern="1200" dirty="0">
                          <a:solidFill>
                            <a:schemeClr val="tx1"/>
                          </a:solidFill>
                          <a:latin typeface="+mn-lt"/>
                          <a:ea typeface="+mn-ea"/>
                          <a:cs typeface="+mn-cs"/>
                        </a:rPr>
                        <a:t>２　後期高齢者数と給付費の伸び率の比較</a:t>
                      </a:r>
                      <a:endParaRPr kumimoji="1" lang="en-US" altLang="ja-JP" sz="1000" kern="1200" dirty="0">
                        <a:solidFill>
                          <a:schemeClr val="tx1"/>
                        </a:solidFill>
                        <a:latin typeface="+mn-lt"/>
                        <a:ea typeface="+mn-ea"/>
                        <a:cs typeface="+mn-cs"/>
                      </a:endParaRPr>
                    </a:p>
                    <a:p>
                      <a:pPr marL="85725" indent="-85725" algn="just">
                        <a:lnSpc>
                          <a:spcPts val="1400"/>
                        </a:lnSpc>
                      </a:pPr>
                      <a:r>
                        <a:rPr kumimoji="1" lang="ja-JP" altLang="en-US" sz="1000" kern="1200" dirty="0">
                          <a:solidFill>
                            <a:schemeClr val="tx1"/>
                          </a:solidFill>
                          <a:latin typeface="+mn-lt"/>
                          <a:ea typeface="+mn-ea"/>
                          <a:cs typeface="+mn-cs"/>
                        </a:rPr>
                        <a:t>３　</a:t>
                      </a:r>
                      <a:r>
                        <a:rPr kumimoji="1" lang="en-US" sz="1000" kern="1200" dirty="0">
                          <a:solidFill>
                            <a:schemeClr val="tx1"/>
                          </a:solidFill>
                          <a:latin typeface="+mn-lt"/>
                          <a:ea typeface="+mn-ea"/>
                          <a:cs typeface="+mn-cs"/>
                        </a:rPr>
                        <a:t>PFS</a:t>
                      </a:r>
                      <a:r>
                        <a:rPr kumimoji="1" lang="ja-JP" altLang="en-US" sz="1000" kern="1200" dirty="0">
                          <a:solidFill>
                            <a:schemeClr val="tx1"/>
                          </a:solidFill>
                          <a:latin typeface="+mn-lt"/>
                          <a:ea typeface="+mn-ea"/>
                          <a:cs typeface="+mn-cs"/>
                        </a:rPr>
                        <a:t>（成果連動型民間委託契約方式）による委託事業数</a:t>
                      </a:r>
                    </a:p>
                    <a:p>
                      <a:pPr marL="0" indent="0" algn="just">
                        <a:lnSpc>
                          <a:spcPts val="1400"/>
                        </a:lnSpc>
                      </a:pPr>
                      <a:r>
                        <a:rPr kumimoji="1" lang="en-US" sz="1000" kern="1200" dirty="0">
                          <a:solidFill>
                            <a:schemeClr val="tx1"/>
                          </a:solidFill>
                          <a:latin typeface="+mn-lt"/>
                          <a:ea typeface="+mn-ea"/>
                          <a:cs typeface="+mn-cs"/>
                        </a:rPr>
                        <a:t> </a:t>
                      </a:r>
                      <a:endParaRPr kumimoji="1" lang="en-US" altLang="ja-JP"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7639872"/>
                  </a:ext>
                </a:extLst>
              </a:tr>
              <a:tr h="553308">
                <a:tc vMerge="1">
                  <a:txBody>
                    <a:bodyPr/>
                    <a:lstStyle/>
                    <a:p>
                      <a:endParaRPr kumimoji="1" lang="ja-JP" altLang="en-US" sz="1050" dirty="0"/>
                    </a:p>
                  </a:txBody>
                  <a:tcPr/>
                </a:tc>
                <a:tc>
                  <a:txBody>
                    <a:bodyPr/>
                    <a:lstStyle/>
                    <a:p>
                      <a:pPr marL="85725" indent="-85725" algn="l">
                        <a:lnSpc>
                          <a:spcPts val="1400"/>
                        </a:lnSpc>
                        <a:tabLst>
                          <a:tab pos="873125" algn="l"/>
                        </a:tabLst>
                      </a:pPr>
                      <a:r>
                        <a:rPr kumimoji="1" lang="ja-JP" altLang="en-US" sz="1000" kern="1200" dirty="0">
                          <a:solidFill>
                            <a:schemeClr val="tx1"/>
                          </a:solidFill>
                          <a:latin typeface="+mn-lt"/>
                          <a:ea typeface="+mn-ea"/>
                          <a:cs typeface="+mn-cs"/>
                        </a:rPr>
                        <a:t>２　介護保険事業計画の進捗状況（計画値と実績値の乖離状況）を分析しているか。</a:t>
                      </a:r>
                      <a:endParaRPr kumimoji="1" lang="en-US" altLang="ja-JP" sz="1000" kern="1200" dirty="0">
                        <a:solidFill>
                          <a:schemeClr val="tx1"/>
                        </a:solidFill>
                        <a:latin typeface="+mn-lt"/>
                        <a:ea typeface="+mn-ea"/>
                        <a:cs typeface="+mn-cs"/>
                      </a:endParaRPr>
                    </a:p>
                    <a:p>
                      <a:pPr marL="85725" indent="-85725" algn="l">
                        <a:lnSpc>
                          <a:spcPts val="1400"/>
                        </a:lnSpc>
                        <a:tabLst>
                          <a:tab pos="873125" algn="l"/>
                        </a:tabLst>
                      </a:pPr>
                      <a:r>
                        <a:rPr kumimoji="1" lang="ja-JP" altLang="en-US" sz="10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介護保険事業計画の進捗管理を通じた</a:t>
                      </a:r>
                      <a:r>
                        <a:rPr kumimoji="1" lang="en-US" altLang="ja-JP" sz="900" kern="1200" dirty="0">
                          <a:solidFill>
                            <a:srgbClr val="FF0000"/>
                          </a:solidFill>
                          <a:latin typeface="ＭＳ 明朝" panose="02020609040205080304" pitchFamily="17" charset="-128"/>
                          <a:ea typeface="ＭＳ 明朝" panose="02020609040205080304" pitchFamily="17" charset="-128"/>
                          <a:cs typeface="+mn-cs"/>
                        </a:rPr>
                        <a:t>PDCA</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サイクルを評価</a:t>
                      </a: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5725" indent="-85725" algn="l">
                        <a:lnSpc>
                          <a:spcPts val="1400"/>
                        </a:lnSpc>
                        <a:tabLst>
                          <a:tab pos="873125" algn="l"/>
                        </a:tabLst>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3464236"/>
                  </a:ext>
                </a:extLst>
              </a:tr>
              <a:tr h="563773">
                <a:tc vMerge="1">
                  <a:txBody>
                    <a:bodyPr/>
                    <a:lstStyle/>
                    <a:p>
                      <a:endParaRPr kumimoji="1" lang="ja-JP" altLang="en-US" sz="1050" dirty="0"/>
                    </a:p>
                  </a:txBody>
                  <a:tcPr/>
                </a:tc>
                <a:tc>
                  <a:txBody>
                    <a:bodyPr/>
                    <a:lstStyle/>
                    <a:p>
                      <a:pPr marL="85725" indent="-85725" algn="l">
                        <a:lnSpc>
                          <a:spcPts val="1400"/>
                        </a:lnSpc>
                      </a:pPr>
                      <a:r>
                        <a:rPr kumimoji="1" lang="ja-JP" altLang="en-US" sz="1000" kern="1200" dirty="0">
                          <a:solidFill>
                            <a:schemeClr val="tx1"/>
                          </a:solidFill>
                          <a:latin typeface="+mn-lt"/>
                          <a:ea typeface="+mn-ea"/>
                          <a:cs typeface="+mn-cs"/>
                        </a:rPr>
                        <a:t>３　自立支援、重度化防止等に関する施策について、実施状況を把握し、必要な改善を行っているか。</a:t>
                      </a:r>
                      <a:endParaRPr kumimoji="1" lang="en-US" altLang="ja-JP" sz="1000" kern="1200" dirty="0">
                        <a:solidFill>
                          <a:schemeClr val="tx1"/>
                        </a:solidFill>
                        <a:latin typeface="+mn-lt"/>
                        <a:ea typeface="+mn-ea"/>
                        <a:cs typeface="+mn-cs"/>
                      </a:endParaRPr>
                    </a:p>
                    <a:p>
                      <a:pPr marL="85725" indent="-85725" algn="l">
                        <a:lnSpc>
                          <a:spcPts val="1400"/>
                        </a:lnSpc>
                      </a:pPr>
                      <a:r>
                        <a:rPr kumimoji="1" lang="ja-JP" altLang="en-US" sz="1000" kern="1200" dirty="0">
                          <a:solidFill>
                            <a:srgbClr val="FF0000"/>
                          </a:solidFill>
                          <a:latin typeface="+mn-lt"/>
                          <a:ea typeface="+mn-ea"/>
                          <a:cs typeface="+mn-cs"/>
                        </a:rPr>
                        <a:t>　</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各種施策レベルでの</a:t>
                      </a:r>
                      <a:r>
                        <a:rPr kumimoji="1" lang="en-US" altLang="ja-JP" sz="900" kern="1200" dirty="0">
                          <a:solidFill>
                            <a:srgbClr val="FF0000"/>
                          </a:solidFill>
                          <a:latin typeface="ＭＳ 明朝" panose="02020609040205080304" pitchFamily="17" charset="-128"/>
                          <a:ea typeface="ＭＳ 明朝" panose="02020609040205080304" pitchFamily="17" charset="-128"/>
                          <a:cs typeface="+mn-cs"/>
                        </a:rPr>
                        <a:t>PDCA</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サイクルを評価</a:t>
                      </a: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5725" indent="-85725" algn="l">
                        <a:lnSpc>
                          <a:spcPts val="1400"/>
                        </a:lnSpc>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0476484"/>
                  </a:ext>
                </a:extLst>
              </a:tr>
              <a:tr h="652445">
                <a:tc vMerge="1">
                  <a:txBody>
                    <a:bodyPr/>
                    <a:lstStyle/>
                    <a:p>
                      <a:endParaRPr kumimoji="1" lang="ja-JP" altLang="en-US"/>
                    </a:p>
                  </a:txBody>
                  <a:tcPr/>
                </a:tc>
                <a:tc>
                  <a:txBody>
                    <a:bodyPr/>
                    <a:lstStyle/>
                    <a:p>
                      <a:pPr marL="85725" indent="-85725" algn="l">
                        <a:lnSpc>
                          <a:spcPts val="1400"/>
                        </a:lnSpc>
                      </a:pPr>
                      <a:r>
                        <a:rPr kumimoji="1" lang="ja-JP" altLang="en-US" sz="1000" kern="1200" dirty="0">
                          <a:solidFill>
                            <a:schemeClr val="tx1"/>
                          </a:solidFill>
                          <a:latin typeface="+mn-lt"/>
                          <a:ea typeface="+mn-ea"/>
                          <a:cs typeface="+mn-cs"/>
                        </a:rPr>
                        <a:t>４　保険者機能強化推進交付金等に係る評価結果を関係者間で共有し、自立支援、重度化防止等に関する施策の遂行に活用しているか。</a:t>
                      </a:r>
                      <a:endParaRPr kumimoji="1" lang="en-US" altLang="ja-JP" sz="1000" kern="1200" dirty="0">
                        <a:solidFill>
                          <a:schemeClr val="tx1"/>
                        </a:solidFill>
                        <a:latin typeface="+mn-lt"/>
                        <a:ea typeface="+mn-ea"/>
                        <a:cs typeface="+mn-cs"/>
                      </a:endParaRPr>
                    </a:p>
                    <a:p>
                      <a:pPr marL="85725" indent="-85725" algn="l">
                        <a:lnSpc>
                          <a:spcPts val="1400"/>
                        </a:lnSpc>
                      </a:pPr>
                      <a:r>
                        <a:rPr kumimoji="1" lang="ja-JP" altLang="en-US" sz="1000" kern="1200" dirty="0">
                          <a:solidFill>
                            <a:schemeClr val="tx1"/>
                          </a:solidFill>
                          <a:latin typeface="+mn-lt"/>
                          <a:ea typeface="+mn-ea"/>
                          <a:cs typeface="+mn-cs"/>
                        </a:rPr>
                        <a:t>　</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a:t>
                      </a:r>
                      <a:r>
                        <a:rPr kumimoji="1" lang="en-US" altLang="ja-JP" sz="900" kern="1200" dirty="0">
                          <a:solidFill>
                            <a:srgbClr val="FF0000"/>
                          </a:solidFill>
                          <a:latin typeface="ＭＳ 明朝" panose="02020609040205080304" pitchFamily="17" charset="-128"/>
                          <a:ea typeface="ＭＳ 明朝" panose="02020609040205080304" pitchFamily="17" charset="-128"/>
                          <a:cs typeface="+mn-cs"/>
                        </a:rPr>
                        <a:t>PDCA</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サイクルの実施に当たっての評価結果の活用状況を評価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5725" indent="-85725" algn="l">
                        <a:lnSpc>
                          <a:spcPts val="1400"/>
                        </a:lnSpc>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1396128"/>
                  </a:ext>
                </a:extLst>
              </a:tr>
              <a:tr h="278272">
                <a:tc vMerge="1">
                  <a:txBody>
                    <a:bodyPr/>
                    <a:lstStyle/>
                    <a:p>
                      <a:pPr algn="ctr"/>
                      <a:endParaRPr kumimoji="1" lang="ja-JP" altLang="en-US" sz="1000" dirty="0"/>
                    </a:p>
                  </a:txBody>
                  <a:tcPr vert="eaVe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gridSpan="2">
                  <a:txBody>
                    <a:bodyPr/>
                    <a:lstStyle/>
                    <a:p>
                      <a:pPr marL="0" algn="l" defTabSz="897212" rtl="0" eaLnBrk="1" latinLnBrk="0" hangingPunct="1">
                        <a:lnSpc>
                          <a:spcPts val="1400"/>
                        </a:lnSpc>
                      </a:pPr>
                      <a:r>
                        <a:rPr kumimoji="1" lang="ja-JP" altLang="en-US" sz="1050" i="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1050" i="0" kern="1200" dirty="0">
                          <a:solidFill>
                            <a:schemeClr val="dk1"/>
                          </a:solidFill>
                          <a:latin typeface="ＤＦ特太ゴシック体" panose="020B0509000000000000" pitchFamily="49" charset="-128"/>
                          <a:ea typeface="ＤＦ特太ゴシック体" panose="020B0509000000000000" pitchFamily="49" charset="-128"/>
                          <a:cs typeface="+mn-cs"/>
                        </a:rPr>
                        <a:t>Ⅱ</a:t>
                      </a:r>
                      <a:r>
                        <a:rPr kumimoji="1" lang="ja-JP" altLang="en-US" sz="1050" i="0" kern="1200" dirty="0">
                          <a:solidFill>
                            <a:schemeClr val="dk1"/>
                          </a:solidFill>
                          <a:latin typeface="ＤＦ特太ゴシック体" panose="020B0509000000000000" pitchFamily="49" charset="-128"/>
                          <a:ea typeface="ＤＦ特太ゴシック体" panose="020B0509000000000000" pitchFamily="49" charset="-128"/>
                          <a:cs typeface="+mn-cs"/>
                        </a:rPr>
                        <a:t>　公正・公平な給付を行う体制を構築する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extLst>
                  <a:ext uri="{0D108BD9-81ED-4DB2-BD59-A6C34878D82A}">
                    <a16:rowId xmlns:a16="http://schemas.microsoft.com/office/drawing/2014/main" val="2941634933"/>
                  </a:ext>
                </a:extLst>
              </a:tr>
              <a:tr h="360542">
                <a:tc vMerge="1">
                  <a:txBody>
                    <a:bodyPr/>
                    <a:lstStyle/>
                    <a:p>
                      <a:endParaRPr kumimoji="1" lang="ja-JP" altLang="en-US"/>
                    </a:p>
                  </a:txBody>
                  <a:tcPr/>
                </a:tc>
                <a:tc>
                  <a:txBody>
                    <a:bodyPr/>
                    <a:lstStyle/>
                    <a:p>
                      <a:pPr marL="0" indent="0" algn="l" defTabSz="897212" rtl="0" eaLnBrk="1" latinLnBrk="0" hangingPunct="1">
                        <a:lnSpc>
                          <a:spcPts val="1400"/>
                        </a:lnSpc>
                      </a:pPr>
                      <a:r>
                        <a:rPr kumimoji="1" lang="ja-JP" altLang="en-US" sz="1000" kern="1200" dirty="0">
                          <a:solidFill>
                            <a:schemeClr val="tx1"/>
                          </a:solidFill>
                          <a:latin typeface="+mn-lt"/>
                          <a:ea typeface="+mn-ea"/>
                          <a:cs typeface="+mn-cs"/>
                        </a:rPr>
                        <a:t>１　介護給付費の適正化に向けた方策を策定しているか。</a:t>
                      </a:r>
                      <a:endParaRPr kumimoji="1" lang="en-US" altLang="ja-JP" sz="1000" kern="1200" dirty="0">
                        <a:solidFill>
                          <a:schemeClr val="tx1"/>
                        </a:solidFill>
                        <a:latin typeface="+mn-lt"/>
                        <a:ea typeface="+mn-ea"/>
                        <a:cs typeface="+mn-cs"/>
                      </a:endParaRPr>
                    </a:p>
                    <a:p>
                      <a:pPr marL="0" indent="0" algn="l" defTabSz="897212" rtl="0" eaLnBrk="1" latinLnBrk="0" hangingPunct="1">
                        <a:lnSpc>
                          <a:spcPts val="1400"/>
                        </a:lnSpc>
                      </a:pPr>
                      <a:r>
                        <a:rPr kumimoji="1" lang="ja-JP" altLang="en-US" sz="1000" kern="1200" dirty="0">
                          <a:solidFill>
                            <a:schemeClr val="tx1"/>
                          </a:solidFill>
                          <a:latin typeface="+mn-lt"/>
                          <a:ea typeface="+mn-ea"/>
                          <a:cs typeface="+mn-cs"/>
                        </a:rPr>
                        <a:t>　</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介護給付費の適正化に関する</a:t>
                      </a:r>
                      <a:r>
                        <a:rPr kumimoji="1" lang="en-US" altLang="ja-JP" sz="900" kern="1200" dirty="0">
                          <a:solidFill>
                            <a:srgbClr val="FF0000"/>
                          </a:solidFill>
                          <a:latin typeface="ＭＳ 明朝" panose="02020609040205080304" pitchFamily="17" charset="-128"/>
                          <a:ea typeface="ＭＳ 明朝" panose="02020609040205080304" pitchFamily="17" charset="-128"/>
                          <a:cs typeface="+mn-cs"/>
                        </a:rPr>
                        <a:t>PDCA</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サイクルを評価</a:t>
                      </a: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2">
                  <a:txBody>
                    <a:bodyPr/>
                    <a:lstStyle/>
                    <a:p>
                      <a:pPr marL="0" indent="0" algn="just" defTabSz="897212" rtl="0" eaLnBrk="1" latinLnBrk="0" hangingPunct="1">
                        <a:lnSpc>
                          <a:spcPts val="1400"/>
                        </a:lnSpc>
                      </a:pPr>
                      <a:r>
                        <a:rPr kumimoji="1" lang="ja-JP" altLang="en-US" sz="1000" kern="1200" dirty="0">
                          <a:solidFill>
                            <a:schemeClr val="tx1"/>
                          </a:solidFill>
                          <a:latin typeface="+mn-lt"/>
                          <a:ea typeface="+mn-ea"/>
                          <a:cs typeface="+mn-cs"/>
                        </a:rPr>
                        <a:t>１　ケアプラン点検の実施割合</a:t>
                      </a:r>
                    </a:p>
                    <a:p>
                      <a:pPr marL="0" indent="0" algn="just" defTabSz="897212" rtl="0" eaLnBrk="1" latinLnBrk="0" hangingPunct="1">
                        <a:lnSpc>
                          <a:spcPts val="1400"/>
                        </a:lnSpc>
                      </a:pPr>
                      <a:r>
                        <a:rPr kumimoji="1" lang="ja-JP" altLang="en-US" sz="1000" kern="1200" dirty="0">
                          <a:solidFill>
                            <a:schemeClr val="tx1"/>
                          </a:solidFill>
                          <a:latin typeface="+mn-lt"/>
                          <a:ea typeface="+mn-ea"/>
                          <a:cs typeface="+mn-cs"/>
                        </a:rPr>
                        <a:t>２　医療情報との突合の実施割合</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7760008"/>
                  </a:ext>
                </a:extLst>
              </a:tr>
              <a:tr h="360542">
                <a:tc vMerge="1">
                  <a:txBody>
                    <a:bodyPr/>
                    <a:lstStyle/>
                    <a:p>
                      <a:endParaRPr kumimoji="1" lang="ja-JP" altLang="en-US" sz="1050" dirty="0"/>
                    </a:p>
                  </a:txBody>
                  <a:tcPr/>
                </a:tc>
                <a:tc>
                  <a:txBody>
                    <a:bodyPr/>
                    <a:lstStyle/>
                    <a:p>
                      <a:pPr marL="0" indent="0" algn="l" defTabSz="897212" rtl="0" eaLnBrk="1" latinLnBrk="0" hangingPunct="1">
                        <a:lnSpc>
                          <a:spcPts val="1400"/>
                        </a:lnSpc>
                      </a:pPr>
                      <a:r>
                        <a:rPr kumimoji="1" lang="ja-JP" altLang="en-US" sz="1000" kern="1200" dirty="0">
                          <a:solidFill>
                            <a:schemeClr val="tx1"/>
                          </a:solidFill>
                          <a:latin typeface="+mn-lt"/>
                          <a:ea typeface="+mn-ea"/>
                          <a:cs typeface="+mn-cs"/>
                        </a:rPr>
                        <a:t>２　介護給付費適正化事業を効果的に実施しているか。</a:t>
                      </a:r>
                      <a:endParaRPr kumimoji="1" lang="en-US" altLang="ja-JP" sz="1000" kern="1200" dirty="0">
                        <a:solidFill>
                          <a:schemeClr val="tx1"/>
                        </a:solidFill>
                        <a:latin typeface="+mn-lt"/>
                        <a:ea typeface="+mn-ea"/>
                        <a:cs typeface="+mn-cs"/>
                      </a:endParaRPr>
                    </a:p>
                    <a:p>
                      <a:pPr marL="0" indent="0" algn="l" defTabSz="897212" rtl="0" eaLnBrk="1" latinLnBrk="0" hangingPunct="1">
                        <a:lnSpc>
                          <a:spcPts val="1400"/>
                        </a:lnSpc>
                      </a:pPr>
                      <a:r>
                        <a:rPr kumimoji="1" lang="ja-JP" altLang="en-US" sz="1000" kern="1200" dirty="0">
                          <a:solidFill>
                            <a:schemeClr val="tx1"/>
                          </a:solidFill>
                          <a:latin typeface="+mn-lt"/>
                          <a:ea typeface="+mn-ea"/>
                          <a:cs typeface="+mn-cs"/>
                        </a:rPr>
                        <a:t>　</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介護給付費適正化事業の実施状況を評価</a:t>
                      </a: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0" indent="0" algn="l" defTabSz="897212" rtl="0" eaLnBrk="1" latinLnBrk="0" hangingPunct="1">
                        <a:lnSpc>
                          <a:spcPts val="1400"/>
                        </a:lnSpc>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0468346"/>
                  </a:ext>
                </a:extLst>
              </a:tr>
              <a:tr h="278272">
                <a:tc vMerge="1">
                  <a:txBody>
                    <a:bodyPr/>
                    <a:lstStyle/>
                    <a:p>
                      <a:endParaRPr kumimoji="1" lang="ja-JP" altLang="en-US" sz="1050" dirty="0"/>
                    </a:p>
                  </a:txBody>
                  <a:tcPr/>
                </a:tc>
                <a:tc gridSpan="2">
                  <a:txBody>
                    <a:bodyPr/>
                    <a:lstStyle/>
                    <a:p>
                      <a:pPr marL="0" algn="l" defTabSz="897212" rtl="0" eaLnBrk="1" latinLnBrk="0" hangingPunct="1">
                        <a:lnSpc>
                          <a:spcPts val="1400"/>
                        </a:lnSpc>
                      </a:pPr>
                      <a:r>
                        <a:rPr kumimoji="1" lang="ja-JP" altLang="en-US" sz="1050" i="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1050" i="0" kern="1200" dirty="0">
                          <a:solidFill>
                            <a:schemeClr val="dk1"/>
                          </a:solidFill>
                          <a:latin typeface="ＤＦ特太ゴシック体" panose="020B0509000000000000" pitchFamily="49" charset="-128"/>
                          <a:ea typeface="ＤＦ特太ゴシック体" panose="020B0509000000000000" pitchFamily="49" charset="-128"/>
                          <a:cs typeface="+mn-cs"/>
                        </a:rPr>
                        <a:t>Ⅲ</a:t>
                      </a:r>
                      <a:r>
                        <a:rPr kumimoji="1" lang="ja-JP" altLang="en-US" sz="1050" i="0" kern="1200" dirty="0">
                          <a:solidFill>
                            <a:schemeClr val="dk1"/>
                          </a:solidFill>
                          <a:latin typeface="ＤＦ特太ゴシック体" panose="020B0509000000000000" pitchFamily="49" charset="-128"/>
                          <a:ea typeface="ＤＦ特太ゴシック体" panose="020B0509000000000000" pitchFamily="49" charset="-128"/>
                          <a:cs typeface="+mn-cs"/>
                        </a:rPr>
                        <a:t>　介護人材の確保その他のサービス提供基盤の整備を推進する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extLst>
                  <a:ext uri="{0D108BD9-81ED-4DB2-BD59-A6C34878D82A}">
                    <a16:rowId xmlns:a16="http://schemas.microsoft.com/office/drawing/2014/main" val="3026443121"/>
                  </a:ext>
                </a:extLst>
              </a:tr>
              <a:tr h="553308">
                <a:tc vMerge="1">
                  <a:txBody>
                    <a:bodyPr/>
                    <a:lstStyle/>
                    <a:p>
                      <a:endParaRPr kumimoji="1" lang="ja-JP" altLang="en-US" sz="1050" dirty="0"/>
                    </a:p>
                  </a:txBody>
                  <a:tcPr/>
                </a:tc>
                <a:tc>
                  <a:txBody>
                    <a:bodyPr/>
                    <a:lstStyle/>
                    <a:p>
                      <a:pPr marL="85725" indent="-85725" algn="l" defTabSz="897212" rtl="0" eaLnBrk="1" latinLnBrk="0" hangingPunct="1">
                        <a:lnSpc>
                          <a:spcPts val="1400"/>
                        </a:lnSpc>
                      </a:pPr>
                      <a:r>
                        <a:rPr kumimoji="1" lang="ja-JP" altLang="en-US" sz="1000" kern="1200" dirty="0">
                          <a:solidFill>
                            <a:schemeClr val="tx1"/>
                          </a:solidFill>
                          <a:latin typeface="+mn-lt"/>
                          <a:ea typeface="+mn-ea"/>
                          <a:cs typeface="+mn-cs"/>
                        </a:rPr>
                        <a:t>１　地域における介護人材の確保・定着のため、都道府県等と連携しつつ、　必要な取組を実施しているか。</a:t>
                      </a:r>
                      <a:endParaRPr kumimoji="1" lang="en-US" altLang="ja-JP" sz="1000" kern="1200" dirty="0">
                        <a:solidFill>
                          <a:schemeClr val="tx1"/>
                        </a:solidFill>
                        <a:latin typeface="+mn-lt"/>
                        <a:ea typeface="+mn-ea"/>
                        <a:cs typeface="+mn-cs"/>
                      </a:endParaRPr>
                    </a:p>
                    <a:p>
                      <a:pPr marL="85725" indent="-85725" algn="l" defTabSz="897212" rtl="0" eaLnBrk="1" latinLnBrk="0" hangingPunct="1">
                        <a:lnSpc>
                          <a:spcPts val="1400"/>
                        </a:lnSpc>
                      </a:pPr>
                      <a:r>
                        <a:rPr kumimoji="1" lang="ja-JP" altLang="en-US" sz="10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介護人材の確保・定着に関する取組状況を評価</a:t>
                      </a: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2">
                  <a:txBody>
                    <a:bodyPr/>
                    <a:lstStyle/>
                    <a:p>
                      <a:pPr marL="85725" indent="-85725" algn="just" defTabSz="897212" rtl="0" eaLnBrk="1" latinLnBrk="0" hangingPunct="1">
                        <a:lnSpc>
                          <a:spcPts val="1400"/>
                        </a:lnSpc>
                      </a:pPr>
                      <a:r>
                        <a:rPr kumimoji="1" lang="ja-JP" altLang="en-US" sz="1000" kern="1200" dirty="0">
                          <a:solidFill>
                            <a:schemeClr val="tx1"/>
                          </a:solidFill>
                          <a:latin typeface="+mn-lt"/>
                          <a:ea typeface="+mn-ea"/>
                          <a:cs typeface="+mn-cs"/>
                        </a:rPr>
                        <a:t>１　高齢者人口当たりの地域住民に対する介護の仕事の魅力を伝達するための研修の修了者数</a:t>
                      </a:r>
                    </a:p>
                    <a:p>
                      <a:pPr marL="85725" indent="-85725" algn="just" defTabSz="897212" rtl="0" eaLnBrk="1" latinLnBrk="0" hangingPunct="1">
                        <a:lnSpc>
                          <a:spcPts val="1400"/>
                        </a:lnSpc>
                      </a:pPr>
                      <a:r>
                        <a:rPr kumimoji="1" lang="ja-JP" altLang="en-US" sz="1000" kern="1200" dirty="0">
                          <a:solidFill>
                            <a:schemeClr val="tx1"/>
                          </a:solidFill>
                          <a:latin typeface="+mn-lt"/>
                          <a:ea typeface="+mn-ea"/>
                          <a:cs typeface="+mn-cs"/>
                        </a:rPr>
                        <a:t>２　高齢者人口当たりの介護人材（介護支援専門員を除く。）の定着、資質向上を目的とした研修スキルアップ・キャリアアップ等に関する研修の修了者数</a:t>
                      </a:r>
                    </a:p>
                    <a:p>
                      <a:pPr marL="85725" indent="-85725" algn="just" defTabSz="897212" rtl="0" eaLnBrk="1" latinLnBrk="0" hangingPunct="1">
                        <a:lnSpc>
                          <a:spcPts val="1400"/>
                        </a:lnSpc>
                      </a:pPr>
                      <a:r>
                        <a:rPr kumimoji="1" lang="ja-JP" altLang="en-US" sz="1000" kern="1200" dirty="0">
                          <a:solidFill>
                            <a:schemeClr val="tx1"/>
                          </a:solidFill>
                          <a:latin typeface="+mn-lt"/>
                          <a:ea typeface="+mn-ea"/>
                          <a:cs typeface="+mn-cs"/>
                        </a:rPr>
                        <a:t>３　介護支援専門員を対象としたケアマネジメントの質の向上に関する研修（介護支援専門員法定研修を除く。）の総実施日数</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9543498"/>
                  </a:ext>
                </a:extLst>
              </a:tr>
              <a:tr h="1552593">
                <a:tc vMerge="1">
                  <a:txBody>
                    <a:bodyPr/>
                    <a:lstStyle/>
                    <a:p>
                      <a:endParaRPr kumimoji="1" lang="ja-JP" altLang="en-US" sz="1050" dirty="0"/>
                    </a:p>
                  </a:txBody>
                  <a:tcPr/>
                </a:tc>
                <a:tc>
                  <a:txBody>
                    <a:bodyPr/>
                    <a:lstStyle/>
                    <a:p>
                      <a:pPr marL="85725" indent="-85725" algn="l" defTabSz="897212" rtl="0" eaLnBrk="1" latinLnBrk="0" hangingPunct="1">
                        <a:lnSpc>
                          <a:spcPts val="1400"/>
                        </a:lnSpc>
                      </a:pPr>
                      <a:r>
                        <a:rPr kumimoji="1" lang="ja-JP" altLang="en-US" sz="1000" kern="1200" dirty="0">
                          <a:solidFill>
                            <a:schemeClr val="tx1"/>
                          </a:solidFill>
                          <a:latin typeface="+mn-lt"/>
                          <a:ea typeface="+mn-ea"/>
                          <a:cs typeface="+mn-cs"/>
                        </a:rPr>
                        <a:t>２　地域におけるサービス提供体制の確保や、自立支援・重度化防止、介護人材確保に関する施策等の推進に当たって、庁内・庁外における関係者との連携体制が確保されているか。</a:t>
                      </a:r>
                      <a:endParaRPr kumimoji="1" lang="en-US" altLang="ja-JP" sz="1000" kern="1200" dirty="0">
                        <a:solidFill>
                          <a:schemeClr val="tx1"/>
                        </a:solidFill>
                        <a:latin typeface="+mn-lt"/>
                        <a:ea typeface="+mn-ea"/>
                        <a:cs typeface="+mn-cs"/>
                      </a:endParaRPr>
                    </a:p>
                    <a:p>
                      <a:pPr marL="85725" indent="-85725" algn="l" defTabSz="897212" rtl="0" eaLnBrk="1" latinLnBrk="0" hangingPunct="1">
                        <a:lnSpc>
                          <a:spcPts val="1400"/>
                        </a:lnSpc>
                      </a:pPr>
                      <a:r>
                        <a:rPr kumimoji="1" lang="ja-JP" altLang="en-US" sz="1000" kern="1200" dirty="0">
                          <a:solidFill>
                            <a:schemeClr val="tx1"/>
                          </a:solidFill>
                          <a:latin typeface="+mn-lt"/>
                          <a:ea typeface="+mn-ea"/>
                          <a:cs typeface="+mn-cs"/>
                        </a:rPr>
                        <a:t>　</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庁内・庁外における連携体制の構築状況等を評価</a:t>
                      </a:r>
                      <a:endParaRPr kumimoji="1" lang="en-US" altLang="ja-JP"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5725" indent="-85725" algn="l" defTabSz="897212" rtl="0" eaLnBrk="1" latinLnBrk="0" hangingPunct="1">
                        <a:lnSpc>
                          <a:spcPts val="1400"/>
                        </a:lnSpc>
                      </a:pPr>
                      <a:endParaRPr kumimoji="1" lang="en-US" altLang="ja-JP"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5935765"/>
                  </a:ext>
                </a:extLst>
              </a:tr>
            </a:tbl>
          </a:graphicData>
        </a:graphic>
      </p:graphicFrame>
      <p:graphicFrame>
        <p:nvGraphicFramePr>
          <p:cNvPr id="32" name="表 31"/>
          <p:cNvGraphicFramePr>
            <a:graphicFrameLocks noGrp="1"/>
          </p:cNvGraphicFramePr>
          <p:nvPr>
            <p:extLst>
              <p:ext uri="{D42A27DB-BD31-4B8C-83A1-F6EECF244321}">
                <p14:modId xmlns:p14="http://schemas.microsoft.com/office/powerpoint/2010/main" val="2373385255"/>
              </p:ext>
            </p:extLst>
          </p:nvPr>
        </p:nvGraphicFramePr>
        <p:xfrm>
          <a:off x="7467349" y="630435"/>
          <a:ext cx="2145838" cy="6264696"/>
        </p:xfrm>
        <a:graphic>
          <a:graphicData uri="http://schemas.openxmlformats.org/drawingml/2006/table">
            <a:tbl>
              <a:tblPr firstRow="1" bandRow="1">
                <a:tableStyleId>{5C22544A-7EE6-4342-B048-85BDC9FD1C3A}</a:tableStyleId>
              </a:tblPr>
              <a:tblGrid>
                <a:gridCol w="2145838">
                  <a:extLst>
                    <a:ext uri="{9D8B030D-6E8A-4147-A177-3AD203B41FA5}">
                      <a16:colId xmlns:a16="http://schemas.microsoft.com/office/drawing/2014/main" val="267994785"/>
                    </a:ext>
                  </a:extLst>
                </a:gridCol>
              </a:tblGrid>
              <a:tr h="292046">
                <a:tc>
                  <a:txBody>
                    <a:bodyPr/>
                    <a:lstStyle/>
                    <a:p>
                      <a:pPr algn="ctr"/>
                      <a:r>
                        <a:rPr kumimoji="1" lang="ja-JP" altLang="en-US" sz="1000" dirty="0"/>
                        <a:t>成果指標群（アウトカム指標）</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503567"/>
                  </a:ext>
                </a:extLst>
              </a:tr>
              <a:tr h="813790">
                <a:tc>
                  <a:txBody>
                    <a:bodyPr/>
                    <a:lstStyle/>
                    <a:p>
                      <a:pPr marL="176213" indent="-352425" algn="l" defTabSz="897212" rtl="0" eaLnBrk="1" latinLnBrk="0" hangingPunct="1"/>
                      <a:r>
                        <a:rPr kumimoji="1" lang="ja-JP" altLang="en-US" sz="105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1050" kern="1200" dirty="0">
                          <a:solidFill>
                            <a:schemeClr val="dk1"/>
                          </a:solidFill>
                          <a:latin typeface="ＤＦ特太ゴシック体" panose="020B0509000000000000" pitchFamily="49" charset="-128"/>
                          <a:ea typeface="ＤＦ特太ゴシック体" panose="020B0509000000000000" pitchFamily="49" charset="-128"/>
                          <a:cs typeface="+mn-cs"/>
                        </a:rPr>
                        <a:t>Ⅳ</a:t>
                      </a:r>
                      <a:r>
                        <a:rPr kumimoji="1" lang="ja-JP" altLang="en-US" sz="1050" kern="1200" dirty="0">
                          <a:solidFill>
                            <a:schemeClr val="dk1"/>
                          </a:solidFill>
                          <a:latin typeface="ＤＦ特太ゴシック体" panose="020B0509000000000000" pitchFamily="49" charset="-128"/>
                          <a:ea typeface="ＤＦ特太ゴシック体" panose="020B0509000000000000" pitchFamily="49" charset="-128"/>
                          <a:cs typeface="+mn-cs"/>
                        </a:rPr>
                        <a:t>　高齢者がその状況に応じて可能な限り自立した日常生活を営む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017738085"/>
                  </a:ext>
                </a:extLst>
              </a:tr>
              <a:tr h="1031772">
                <a:tc>
                  <a:txBody>
                    <a:bodyPr/>
                    <a:lstStyle/>
                    <a:p>
                      <a:pPr marL="84138" indent="-84138"/>
                      <a:r>
                        <a:rPr kumimoji="1" lang="ja-JP" altLang="en-US" sz="1000" dirty="0"/>
                        <a:t>１　短期的な要介護認定者の平均要介護度（１・２）の変化率の状況はどのようになっているか。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1113151"/>
                  </a:ext>
                </a:extLst>
              </a:tr>
              <a:tr h="1031772">
                <a:tc>
                  <a:txBody>
                    <a:bodyPr/>
                    <a:lstStyle/>
                    <a:p>
                      <a:pPr marL="84138" indent="-84138"/>
                      <a:r>
                        <a:rPr kumimoji="1" lang="ja-JP" altLang="en-US" sz="1000" dirty="0"/>
                        <a:t>２　長期的な要介護認定者の平均要介護度（１・２）の変化率の状況はどのようになっているか。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6180893"/>
                  </a:ext>
                </a:extLst>
              </a:tr>
              <a:tr h="1031772">
                <a:tc>
                  <a:txBody>
                    <a:bodyPr/>
                    <a:lstStyle/>
                    <a:p>
                      <a:pPr marL="84138" indent="-84138"/>
                      <a:r>
                        <a:rPr kumimoji="1" lang="ja-JP" altLang="en-US" sz="1000" dirty="0"/>
                        <a:t>３　短期的な要介護認定者の平均要介護度（３～５）の変化率の状況はどのようになっているか。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30926925"/>
                  </a:ext>
                </a:extLst>
              </a:tr>
              <a:tr h="1031772">
                <a:tc>
                  <a:txBody>
                    <a:bodyPr/>
                    <a:lstStyle/>
                    <a:p>
                      <a:pPr marL="84138" indent="-84138"/>
                      <a:r>
                        <a:rPr kumimoji="1" lang="ja-JP" altLang="en-US" sz="1000" dirty="0"/>
                        <a:t>４　長期的な要介護認定者の平均要介護度（３～５）の変化率の状況はどのようになっているか。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4794803"/>
                  </a:ext>
                </a:extLst>
              </a:tr>
              <a:tr h="1031772">
                <a:tc>
                  <a:txBody>
                    <a:bodyPr/>
                    <a:lstStyle/>
                    <a:p>
                      <a:pPr marL="84138" indent="-84138"/>
                      <a:r>
                        <a:rPr kumimoji="1" lang="ja-JP" altLang="en-US" sz="1000" dirty="0"/>
                        <a:t>５　要介護２以上の認定率、認定率の変化率の状況はどのようになっているか。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8071435"/>
                  </a:ext>
                </a:extLst>
              </a:tr>
            </a:tbl>
          </a:graphicData>
        </a:graphic>
      </p:graphicFrame>
      <p:sp>
        <p:nvSpPr>
          <p:cNvPr id="7" name="右矢印 6"/>
          <p:cNvSpPr/>
          <p:nvPr/>
        </p:nvSpPr>
        <p:spPr>
          <a:xfrm>
            <a:off x="7092907" y="3078708"/>
            <a:ext cx="360040" cy="1368152"/>
          </a:xfrm>
          <a:prstGeom prst="right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 name="スライド番号プレースホルダー 1"/>
          <p:cNvSpPr>
            <a:spLocks noGrp="1"/>
          </p:cNvSpPr>
          <p:nvPr>
            <p:ph type="sldNum" sz="quarter" idx="12"/>
          </p:nvPr>
        </p:nvSpPr>
        <p:spPr>
          <a:xfrm>
            <a:off x="7344590" y="6592925"/>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15</a:t>
            </a:fld>
            <a:endParaRPr lang="ja-JP" altLang="en-US" sz="1178" b="1" dirty="0">
              <a:latin typeface="Meiryo UI" panose="020B0604030504040204" pitchFamily="50" charset="-128"/>
              <a:ea typeface="Meiryo UI" panose="020B0604030504040204" pitchFamily="50" charset="-128"/>
            </a:endParaRPr>
          </a:p>
        </p:txBody>
      </p:sp>
      <p:sp>
        <p:nvSpPr>
          <p:cNvPr id="5" name="吹き出し: 角を丸めた四角形 4">
            <a:extLst>
              <a:ext uri="{FF2B5EF4-FFF2-40B4-BE49-F238E27FC236}">
                <a16:creationId xmlns:a16="http://schemas.microsoft.com/office/drawing/2014/main" id="{F1095EB5-4230-4C22-8D94-2CD97FB10E76}"/>
              </a:ext>
            </a:extLst>
          </p:cNvPr>
          <p:cNvSpPr/>
          <p:nvPr/>
        </p:nvSpPr>
        <p:spPr>
          <a:xfrm>
            <a:off x="6120590" y="918812"/>
            <a:ext cx="1224000" cy="503944"/>
          </a:xfrm>
          <a:prstGeom prst="wedgeRoundRectCallout">
            <a:avLst>
              <a:gd name="adj1" fmla="val -75306"/>
              <a:gd name="adj2" fmla="val -62233"/>
              <a:gd name="adj3" fmla="val 16667"/>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BIZ UDPゴシック" panose="020B0400000000000000" pitchFamily="50" charset="-128"/>
                <a:ea typeface="BIZ UDPゴシック" panose="020B0400000000000000" pitchFamily="50" charset="-128"/>
              </a:rPr>
              <a:t>データに基づき客観的に評価</a:t>
            </a:r>
          </a:p>
        </p:txBody>
      </p:sp>
      <p:sp>
        <p:nvSpPr>
          <p:cNvPr id="10" name="吹き出し: 角を丸めた四角形 9">
            <a:extLst>
              <a:ext uri="{FF2B5EF4-FFF2-40B4-BE49-F238E27FC236}">
                <a16:creationId xmlns:a16="http://schemas.microsoft.com/office/drawing/2014/main" id="{B332C81C-6CBE-4A28-AE13-CBB31B28FB48}"/>
              </a:ext>
            </a:extLst>
          </p:cNvPr>
          <p:cNvSpPr/>
          <p:nvPr/>
        </p:nvSpPr>
        <p:spPr>
          <a:xfrm>
            <a:off x="6120590" y="918812"/>
            <a:ext cx="1224000" cy="503944"/>
          </a:xfrm>
          <a:prstGeom prst="wedgeRoundRectCallout">
            <a:avLst>
              <a:gd name="adj1" fmla="val 111459"/>
              <a:gd name="adj2" fmla="val -66013"/>
              <a:gd name="adj3" fmla="val 16667"/>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BIZ UDPゴシック" panose="020B0400000000000000" pitchFamily="50" charset="-128"/>
                <a:ea typeface="BIZ UDPゴシック" panose="020B0400000000000000" pitchFamily="50" charset="-128"/>
              </a:rPr>
              <a:t>データに基づき客観的に評価</a:t>
            </a:r>
          </a:p>
        </p:txBody>
      </p:sp>
      <p:sp>
        <p:nvSpPr>
          <p:cNvPr id="11" name="吹き出し: 角を丸めた四角形 10">
            <a:extLst>
              <a:ext uri="{FF2B5EF4-FFF2-40B4-BE49-F238E27FC236}">
                <a16:creationId xmlns:a16="http://schemas.microsoft.com/office/drawing/2014/main" id="{B987F169-4255-4B4D-8EA8-601E0F514016}"/>
              </a:ext>
            </a:extLst>
          </p:cNvPr>
          <p:cNvSpPr/>
          <p:nvPr/>
        </p:nvSpPr>
        <p:spPr>
          <a:xfrm>
            <a:off x="4174899" y="918812"/>
            <a:ext cx="1549752" cy="503944"/>
          </a:xfrm>
          <a:prstGeom prst="wedgeRoundRectCallout">
            <a:avLst>
              <a:gd name="adj1" fmla="val -119578"/>
              <a:gd name="adj2" fmla="val -81134"/>
              <a:gd name="adj3" fmla="val 16667"/>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BIZ UDPゴシック" panose="020B0400000000000000" pitchFamily="50" charset="-128"/>
                <a:ea typeface="BIZ UDPゴシック" panose="020B0400000000000000" pitchFamily="50" charset="-128"/>
              </a:rPr>
              <a:t>各自治体において自らの取組を振り返りながら自己評価</a:t>
            </a:r>
          </a:p>
        </p:txBody>
      </p:sp>
    </p:spTree>
    <p:extLst>
      <p:ext uri="{BB962C8B-B14F-4D97-AF65-F5344CB8AC3E}">
        <p14:creationId xmlns:p14="http://schemas.microsoft.com/office/powerpoint/2010/main" val="772798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右矢印 3"/>
          <p:cNvSpPr/>
          <p:nvPr/>
        </p:nvSpPr>
        <p:spPr>
          <a:xfrm>
            <a:off x="7092091" y="3078708"/>
            <a:ext cx="360040" cy="1368152"/>
          </a:xfrm>
          <a:prstGeom prst="right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 name="Rectangle 19"/>
          <p:cNvSpPr>
            <a:spLocks noChangeArrowheads="1"/>
          </p:cNvSpPr>
          <p:nvPr/>
        </p:nvSpPr>
        <p:spPr bwMode="auto">
          <a:xfrm>
            <a:off x="-1" y="-20522"/>
            <a:ext cx="9720263" cy="489250"/>
          </a:xfrm>
          <a:prstGeom prst="rect">
            <a:avLst/>
          </a:prstGeom>
          <a:pattFill prst="dkUpDiag">
            <a:fgClr>
              <a:srgbClr val="003579"/>
            </a:fgClr>
            <a:bgClr>
              <a:srgbClr val="004292"/>
            </a:bgClr>
          </a:pattFill>
          <a:ln w="12700" cap="flat" cmpd="sng" algn="ctr">
            <a:noFill/>
            <a:prstDash val="solid"/>
            <a:miter lim="800000"/>
          </a:ln>
          <a:effectLst/>
        </p:spPr>
        <p:txBody>
          <a:bodyPr lIns="360000" tIns="180000" rIns="326585" bIns="108000" rtlCol="0" anchor="ctr"/>
          <a:lstStyle/>
          <a:p>
            <a:pPr algn="ctr" defTabSz="457200"/>
            <a:r>
              <a:rPr lang="ja-JP" altLang="en-US" sz="2000" b="1" kern="0" dirty="0">
                <a:solidFill>
                  <a:srgbClr val="FFFFFF"/>
                </a:solidFill>
                <a:latin typeface="Meiryo" panose="020B0604030504040204" pitchFamily="34" charset="-128"/>
                <a:ea typeface="Meiryo" panose="020B0604030504040204" pitchFamily="34" charset="-128"/>
              </a:rPr>
              <a:t>（参考）</a:t>
            </a:r>
            <a:r>
              <a:rPr lang="zh-TW" altLang="en-US" sz="2000" b="1" kern="0" dirty="0">
                <a:solidFill>
                  <a:srgbClr val="FFFFFF"/>
                </a:solidFill>
                <a:latin typeface="Meiryo" panose="020B0604030504040204" pitchFamily="34" charset="-128"/>
                <a:ea typeface="Meiryo" panose="020B0604030504040204" pitchFamily="34" charset="-128"/>
              </a:rPr>
              <a:t>令和６年度</a:t>
            </a:r>
            <a:r>
              <a:rPr lang="ja-JP" altLang="en-US" sz="2000" b="1" kern="0" dirty="0">
                <a:solidFill>
                  <a:srgbClr val="FFFFFF"/>
                </a:solidFill>
                <a:latin typeface="Meiryo" panose="020B0604030504040204" pitchFamily="34" charset="-128"/>
                <a:ea typeface="Meiryo" panose="020B0604030504040204" pitchFamily="34" charset="-128"/>
              </a:rPr>
              <a:t>介護保険保険者努力支援交付金</a:t>
            </a:r>
            <a:r>
              <a:rPr lang="zh-TW" altLang="en-US" sz="2000" b="1" kern="0" dirty="0">
                <a:solidFill>
                  <a:srgbClr val="FFFFFF"/>
                </a:solidFill>
                <a:latin typeface="Meiryo" panose="020B0604030504040204" pitchFamily="34" charset="-128"/>
                <a:ea typeface="Meiryo" panose="020B0604030504040204" pitchFamily="34" charset="-128"/>
              </a:rPr>
              <a:t>評価指標（市町村分）</a:t>
            </a:r>
            <a:endParaRPr lang="en-US" altLang="ja-JP" sz="2000" b="1" kern="0" dirty="0">
              <a:solidFill>
                <a:srgbClr val="FFFFFF"/>
              </a:solidFill>
              <a:latin typeface="Meiryo" panose="020B0604030504040204" pitchFamily="34" charset="-128"/>
              <a:ea typeface="Meiryo" panose="020B0604030504040204" pitchFamily="34" charset="-128"/>
            </a:endParaRPr>
          </a:p>
        </p:txBody>
      </p:sp>
      <p:graphicFrame>
        <p:nvGraphicFramePr>
          <p:cNvPr id="2" name="表 1"/>
          <p:cNvGraphicFramePr>
            <a:graphicFrameLocks noGrp="1"/>
          </p:cNvGraphicFramePr>
          <p:nvPr/>
        </p:nvGraphicFramePr>
        <p:xfrm>
          <a:off x="108131" y="663367"/>
          <a:ext cx="6969799" cy="6317223"/>
        </p:xfrm>
        <a:graphic>
          <a:graphicData uri="http://schemas.openxmlformats.org/drawingml/2006/table">
            <a:tbl>
              <a:tblPr firstRow="1" bandRow="1">
                <a:tableStyleId>{5C22544A-7EE6-4342-B048-85BDC9FD1C3A}</a:tableStyleId>
              </a:tblPr>
              <a:tblGrid>
                <a:gridCol w="391563">
                  <a:extLst>
                    <a:ext uri="{9D8B030D-6E8A-4147-A177-3AD203B41FA5}">
                      <a16:colId xmlns:a16="http://schemas.microsoft.com/office/drawing/2014/main" val="3309622065"/>
                    </a:ext>
                  </a:extLst>
                </a:gridCol>
                <a:gridCol w="4279700">
                  <a:extLst>
                    <a:ext uri="{9D8B030D-6E8A-4147-A177-3AD203B41FA5}">
                      <a16:colId xmlns:a16="http://schemas.microsoft.com/office/drawing/2014/main" val="1200025529"/>
                    </a:ext>
                  </a:extLst>
                </a:gridCol>
                <a:gridCol w="2298536">
                  <a:extLst>
                    <a:ext uri="{9D8B030D-6E8A-4147-A177-3AD203B41FA5}">
                      <a16:colId xmlns:a16="http://schemas.microsoft.com/office/drawing/2014/main" val="3904309397"/>
                    </a:ext>
                  </a:extLst>
                </a:gridCol>
              </a:tblGrid>
              <a:tr h="216226">
                <a:tc>
                  <a:txBody>
                    <a:bodyPr/>
                    <a:lstStyle/>
                    <a:p>
                      <a:pPr>
                        <a:lnSpc>
                          <a:spcPts val="900"/>
                        </a:lnSpc>
                      </a:pPr>
                      <a:endParaRPr kumimoji="1" lang="ja-JP" altLang="en-US" sz="7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ts val="900"/>
                        </a:lnSpc>
                      </a:pPr>
                      <a:r>
                        <a:rPr kumimoji="1" lang="ja-JP" altLang="en-US" sz="1000" dirty="0"/>
                        <a:t>体制・取組指標群（プロセス指標）</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ts val="900"/>
                        </a:lnSpc>
                      </a:pPr>
                      <a:r>
                        <a:rPr kumimoji="1" lang="ja-JP" altLang="en-US" sz="1000" dirty="0"/>
                        <a:t>活動指標群</a:t>
                      </a:r>
                      <a:r>
                        <a:rPr kumimoji="1" lang="ja-JP" altLang="en-US" sz="900" spc="-150" dirty="0"/>
                        <a:t>（中間アウトカム・アウトプット指標）</a:t>
                      </a:r>
                      <a:endParaRPr kumimoji="1" lang="ja-JP" altLang="en-US" sz="1000" spc="-15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3466751"/>
                  </a:ext>
                </a:extLst>
              </a:tr>
              <a:tr h="213653">
                <a:tc rowSpan="16">
                  <a:txBody>
                    <a:bodyPr/>
                    <a:lstStyle/>
                    <a:p>
                      <a:pPr algn="ctr">
                        <a:lnSpc>
                          <a:spcPts val="900"/>
                        </a:lnSpc>
                      </a:pPr>
                      <a:r>
                        <a:rPr kumimoji="1" lang="ja-JP" altLang="en-US" sz="1000" dirty="0"/>
                        <a:t>介護</a:t>
                      </a:r>
                      <a:r>
                        <a:rPr kumimoji="1" lang="ja-JP" altLang="en-US" sz="1000" dirty="0" err="1"/>
                        <a:t>保険保険</a:t>
                      </a:r>
                      <a:r>
                        <a:rPr kumimoji="1" lang="ja-JP" altLang="en-US" sz="1000" dirty="0"/>
                        <a:t>者努力支援交付金</a:t>
                      </a:r>
                    </a:p>
                  </a:txBody>
                  <a:tcPr vert="eaVert">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gridSpan="2">
                  <a:txBody>
                    <a:bodyPr/>
                    <a:lstStyle/>
                    <a:p>
                      <a:pPr marL="0" algn="l" defTabSz="897212" rtl="0" eaLnBrk="1" latinLnBrk="0" hangingPunct="1">
                        <a:lnSpc>
                          <a:spcPts val="900"/>
                        </a:lnSpc>
                      </a:pP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900" i="0" kern="1200" dirty="0">
                          <a:solidFill>
                            <a:schemeClr val="dk1"/>
                          </a:solidFill>
                          <a:latin typeface="ＤＦ特太ゴシック体" panose="020B0509000000000000" pitchFamily="49" charset="-128"/>
                          <a:ea typeface="ＤＦ特太ゴシック体" panose="020B0509000000000000" pitchFamily="49" charset="-128"/>
                          <a:cs typeface="+mn-cs"/>
                        </a:rPr>
                        <a:t>Ⅰ</a:t>
                      </a: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　介護予防</a:t>
                      </a:r>
                      <a:r>
                        <a:rPr kumimoji="1" lang="en-US" altLang="ja-JP" sz="900" i="0" kern="1200" dirty="0">
                          <a:solidFill>
                            <a:schemeClr val="dk1"/>
                          </a:solidFill>
                          <a:latin typeface="ＤＦ特太ゴシック体" panose="020B0509000000000000" pitchFamily="49" charset="-128"/>
                          <a:ea typeface="ＤＦ特太ゴシック体" panose="020B0509000000000000" pitchFamily="49" charset="-128"/>
                          <a:cs typeface="+mn-cs"/>
                        </a:rPr>
                        <a:t>/</a:t>
                      </a: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日常生活支援を推進する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42412711"/>
                  </a:ext>
                </a:extLst>
              </a:tr>
              <a:tr h="451047">
                <a:tc vMerge="1">
                  <a:txBody>
                    <a:bodyPr/>
                    <a:lstStyle/>
                    <a:p>
                      <a:endParaRPr kumimoji="1" lang="ja-JP" altLang="en-US" sz="1050" dirty="0"/>
                    </a:p>
                  </a:txBody>
                  <a:tcPr vert="eaVert"/>
                </a:tc>
                <a:tc>
                  <a:txBody>
                    <a:bodyPr/>
                    <a:lstStyle/>
                    <a:p>
                      <a:pPr marL="84138" marR="0" lvl="0" indent="-84138" algn="l" defTabSz="897212" rtl="0" eaLnBrk="1" fontAlgn="auto" latinLnBrk="0" hangingPunct="1">
                        <a:lnSpc>
                          <a:spcPts val="900"/>
                        </a:lnSpc>
                        <a:spcBef>
                          <a:spcPts val="0"/>
                        </a:spcBef>
                        <a:spcAft>
                          <a:spcPts val="0"/>
                        </a:spcAft>
                        <a:buClrTx/>
                        <a:buSzTx/>
                        <a:buFontTx/>
                        <a:buNone/>
                        <a:tabLst>
                          <a:tab pos="179388" algn="l"/>
                        </a:tabLst>
                        <a:defRPr/>
                      </a:pPr>
                      <a:r>
                        <a:rPr kumimoji="1" lang="ja-JP" altLang="en-US" sz="900" kern="1200" dirty="0">
                          <a:solidFill>
                            <a:schemeClr val="dk1"/>
                          </a:solidFill>
                          <a:latin typeface="+mn-lt"/>
                          <a:ea typeface="+mn-ea"/>
                          <a:cs typeface="+mn-cs"/>
                        </a:rPr>
                        <a:t>１　介護予防・生活支援サービス・一般介護予防事業の実施に当たって、データを活用して課題の把握を行っているか。</a:t>
                      </a:r>
                      <a:endParaRPr kumimoji="1" lang="en-US" altLang="ja-JP" sz="900" kern="1200" dirty="0">
                        <a:solidFill>
                          <a:schemeClr val="dk1"/>
                        </a:solidFill>
                        <a:latin typeface="+mn-lt"/>
                        <a:ea typeface="+mn-ea"/>
                        <a:cs typeface="+mn-cs"/>
                      </a:endParaRPr>
                    </a:p>
                    <a:p>
                      <a:pPr marL="84138" marR="0" lvl="0" indent="-84138" algn="l" defTabSz="897212" rtl="0" eaLnBrk="1" fontAlgn="auto" latinLnBrk="0" hangingPunct="1">
                        <a:lnSpc>
                          <a:spcPts val="900"/>
                        </a:lnSpc>
                        <a:spcBef>
                          <a:spcPts val="0"/>
                        </a:spcBef>
                        <a:spcAft>
                          <a:spcPts val="0"/>
                        </a:spcAft>
                        <a:buClrTx/>
                        <a:buSzTx/>
                        <a:buFontTx/>
                        <a:buNone/>
                        <a:tabLst>
                          <a:tab pos="179388" algn="l"/>
                        </a:tabLst>
                        <a:defRPr/>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介護予防事業におけるデータの活用状況を評価</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7">
                  <a:txBody>
                    <a:bodyPr/>
                    <a:lstStyle/>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１　高齢者人口当たりの地域包括支援センターの職員配置状況に配置される３職種の人数</a:t>
                      </a:r>
                    </a:p>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２　地域包括支援センター事業評価の達成状況</a:t>
                      </a:r>
                    </a:p>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３　地域ケア会議における個別事例の検討割合（個別事例の検討件数／受給者数）</a:t>
                      </a:r>
                    </a:p>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４　通いの場への</a:t>
                      </a:r>
                      <a:r>
                        <a:rPr kumimoji="1" lang="en-US" altLang="ja-JP" sz="900" kern="1200" dirty="0">
                          <a:solidFill>
                            <a:schemeClr val="dk1"/>
                          </a:solidFill>
                          <a:latin typeface="+mn-lt"/>
                          <a:ea typeface="+mn-ea"/>
                          <a:cs typeface="+mn-cs"/>
                        </a:rPr>
                        <a:t>65</a:t>
                      </a:r>
                      <a:r>
                        <a:rPr kumimoji="1" lang="ja-JP" altLang="en-US" sz="900" kern="1200" dirty="0">
                          <a:solidFill>
                            <a:schemeClr val="dk1"/>
                          </a:solidFill>
                          <a:latin typeface="+mn-lt"/>
                          <a:ea typeface="+mn-ea"/>
                          <a:cs typeface="+mn-cs"/>
                        </a:rPr>
                        <a:t>歳以上高齢者の参加率</a:t>
                      </a:r>
                    </a:p>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５　高齢者のポイント事業への参加率</a:t>
                      </a:r>
                    </a:p>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６　通いの場等において心身・認知機能を維持・改善した者の割合</a:t>
                      </a:r>
                    </a:p>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７　高齢者人口当たりの生活支援コーディネーター数</a:t>
                      </a:r>
                    </a:p>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８　生活支援コーディネーターの地域ケア会議への参加割合</a:t>
                      </a:r>
                    </a:p>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９　総合事業における多様なサービスの実施状況</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1091435"/>
                  </a:ext>
                </a:extLst>
              </a:tr>
              <a:tr h="451047">
                <a:tc vMerge="1">
                  <a:txBody>
                    <a:bodyPr/>
                    <a:lstStyle/>
                    <a:p>
                      <a:endParaRPr kumimoji="1" lang="ja-JP" altLang="en-US" sz="1050" dirty="0"/>
                    </a:p>
                  </a:txBody>
                  <a:tcPr vert="eaVert"/>
                </a:tc>
                <a:tc>
                  <a:txBody>
                    <a:bodyPr/>
                    <a:lstStyle/>
                    <a:p>
                      <a:pPr marL="84138" marR="0" lvl="0" indent="-84138" algn="l" defTabSz="897212" rtl="0" eaLnBrk="1" fontAlgn="auto" latinLnBrk="0" hangingPunct="1">
                        <a:lnSpc>
                          <a:spcPts val="900"/>
                        </a:lnSpc>
                        <a:spcBef>
                          <a:spcPts val="0"/>
                        </a:spcBef>
                        <a:spcAft>
                          <a:spcPts val="0"/>
                        </a:spcAft>
                        <a:buClrTx/>
                        <a:buSzTx/>
                        <a:buFontTx/>
                        <a:buNone/>
                        <a:tabLst/>
                        <a:defRPr/>
                      </a:pPr>
                      <a:r>
                        <a:rPr kumimoji="1" lang="ja-JP" altLang="en-US" sz="900" kern="1200" dirty="0">
                          <a:solidFill>
                            <a:schemeClr val="dk1"/>
                          </a:solidFill>
                          <a:latin typeface="+mn-lt"/>
                          <a:ea typeface="+mn-ea"/>
                          <a:cs typeface="+mn-cs"/>
                        </a:rPr>
                        <a:t>２　通いの場やボランティア活動その他の介護予防に資する取組の推進を図るため、アウトリーチ等の取組を実施しているか。</a:t>
                      </a:r>
                      <a:endParaRPr kumimoji="1" lang="en-US" altLang="ja-JP" sz="900" kern="1200" dirty="0">
                        <a:solidFill>
                          <a:schemeClr val="dk1"/>
                        </a:solidFill>
                        <a:latin typeface="+mn-lt"/>
                        <a:ea typeface="+mn-ea"/>
                        <a:cs typeface="+mn-cs"/>
                      </a:endParaRPr>
                    </a:p>
                    <a:p>
                      <a:pPr marL="84138" marR="0" lvl="0" indent="-84138" algn="l" defTabSz="897212" rtl="0" eaLnBrk="1" fontAlgn="auto" latinLnBrk="0" hangingPunct="1">
                        <a:lnSpc>
                          <a:spcPts val="900"/>
                        </a:lnSpc>
                        <a:spcBef>
                          <a:spcPts val="0"/>
                        </a:spcBef>
                        <a:spcAft>
                          <a:spcPts val="0"/>
                        </a:spcAft>
                        <a:buClrTx/>
                        <a:buSzTx/>
                        <a:buFontTx/>
                        <a:buNone/>
                        <a:tabLst>
                          <a:tab pos="179388" algn="l"/>
                        </a:tabLst>
                        <a:defRPr/>
                      </a:pP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　介護予防事業におけるアウトリーチ等の取組状況を評価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4138" marR="0" lvl="0" indent="-84138" algn="l" defTabSz="897212" rtl="0" eaLnBrk="1" fontAlgn="auto" latinLnBrk="0" hangingPunct="1">
                        <a:lnSpc>
                          <a:spcPts val="900"/>
                        </a:lnSpc>
                        <a:spcBef>
                          <a:spcPts val="0"/>
                        </a:spcBef>
                        <a:spcAft>
                          <a:spcPts val="0"/>
                        </a:spcAft>
                        <a:buClrTx/>
                        <a:buSzTx/>
                        <a:buFontTx/>
                        <a:buNone/>
                        <a:tabLst>
                          <a:tab pos="179388" algn="l"/>
                        </a:tabLst>
                        <a:defRPr/>
                      </a:pPr>
                      <a:endParaRPr kumimoji="1" lang="ja-JP" altLang="en-US" sz="8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1249321"/>
                  </a:ext>
                </a:extLst>
              </a:tr>
              <a:tr h="332350">
                <a:tc vMerge="1">
                  <a:txBody>
                    <a:bodyPr/>
                    <a:lstStyle/>
                    <a:p>
                      <a:endParaRPr kumimoji="1" lang="ja-JP" altLang="en-US"/>
                    </a:p>
                  </a:txBody>
                  <a:tcPr/>
                </a:tc>
                <a:tc>
                  <a:txBody>
                    <a:bodyPr/>
                    <a:lstStyle/>
                    <a:p>
                      <a:pPr marL="84138" marR="0" lvl="0" indent="-84138" algn="l" defTabSz="897212" rtl="0" eaLnBrk="1" fontAlgn="auto" latinLnBrk="0" hangingPunct="1">
                        <a:lnSpc>
                          <a:spcPts val="900"/>
                        </a:lnSpc>
                        <a:spcBef>
                          <a:spcPts val="0"/>
                        </a:spcBef>
                        <a:spcAft>
                          <a:spcPts val="0"/>
                        </a:spcAft>
                        <a:buClrTx/>
                        <a:buSzTx/>
                        <a:buFontTx/>
                        <a:buNone/>
                        <a:tabLst/>
                        <a:defRPr/>
                      </a:pPr>
                      <a:r>
                        <a:rPr kumimoji="1" lang="ja-JP" altLang="en-US" sz="900" kern="1200" dirty="0">
                          <a:solidFill>
                            <a:schemeClr val="dk1"/>
                          </a:solidFill>
                          <a:latin typeface="+mn-lt"/>
                          <a:ea typeface="+mn-ea"/>
                          <a:cs typeface="+mn-cs"/>
                        </a:rPr>
                        <a:t>３　介護予防等と保健事業を一体的に実施しているか。</a:t>
                      </a:r>
                      <a:endParaRPr kumimoji="1" lang="en-US" altLang="ja-JP" sz="900" kern="1200" dirty="0">
                        <a:solidFill>
                          <a:schemeClr val="dk1"/>
                        </a:solidFill>
                        <a:latin typeface="+mn-lt"/>
                        <a:ea typeface="+mn-ea"/>
                        <a:cs typeface="+mn-cs"/>
                      </a:endParaRPr>
                    </a:p>
                    <a:p>
                      <a:pPr marL="84138" marR="0" lvl="0" indent="-84138" algn="l" defTabSz="897212" rtl="0" eaLnBrk="1" fontAlgn="auto" latinLnBrk="0" hangingPunct="1">
                        <a:lnSpc>
                          <a:spcPts val="900"/>
                        </a:lnSpc>
                        <a:spcBef>
                          <a:spcPts val="0"/>
                        </a:spcBef>
                        <a:spcAft>
                          <a:spcPts val="0"/>
                        </a:spcAft>
                        <a:buClrTx/>
                        <a:buSzTx/>
                        <a:buFontTx/>
                        <a:buNone/>
                        <a:tabLst>
                          <a:tab pos="179388" algn="l"/>
                        </a:tabLst>
                        <a:defRPr/>
                      </a:pP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　介護予防事業と保健事業との連携状況を評価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4138" marR="0" lvl="0" indent="-84138" algn="l" defTabSz="897212" rtl="0" eaLnBrk="1" fontAlgn="auto" latinLnBrk="0" hangingPunct="1">
                        <a:lnSpc>
                          <a:spcPts val="900"/>
                        </a:lnSpc>
                        <a:spcBef>
                          <a:spcPts val="0"/>
                        </a:spcBef>
                        <a:spcAft>
                          <a:spcPts val="0"/>
                        </a:spcAft>
                        <a:buClrTx/>
                        <a:buSzTx/>
                        <a:buFontTx/>
                        <a:buNone/>
                        <a:tabLst>
                          <a:tab pos="179388" algn="l"/>
                        </a:tabLst>
                        <a:defRPr/>
                      </a:pPr>
                      <a:endParaRPr kumimoji="1" lang="ja-JP" altLang="en-US" sz="8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4859616"/>
                  </a:ext>
                </a:extLst>
              </a:tr>
              <a:tr h="451047">
                <a:tc vMerge="1">
                  <a:txBody>
                    <a:bodyPr/>
                    <a:lstStyle/>
                    <a:p>
                      <a:endParaRPr kumimoji="1" lang="ja-JP" altLang="en-US" sz="1050" dirty="0"/>
                    </a:p>
                  </a:txBody>
                  <a:tcPr vert="eaVert"/>
                </a:tc>
                <a:tc>
                  <a:txBody>
                    <a:bodyPr/>
                    <a:lstStyle/>
                    <a:p>
                      <a:pPr marL="84138" indent="-84138" algn="l" defTabSz="897212" rtl="0" eaLnBrk="1" latinLnBrk="0" hangingPunct="1">
                        <a:lnSpc>
                          <a:spcPts val="900"/>
                        </a:lnSpc>
                      </a:pPr>
                      <a:r>
                        <a:rPr kumimoji="1" lang="ja-JP" altLang="en-US" sz="900" kern="1200" dirty="0">
                          <a:solidFill>
                            <a:schemeClr val="dk1"/>
                          </a:solidFill>
                          <a:latin typeface="+mn-lt"/>
                          <a:ea typeface="+mn-ea"/>
                          <a:cs typeface="+mn-cs"/>
                        </a:rPr>
                        <a:t>４　通いの場の参加者の健康状態等の把握・分析により、介護予防・生活支援サービス・一般介護予防事業の内容等の検討を行っているか。</a:t>
                      </a:r>
                      <a:endParaRPr kumimoji="1" lang="en-US" altLang="ja-JP" sz="900" kern="1200" dirty="0">
                        <a:solidFill>
                          <a:schemeClr val="dk1"/>
                        </a:solidFill>
                        <a:latin typeface="+mn-lt"/>
                        <a:ea typeface="+mn-ea"/>
                        <a:cs typeface="+mn-cs"/>
                      </a:endParaRPr>
                    </a:p>
                    <a:p>
                      <a:pPr marL="84138" marR="0" lvl="0" indent="-84138" algn="l" defTabSz="897212" rtl="0" eaLnBrk="1" fontAlgn="auto" latinLnBrk="0" hangingPunct="1">
                        <a:lnSpc>
                          <a:spcPts val="900"/>
                        </a:lnSpc>
                        <a:spcBef>
                          <a:spcPts val="0"/>
                        </a:spcBef>
                        <a:spcAft>
                          <a:spcPts val="0"/>
                        </a:spcAft>
                        <a:buClrTx/>
                        <a:buSzTx/>
                        <a:buFontTx/>
                        <a:buNone/>
                        <a:tabLst>
                          <a:tab pos="179388" algn="l"/>
                        </a:tabLst>
                        <a:defRPr/>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通いの場参加者の健康状態の把握・分析等の取組状況を評価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4138" marR="0" lvl="0" indent="-84138" algn="l" defTabSz="897212" rtl="0" eaLnBrk="1" fontAlgn="auto" latinLnBrk="0" hangingPunct="1">
                        <a:lnSpc>
                          <a:spcPts val="900"/>
                        </a:lnSpc>
                        <a:spcBef>
                          <a:spcPts val="0"/>
                        </a:spcBef>
                        <a:spcAft>
                          <a:spcPts val="0"/>
                        </a:spcAft>
                        <a:buClrTx/>
                        <a:buSzTx/>
                        <a:buFontTx/>
                        <a:buNone/>
                        <a:tabLst>
                          <a:tab pos="179388" algn="l"/>
                        </a:tabLst>
                        <a:defRPr/>
                      </a:pPr>
                      <a:endParaRPr kumimoji="1" lang="ja-JP" altLang="en-US" sz="8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1730963"/>
                  </a:ext>
                </a:extLst>
              </a:tr>
              <a:tr h="332350">
                <a:tc vMerge="1">
                  <a:txBody>
                    <a:bodyPr/>
                    <a:lstStyle/>
                    <a:p>
                      <a:endParaRPr kumimoji="1" lang="ja-JP" altLang="en-US"/>
                    </a:p>
                  </a:txBody>
                  <a:tcPr/>
                </a:tc>
                <a:tc>
                  <a:txBody>
                    <a:bodyPr/>
                    <a:lstStyle/>
                    <a:p>
                      <a:pPr marL="85725" marR="0" lvl="0" indent="-85725" algn="l" defTabSz="897212" rtl="0" eaLnBrk="1" fontAlgn="auto" latinLnBrk="0" hangingPunct="1">
                        <a:lnSpc>
                          <a:spcPts val="900"/>
                        </a:lnSpc>
                        <a:spcBef>
                          <a:spcPts val="0"/>
                        </a:spcBef>
                        <a:spcAft>
                          <a:spcPts val="0"/>
                        </a:spcAft>
                        <a:buClrTx/>
                        <a:buSzTx/>
                        <a:buFontTx/>
                        <a:buNone/>
                        <a:tabLst/>
                        <a:defRPr/>
                      </a:pPr>
                      <a:r>
                        <a:rPr kumimoji="1" lang="ja-JP" altLang="en-US" sz="900" kern="1200" dirty="0">
                          <a:solidFill>
                            <a:schemeClr val="dk1"/>
                          </a:solidFill>
                          <a:latin typeface="+mn-lt"/>
                          <a:ea typeface="+mn-ea"/>
                          <a:cs typeface="+mn-cs"/>
                        </a:rPr>
                        <a:t>５　地域におけるリハビリテーションの推進に向けた具体的な取組を行っているか。</a:t>
                      </a:r>
                      <a:endParaRPr kumimoji="1" lang="en-US" altLang="ja-JP" sz="900" kern="1200" dirty="0">
                        <a:solidFill>
                          <a:schemeClr val="dk1"/>
                        </a:solidFill>
                        <a:latin typeface="+mn-lt"/>
                        <a:ea typeface="+mn-ea"/>
                        <a:cs typeface="+mn-cs"/>
                      </a:endParaRPr>
                    </a:p>
                    <a:p>
                      <a:pPr marL="85725" marR="0" lvl="0" indent="-85725" algn="l" defTabSz="897212" rtl="0" eaLnBrk="1" fontAlgn="auto" latinLnBrk="0" hangingPunct="1">
                        <a:lnSpc>
                          <a:spcPts val="900"/>
                        </a:lnSpc>
                        <a:spcBef>
                          <a:spcPts val="0"/>
                        </a:spcBef>
                        <a:spcAft>
                          <a:spcPts val="0"/>
                        </a:spcAft>
                        <a:buClrTx/>
                        <a:buSzTx/>
                        <a:buFontTx/>
                        <a:buNone/>
                        <a:tabLst/>
                        <a:defRPr/>
                      </a:pPr>
                      <a:r>
                        <a:rPr kumimoji="1" lang="ja-JP" altLang="en-US" sz="900" kern="1200" dirty="0">
                          <a:solidFill>
                            <a:schemeClr val="tx1"/>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地域リハビリテーションの推進に向けた取組状況を評価</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5725" marR="0" lvl="0" indent="-85725" algn="l" defTabSz="897212" rtl="0" eaLnBrk="1" fontAlgn="auto" latinLnBrk="0" hangingPunct="1">
                        <a:lnSpc>
                          <a:spcPts val="900"/>
                        </a:lnSpc>
                        <a:spcBef>
                          <a:spcPts val="0"/>
                        </a:spcBef>
                        <a:spcAft>
                          <a:spcPts val="0"/>
                        </a:spcAft>
                        <a:buClrTx/>
                        <a:buSzTx/>
                        <a:buFontTx/>
                        <a:buNone/>
                        <a:tabLst/>
                        <a:defRPr/>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2884412"/>
                  </a:ext>
                </a:extLst>
              </a:tr>
              <a:tr h="451047">
                <a:tc vMerge="1">
                  <a:txBody>
                    <a:bodyPr/>
                    <a:lstStyle/>
                    <a:p>
                      <a:endParaRPr kumimoji="1" lang="ja-JP" altLang="en-US"/>
                    </a:p>
                  </a:txBody>
                  <a:tcPr/>
                </a:tc>
                <a:tc>
                  <a:txBody>
                    <a:bodyPr/>
                    <a:lstStyle/>
                    <a:p>
                      <a:pPr marL="84138" indent="-84138" algn="l" defTabSz="897212" rtl="0" eaLnBrk="1" latinLnBrk="0" hangingPunct="1">
                        <a:lnSpc>
                          <a:spcPts val="900"/>
                        </a:lnSpc>
                      </a:pPr>
                      <a:r>
                        <a:rPr kumimoji="1" lang="ja-JP" altLang="en-US" sz="900" kern="1200" dirty="0">
                          <a:solidFill>
                            <a:schemeClr val="dk1"/>
                          </a:solidFill>
                          <a:latin typeface="+mn-lt"/>
                          <a:ea typeface="+mn-ea"/>
                          <a:cs typeface="+mn-cs"/>
                        </a:rPr>
                        <a:t>６　生活支援コーディネーターの活動等により、地域のニーズを踏まえた介護予防・生活支援の体制が確保されているか。</a:t>
                      </a:r>
                      <a:endParaRPr kumimoji="1" lang="en-US" altLang="ja-JP" sz="900" kern="1200" dirty="0">
                        <a:solidFill>
                          <a:schemeClr val="dk1"/>
                        </a:solidFill>
                        <a:latin typeface="+mn-lt"/>
                        <a:ea typeface="+mn-ea"/>
                        <a:cs typeface="+mn-cs"/>
                      </a:endParaRPr>
                    </a:p>
                    <a:p>
                      <a:pPr marL="265113" marR="0" lvl="0" indent="-265113" algn="l" defTabSz="897212" rtl="0" eaLnBrk="1" fontAlgn="auto" latinLnBrk="0" hangingPunct="1">
                        <a:lnSpc>
                          <a:spcPts val="900"/>
                        </a:lnSpc>
                        <a:spcBef>
                          <a:spcPts val="0"/>
                        </a:spcBef>
                        <a:spcAft>
                          <a:spcPts val="0"/>
                        </a:spcAft>
                        <a:buClrTx/>
                        <a:buSzTx/>
                        <a:buFontTx/>
                        <a:buNone/>
                        <a:tabLst/>
                        <a:defRPr/>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生活支援コーディネーター等によるサービス確保に向けた取組状況を評価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265113" marR="0" lvl="0" indent="-265113" algn="l" defTabSz="897212" rtl="0" eaLnBrk="1" fontAlgn="auto" latinLnBrk="0" hangingPunct="1">
                        <a:lnSpc>
                          <a:spcPts val="900"/>
                        </a:lnSpc>
                        <a:spcBef>
                          <a:spcPts val="0"/>
                        </a:spcBef>
                        <a:spcAft>
                          <a:spcPts val="0"/>
                        </a:spcAft>
                        <a:buClrTx/>
                        <a:buSzTx/>
                        <a:buFontTx/>
                        <a:buNone/>
                        <a:tabLst/>
                        <a:defRPr/>
                      </a:pPr>
                      <a:endParaRPr kumimoji="1" lang="ja-JP" altLang="en-US" sz="8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076992"/>
                  </a:ext>
                </a:extLst>
              </a:tr>
              <a:tr h="451047">
                <a:tc vMerge="1">
                  <a:txBody>
                    <a:bodyPr/>
                    <a:lstStyle/>
                    <a:p>
                      <a:endParaRPr kumimoji="1" lang="ja-JP" altLang="en-US" sz="1050" dirty="0"/>
                    </a:p>
                  </a:txBody>
                  <a:tcPr vert="eaVert"/>
                </a:tc>
                <a:tc>
                  <a:txBody>
                    <a:bodyPr/>
                    <a:lstStyle/>
                    <a:p>
                      <a:pPr marL="84138" indent="-84138" algn="l" defTabSz="897212" rtl="0" eaLnBrk="1" latinLnBrk="0" hangingPunct="1">
                        <a:lnSpc>
                          <a:spcPts val="900"/>
                        </a:lnSpc>
                      </a:pPr>
                      <a:r>
                        <a:rPr kumimoji="1" lang="ja-JP" altLang="en-US" sz="900" kern="1200" dirty="0">
                          <a:solidFill>
                            <a:schemeClr val="dk1"/>
                          </a:solidFill>
                          <a:latin typeface="+mn-lt"/>
                          <a:ea typeface="+mn-ea"/>
                          <a:cs typeface="+mn-cs"/>
                        </a:rPr>
                        <a:t>７　多様なサービスの活用の推進に向け、実施状況の調査・分析・評価を行っているか。</a:t>
                      </a:r>
                      <a:endParaRPr kumimoji="1" lang="en-US" altLang="ja-JP" sz="900" kern="1200" dirty="0">
                        <a:solidFill>
                          <a:schemeClr val="dk1"/>
                        </a:solidFill>
                        <a:latin typeface="+mn-lt"/>
                        <a:ea typeface="+mn-ea"/>
                        <a:cs typeface="+mn-cs"/>
                      </a:endParaRPr>
                    </a:p>
                    <a:p>
                      <a:pPr marL="84138" indent="-84138" algn="l" defTabSz="897212" rtl="0" eaLnBrk="1" latinLnBrk="0" hangingPunct="1">
                        <a:lnSpc>
                          <a:spcPts val="900"/>
                        </a:lnSpc>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多様なサービスの活用の推進に向けた取組状況を評価</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4138" indent="-84138" algn="l" defTabSz="897212" rtl="0" eaLnBrk="1" latinLnBrk="0" hangingPunct="1">
                        <a:lnSpc>
                          <a:spcPts val="900"/>
                        </a:lnSpc>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34359451"/>
                  </a:ext>
                </a:extLst>
              </a:tr>
              <a:tr h="213653">
                <a:tc vMerge="1">
                  <a:txBody>
                    <a:bodyPr/>
                    <a:lstStyle/>
                    <a:p>
                      <a:endParaRPr kumimoji="1" lang="ja-JP" altLang="en-US" sz="1050" dirty="0"/>
                    </a:p>
                  </a:txBody>
                  <a:tcPr vert="eaVert"/>
                </a:tc>
                <a:tc gridSpan="2">
                  <a:txBody>
                    <a:bodyPr/>
                    <a:lstStyle/>
                    <a:p>
                      <a:pPr marL="0" algn="l" defTabSz="897212" rtl="0" eaLnBrk="1" latinLnBrk="0" hangingPunct="1">
                        <a:lnSpc>
                          <a:spcPts val="900"/>
                        </a:lnSpc>
                      </a:pP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900" i="0" kern="1200" dirty="0">
                          <a:solidFill>
                            <a:schemeClr val="dk1"/>
                          </a:solidFill>
                          <a:latin typeface="ＤＦ特太ゴシック体" panose="020B0509000000000000" pitchFamily="49" charset="-128"/>
                          <a:ea typeface="ＤＦ特太ゴシック体" panose="020B0509000000000000" pitchFamily="49" charset="-128"/>
                          <a:cs typeface="+mn-cs"/>
                        </a:rPr>
                        <a:t>Ⅱ</a:t>
                      </a: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　認知症総合支援を推進する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55986991"/>
                  </a:ext>
                </a:extLst>
              </a:tr>
              <a:tr h="356089">
                <a:tc vMerge="1">
                  <a:txBody>
                    <a:bodyPr/>
                    <a:lstStyle/>
                    <a:p>
                      <a:endParaRPr kumimoji="1" lang="ja-JP" altLang="en-US"/>
                    </a:p>
                  </a:txBody>
                  <a:tcPr/>
                </a:tc>
                <a:tc>
                  <a:txBody>
                    <a:bodyPr/>
                    <a:lstStyle/>
                    <a:p>
                      <a:pPr marL="84138" indent="-84138" algn="l" defTabSz="897212" rtl="0" eaLnBrk="1" latinLnBrk="0" hangingPunct="1">
                        <a:lnSpc>
                          <a:spcPts val="900"/>
                        </a:lnSpc>
                      </a:pPr>
                      <a:r>
                        <a:rPr kumimoji="1" lang="ja-JP" altLang="en-US" sz="900" kern="1200" dirty="0">
                          <a:solidFill>
                            <a:schemeClr val="dk1"/>
                          </a:solidFill>
                          <a:latin typeface="+mn-lt"/>
                          <a:ea typeface="+mn-ea"/>
                          <a:cs typeface="+mn-cs"/>
                        </a:rPr>
                        <a:t>１　認知症初期集中支援チームが定期的に情報連携する体制を構築し、必要な活動が行えているか。</a:t>
                      </a:r>
                      <a:endParaRPr kumimoji="1" lang="en-US" altLang="ja-JP" sz="900" kern="1200" dirty="0">
                        <a:solidFill>
                          <a:schemeClr val="dk1"/>
                        </a:solidFill>
                        <a:latin typeface="+mn-lt"/>
                        <a:ea typeface="+mn-ea"/>
                        <a:cs typeface="+mn-cs"/>
                      </a:endParaRPr>
                    </a:p>
                    <a:p>
                      <a:pPr marL="180975" indent="-180975" algn="l" defTabSz="897212" rtl="0" eaLnBrk="1" latinLnBrk="0" hangingPunct="1">
                        <a:lnSpc>
                          <a:spcPts val="900"/>
                        </a:lnSpc>
                      </a:pPr>
                      <a:r>
                        <a:rPr kumimoji="1" lang="ja-JP" altLang="en-US" sz="900" kern="1200" dirty="0">
                          <a:solidFill>
                            <a:schemeClr val="dk1"/>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認知症初期集中支援チームの活動に係る関係者との情報連携の取組状況を評価</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3">
                  <a:txBody>
                    <a:bodyPr/>
                    <a:lstStyle/>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１　高齢者人口当たりの認知症サポーター数</a:t>
                      </a:r>
                    </a:p>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２　高齢者人口当たりの認知症サポーターステップアップ講座修了者数</a:t>
                      </a:r>
                      <a:endParaRPr kumimoji="1" lang="en-US" altLang="ja-JP" sz="900" kern="1200" dirty="0">
                        <a:solidFill>
                          <a:schemeClr val="dk1"/>
                        </a:solidFill>
                        <a:latin typeface="+mn-lt"/>
                        <a:ea typeface="+mn-ea"/>
                        <a:cs typeface="+mn-cs"/>
                      </a:endParaRPr>
                    </a:p>
                    <a:p>
                      <a:pPr marL="84138" indent="-84138" algn="l" defTabSz="897212" rtl="0" eaLnBrk="1" latinLnBrk="0" hangingPunct="1">
                        <a:lnSpc>
                          <a:spcPts val="1200"/>
                        </a:lnSpc>
                      </a:pPr>
                      <a:r>
                        <a:rPr kumimoji="1" lang="ja-JP" altLang="en-US" sz="900" kern="1200" dirty="0">
                          <a:solidFill>
                            <a:schemeClr val="dk1"/>
                          </a:solidFill>
                          <a:latin typeface="+mn-lt"/>
                          <a:ea typeface="+mn-ea"/>
                          <a:cs typeface="+mn-cs"/>
                        </a:rPr>
                        <a:t>３　認知症地域支援推進員が行っている業務の状況</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0220066"/>
                  </a:ext>
                </a:extLst>
              </a:tr>
              <a:tr h="356089">
                <a:tc vMerge="1">
                  <a:txBody>
                    <a:bodyPr/>
                    <a:lstStyle/>
                    <a:p>
                      <a:endParaRPr kumimoji="1" lang="ja-JP" altLang="en-US" sz="1050" dirty="0"/>
                    </a:p>
                  </a:txBody>
                  <a:tcPr vert="eaVert"/>
                </a:tc>
                <a:tc>
                  <a:txBody>
                    <a:bodyPr/>
                    <a:lstStyle/>
                    <a:p>
                      <a:pPr marL="84138" indent="-84138" algn="l" defTabSz="897212" rtl="0" eaLnBrk="1" latinLnBrk="0" hangingPunct="1">
                        <a:lnSpc>
                          <a:spcPts val="900"/>
                        </a:lnSpc>
                        <a:tabLst>
                          <a:tab pos="873125" algn="l"/>
                        </a:tabLst>
                      </a:pPr>
                      <a:r>
                        <a:rPr kumimoji="1" lang="ja-JP" altLang="en-US" sz="900" kern="1200" dirty="0">
                          <a:solidFill>
                            <a:schemeClr val="dk1"/>
                          </a:solidFill>
                          <a:latin typeface="+mn-lt"/>
                          <a:ea typeface="+mn-ea"/>
                          <a:cs typeface="+mn-cs"/>
                        </a:rPr>
                        <a:t>２　認知症状のある人に対して、専門医療機関との連携により、早期診断・早期対応に繋げるための体制を構築しているか。</a:t>
                      </a:r>
                      <a:endParaRPr kumimoji="1" lang="en-US" altLang="ja-JP" sz="900" kern="1200" dirty="0">
                        <a:solidFill>
                          <a:schemeClr val="dk1"/>
                        </a:solidFill>
                        <a:latin typeface="+mn-lt"/>
                        <a:ea typeface="+mn-ea"/>
                        <a:cs typeface="+mn-cs"/>
                      </a:endParaRPr>
                    </a:p>
                    <a:p>
                      <a:pPr marL="84138" indent="-84138" algn="l" defTabSz="897212" rtl="0" eaLnBrk="1" latinLnBrk="0" hangingPunct="1">
                        <a:lnSpc>
                          <a:spcPts val="900"/>
                        </a:lnSpc>
                        <a:tabLst>
                          <a:tab pos="873125" algn="l"/>
                        </a:tabLst>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医療との連携による早期診断・早期対応の取組状況を評価</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4138" indent="-84138" algn="l" defTabSz="897212" rtl="0" eaLnBrk="1" latinLnBrk="0" hangingPunct="1">
                        <a:lnSpc>
                          <a:spcPts val="900"/>
                        </a:lnSpc>
                        <a:tabLst>
                          <a:tab pos="873125" algn="l"/>
                        </a:tabLst>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5909909"/>
                  </a:ext>
                </a:extLst>
              </a:tr>
              <a:tr h="356089">
                <a:tc vMerge="1">
                  <a:txBody>
                    <a:bodyPr/>
                    <a:lstStyle/>
                    <a:p>
                      <a:endParaRPr kumimoji="1" lang="ja-JP" altLang="en-US" sz="1050" dirty="0"/>
                    </a:p>
                  </a:txBody>
                  <a:tcPr vert="eaVert"/>
                </a:tc>
                <a:tc>
                  <a:txBody>
                    <a:bodyPr/>
                    <a:lstStyle/>
                    <a:p>
                      <a:pPr marL="84138" indent="-84138" algn="l" defTabSz="897212" rtl="0" eaLnBrk="1" latinLnBrk="0" hangingPunct="1">
                        <a:lnSpc>
                          <a:spcPts val="900"/>
                        </a:lnSpc>
                        <a:tabLst>
                          <a:tab pos="873125" algn="l"/>
                        </a:tabLst>
                      </a:pPr>
                      <a:r>
                        <a:rPr kumimoji="1" lang="ja-JP" altLang="en-US" sz="900" kern="1200" dirty="0">
                          <a:solidFill>
                            <a:schemeClr val="dk1"/>
                          </a:solidFill>
                          <a:latin typeface="+mn-lt"/>
                          <a:ea typeface="+mn-ea"/>
                          <a:cs typeface="+mn-cs"/>
                        </a:rPr>
                        <a:t>３　認知症サポーター等を活用した地域支援体制の構築及び社会参加支援が行えているか。</a:t>
                      </a:r>
                      <a:endParaRPr kumimoji="1" lang="en-US" altLang="ja-JP" sz="900" kern="1200" dirty="0">
                        <a:solidFill>
                          <a:schemeClr val="dk1"/>
                        </a:solidFill>
                        <a:latin typeface="+mn-lt"/>
                        <a:ea typeface="+mn-ea"/>
                        <a:cs typeface="+mn-cs"/>
                      </a:endParaRPr>
                    </a:p>
                    <a:p>
                      <a:pPr marL="84138" indent="-84138" algn="l" defTabSz="897212" rtl="0" eaLnBrk="1" latinLnBrk="0" hangingPunct="1">
                        <a:lnSpc>
                          <a:spcPts val="900"/>
                        </a:lnSpc>
                        <a:tabLst>
                          <a:tab pos="873125" algn="l"/>
                        </a:tabLst>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認知症サポーター等による支援体制等を評価</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4138" indent="-84138" algn="l" defTabSz="897212" rtl="0" eaLnBrk="1" latinLnBrk="0" hangingPunct="1">
                        <a:lnSpc>
                          <a:spcPts val="900"/>
                        </a:lnSpc>
                        <a:tabLst>
                          <a:tab pos="873125" algn="l"/>
                        </a:tabLst>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5658978"/>
                  </a:ext>
                </a:extLst>
              </a:tr>
              <a:tr h="213653">
                <a:tc vMerge="1">
                  <a:txBody>
                    <a:bodyPr/>
                    <a:lstStyle/>
                    <a:p>
                      <a:endParaRPr kumimoji="1" lang="ja-JP" altLang="en-US" sz="1050" dirty="0"/>
                    </a:p>
                  </a:txBody>
                  <a:tcPr vert="eaVert"/>
                </a:tc>
                <a:tc gridSpan="2">
                  <a:txBody>
                    <a:bodyPr/>
                    <a:lstStyle/>
                    <a:p>
                      <a:pPr marL="0" algn="l" defTabSz="897212" rtl="0" eaLnBrk="1" latinLnBrk="0" hangingPunct="1">
                        <a:lnSpc>
                          <a:spcPts val="900"/>
                        </a:lnSpc>
                      </a:pP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900" i="0" kern="1200" dirty="0">
                          <a:solidFill>
                            <a:schemeClr val="dk1"/>
                          </a:solidFill>
                          <a:latin typeface="ＤＦ特太ゴシック体" panose="020B0509000000000000" pitchFamily="49" charset="-128"/>
                          <a:ea typeface="ＤＦ特太ゴシック体" panose="020B0509000000000000" pitchFamily="49" charset="-128"/>
                          <a:cs typeface="+mn-cs"/>
                        </a:rPr>
                        <a:t>Ⅲ</a:t>
                      </a: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　在宅医療・在宅介護連携の体制を構築する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827923558"/>
                  </a:ext>
                </a:extLst>
              </a:tr>
              <a:tr h="569742">
                <a:tc vMerge="1">
                  <a:txBody>
                    <a:bodyPr/>
                    <a:lstStyle/>
                    <a:p>
                      <a:endParaRPr kumimoji="1" lang="ja-JP" altLang="en-US" sz="1050" dirty="0"/>
                    </a:p>
                  </a:txBody>
                  <a:tcPr vert="eaVert"/>
                </a:tc>
                <a:tc>
                  <a:txBody>
                    <a:bodyPr/>
                    <a:lstStyle/>
                    <a:p>
                      <a:pPr marL="85725" indent="-85725">
                        <a:lnSpc>
                          <a:spcPts val="900"/>
                        </a:lnSpc>
                      </a:pPr>
                      <a:r>
                        <a:rPr kumimoji="1" lang="ja-JP" altLang="en-US" sz="900" kern="1200" dirty="0">
                          <a:solidFill>
                            <a:schemeClr val="dk1"/>
                          </a:solidFill>
                          <a:latin typeface="+mn-lt"/>
                          <a:ea typeface="+mn-ea"/>
                          <a:cs typeface="+mn-cs"/>
                        </a:rPr>
                        <a:t>１　地域の医療・介護関係者等が参画する会議において、市町村が所持するデータ等に基づき、在宅医療・介護連携に関する課題を検討し、対応策が具体化されているか。</a:t>
                      </a:r>
                      <a:endParaRPr kumimoji="1" lang="en-US" altLang="ja-JP" sz="900" kern="1200" dirty="0">
                        <a:solidFill>
                          <a:schemeClr val="dk1"/>
                        </a:solidFill>
                        <a:latin typeface="+mn-lt"/>
                        <a:ea typeface="+mn-ea"/>
                        <a:cs typeface="+mn-cs"/>
                      </a:endParaRPr>
                    </a:p>
                    <a:p>
                      <a:pPr marL="85725" indent="-85725">
                        <a:lnSpc>
                          <a:spcPts val="900"/>
                        </a:lnSpc>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在宅医療・介護連携に当たってのデータの活用状況を評価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3">
                  <a:txBody>
                    <a:bodyPr/>
                    <a:lstStyle/>
                    <a:p>
                      <a:pPr>
                        <a:lnSpc>
                          <a:spcPts val="1200"/>
                        </a:lnSpc>
                      </a:pPr>
                      <a:r>
                        <a:rPr kumimoji="1" lang="ja-JP" altLang="en-US" sz="900" kern="1200" dirty="0">
                          <a:solidFill>
                            <a:schemeClr val="dk1"/>
                          </a:solidFill>
                          <a:latin typeface="+mn-lt"/>
                          <a:ea typeface="+mn-ea"/>
                          <a:cs typeface="+mn-cs"/>
                        </a:rPr>
                        <a:t>１　入退院支援の実施状況</a:t>
                      </a:r>
                    </a:p>
                    <a:p>
                      <a:pPr marL="85725" indent="-85725">
                        <a:lnSpc>
                          <a:spcPts val="1200"/>
                        </a:lnSpc>
                      </a:pPr>
                      <a:r>
                        <a:rPr kumimoji="1" lang="ja-JP" altLang="en-US" sz="900" kern="1200" dirty="0">
                          <a:solidFill>
                            <a:schemeClr val="dk1"/>
                          </a:solidFill>
                          <a:latin typeface="+mn-lt"/>
                          <a:ea typeface="+mn-ea"/>
                          <a:cs typeface="+mn-cs"/>
                        </a:rPr>
                        <a:t>２　人生の最終段階における支援の実施状況</a:t>
                      </a:r>
                      <a:endParaRPr kumimoji="1" lang="ja-JP" altLang="en-US" sz="8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8792625"/>
                  </a:ext>
                </a:extLst>
              </a:tr>
              <a:tr h="451047">
                <a:tc vMerge="1">
                  <a:txBody>
                    <a:bodyPr/>
                    <a:lstStyle/>
                    <a:p>
                      <a:endParaRPr kumimoji="1" lang="ja-JP" altLang="en-US" sz="1050" dirty="0"/>
                    </a:p>
                  </a:txBody>
                  <a:tcPr vert="eaVert"/>
                </a:tc>
                <a:tc>
                  <a:txBody>
                    <a:bodyPr/>
                    <a:lstStyle/>
                    <a:p>
                      <a:pPr marL="85725" indent="-85725">
                        <a:lnSpc>
                          <a:spcPts val="900"/>
                        </a:lnSpc>
                      </a:pPr>
                      <a:r>
                        <a:rPr kumimoji="1" lang="ja-JP" altLang="en-US" sz="900" kern="1200" dirty="0">
                          <a:solidFill>
                            <a:schemeClr val="dk1"/>
                          </a:solidFill>
                          <a:latin typeface="+mn-lt"/>
                          <a:ea typeface="+mn-ea"/>
                          <a:cs typeface="+mn-cs"/>
                        </a:rPr>
                        <a:t>２　在宅医療と介護の連携の強化・推進に向け、相談支援、研修会の開催といった具体的取組を行っているか。</a:t>
                      </a:r>
                      <a:endParaRPr kumimoji="1" lang="en-US" altLang="ja-JP" sz="900" kern="1200" dirty="0">
                        <a:solidFill>
                          <a:schemeClr val="dk1"/>
                        </a:solidFill>
                        <a:latin typeface="+mn-lt"/>
                        <a:ea typeface="+mn-ea"/>
                        <a:cs typeface="+mn-cs"/>
                      </a:endParaRPr>
                    </a:p>
                    <a:p>
                      <a:pPr marL="85725" indent="-85725">
                        <a:lnSpc>
                          <a:spcPts val="900"/>
                        </a:lnSpc>
                      </a:pPr>
                      <a:r>
                        <a:rPr kumimoji="1" lang="ja-JP" altLang="en-US" sz="900" kern="1200" dirty="0">
                          <a:solidFill>
                            <a:schemeClr val="dk1"/>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在宅医療・介護連携の推進に向けた取組状況を評価</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5725" indent="-85725">
                        <a:lnSpc>
                          <a:spcPts val="900"/>
                        </a:lnSpc>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3067648"/>
                  </a:ext>
                </a:extLst>
              </a:tr>
              <a:tr h="451047">
                <a:tc vMerge="1">
                  <a:txBody>
                    <a:bodyPr/>
                    <a:lstStyle/>
                    <a:p>
                      <a:endParaRPr kumimoji="1" lang="ja-JP" altLang="en-US" sz="1050" dirty="0"/>
                    </a:p>
                  </a:txBody>
                  <a:tcPr vert="eaVert"/>
                </a:tc>
                <a:tc>
                  <a:txBody>
                    <a:bodyPr/>
                    <a:lstStyle/>
                    <a:p>
                      <a:pPr marL="85725" indent="-85725">
                        <a:lnSpc>
                          <a:spcPts val="900"/>
                        </a:lnSpc>
                      </a:pPr>
                      <a:r>
                        <a:rPr kumimoji="1" lang="ja-JP" altLang="en-US" sz="900" kern="1200" dirty="0">
                          <a:solidFill>
                            <a:schemeClr val="dk1"/>
                          </a:solidFill>
                          <a:latin typeface="+mn-lt"/>
                          <a:ea typeface="+mn-ea"/>
                          <a:cs typeface="+mn-cs"/>
                        </a:rPr>
                        <a:t>３　患者・利用者の状態の変化等に応じて、医療・介護関係者間で速やかな情報共有が実施できるよう、具体的な取組を行っているか。</a:t>
                      </a:r>
                      <a:endParaRPr kumimoji="1" lang="en-US" altLang="ja-JP" sz="900" kern="1200" dirty="0">
                        <a:solidFill>
                          <a:schemeClr val="dk1"/>
                        </a:solidFill>
                        <a:latin typeface="+mn-lt"/>
                        <a:ea typeface="+mn-ea"/>
                        <a:cs typeface="+mn-cs"/>
                      </a:endParaRPr>
                    </a:p>
                    <a:p>
                      <a:pPr marL="85725" indent="-85725">
                        <a:lnSpc>
                          <a:spcPts val="900"/>
                        </a:lnSpc>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医療・介護関係者間の情報共有の取組状況を評価</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5725" indent="-85725">
                        <a:lnSpc>
                          <a:spcPts val="900"/>
                        </a:lnSpc>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4660872"/>
                  </a:ext>
                </a:extLst>
              </a:tr>
            </a:tbl>
          </a:graphicData>
        </a:graphic>
      </p:graphicFrame>
      <p:graphicFrame>
        <p:nvGraphicFramePr>
          <p:cNvPr id="36" name="表 35"/>
          <p:cNvGraphicFramePr>
            <a:graphicFrameLocks noGrp="1"/>
          </p:cNvGraphicFramePr>
          <p:nvPr>
            <p:extLst>
              <p:ext uri="{D42A27DB-BD31-4B8C-83A1-F6EECF244321}">
                <p14:modId xmlns:p14="http://schemas.microsoft.com/office/powerpoint/2010/main" val="2990421416"/>
              </p:ext>
            </p:extLst>
          </p:nvPr>
        </p:nvGraphicFramePr>
        <p:xfrm>
          <a:off x="7466293" y="650711"/>
          <a:ext cx="2145838" cy="6317225"/>
        </p:xfrm>
        <a:graphic>
          <a:graphicData uri="http://schemas.openxmlformats.org/drawingml/2006/table">
            <a:tbl>
              <a:tblPr firstRow="1" bandRow="1">
                <a:tableStyleId>{5C22544A-7EE6-4342-B048-85BDC9FD1C3A}</a:tableStyleId>
              </a:tblPr>
              <a:tblGrid>
                <a:gridCol w="2145838">
                  <a:extLst>
                    <a:ext uri="{9D8B030D-6E8A-4147-A177-3AD203B41FA5}">
                      <a16:colId xmlns:a16="http://schemas.microsoft.com/office/drawing/2014/main" val="267994785"/>
                    </a:ext>
                  </a:extLst>
                </a:gridCol>
              </a:tblGrid>
              <a:tr h="338630">
                <a:tc>
                  <a:txBody>
                    <a:bodyPr/>
                    <a:lstStyle/>
                    <a:p>
                      <a:pPr algn="ctr"/>
                      <a:r>
                        <a:rPr kumimoji="1" lang="ja-JP" altLang="en-US" sz="1000" dirty="0"/>
                        <a:t>成果指標群（アウトカム指標）</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503567"/>
                  </a:ext>
                </a:extLst>
              </a:tr>
              <a:tr h="747325">
                <a:tc>
                  <a:txBody>
                    <a:bodyPr/>
                    <a:lstStyle/>
                    <a:p>
                      <a:pPr marL="176213" indent="-352425" algn="l" defTabSz="897212" rtl="0" eaLnBrk="1" latinLnBrk="0" hangingPunct="1"/>
                      <a:r>
                        <a:rPr kumimoji="1" lang="ja-JP" altLang="en-US" sz="105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1050" kern="1200" dirty="0">
                          <a:solidFill>
                            <a:schemeClr val="dk1"/>
                          </a:solidFill>
                          <a:latin typeface="ＤＦ特太ゴシック体" panose="020B0509000000000000" pitchFamily="49" charset="-128"/>
                          <a:ea typeface="ＤＦ特太ゴシック体" panose="020B0509000000000000" pitchFamily="49" charset="-128"/>
                          <a:cs typeface="+mn-cs"/>
                        </a:rPr>
                        <a:t>Ⅳ</a:t>
                      </a:r>
                      <a:r>
                        <a:rPr kumimoji="1" lang="ja-JP" altLang="en-US" sz="1050" kern="1200" dirty="0">
                          <a:solidFill>
                            <a:schemeClr val="dk1"/>
                          </a:solidFill>
                          <a:latin typeface="ＤＦ特太ゴシック体" panose="020B0509000000000000" pitchFamily="49" charset="-128"/>
                          <a:ea typeface="ＤＦ特太ゴシック体" panose="020B0509000000000000" pitchFamily="49" charset="-128"/>
                          <a:cs typeface="+mn-cs"/>
                        </a:rPr>
                        <a:t>　高齢者がその状況に応じて可能な限り自立した日常生活を営む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017738085"/>
                  </a:ext>
                </a:extLst>
              </a:tr>
              <a:tr h="1046254">
                <a:tc>
                  <a:txBody>
                    <a:bodyPr/>
                    <a:lstStyle/>
                    <a:p>
                      <a:pPr marL="84138" indent="-84138"/>
                      <a:r>
                        <a:rPr kumimoji="1" lang="ja-JP" altLang="en-US" sz="1000" dirty="0"/>
                        <a:t>１　短期的な要介護認定者の平均要介護度（１・２）の変化率の状況はどのようになっているか。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1113151"/>
                  </a:ext>
                </a:extLst>
              </a:tr>
              <a:tr h="1046254">
                <a:tc>
                  <a:txBody>
                    <a:bodyPr/>
                    <a:lstStyle/>
                    <a:p>
                      <a:pPr marL="84138" indent="-84138"/>
                      <a:r>
                        <a:rPr kumimoji="1" lang="ja-JP" altLang="en-US" sz="1000" dirty="0"/>
                        <a:t>２　長期的な要介護認定者の平均要介護度（１・２）の変化率の状況はどのようになっているか。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6180893"/>
                  </a:ext>
                </a:extLst>
              </a:tr>
              <a:tr h="1046254">
                <a:tc>
                  <a:txBody>
                    <a:bodyPr/>
                    <a:lstStyle/>
                    <a:p>
                      <a:pPr marL="84138" indent="-84138"/>
                      <a:r>
                        <a:rPr kumimoji="1" lang="ja-JP" altLang="en-US" sz="1000" dirty="0"/>
                        <a:t>３　短期的な要介護認定者の平均要介護度（３～５）の変化率の状況はどのようになっているか。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30926925"/>
                  </a:ext>
                </a:extLst>
              </a:tr>
              <a:tr h="1046254">
                <a:tc>
                  <a:txBody>
                    <a:bodyPr/>
                    <a:lstStyle/>
                    <a:p>
                      <a:pPr marL="84138" indent="-84138"/>
                      <a:r>
                        <a:rPr kumimoji="1" lang="ja-JP" altLang="en-US" sz="1000" dirty="0"/>
                        <a:t>４　長期的な要介護認定者の平均要介護度（３～５）の変化率の状況はどのようになっているか。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4794803"/>
                  </a:ext>
                </a:extLst>
              </a:tr>
              <a:tr h="1046254">
                <a:tc>
                  <a:txBody>
                    <a:bodyPr/>
                    <a:lstStyle/>
                    <a:p>
                      <a:pPr marL="84138" indent="-84138"/>
                      <a:r>
                        <a:rPr kumimoji="1" lang="ja-JP" altLang="en-US" sz="1000" dirty="0"/>
                        <a:t>５　要介護２以上の認定率、認定率の変化率の状況はどのようになっているか。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8071435"/>
                  </a:ext>
                </a:extLst>
              </a:tr>
            </a:tbl>
          </a:graphicData>
        </a:graphic>
      </p:graphicFrame>
      <p:sp>
        <p:nvSpPr>
          <p:cNvPr id="7" name="スライド番号プレースホルダー 1"/>
          <p:cNvSpPr>
            <a:spLocks noGrp="1"/>
          </p:cNvSpPr>
          <p:nvPr>
            <p:ph type="sldNum" sz="quarter" idx="12"/>
          </p:nvPr>
        </p:nvSpPr>
        <p:spPr>
          <a:xfrm>
            <a:off x="7380131" y="6534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16</a:t>
            </a:fld>
            <a:endParaRPr lang="ja-JP" altLang="en-US" sz="1178"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21906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96A6AAF6-B160-187C-5905-4261BBBE7F89}"/>
              </a:ext>
            </a:extLst>
          </p:cNvPr>
          <p:cNvGraphicFramePr>
            <a:graphicFrameLocks noGrp="1"/>
          </p:cNvGraphicFramePr>
          <p:nvPr/>
        </p:nvGraphicFramePr>
        <p:xfrm>
          <a:off x="174571" y="3299720"/>
          <a:ext cx="9432011" cy="3595036"/>
        </p:xfrm>
        <a:graphic>
          <a:graphicData uri="http://schemas.openxmlformats.org/drawingml/2006/table">
            <a:tbl>
              <a:tblPr/>
              <a:tblGrid>
                <a:gridCol w="445345">
                  <a:extLst>
                    <a:ext uri="{9D8B030D-6E8A-4147-A177-3AD203B41FA5}">
                      <a16:colId xmlns:a16="http://schemas.microsoft.com/office/drawing/2014/main" val="2916900659"/>
                    </a:ext>
                  </a:extLst>
                </a:gridCol>
                <a:gridCol w="345641">
                  <a:extLst>
                    <a:ext uri="{9D8B030D-6E8A-4147-A177-3AD203B41FA5}">
                      <a16:colId xmlns:a16="http://schemas.microsoft.com/office/drawing/2014/main" val="3296430712"/>
                    </a:ext>
                  </a:extLst>
                </a:gridCol>
                <a:gridCol w="345641">
                  <a:extLst>
                    <a:ext uri="{9D8B030D-6E8A-4147-A177-3AD203B41FA5}">
                      <a16:colId xmlns:a16="http://schemas.microsoft.com/office/drawing/2014/main" val="4225844599"/>
                    </a:ext>
                  </a:extLst>
                </a:gridCol>
                <a:gridCol w="345641">
                  <a:extLst>
                    <a:ext uri="{9D8B030D-6E8A-4147-A177-3AD203B41FA5}">
                      <a16:colId xmlns:a16="http://schemas.microsoft.com/office/drawing/2014/main" val="1484210740"/>
                    </a:ext>
                  </a:extLst>
                </a:gridCol>
                <a:gridCol w="345641">
                  <a:extLst>
                    <a:ext uri="{9D8B030D-6E8A-4147-A177-3AD203B41FA5}">
                      <a16:colId xmlns:a16="http://schemas.microsoft.com/office/drawing/2014/main" val="247905368"/>
                    </a:ext>
                  </a:extLst>
                </a:gridCol>
                <a:gridCol w="345641">
                  <a:extLst>
                    <a:ext uri="{9D8B030D-6E8A-4147-A177-3AD203B41FA5}">
                      <a16:colId xmlns:a16="http://schemas.microsoft.com/office/drawing/2014/main" val="16502805"/>
                    </a:ext>
                  </a:extLst>
                </a:gridCol>
                <a:gridCol w="345641">
                  <a:extLst>
                    <a:ext uri="{9D8B030D-6E8A-4147-A177-3AD203B41FA5}">
                      <a16:colId xmlns:a16="http://schemas.microsoft.com/office/drawing/2014/main" val="3115166865"/>
                    </a:ext>
                  </a:extLst>
                </a:gridCol>
                <a:gridCol w="345641">
                  <a:extLst>
                    <a:ext uri="{9D8B030D-6E8A-4147-A177-3AD203B41FA5}">
                      <a16:colId xmlns:a16="http://schemas.microsoft.com/office/drawing/2014/main" val="973872334"/>
                    </a:ext>
                  </a:extLst>
                </a:gridCol>
                <a:gridCol w="345641">
                  <a:extLst>
                    <a:ext uri="{9D8B030D-6E8A-4147-A177-3AD203B41FA5}">
                      <a16:colId xmlns:a16="http://schemas.microsoft.com/office/drawing/2014/main" val="543412323"/>
                    </a:ext>
                  </a:extLst>
                </a:gridCol>
                <a:gridCol w="345641">
                  <a:extLst>
                    <a:ext uri="{9D8B030D-6E8A-4147-A177-3AD203B41FA5}">
                      <a16:colId xmlns:a16="http://schemas.microsoft.com/office/drawing/2014/main" val="4030620927"/>
                    </a:ext>
                  </a:extLst>
                </a:gridCol>
                <a:gridCol w="345641">
                  <a:extLst>
                    <a:ext uri="{9D8B030D-6E8A-4147-A177-3AD203B41FA5}">
                      <a16:colId xmlns:a16="http://schemas.microsoft.com/office/drawing/2014/main" val="708287893"/>
                    </a:ext>
                  </a:extLst>
                </a:gridCol>
                <a:gridCol w="345641">
                  <a:extLst>
                    <a:ext uri="{9D8B030D-6E8A-4147-A177-3AD203B41FA5}">
                      <a16:colId xmlns:a16="http://schemas.microsoft.com/office/drawing/2014/main" val="2615188706"/>
                    </a:ext>
                  </a:extLst>
                </a:gridCol>
                <a:gridCol w="345641">
                  <a:extLst>
                    <a:ext uri="{9D8B030D-6E8A-4147-A177-3AD203B41FA5}">
                      <a16:colId xmlns:a16="http://schemas.microsoft.com/office/drawing/2014/main" val="602777116"/>
                    </a:ext>
                  </a:extLst>
                </a:gridCol>
                <a:gridCol w="345641">
                  <a:extLst>
                    <a:ext uri="{9D8B030D-6E8A-4147-A177-3AD203B41FA5}">
                      <a16:colId xmlns:a16="http://schemas.microsoft.com/office/drawing/2014/main" val="2102555891"/>
                    </a:ext>
                  </a:extLst>
                </a:gridCol>
                <a:gridCol w="345641">
                  <a:extLst>
                    <a:ext uri="{9D8B030D-6E8A-4147-A177-3AD203B41FA5}">
                      <a16:colId xmlns:a16="http://schemas.microsoft.com/office/drawing/2014/main" val="414664382"/>
                    </a:ext>
                  </a:extLst>
                </a:gridCol>
                <a:gridCol w="345641">
                  <a:extLst>
                    <a:ext uri="{9D8B030D-6E8A-4147-A177-3AD203B41FA5}">
                      <a16:colId xmlns:a16="http://schemas.microsoft.com/office/drawing/2014/main" val="3288699953"/>
                    </a:ext>
                  </a:extLst>
                </a:gridCol>
                <a:gridCol w="345641">
                  <a:extLst>
                    <a:ext uri="{9D8B030D-6E8A-4147-A177-3AD203B41FA5}">
                      <a16:colId xmlns:a16="http://schemas.microsoft.com/office/drawing/2014/main" val="1075063784"/>
                    </a:ext>
                  </a:extLst>
                </a:gridCol>
                <a:gridCol w="345641">
                  <a:extLst>
                    <a:ext uri="{9D8B030D-6E8A-4147-A177-3AD203B41FA5}">
                      <a16:colId xmlns:a16="http://schemas.microsoft.com/office/drawing/2014/main" val="342678270"/>
                    </a:ext>
                  </a:extLst>
                </a:gridCol>
                <a:gridCol w="345641">
                  <a:extLst>
                    <a:ext uri="{9D8B030D-6E8A-4147-A177-3AD203B41FA5}">
                      <a16:colId xmlns:a16="http://schemas.microsoft.com/office/drawing/2014/main" val="2928060765"/>
                    </a:ext>
                  </a:extLst>
                </a:gridCol>
                <a:gridCol w="345641">
                  <a:extLst>
                    <a:ext uri="{9D8B030D-6E8A-4147-A177-3AD203B41FA5}">
                      <a16:colId xmlns:a16="http://schemas.microsoft.com/office/drawing/2014/main" val="1693804129"/>
                    </a:ext>
                  </a:extLst>
                </a:gridCol>
                <a:gridCol w="345641">
                  <a:extLst>
                    <a:ext uri="{9D8B030D-6E8A-4147-A177-3AD203B41FA5}">
                      <a16:colId xmlns:a16="http://schemas.microsoft.com/office/drawing/2014/main" val="480207118"/>
                    </a:ext>
                  </a:extLst>
                </a:gridCol>
                <a:gridCol w="345641">
                  <a:extLst>
                    <a:ext uri="{9D8B030D-6E8A-4147-A177-3AD203B41FA5}">
                      <a16:colId xmlns:a16="http://schemas.microsoft.com/office/drawing/2014/main" val="2338460161"/>
                    </a:ext>
                  </a:extLst>
                </a:gridCol>
                <a:gridCol w="345641">
                  <a:extLst>
                    <a:ext uri="{9D8B030D-6E8A-4147-A177-3AD203B41FA5}">
                      <a16:colId xmlns:a16="http://schemas.microsoft.com/office/drawing/2014/main" val="2230707103"/>
                    </a:ext>
                  </a:extLst>
                </a:gridCol>
                <a:gridCol w="345641">
                  <a:extLst>
                    <a:ext uri="{9D8B030D-6E8A-4147-A177-3AD203B41FA5}">
                      <a16:colId xmlns:a16="http://schemas.microsoft.com/office/drawing/2014/main" val="2797283005"/>
                    </a:ext>
                  </a:extLst>
                </a:gridCol>
                <a:gridCol w="345641">
                  <a:extLst>
                    <a:ext uri="{9D8B030D-6E8A-4147-A177-3AD203B41FA5}">
                      <a16:colId xmlns:a16="http://schemas.microsoft.com/office/drawing/2014/main" val="412596179"/>
                    </a:ext>
                  </a:extLst>
                </a:gridCol>
                <a:gridCol w="345641">
                  <a:extLst>
                    <a:ext uri="{9D8B030D-6E8A-4147-A177-3AD203B41FA5}">
                      <a16:colId xmlns:a16="http://schemas.microsoft.com/office/drawing/2014/main" val="371789900"/>
                    </a:ext>
                  </a:extLst>
                </a:gridCol>
                <a:gridCol w="345641">
                  <a:extLst>
                    <a:ext uri="{9D8B030D-6E8A-4147-A177-3AD203B41FA5}">
                      <a16:colId xmlns:a16="http://schemas.microsoft.com/office/drawing/2014/main" val="4262989215"/>
                    </a:ext>
                  </a:extLst>
                </a:gridCol>
              </a:tblGrid>
              <a:tr h="281623">
                <a:tc rowSpan="2">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a:t>
                      </a:r>
                    </a:p>
                  </a:txBody>
                  <a:tcPr marL="3699" marR="3699" marT="3699"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accent3">
                        <a:lumMod val="40000"/>
                        <a:lumOff val="60000"/>
                      </a:schemeClr>
                    </a:solidFill>
                  </a:tcPr>
                </a:tc>
                <a:tc gridSpan="11">
                  <a:txBody>
                    <a:bodyPr/>
                    <a:lstStyle/>
                    <a:p>
                      <a:pPr algn="ctr" rtl="0" fontAlgn="ctr"/>
                      <a:r>
                        <a:rPr lang="zh-TW" altLang="en-US" sz="700" b="0" i="0" u="none" strike="noStrike" dirty="0">
                          <a:solidFill>
                            <a:srgbClr val="000000"/>
                          </a:solidFill>
                          <a:effectLst/>
                          <a:latin typeface="メイリオ" panose="020B0604030504040204" pitchFamily="50" charset="-128"/>
                          <a:ea typeface="メイリオ" panose="020B0604030504040204" pitchFamily="50" charset="-128"/>
                        </a:rPr>
                        <a:t>保険者機能強化推進交付金</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1">
                  <a:txBody>
                    <a:bodyPr/>
                    <a:lstStyle/>
                    <a:p>
                      <a:pPr algn="ctr" rtl="0" fontAlgn="ctr"/>
                      <a:r>
                        <a:rPr lang="zh-TW" altLang="en-US" sz="700" b="0" i="0" u="none" strike="noStrike" dirty="0">
                          <a:solidFill>
                            <a:srgbClr val="000000"/>
                          </a:solidFill>
                          <a:effectLst/>
                          <a:latin typeface="メイリオ" panose="020B0604030504040204" pitchFamily="50" charset="-128"/>
                          <a:ea typeface="メイリオ" panose="020B0604030504040204" pitchFamily="50" charset="-128"/>
                        </a:rPr>
                        <a:t>介護保険保険者努力支援交付金</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rowSpan="2" gridSpan="4">
                  <a:txBody>
                    <a:bodyPr/>
                    <a:lstStyle/>
                    <a:p>
                      <a:pPr algn="ctr" fontAlgn="ctr"/>
                      <a:r>
                        <a:rPr lang="ja-JP" altLang="en-US" sz="700" b="0"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3699" marR="3699" marT="3699"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rowSpan="2" hMerge="1">
                  <a:txBody>
                    <a:bodyPr/>
                    <a:lstStyle/>
                    <a:p>
                      <a:endParaRPr kumimoji="1" lang="ja-JP" altLang="en-US"/>
                    </a:p>
                  </a:txBody>
                  <a:tcPr/>
                </a:tc>
                <a:tc rowSpan="2" hMerge="1">
                  <a:txBody>
                    <a:bodyPr/>
                    <a:lstStyle/>
                    <a:p>
                      <a:endParaRPr kumimoji="1" lang="ja-JP" altLang="en-US"/>
                    </a:p>
                  </a:txBody>
                  <a:tcPr/>
                </a:tc>
                <a:tc rowSpan="2" hMerge="1">
                  <a:txBody>
                    <a:bodyPr/>
                    <a:lstStyle/>
                    <a:p>
                      <a:endParaRPr kumimoji="1" lang="ja-JP" altLang="en-US"/>
                    </a:p>
                  </a:txBody>
                  <a:tcPr/>
                </a:tc>
                <a:extLst>
                  <a:ext uri="{0D108BD9-81ED-4DB2-BD59-A6C34878D82A}">
                    <a16:rowId xmlns:a16="http://schemas.microsoft.com/office/drawing/2014/main" val="2287539942"/>
                  </a:ext>
                </a:extLst>
              </a:tr>
              <a:tr h="825994">
                <a:tc vMerge="1">
                  <a:txBody>
                    <a:bodyPr/>
                    <a:lstStyle/>
                    <a:p>
                      <a:endParaRPr kumimoji="1" lang="ja-JP" altLang="en-US"/>
                    </a:p>
                  </a:txBody>
                  <a:tcPr/>
                </a:tc>
                <a:tc gridSpan="3">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Ⅰ</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持続可能な地域のあるべき姿</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Ⅱ</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　公平・公正な給付を行う体制の構築</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Ⅲ</a:t>
                      </a: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　介護人材の確保その他のサービス提供基盤の整備</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rowSpan="2">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Ⅳ</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a:t>
                      </a: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高齢者の状況に応じた自立した日常生活</a:t>
                      </a: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（アウトカム指標群）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3">
                        <a:lumMod val="40000"/>
                        <a:lumOff val="60000"/>
                      </a:schemeClr>
                    </a:solidFill>
                  </a:tcPr>
                </a:tc>
                <a:tc rowSpan="2">
                  <a:txBody>
                    <a:bodyPr/>
                    <a:lstStyle/>
                    <a:p>
                      <a:pPr algn="ctr" rtl="0" fontAlgn="ctr"/>
                      <a:r>
                        <a:rPr lang="zh-TW" altLang="en-US" sz="700" b="0" i="0" u="none" strike="noStrike" dirty="0">
                          <a:solidFill>
                            <a:srgbClr val="000000"/>
                          </a:solidFill>
                          <a:effectLst/>
                          <a:latin typeface="メイリオ" panose="020B0604030504040204" pitchFamily="50" charset="-128"/>
                          <a:ea typeface="メイリオ" panose="020B0604030504040204" pitchFamily="50" charset="-128"/>
                        </a:rPr>
                        <a:t>推進交付金合計</a:t>
                      </a:r>
                    </a:p>
                  </a:txBody>
                  <a:tcPr marL="3699" marR="3699" marT="3699" marB="0" vert="eaVert"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38100" cap="flat" cmpd="sng" algn="ctr">
                      <a:solidFill>
                        <a:srgbClr val="FF0000"/>
                      </a:solidFill>
                      <a:prstDash val="solid"/>
                      <a:round/>
                      <a:headEnd type="none" w="med" len="med"/>
                      <a:tailEnd type="none" w="med" len="med"/>
                    </a:lnB>
                    <a:solidFill>
                      <a:schemeClr val="accent3">
                        <a:lumMod val="40000"/>
                        <a:lumOff val="60000"/>
                      </a:schemeClr>
                    </a:solidFill>
                  </a:tcPr>
                </a:tc>
                <a:tc gridSpan="3">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Ⅰ</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介護予防</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日常生活支援の推進</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Ⅱ</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認知症総合支援の推進</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Ⅲ</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在宅医療・在宅介護連携の構築</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tc hMerge="1">
                  <a:txBody>
                    <a:bodyPr/>
                    <a:lstStyle/>
                    <a:p>
                      <a:endParaRPr kumimoji="1" lang="ja-JP" altLang="en-US"/>
                    </a:p>
                  </a:txBody>
                  <a:tcPr/>
                </a:tc>
                <a:tc rowSpan="2">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目標</a:t>
                      </a: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Ⅳ</a:t>
                      </a: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　</a:t>
                      </a: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高齢者の状況に応じた自立した日常生活</a:t>
                      </a: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（アウトカム指標群）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3">
                        <a:lumMod val="40000"/>
                        <a:lumOff val="60000"/>
                      </a:schemeClr>
                    </a:solidFill>
                  </a:tcPr>
                </a:tc>
                <a:tc rowSpan="2">
                  <a:txBody>
                    <a:bodyPr/>
                    <a:lstStyle/>
                    <a:p>
                      <a:pPr algn="ctr" rtl="0" fontAlgn="ctr"/>
                      <a:r>
                        <a:rPr lang="zh-TW" altLang="en-US" sz="700" b="0" i="0" u="none" strike="noStrike" dirty="0">
                          <a:solidFill>
                            <a:srgbClr val="000000"/>
                          </a:solidFill>
                          <a:effectLst/>
                          <a:latin typeface="メイリオ" panose="020B0604030504040204" pitchFamily="50" charset="-128"/>
                          <a:ea typeface="メイリオ" panose="020B0604030504040204" pitchFamily="50" charset="-128"/>
                        </a:rPr>
                        <a:t>努力支援交付金合計</a:t>
                      </a:r>
                    </a:p>
                  </a:txBody>
                  <a:tcPr marL="3699" marR="3699" marT="3699" marB="0" vert="eaVert"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38100" cap="flat" cmpd="sng" algn="ctr">
                      <a:solidFill>
                        <a:srgbClr val="FF0000"/>
                      </a:solidFill>
                      <a:prstDash val="solid"/>
                      <a:round/>
                      <a:headEnd type="none" w="med" len="med"/>
                      <a:tailEnd type="none" w="med" len="med"/>
                    </a:lnB>
                    <a:solidFill>
                      <a:schemeClr val="accent3">
                        <a:lumMod val="40000"/>
                        <a:lumOff val="60000"/>
                      </a:schemeClr>
                    </a:solidFill>
                  </a:tcPr>
                </a:tc>
                <a:tc gridSpan="4"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593850270"/>
                  </a:ext>
                </a:extLst>
              </a:tr>
              <a:tr h="1088742">
                <a:tc>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　</a:t>
                      </a:r>
                    </a:p>
                  </a:txBody>
                  <a:tcPr marL="3699" marR="3699" marT="3699"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38100" cap="flat" cmpd="sng" algn="ctr">
                      <a:solidFill>
                        <a:srgbClr val="FF0000"/>
                      </a:solidFill>
                      <a:prstDash val="solid"/>
                      <a:round/>
                      <a:headEnd type="none" w="med" len="med"/>
                      <a:tailEnd type="none" w="med" len="med"/>
                    </a:lnB>
                    <a:solidFill>
                      <a:schemeClr val="accent3">
                        <a:lumMod val="40000"/>
                        <a:lumOff val="60000"/>
                      </a:schemeClr>
                    </a:solid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3">
                        <a:lumMod val="40000"/>
                        <a:lumOff val="60000"/>
                      </a:schemeClr>
                    </a:solid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3">
                        <a:lumMod val="40000"/>
                        <a:lumOff val="60000"/>
                      </a:schemeClr>
                    </a:solid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3">
                        <a:lumMod val="40000"/>
                        <a:lumOff val="60000"/>
                      </a:schemeClr>
                    </a:solidFill>
                  </a:tcPr>
                </a:tc>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3">
                        <a:lumMod val="40000"/>
                        <a:lumOff val="60000"/>
                      </a:schemeClr>
                    </a:solid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3">
                        <a:lumMod val="40000"/>
                        <a:lumOff val="60000"/>
                      </a:schemeClr>
                    </a:solid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小計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3">
                        <a:lumMod val="40000"/>
                        <a:lumOff val="60000"/>
                      </a:schemeClr>
                    </a:solidFill>
                  </a:tcPr>
                </a:tc>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体制・取組指標群計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zh-TW" altLang="en-US" sz="700" b="0" i="0" u="none" strike="noStrike" dirty="0">
                          <a:solidFill>
                            <a:srgbClr val="000000"/>
                          </a:solidFill>
                          <a:effectLst/>
                          <a:latin typeface="メイリオ" panose="020B0604030504040204" pitchFamily="50" charset="-128"/>
                          <a:ea typeface="メイリオ" panose="020B0604030504040204" pitchFamily="50" charset="-128"/>
                        </a:rPr>
                        <a:t>活動指標群計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アウトカム計</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pPr algn="ctr" fontAlgn="ctr"/>
                      <a:r>
                        <a:rPr lang="ja-JP" altLang="en-US" sz="7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699" marR="3699" marT="3699"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38100" cap="flat" cmpd="sng" algn="ctr">
                      <a:solidFill>
                        <a:srgbClr val="FF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674057963"/>
                  </a:ext>
                </a:extLst>
              </a:tr>
              <a:tr h="281623">
                <a:tc>
                  <a:txBody>
                    <a:bodyPr/>
                    <a:lstStyle/>
                    <a:p>
                      <a:pPr algn="ctr" rtl="0" fontAlgn="ctr"/>
                      <a:r>
                        <a:rPr lang="ja-JP" altLang="en-US" sz="700" b="1" i="0" u="none" strike="noStrike" dirty="0">
                          <a:solidFill>
                            <a:srgbClr val="000000"/>
                          </a:solidFill>
                          <a:effectLst/>
                          <a:latin typeface="メイリオ" panose="020B0604030504040204" pitchFamily="50" charset="-128"/>
                          <a:ea typeface="メイリオ" panose="020B0604030504040204" pitchFamily="50" charset="-128"/>
                        </a:rPr>
                        <a:t>配点</a:t>
                      </a:r>
                    </a:p>
                  </a:txBody>
                  <a:tcPr marL="3699" marR="3699" marT="3699" marB="0" anchor="ctr">
                    <a:lnL w="3810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60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40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64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36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72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28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400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48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52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68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32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68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32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100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400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dirty="0">
                          <a:solidFill>
                            <a:srgbClr val="000000"/>
                          </a:solidFill>
                          <a:effectLst/>
                          <a:latin typeface="メイリオ" panose="020B0604030504040204" pitchFamily="50" charset="-128"/>
                          <a:ea typeface="メイリオ" panose="020B0604030504040204" pitchFamily="50" charset="-128"/>
                        </a:rPr>
                        <a:t>380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220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200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tc>
                  <a:txBody>
                    <a:bodyPr/>
                    <a:lstStyle/>
                    <a:p>
                      <a:pPr algn="r" rtl="0" fontAlgn="ctr"/>
                      <a:r>
                        <a:rPr lang="en-US" altLang="ja-JP" sz="700" b="1" i="0" u="none" strike="noStrike">
                          <a:solidFill>
                            <a:srgbClr val="000000"/>
                          </a:solidFill>
                          <a:effectLst/>
                          <a:latin typeface="メイリオ" panose="020B0604030504040204" pitchFamily="50" charset="-128"/>
                          <a:ea typeface="メイリオ" panose="020B0604030504040204" pitchFamily="50" charset="-128"/>
                        </a:rPr>
                        <a:t>800</a:t>
                      </a:r>
                    </a:p>
                  </a:txBody>
                  <a:tcPr marL="3699" marR="3699" marT="3699" marB="0" anchor="ctr">
                    <a:lnL w="6350" cap="flat" cmpd="sng" algn="ctr">
                      <a:solidFill>
                        <a:srgbClr val="00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FF"/>
                    </a:solidFill>
                  </a:tcPr>
                </a:tc>
                <a:extLst>
                  <a:ext uri="{0D108BD9-81ED-4DB2-BD59-A6C34878D82A}">
                    <a16:rowId xmlns:a16="http://schemas.microsoft.com/office/drawing/2014/main" val="3502552069"/>
                  </a:ext>
                </a:extLst>
              </a:tr>
              <a:tr h="281623">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平均点</a:t>
                      </a:r>
                    </a:p>
                  </a:txBody>
                  <a:tcPr marL="3699" marR="3699" marT="3699" marB="0" anchor="ctr">
                    <a:lnL w="3810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48.4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15.6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64.0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56.0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14.3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70.3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61.8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11.0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72.8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49.3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256.4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39.1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20.2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59.3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62.2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12.4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74.6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64.2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12.4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76.6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49.3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259.8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331.7</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85.9</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98.5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516.1</a:t>
                      </a:r>
                    </a:p>
                  </a:txBody>
                  <a:tcPr marL="3699" marR="3699" marT="3699" marB="0" anchor="ctr">
                    <a:lnL w="6350" cap="flat" cmpd="sng" algn="ctr">
                      <a:solidFill>
                        <a:srgbClr val="00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744169785"/>
                  </a:ext>
                </a:extLst>
              </a:tr>
              <a:tr h="553808">
                <a:tc>
                  <a:txBody>
                    <a:bodyPr/>
                    <a:lstStyle/>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平均</a:t>
                      </a:r>
                      <a:endParaRPr lang="en-US" altLang="ja-JP" sz="700" b="0" i="0" u="none" strike="noStrike" dirty="0">
                        <a:solidFill>
                          <a:srgbClr val="000000"/>
                        </a:solidFill>
                        <a:effectLst/>
                        <a:latin typeface="メイリオ" panose="020B0604030504040204" pitchFamily="50" charset="-128"/>
                        <a:ea typeface="メイリオ" panose="020B0604030504040204" pitchFamily="50" charset="-128"/>
                      </a:endParaRPr>
                    </a:p>
                    <a:p>
                      <a:pPr algn="ctr" rtl="0" fontAlgn="ctr"/>
                      <a:r>
                        <a:rPr lang="ja-JP" altLang="en-US" sz="700" b="0" i="0" u="none" strike="noStrike" dirty="0">
                          <a:solidFill>
                            <a:srgbClr val="000000"/>
                          </a:solidFill>
                          <a:effectLst/>
                          <a:latin typeface="メイリオ" panose="020B0604030504040204" pitchFamily="50" charset="-128"/>
                          <a:ea typeface="メイリオ" panose="020B0604030504040204" pitchFamily="50" charset="-128"/>
                        </a:rPr>
                        <a:t>得点率</a:t>
                      </a:r>
                    </a:p>
                  </a:txBody>
                  <a:tcPr marL="3699" marR="3699" marT="3699" marB="0" anchor="ctr">
                    <a:lnL w="3810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80.7%</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38.9%</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64.0%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87.5%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39.7%</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70.3%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85.8%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39.4%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72.8%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49.3%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64.1%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81.5%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38.8%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59.3%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91.4%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38.8%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74.6%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94.4%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38.8%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76.6%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49.3%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64.9%</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87.3%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39.1%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49.3%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64.5%</a:t>
                      </a:r>
                    </a:p>
                  </a:txBody>
                  <a:tcPr marL="3699" marR="3699" marT="3699" marB="0" anchor="ctr">
                    <a:lnL w="6350" cap="flat" cmpd="sng" algn="ctr">
                      <a:solidFill>
                        <a:srgbClr val="00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CFF"/>
                    </a:solidFill>
                  </a:tcPr>
                </a:tc>
                <a:extLst>
                  <a:ext uri="{0D108BD9-81ED-4DB2-BD59-A6C34878D82A}">
                    <a16:rowId xmlns:a16="http://schemas.microsoft.com/office/drawing/2014/main" val="330296114"/>
                  </a:ext>
                </a:extLst>
              </a:tr>
              <a:tr h="281623">
                <a:tc>
                  <a:txBody>
                    <a:bodyPr/>
                    <a:lstStyle/>
                    <a:p>
                      <a:pPr algn="ctr" rtl="0" fontAlgn="ctr"/>
                      <a:r>
                        <a:rPr lang="ja-JP" altLang="en-US" sz="700" b="0" i="0" u="none" strike="noStrike">
                          <a:solidFill>
                            <a:srgbClr val="000000"/>
                          </a:solidFill>
                          <a:effectLst/>
                          <a:latin typeface="メイリオ" panose="020B0604030504040204" pitchFamily="50" charset="-128"/>
                          <a:ea typeface="メイリオ" panose="020B0604030504040204" pitchFamily="50" charset="-128"/>
                        </a:rPr>
                        <a:t>中央値</a:t>
                      </a:r>
                    </a:p>
                  </a:txBody>
                  <a:tcPr marL="3699" marR="3699" marT="3699" marB="0" anchor="ctr">
                    <a:lnL w="3810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73</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74</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50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261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41</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20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12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75</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68</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12</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80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a:solidFill>
                            <a:srgbClr val="000000"/>
                          </a:solidFill>
                          <a:effectLst/>
                          <a:latin typeface="メイリオ" panose="020B0604030504040204" pitchFamily="50" charset="-128"/>
                          <a:ea typeface="メイリオ" panose="020B0604030504040204" pitchFamily="50" charset="-128"/>
                        </a:rPr>
                        <a:t>50</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266</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tc>
                  <a:txBody>
                    <a:bodyPr/>
                    <a:lstStyle/>
                    <a:p>
                      <a:pPr marL="0" algn="r" defTabSz="897212" rtl="0" eaLnBrk="1" fontAlgn="ctr" latinLnBrk="0" hangingPunct="1"/>
                      <a:r>
                        <a:rPr kumimoji="1" lang="en-US" altLang="ja-JP" sz="700" b="0" i="0" u="none" strike="noStrike" kern="1200" dirty="0">
                          <a:solidFill>
                            <a:srgbClr val="000000"/>
                          </a:solidFill>
                          <a:effectLst/>
                          <a:latin typeface="メイリオ" panose="020B0604030504040204" pitchFamily="50" charset="-128"/>
                          <a:ea typeface="メイリオ" panose="020B0604030504040204" pitchFamily="50" charset="-128"/>
                          <a:cs typeface="+mn-cs"/>
                        </a:rPr>
                        <a:t>342</a:t>
                      </a:r>
                      <a:r>
                        <a:rPr kumimoji="1" lang="ja-JP" altLang="en-US" sz="700" b="0" i="0" u="none" strike="noStrike" kern="1200" dirty="0">
                          <a:solidFill>
                            <a:srgbClr val="000000"/>
                          </a:solidFill>
                          <a:effectLst/>
                          <a:latin typeface="メイリオ" panose="020B0604030504040204" pitchFamily="50" charset="-128"/>
                          <a:ea typeface="メイリオ" panose="020B0604030504040204" pitchFamily="50" charset="-128"/>
                          <a:cs typeface="+mn-cs"/>
                        </a:rPr>
                        <a:t>　</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lnBlToTr w="6350" cap="flat" cmpd="sng" algn="ctr">
                      <a:noFill/>
                      <a:prstDash val="solid"/>
                      <a:round/>
                      <a:headEnd type="none" w="med" len="med"/>
                      <a:tailEnd type="none" w="med" len="med"/>
                    </a:lnBlToTr>
                    <a:solidFill>
                      <a:srgbClr val="FFCCFF"/>
                    </a:solidFill>
                  </a:tcPr>
                </a:tc>
                <a:tc>
                  <a:txBody>
                    <a:bodyPr/>
                    <a:lstStyle/>
                    <a:p>
                      <a:pPr marL="0" algn="r" defTabSz="897212" rtl="0" eaLnBrk="1" fontAlgn="ctr" latinLnBrk="0" hangingPunct="1"/>
                      <a:r>
                        <a:rPr kumimoji="1" lang="en-US" altLang="ja-JP" sz="700" b="0" i="0" u="none" strike="noStrike" kern="1200" dirty="0">
                          <a:solidFill>
                            <a:srgbClr val="000000"/>
                          </a:solidFill>
                          <a:effectLst/>
                          <a:latin typeface="メイリオ" panose="020B0604030504040204" pitchFamily="50" charset="-128"/>
                          <a:ea typeface="メイリオ" panose="020B0604030504040204" pitchFamily="50" charset="-128"/>
                          <a:cs typeface="+mn-cs"/>
                        </a:rPr>
                        <a:t>83</a:t>
                      </a:r>
                      <a:r>
                        <a:rPr kumimoji="1" lang="ja-JP" altLang="en-US" sz="700" b="0" i="0" u="none" strike="noStrike" kern="1200" dirty="0">
                          <a:solidFill>
                            <a:srgbClr val="000000"/>
                          </a:solidFill>
                          <a:effectLst/>
                          <a:latin typeface="メイリオ" panose="020B0604030504040204" pitchFamily="50" charset="-128"/>
                          <a:ea typeface="メイリオ" panose="020B0604030504040204" pitchFamily="50" charset="-128"/>
                          <a:cs typeface="+mn-cs"/>
                        </a:rPr>
                        <a:t>　</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lnBlToTr w="6350" cap="flat" cmpd="sng" algn="ctr">
                      <a:noFill/>
                      <a:prstDash val="solid"/>
                      <a:round/>
                      <a:headEnd type="none" w="med" len="med"/>
                      <a:tailEnd type="none" w="med" len="med"/>
                    </a:lnBlToTr>
                    <a:solidFill>
                      <a:srgbClr val="FFCCFF"/>
                    </a:solidFill>
                  </a:tcPr>
                </a:tc>
                <a:tc>
                  <a:txBody>
                    <a:bodyPr/>
                    <a:lstStyle/>
                    <a:p>
                      <a:pPr marL="0" algn="r" defTabSz="897212" rtl="0" eaLnBrk="1" fontAlgn="ctr" latinLnBrk="0" hangingPunct="1"/>
                      <a:r>
                        <a:rPr kumimoji="1" lang="en-US" altLang="ja-JP" sz="700" b="0" i="0" u="none" strike="noStrike" kern="1200" dirty="0">
                          <a:solidFill>
                            <a:srgbClr val="000000"/>
                          </a:solidFill>
                          <a:effectLst/>
                          <a:latin typeface="メイリオ" panose="020B0604030504040204" pitchFamily="50" charset="-128"/>
                          <a:ea typeface="メイリオ" panose="020B0604030504040204" pitchFamily="50" charset="-128"/>
                          <a:cs typeface="+mn-cs"/>
                        </a:rPr>
                        <a:t>100</a:t>
                      </a:r>
                      <a:r>
                        <a:rPr kumimoji="1" lang="ja-JP" altLang="en-US" sz="700" b="0" i="0" u="none" strike="noStrike" kern="1200" dirty="0">
                          <a:solidFill>
                            <a:srgbClr val="000000"/>
                          </a:solidFill>
                          <a:effectLst/>
                          <a:latin typeface="メイリオ" panose="020B0604030504040204" pitchFamily="50" charset="-128"/>
                          <a:ea typeface="メイリオ" panose="020B0604030504040204" pitchFamily="50" charset="-128"/>
                          <a:cs typeface="+mn-cs"/>
                        </a:rPr>
                        <a:t>　</a:t>
                      </a:r>
                    </a:p>
                  </a:txBody>
                  <a:tcPr marL="3699" marR="3699" marT="36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lnBlToTr w="6350" cap="flat" cmpd="sng" algn="ctr">
                      <a:noFill/>
                      <a:prstDash val="solid"/>
                      <a:round/>
                      <a:headEnd type="none" w="med" len="med"/>
                      <a:tailEnd type="none" w="med" len="med"/>
                    </a:lnBlToTr>
                    <a:solidFill>
                      <a:srgbClr val="FFCCFF"/>
                    </a:solidFill>
                  </a:tcPr>
                </a:tc>
                <a:tc>
                  <a:txBody>
                    <a:bodyPr/>
                    <a:lstStyle/>
                    <a:p>
                      <a:pPr algn="r" rtl="0" fontAlgn="ctr"/>
                      <a:r>
                        <a:rPr lang="en-US" altLang="ja-JP" sz="700" b="0" i="0" u="none" strike="noStrike" dirty="0">
                          <a:solidFill>
                            <a:srgbClr val="000000"/>
                          </a:solidFill>
                          <a:effectLst/>
                          <a:latin typeface="メイリオ" panose="020B0604030504040204" pitchFamily="50" charset="-128"/>
                          <a:ea typeface="メイリオ" panose="020B0604030504040204" pitchFamily="50" charset="-128"/>
                        </a:rPr>
                        <a:t>534</a:t>
                      </a:r>
                    </a:p>
                  </a:txBody>
                  <a:tcPr marL="3699" marR="3699" marT="3699" marB="0" anchor="ctr">
                    <a:lnL w="6350" cap="flat" cmpd="sng" algn="ctr">
                      <a:solidFill>
                        <a:srgbClr val="00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CCFF"/>
                    </a:solidFill>
                  </a:tcPr>
                </a:tc>
                <a:extLst>
                  <a:ext uri="{0D108BD9-81ED-4DB2-BD59-A6C34878D82A}">
                    <a16:rowId xmlns:a16="http://schemas.microsoft.com/office/drawing/2014/main" val="2496096645"/>
                  </a:ext>
                </a:extLst>
              </a:tr>
            </a:tbl>
          </a:graphicData>
        </a:graphic>
      </p:graphicFrame>
      <p:sp>
        <p:nvSpPr>
          <p:cNvPr id="28" name="正方形/長方形 27"/>
          <p:cNvSpPr/>
          <p:nvPr/>
        </p:nvSpPr>
        <p:spPr>
          <a:xfrm>
            <a:off x="0" y="-17244"/>
            <a:ext cx="9720263" cy="57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defTabSz="897172"/>
            <a:r>
              <a:rPr lang="en-US" altLang="ja-JP" b="1" dirty="0">
                <a:solidFill>
                  <a:prstClr val="white"/>
                </a:solidFill>
                <a:latin typeface="メイリオ" panose="020B0604030504040204" pitchFamily="50" charset="-128"/>
                <a:ea typeface="メイリオ" panose="020B0604030504040204" pitchFamily="50" charset="-128"/>
              </a:rPr>
              <a:t>2024</a:t>
            </a:r>
            <a:r>
              <a:rPr lang="ja-JP" altLang="en-US" b="1" dirty="0">
                <a:solidFill>
                  <a:prstClr val="white"/>
                </a:solidFill>
                <a:latin typeface="メイリオ" panose="020B0604030504040204" pitchFamily="50" charset="-128"/>
                <a:ea typeface="メイリオ" panose="020B0604030504040204" pitchFamily="50" charset="-128"/>
              </a:rPr>
              <a:t>年度（都道府県分）保険者機能強化推進交付金等に係る評価結果の概要</a:t>
            </a:r>
            <a:endParaRPr lang="en-US" altLang="ja-JP" b="1" dirty="0">
              <a:solidFill>
                <a:prstClr val="white"/>
              </a:solidFill>
              <a:latin typeface="メイリオ" panose="020B0604030504040204" pitchFamily="50" charset="-128"/>
              <a:ea typeface="メイリオ" panose="020B0604030504040204" pitchFamily="50" charset="-128"/>
            </a:endParaRPr>
          </a:p>
        </p:txBody>
      </p:sp>
      <p:sp>
        <p:nvSpPr>
          <p:cNvPr id="5" name="スライド番号プレースホルダー 1">
            <a:extLst>
              <a:ext uri="{FF2B5EF4-FFF2-40B4-BE49-F238E27FC236}">
                <a16:creationId xmlns:a16="http://schemas.microsoft.com/office/drawing/2014/main" id="{BED7FA89-2A66-46AB-B31D-D90F7B44721E}"/>
              </a:ext>
            </a:extLst>
          </p:cNvPr>
          <p:cNvSpPr txBox="1">
            <a:spLocks/>
          </p:cNvSpPr>
          <p:nvPr/>
        </p:nvSpPr>
        <p:spPr>
          <a:xfrm>
            <a:off x="7396804" y="6606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17</a:t>
            </a:fld>
            <a:endParaRPr lang="ja-JP" altLang="en-US" sz="1178" b="1" dirty="0">
              <a:solidFill>
                <a:schemeClr val="tx1"/>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F307D242-0C58-2F7E-EA56-7050D0B174C4}"/>
              </a:ext>
            </a:extLst>
          </p:cNvPr>
          <p:cNvSpPr/>
          <p:nvPr/>
        </p:nvSpPr>
        <p:spPr>
          <a:xfrm>
            <a:off x="108131" y="702755"/>
            <a:ext cx="9500639" cy="2448001"/>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r>
              <a:rPr lang="ja-JP" altLang="en-US" sz="1300" dirty="0">
                <a:solidFill>
                  <a:schemeClr val="tx1"/>
                </a:solidFill>
                <a:latin typeface="メイリオ" panose="020B0604030504040204" pitchFamily="50" charset="-128"/>
                <a:ea typeface="メイリオ" panose="020B0604030504040204" pitchFamily="50" charset="-128"/>
              </a:rPr>
              <a:t>○　</a:t>
            </a:r>
            <a:r>
              <a:rPr lang="en-US" altLang="ja-JP" sz="1300" dirty="0">
                <a:solidFill>
                  <a:schemeClr val="tx1"/>
                </a:solidFill>
                <a:latin typeface="メイリオ" panose="020B0604030504040204" pitchFamily="50" charset="-128"/>
                <a:ea typeface="メイリオ" panose="020B0604030504040204" pitchFamily="50" charset="-128"/>
              </a:rPr>
              <a:t>2024</a:t>
            </a:r>
            <a:r>
              <a:rPr lang="ja-JP" altLang="en-US" sz="1300" dirty="0">
                <a:solidFill>
                  <a:schemeClr val="tx1"/>
                </a:solidFill>
                <a:latin typeface="メイリオ" panose="020B0604030504040204" pitchFamily="50" charset="-128"/>
                <a:ea typeface="メイリオ" panose="020B0604030504040204" pitchFamily="50" charset="-128"/>
              </a:rPr>
              <a:t>年（令和</a:t>
            </a:r>
            <a:r>
              <a:rPr lang="en-US" altLang="ja-JP" sz="1300" dirty="0">
                <a:solidFill>
                  <a:schemeClr val="tx1"/>
                </a:solidFill>
                <a:latin typeface="メイリオ" panose="020B0604030504040204" pitchFamily="50" charset="-128"/>
                <a:ea typeface="メイリオ" panose="020B0604030504040204" pitchFamily="50" charset="-128"/>
              </a:rPr>
              <a:t>6</a:t>
            </a:r>
            <a:r>
              <a:rPr lang="ja-JP" altLang="en-US" sz="1300" dirty="0">
                <a:solidFill>
                  <a:schemeClr val="tx1"/>
                </a:solidFill>
                <a:latin typeface="メイリオ" panose="020B0604030504040204" pitchFamily="50" charset="-128"/>
                <a:ea typeface="メイリオ" panose="020B0604030504040204" pitchFamily="50" charset="-128"/>
              </a:rPr>
              <a:t>年度）における保険者機能強化推進交付金等の配分に活用するため、国において令和</a:t>
            </a:r>
            <a:r>
              <a:rPr lang="en-US" altLang="ja-JP" sz="1300" dirty="0">
                <a:solidFill>
                  <a:schemeClr val="tx1"/>
                </a:solidFill>
                <a:latin typeface="メイリオ" panose="020B0604030504040204" pitchFamily="50" charset="-128"/>
                <a:ea typeface="メイリオ" panose="020B0604030504040204" pitchFamily="50" charset="-128"/>
              </a:rPr>
              <a:t>6</a:t>
            </a:r>
            <a:r>
              <a:rPr lang="ja-JP" altLang="en-US" sz="1300" dirty="0">
                <a:solidFill>
                  <a:schemeClr val="tx1"/>
                </a:solidFill>
                <a:latin typeface="メイリオ" panose="020B0604030504040204" pitchFamily="50" charset="-128"/>
                <a:ea typeface="メイリオ" panose="020B0604030504040204" pitchFamily="50" charset="-128"/>
              </a:rPr>
              <a:t>年度評価指標を定め、これに基づき、</a:t>
            </a:r>
            <a:r>
              <a:rPr lang="en-US" altLang="ja-JP" sz="1300" dirty="0">
                <a:solidFill>
                  <a:schemeClr val="tx1"/>
                </a:solidFill>
                <a:latin typeface="メイリオ" panose="020B0604030504040204" pitchFamily="50" charset="-128"/>
                <a:ea typeface="メイリオ" panose="020B0604030504040204" pitchFamily="50" charset="-128"/>
              </a:rPr>
              <a:t>47</a:t>
            </a:r>
            <a:r>
              <a:rPr lang="ja-JP" altLang="en-US" sz="1300" dirty="0">
                <a:solidFill>
                  <a:schemeClr val="tx1"/>
                </a:solidFill>
                <a:latin typeface="メイリオ" panose="020B0604030504040204" pitchFamily="50" charset="-128"/>
                <a:ea typeface="メイリオ" panose="020B0604030504040204" pitchFamily="50" charset="-128"/>
              </a:rPr>
              <a:t>都道府県が自らの取組等について評価を行った結果は、次のとおりである。</a:t>
            </a:r>
            <a:endParaRPr lang="en-US" altLang="ja-JP" sz="1300" dirty="0">
              <a:solidFill>
                <a:schemeClr val="tx1"/>
              </a:solidFill>
              <a:latin typeface="メイリオ" panose="020B0604030504040204" pitchFamily="50" charset="-128"/>
              <a:ea typeface="メイリオ" panose="020B0604030504040204" pitchFamily="50" charset="-128"/>
            </a:endParaRPr>
          </a:p>
          <a:p>
            <a:pPr marL="179388" indent="-179388"/>
            <a:endParaRPr lang="en-US" altLang="ja-JP" sz="800" dirty="0">
              <a:solidFill>
                <a:schemeClr val="tx1"/>
              </a:solidFill>
              <a:latin typeface="メイリオ" panose="020B0604030504040204" pitchFamily="50" charset="-128"/>
              <a:ea typeface="メイリオ" panose="020B0604030504040204" pitchFamily="50" charset="-128"/>
            </a:endParaRPr>
          </a:p>
          <a:p>
            <a:pPr marL="179388" indent="-179388"/>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平均点</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b="1" u="sng" dirty="0">
                <a:solidFill>
                  <a:srgbClr val="FF0000"/>
                </a:solidFill>
                <a:latin typeface="游ゴシック" panose="020B0400000000000000" pitchFamily="50" charset="-128"/>
                <a:ea typeface="游ゴシック" panose="020B0400000000000000" pitchFamily="50" charset="-128"/>
              </a:rPr>
              <a:t>516</a:t>
            </a:r>
            <a:r>
              <a:rPr lang="ja-JP" altLang="en-US" sz="1300" b="1" u="sng" dirty="0">
                <a:solidFill>
                  <a:srgbClr val="FF0000"/>
                </a:solidFill>
                <a:latin typeface="游ゴシック" panose="020B0400000000000000" pitchFamily="50" charset="-128"/>
                <a:ea typeface="游ゴシック" panose="020B0400000000000000" pitchFamily="50" charset="-128"/>
              </a:rPr>
              <a:t>点</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800</a:t>
            </a:r>
            <a:r>
              <a:rPr lang="ja-JP" altLang="en-US" sz="1300" dirty="0">
                <a:solidFill>
                  <a:schemeClr val="tx1"/>
                </a:solidFill>
                <a:latin typeface="游ゴシック" panose="020B0400000000000000" pitchFamily="50" charset="-128"/>
                <a:ea typeface="游ゴシック" panose="020B0400000000000000" pitchFamily="50" charset="-128"/>
              </a:rPr>
              <a:t>点満点）　</a:t>
            </a:r>
            <a:r>
              <a:rPr lang="en-US" altLang="ja-JP" sz="1300" dirty="0">
                <a:solidFill>
                  <a:schemeClr val="tx1"/>
                </a:solidFill>
                <a:latin typeface="游ゴシック" panose="020B0400000000000000" pitchFamily="50" charset="-128"/>
                <a:ea typeface="游ゴシック" panose="020B0400000000000000" pitchFamily="50" charset="-128"/>
              </a:rPr>
              <a:t>【R5</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1,202</a:t>
            </a:r>
            <a:r>
              <a:rPr lang="ja-JP" altLang="en-US" sz="1300" dirty="0">
                <a:solidFill>
                  <a:schemeClr val="tx1"/>
                </a:solidFill>
                <a:latin typeface="游ゴシック" panose="020B0400000000000000" pitchFamily="50" charset="-128"/>
                <a:ea typeface="游ゴシック" panose="020B0400000000000000" pitchFamily="50" charset="-128"/>
              </a:rPr>
              <a:t>点（</a:t>
            </a:r>
            <a:r>
              <a:rPr lang="en-US" altLang="ja-JP" sz="1300" dirty="0">
                <a:solidFill>
                  <a:schemeClr val="tx1"/>
                </a:solidFill>
                <a:latin typeface="游ゴシック" panose="020B0400000000000000" pitchFamily="50" charset="-128"/>
                <a:ea typeface="游ゴシック" panose="020B0400000000000000" pitchFamily="50" charset="-128"/>
              </a:rPr>
              <a:t>1,830</a:t>
            </a:r>
            <a:r>
              <a:rPr lang="ja-JP" altLang="en-US" sz="1300" dirty="0">
                <a:solidFill>
                  <a:schemeClr val="tx1"/>
                </a:solidFill>
                <a:latin typeface="游ゴシック" panose="020B0400000000000000" pitchFamily="50" charset="-128"/>
                <a:ea typeface="游ゴシック" panose="020B0400000000000000" pitchFamily="50" charset="-128"/>
              </a:rPr>
              <a:t>点満点）</a:t>
            </a:r>
            <a:r>
              <a:rPr lang="en-US" altLang="ja-JP" sz="1300" dirty="0">
                <a:solidFill>
                  <a:schemeClr val="tx1"/>
                </a:solidFill>
                <a:latin typeface="游ゴシック" panose="020B0400000000000000" pitchFamily="50" charset="-128"/>
                <a:ea typeface="游ゴシック" panose="020B0400000000000000" pitchFamily="50" charset="-128"/>
              </a:rPr>
              <a:t>】</a:t>
            </a:r>
          </a:p>
          <a:p>
            <a:pPr marL="179388" indent="-179388"/>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平均得点率</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b="1" u="sng" dirty="0">
                <a:solidFill>
                  <a:srgbClr val="FF0000"/>
                </a:solidFill>
                <a:latin typeface="游ゴシック" panose="020B0400000000000000" pitchFamily="50" charset="-128"/>
                <a:ea typeface="游ゴシック" panose="020B0400000000000000" pitchFamily="50" charset="-128"/>
              </a:rPr>
              <a:t>64.5</a:t>
            </a:r>
            <a:r>
              <a:rPr lang="ja-JP" altLang="en-US" sz="1300" b="1" u="sng" dirty="0">
                <a:solidFill>
                  <a:srgbClr val="FF0000"/>
                </a:solidFill>
                <a:latin typeface="游ゴシック" panose="020B0400000000000000" pitchFamily="50" charset="-128"/>
                <a:ea typeface="游ゴシック" panose="020B0400000000000000" pitchFamily="50" charset="-128"/>
              </a:rPr>
              <a:t>％</a:t>
            </a:r>
            <a:r>
              <a:rPr lang="ja-JP" altLang="en-US" sz="1300" b="1" dirty="0">
                <a:solidFill>
                  <a:schemeClr val="tx1"/>
                </a:solidFill>
                <a:latin typeface="游ゴシック" panose="020B0400000000000000" pitchFamily="50" charset="-128"/>
                <a:ea typeface="游ゴシック" panose="020B0400000000000000" pitchFamily="50" charset="-128"/>
              </a:rPr>
              <a:t>　</a:t>
            </a:r>
            <a:r>
              <a:rPr lang="en-US" altLang="ja-JP" sz="1300" dirty="0">
                <a:solidFill>
                  <a:schemeClr val="tx1"/>
                </a:solidFill>
                <a:latin typeface="游ゴシック" panose="020B0400000000000000" pitchFamily="50" charset="-128"/>
                <a:ea typeface="游ゴシック" panose="020B0400000000000000" pitchFamily="50" charset="-128"/>
              </a:rPr>
              <a:t>【R5</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65.7</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　</a:t>
            </a:r>
            <a:endParaRPr lang="en-US" altLang="ja-JP" sz="1300" dirty="0">
              <a:solidFill>
                <a:schemeClr val="tx1"/>
              </a:solidFill>
              <a:latin typeface="游ゴシック" panose="020B0400000000000000" pitchFamily="50" charset="-128"/>
              <a:ea typeface="游ゴシック" panose="020B0400000000000000" pitchFamily="50" charset="-128"/>
            </a:endParaRPr>
          </a:p>
          <a:p>
            <a:pPr marL="179388" indent="-179388"/>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得点トップ</a:t>
            </a:r>
            <a:r>
              <a:rPr lang="en-US" altLang="ja-JP" sz="1300" dirty="0">
                <a:solidFill>
                  <a:schemeClr val="tx1"/>
                </a:solidFill>
                <a:latin typeface="游ゴシック" panose="020B0400000000000000" pitchFamily="50" charset="-128"/>
                <a:ea typeface="游ゴシック" panose="020B0400000000000000" pitchFamily="50" charset="-128"/>
              </a:rPr>
              <a:t>】</a:t>
            </a:r>
            <a:r>
              <a:rPr lang="ja-JP" altLang="en-US" sz="1300" dirty="0">
                <a:solidFill>
                  <a:schemeClr val="tx1"/>
                </a:solidFill>
                <a:latin typeface="游ゴシック" panose="020B0400000000000000" pitchFamily="50" charset="-128"/>
                <a:ea typeface="游ゴシック" panose="020B0400000000000000" pitchFamily="50" charset="-128"/>
              </a:rPr>
              <a:t>　</a:t>
            </a:r>
            <a:r>
              <a:rPr lang="ja-JP" altLang="en-US" sz="1300" b="1" u="sng" dirty="0">
                <a:solidFill>
                  <a:srgbClr val="FF0000"/>
                </a:solidFill>
                <a:latin typeface="游ゴシック" panose="020B0400000000000000" pitchFamily="50" charset="-128"/>
                <a:ea typeface="游ゴシック" panose="020B0400000000000000" pitchFamily="50" charset="-128"/>
              </a:rPr>
              <a:t>徳島県</a:t>
            </a:r>
            <a:r>
              <a:rPr lang="en-US" altLang="ja-JP" sz="1300" b="1" u="sng" dirty="0">
                <a:solidFill>
                  <a:srgbClr val="FF0000"/>
                </a:solidFill>
                <a:latin typeface="游ゴシック" panose="020B0400000000000000" pitchFamily="50" charset="-128"/>
                <a:ea typeface="游ゴシック" panose="020B0400000000000000" pitchFamily="50" charset="-128"/>
              </a:rPr>
              <a:t>597</a:t>
            </a:r>
            <a:r>
              <a:rPr lang="ja-JP" altLang="en-US" sz="1300" b="1" u="sng" dirty="0">
                <a:solidFill>
                  <a:srgbClr val="FF0000"/>
                </a:solidFill>
                <a:latin typeface="游ゴシック" panose="020B0400000000000000" pitchFamily="50" charset="-128"/>
                <a:ea typeface="游ゴシック" panose="020B0400000000000000" pitchFamily="50" charset="-128"/>
              </a:rPr>
              <a:t>点</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74.6</a:t>
            </a:r>
            <a:r>
              <a:rPr lang="ja-JP" altLang="en-US" sz="1300" dirty="0">
                <a:solidFill>
                  <a:schemeClr val="tx1"/>
                </a:solidFill>
                <a:latin typeface="游ゴシック" panose="020B0400000000000000" pitchFamily="50" charset="-128"/>
                <a:ea typeface="游ゴシック" panose="020B0400000000000000" pitchFamily="50" charset="-128"/>
              </a:rPr>
              <a:t>％）　</a:t>
            </a:r>
            <a:r>
              <a:rPr lang="en-US" altLang="ja-JP" sz="1300" dirty="0">
                <a:solidFill>
                  <a:schemeClr val="tx1"/>
                </a:solidFill>
                <a:latin typeface="游ゴシック" panose="020B0400000000000000" pitchFamily="50" charset="-128"/>
                <a:ea typeface="游ゴシック" panose="020B0400000000000000" pitchFamily="50" charset="-128"/>
              </a:rPr>
              <a:t>【R5</a:t>
            </a:r>
            <a:r>
              <a:rPr lang="ja-JP" altLang="en-US" sz="1300" dirty="0">
                <a:solidFill>
                  <a:schemeClr val="tx1"/>
                </a:solidFill>
                <a:latin typeface="游ゴシック" panose="020B0400000000000000" pitchFamily="50" charset="-128"/>
                <a:ea typeface="游ゴシック" panose="020B0400000000000000" pitchFamily="50" charset="-128"/>
              </a:rPr>
              <a:t>：静岡県の</a:t>
            </a:r>
            <a:r>
              <a:rPr lang="en-US" altLang="ja-JP" sz="1300" dirty="0">
                <a:solidFill>
                  <a:schemeClr val="tx1"/>
                </a:solidFill>
                <a:latin typeface="游ゴシック" panose="020B0400000000000000" pitchFamily="50" charset="-128"/>
                <a:ea typeface="游ゴシック" panose="020B0400000000000000" pitchFamily="50" charset="-128"/>
              </a:rPr>
              <a:t>1,583</a:t>
            </a:r>
            <a:r>
              <a:rPr lang="ja-JP" altLang="en-US" sz="1300" dirty="0">
                <a:solidFill>
                  <a:schemeClr val="tx1"/>
                </a:solidFill>
                <a:latin typeface="游ゴシック" panose="020B0400000000000000" pitchFamily="50" charset="-128"/>
                <a:ea typeface="游ゴシック" panose="020B0400000000000000" pitchFamily="50" charset="-128"/>
              </a:rPr>
              <a:t>点（得点率</a:t>
            </a:r>
            <a:r>
              <a:rPr lang="en-US" altLang="ja-JP" sz="1300" dirty="0">
                <a:solidFill>
                  <a:schemeClr val="tx1"/>
                </a:solidFill>
                <a:latin typeface="游ゴシック" panose="020B0400000000000000" pitchFamily="50" charset="-128"/>
                <a:ea typeface="游ゴシック" panose="020B0400000000000000" pitchFamily="50" charset="-128"/>
              </a:rPr>
              <a:t>86.5</a:t>
            </a:r>
            <a:r>
              <a:rPr lang="ja-JP" altLang="en-US" sz="1300" dirty="0">
                <a:solidFill>
                  <a:schemeClr val="tx1"/>
                </a:solidFill>
                <a:latin typeface="游ゴシック" panose="020B0400000000000000" pitchFamily="50" charset="-128"/>
                <a:ea typeface="游ゴシック" panose="020B0400000000000000" pitchFamily="50" charset="-128"/>
              </a:rPr>
              <a:t>％）</a:t>
            </a:r>
            <a:r>
              <a:rPr lang="en-US" altLang="ja-JP" sz="1300" dirty="0">
                <a:solidFill>
                  <a:schemeClr val="tx1"/>
                </a:solidFill>
                <a:latin typeface="游ゴシック" panose="020B0400000000000000" pitchFamily="50" charset="-128"/>
                <a:ea typeface="游ゴシック" panose="020B0400000000000000" pitchFamily="50" charset="-128"/>
              </a:rPr>
              <a:t>】</a:t>
            </a:r>
          </a:p>
          <a:p>
            <a:pPr marL="360363" indent="-360363"/>
            <a:endParaRPr lang="en-US" altLang="ja-JP" sz="800" dirty="0">
              <a:solidFill>
                <a:schemeClr val="tx1"/>
              </a:solidFill>
              <a:latin typeface="游ゴシック" panose="020B0400000000000000" pitchFamily="50" charset="-128"/>
              <a:ea typeface="游ゴシック" panose="020B0400000000000000" pitchFamily="50" charset="-128"/>
            </a:endParaRPr>
          </a:p>
          <a:p>
            <a:pPr marL="180975" indent="-180975"/>
            <a:r>
              <a:rPr lang="ja-JP" altLang="en-US" sz="1300" dirty="0">
                <a:solidFill>
                  <a:schemeClr val="tx1"/>
                </a:solidFill>
                <a:latin typeface="メイリオ" panose="020B0604030504040204" pitchFamily="50" charset="-128"/>
                <a:ea typeface="メイリオ" panose="020B0604030504040204" pitchFamily="50" charset="-128"/>
              </a:rPr>
              <a:t>○　令和６年度評価指標については、アウトプット・中間アウトカムに関する評価指標の充実を図りつつ、アウトカムとの関連性が必ずしも高くない評価指標の縮減を行うなど、前年度評価指標から大幅な見直しを行っているが、平均得点率についてみれば、前年度とは大きく変わりがない結果となった。</a:t>
            </a:r>
            <a:endParaRPr lang="en-US" altLang="ja-JP" sz="1300" dirty="0">
              <a:solidFill>
                <a:schemeClr val="tx1"/>
              </a:solidFill>
              <a:latin typeface="メイリオ" panose="020B0604030504040204" pitchFamily="50" charset="-128"/>
              <a:ea typeface="メイリオ" panose="020B0604030504040204" pitchFamily="50" charset="-128"/>
            </a:endParaRPr>
          </a:p>
          <a:p>
            <a:pPr marL="180975" indent="-180975"/>
            <a:endParaRPr lang="en-US" altLang="ja-JP" sz="800" dirty="0">
              <a:solidFill>
                <a:schemeClr val="tx1"/>
              </a:solidFill>
              <a:latin typeface="メイリオ" panose="020B0604030504040204" pitchFamily="50" charset="-128"/>
              <a:ea typeface="メイリオ" panose="020B0604030504040204" pitchFamily="50" charset="-128"/>
            </a:endParaRPr>
          </a:p>
          <a:p>
            <a:pPr marL="180975" indent="-180975"/>
            <a:r>
              <a:rPr lang="ja-JP" altLang="en-US" sz="1300" dirty="0">
                <a:solidFill>
                  <a:schemeClr val="tx1"/>
                </a:solidFill>
                <a:latin typeface="メイリオ" panose="020B0604030504040204" pitchFamily="50" charset="-128"/>
                <a:ea typeface="メイリオ" panose="020B0604030504040204" pitchFamily="50" charset="-128"/>
              </a:rPr>
              <a:t>○　都道府県分については、市町村分に比べ、平均点が高い傾向にあり、また、分野別に見ると、支援の目標</a:t>
            </a:r>
            <a:r>
              <a:rPr lang="en-US" altLang="ja-JP" sz="1300" dirty="0">
                <a:solidFill>
                  <a:schemeClr val="tx1"/>
                </a:solidFill>
                <a:latin typeface="メイリオ" panose="020B0604030504040204" pitchFamily="50" charset="-128"/>
                <a:ea typeface="メイリオ" panose="020B0604030504040204" pitchFamily="50" charset="-128"/>
              </a:rPr>
              <a:t>Ⅲ</a:t>
            </a:r>
            <a:r>
              <a:rPr lang="ja-JP" altLang="en-US" sz="1300" dirty="0">
                <a:solidFill>
                  <a:schemeClr val="tx1"/>
                </a:solidFill>
                <a:latin typeface="メイリオ" panose="020B0604030504040204" pitchFamily="50" charset="-128"/>
                <a:ea typeface="メイリオ" panose="020B0604030504040204" pitchFamily="50" charset="-128"/>
              </a:rPr>
              <a:t>（在宅医療介護連携関連）の得点率が最も高く、アウトカムを除き支援の目標</a:t>
            </a:r>
            <a:r>
              <a:rPr lang="en-US" altLang="ja-JP" sz="1300" dirty="0">
                <a:solidFill>
                  <a:schemeClr val="tx1"/>
                </a:solidFill>
                <a:latin typeface="メイリオ" panose="020B0604030504040204" pitchFamily="50" charset="-128"/>
                <a:ea typeface="メイリオ" panose="020B0604030504040204" pitchFamily="50" charset="-128"/>
              </a:rPr>
              <a:t>Ⅰ</a:t>
            </a:r>
            <a:r>
              <a:rPr lang="ja-JP" altLang="en-US" sz="1300" dirty="0">
                <a:solidFill>
                  <a:schemeClr val="tx1"/>
                </a:solidFill>
                <a:latin typeface="メイリオ" panose="020B0604030504040204" pitchFamily="50" charset="-128"/>
                <a:ea typeface="メイリオ" panose="020B0604030504040204" pitchFamily="50" charset="-128"/>
              </a:rPr>
              <a:t>（介護予防・日常生活支援関連）の得点率が最も低い。</a:t>
            </a:r>
            <a:endParaRPr lang="en-US" altLang="ja-JP" sz="13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1731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0" y="-17244"/>
            <a:ext cx="9720263" cy="57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defRPr/>
            </a:pPr>
            <a:r>
              <a:rPr lang="en-US" altLang="ja-JP" sz="1600" b="1" dirty="0">
                <a:solidFill>
                  <a:prstClr val="white"/>
                </a:solidFill>
                <a:latin typeface="Meiryo UI" panose="020B0604030504040204" pitchFamily="50" charset="-128"/>
                <a:ea typeface="Meiryo UI" panose="020B0604030504040204" pitchFamily="50" charset="-128"/>
              </a:rPr>
              <a:t>2024</a:t>
            </a:r>
            <a:r>
              <a:rPr lang="ja-JP" altLang="en-US" sz="1600" b="1" dirty="0">
                <a:solidFill>
                  <a:prstClr val="white"/>
                </a:solidFill>
                <a:latin typeface="Meiryo UI" panose="020B0604030504040204" pitchFamily="50" charset="-128"/>
                <a:ea typeface="Meiryo UI" panose="020B0604030504040204" pitchFamily="50" charset="-128"/>
              </a:rPr>
              <a:t>年度（都道府県分）保険者機能強化推進交付金等に係る総合得点＜推進</a:t>
            </a:r>
            <a:r>
              <a:rPr lang="en-US" altLang="ja-JP" sz="1600" b="1" dirty="0">
                <a:solidFill>
                  <a:prstClr val="white"/>
                </a:solidFill>
                <a:latin typeface="Meiryo UI" panose="020B0604030504040204" pitchFamily="50" charset="-128"/>
                <a:ea typeface="Meiryo UI" panose="020B0604030504040204" pitchFamily="50" charset="-128"/>
              </a:rPr>
              <a:t>+</a:t>
            </a:r>
            <a:r>
              <a:rPr lang="ja-JP" altLang="en-US" sz="1600" b="1" dirty="0">
                <a:solidFill>
                  <a:prstClr val="white"/>
                </a:solidFill>
                <a:latin typeface="Meiryo UI" panose="020B0604030504040204" pitchFamily="50" charset="-128"/>
                <a:ea typeface="Meiryo UI" panose="020B0604030504040204" pitchFamily="50" charset="-128"/>
              </a:rPr>
              <a:t>支援＞</a:t>
            </a:r>
          </a:p>
        </p:txBody>
      </p:sp>
      <p:sp>
        <p:nvSpPr>
          <p:cNvPr id="5" name="スライド番号プレースホルダー 1">
            <a:extLst>
              <a:ext uri="{FF2B5EF4-FFF2-40B4-BE49-F238E27FC236}">
                <a16:creationId xmlns:a16="http://schemas.microsoft.com/office/drawing/2014/main" id="{BED7FA89-2A66-46AB-B31D-D90F7B44721E}"/>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18</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4559326D-6C46-A752-0E21-485107643C97}"/>
              </a:ext>
            </a:extLst>
          </p:cNvPr>
          <p:cNvPicPr>
            <a:picLocks noChangeAspect="1"/>
          </p:cNvPicPr>
          <p:nvPr/>
        </p:nvPicPr>
        <p:blipFill>
          <a:blip r:embed="rId3"/>
          <a:stretch>
            <a:fillRect/>
          </a:stretch>
        </p:blipFill>
        <p:spPr>
          <a:xfrm>
            <a:off x="468131" y="679463"/>
            <a:ext cx="9000744" cy="6082284"/>
          </a:xfrm>
          <a:prstGeom prst="rect">
            <a:avLst/>
          </a:prstGeom>
        </p:spPr>
      </p:pic>
    </p:spTree>
    <p:extLst>
      <p:ext uri="{BB962C8B-B14F-4D97-AF65-F5344CB8AC3E}">
        <p14:creationId xmlns:p14="http://schemas.microsoft.com/office/powerpoint/2010/main" val="2434964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
            <a:ext cx="9720263" cy="55875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r>
              <a:rPr lang="en-US" altLang="ja-JP" sz="1600" b="1" dirty="0">
                <a:solidFill>
                  <a:prstClr val="white"/>
                </a:solidFill>
                <a:latin typeface="Meiryo UI" panose="020B0604030504040204" pitchFamily="50" charset="-128"/>
                <a:ea typeface="Meiryo UI" panose="020B0604030504040204" pitchFamily="50" charset="-128"/>
              </a:rPr>
              <a:t>2024</a:t>
            </a:r>
            <a:r>
              <a:rPr lang="ja-JP" altLang="en-US" sz="1600" b="1" dirty="0">
                <a:solidFill>
                  <a:prstClr val="white"/>
                </a:solidFill>
                <a:latin typeface="Meiryo UI" panose="020B0604030504040204" pitchFamily="50" charset="-128"/>
                <a:ea typeface="Meiryo UI" panose="020B0604030504040204" pitchFamily="50" charset="-128"/>
              </a:rPr>
              <a:t>年度（都道府県分） 　　保険者機能強化推進交付金等</a:t>
            </a:r>
            <a:r>
              <a:rPr lang="ja-JP" altLang="en-US" sz="1600" b="1">
                <a:solidFill>
                  <a:prstClr val="white"/>
                </a:solidFill>
                <a:latin typeface="Meiryo UI" panose="020B0604030504040204" pitchFamily="50" charset="-128"/>
                <a:ea typeface="Meiryo UI" panose="020B0604030504040204" pitchFamily="50" charset="-128"/>
              </a:rPr>
              <a:t>交付見込額（案）＜</a:t>
            </a:r>
            <a:r>
              <a:rPr lang="ja-JP" altLang="en-US" sz="1600" b="1" dirty="0">
                <a:solidFill>
                  <a:prstClr val="white"/>
                </a:solidFill>
                <a:latin typeface="Meiryo UI" panose="020B0604030504040204" pitchFamily="50" charset="-128"/>
                <a:ea typeface="Meiryo UI" panose="020B0604030504040204" pitchFamily="50" charset="-128"/>
              </a:rPr>
              <a:t>推進＋支援＞</a:t>
            </a:r>
            <a:endParaRPr lang="en-US" altLang="ja-JP" sz="1600" b="1" dirty="0">
              <a:solidFill>
                <a:prstClr val="white"/>
              </a:solidFill>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E9BA039D-686E-6B78-1338-B62EC9B47665}"/>
              </a:ext>
            </a:extLst>
          </p:cNvPr>
          <p:cNvPicPr>
            <a:picLocks noChangeAspect="1"/>
          </p:cNvPicPr>
          <p:nvPr/>
        </p:nvPicPr>
        <p:blipFill>
          <a:blip r:embed="rId3"/>
          <a:stretch>
            <a:fillRect/>
          </a:stretch>
        </p:blipFill>
        <p:spPr>
          <a:xfrm>
            <a:off x="150208" y="558756"/>
            <a:ext cx="9419844" cy="5984748"/>
          </a:xfrm>
          <a:prstGeom prst="rect">
            <a:avLst/>
          </a:prstGeom>
        </p:spPr>
      </p:pic>
      <p:sp>
        <p:nvSpPr>
          <p:cNvPr id="4" name="テキスト ボックス 3">
            <a:extLst>
              <a:ext uri="{FF2B5EF4-FFF2-40B4-BE49-F238E27FC236}">
                <a16:creationId xmlns:a16="http://schemas.microsoft.com/office/drawing/2014/main" id="{FBB2A33A-4922-805B-BD70-6F2E16BA18C2}"/>
              </a:ext>
            </a:extLst>
          </p:cNvPr>
          <p:cNvSpPr txBox="1"/>
          <p:nvPr/>
        </p:nvSpPr>
        <p:spPr>
          <a:xfrm>
            <a:off x="36131" y="6606756"/>
            <a:ext cx="9720263" cy="369332"/>
          </a:xfrm>
          <a:prstGeom prst="rect">
            <a:avLst/>
          </a:prstGeom>
          <a:noFill/>
        </p:spPr>
        <p:txBody>
          <a:bodyPr wrap="square" rtlCol="0">
            <a:spAutoFit/>
          </a:bodyPr>
          <a:lstStyle/>
          <a:p>
            <a:r>
              <a:rPr kumimoji="1" lang="en-US" altLang="ja-JP" sz="900" dirty="0">
                <a:latin typeface="HGｺﾞｼｯｸM" panose="020B0609000000000000" pitchFamily="49" charset="-128"/>
                <a:ea typeface="HGｺﾞｼｯｸM" panose="020B0609000000000000" pitchFamily="49" charset="-128"/>
              </a:rPr>
              <a:t>※</a:t>
            </a:r>
            <a:r>
              <a:rPr kumimoji="1" lang="ja-JP" altLang="en-US" sz="900" dirty="0">
                <a:latin typeface="HGｺﾞｼｯｸM" panose="020B0609000000000000" pitchFamily="49" charset="-128"/>
                <a:ea typeface="HGｺﾞｼｯｸM" panose="020B0609000000000000" pitchFamily="49" charset="-128"/>
              </a:rPr>
              <a:t>　令和</a:t>
            </a:r>
            <a:r>
              <a:rPr kumimoji="1" lang="en-US" altLang="ja-JP" sz="900" dirty="0">
                <a:latin typeface="HGｺﾞｼｯｸM" panose="020B0609000000000000" pitchFamily="49" charset="-128"/>
                <a:ea typeface="HGｺﾞｼｯｸM" panose="020B0609000000000000" pitchFamily="49" charset="-128"/>
              </a:rPr>
              <a:t>6</a:t>
            </a:r>
            <a:r>
              <a:rPr kumimoji="1" lang="ja-JP" altLang="en-US" sz="900" dirty="0">
                <a:latin typeface="HGｺﾞｼｯｸM" panose="020B0609000000000000" pitchFamily="49" charset="-128"/>
                <a:ea typeface="HGｺﾞｼｯｸM" panose="020B0609000000000000" pitchFamily="49" charset="-128"/>
              </a:rPr>
              <a:t>年度の交付金の配分に当たっては、予算額の縮減等を踏まえ、令和</a:t>
            </a:r>
            <a:r>
              <a:rPr kumimoji="1" lang="en-US" altLang="ja-JP" sz="900" dirty="0">
                <a:latin typeface="HGｺﾞｼｯｸM" panose="020B0609000000000000" pitchFamily="49" charset="-128"/>
                <a:ea typeface="HGｺﾞｼｯｸM" panose="020B0609000000000000" pitchFamily="49" charset="-128"/>
              </a:rPr>
              <a:t>5</a:t>
            </a:r>
            <a:r>
              <a:rPr kumimoji="1" lang="ja-JP" altLang="en-US" sz="900" dirty="0">
                <a:latin typeface="HGｺﾞｼｯｸM" panose="020B0609000000000000" pitchFamily="49" charset="-128"/>
                <a:ea typeface="HGｺﾞｼｯｸM" panose="020B0609000000000000" pitchFamily="49" charset="-128"/>
              </a:rPr>
              <a:t>年度交付額からの激変緩和措置を講じていることから、交付見込額は得点順位と必ずしも一致しない。</a:t>
            </a:r>
            <a:endParaRPr kumimoji="1" lang="en-US" altLang="ja-JP" sz="900" dirty="0">
              <a:latin typeface="HGｺﾞｼｯｸM" panose="020B0609000000000000" pitchFamily="49" charset="-128"/>
              <a:ea typeface="HGｺﾞｼｯｸM" panose="020B0609000000000000" pitchFamily="49" charset="-128"/>
            </a:endParaRPr>
          </a:p>
          <a:p>
            <a:r>
              <a:rPr kumimoji="1" lang="ja-JP" altLang="en-US" sz="900" dirty="0">
                <a:latin typeface="HGｺﾞｼｯｸM" panose="020B0609000000000000" pitchFamily="49" charset="-128"/>
                <a:ea typeface="HGｺﾞｼｯｸM" panose="020B0609000000000000" pitchFamily="49" charset="-128"/>
              </a:rPr>
              <a:t>　　また、実際の交付額については、各都道府県の評価得点等により配分した交付見込額と、各都道府県からの所要見込額とを比較して低い方の額を交付する。</a:t>
            </a:r>
          </a:p>
        </p:txBody>
      </p:sp>
      <p:sp>
        <p:nvSpPr>
          <p:cNvPr id="3" name="スライド番号プレースホルダー 9">
            <a:extLst>
              <a:ext uri="{FF2B5EF4-FFF2-40B4-BE49-F238E27FC236}">
                <a16:creationId xmlns:a16="http://schemas.microsoft.com/office/drawing/2014/main" id="{1A0EE6C6-BB2E-04A0-3EEA-EEE29B8E9658}"/>
              </a:ext>
            </a:extLst>
          </p:cNvPr>
          <p:cNvSpPr>
            <a:spLocks noGrp="1"/>
          </p:cNvSpPr>
          <p:nvPr>
            <p:ph type="sldNum" sz="quarter" idx="12"/>
          </p:nvPr>
        </p:nvSpPr>
        <p:spPr>
          <a:xfrm>
            <a:off x="7344070" y="6592925"/>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19</a:t>
            </a:fld>
            <a:endParaRPr lang="ja-JP" altLang="en-US" sz="1178"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45190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57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defRPr/>
            </a:pPr>
            <a:r>
              <a:rPr lang="en-US" altLang="ja-JP" sz="1600" b="1" dirty="0">
                <a:solidFill>
                  <a:prstClr val="white"/>
                </a:solidFill>
                <a:latin typeface="Meiryo UI" panose="020B0604030504040204" pitchFamily="50" charset="-128"/>
                <a:ea typeface="Meiryo UI" panose="020B0604030504040204" pitchFamily="50" charset="-128"/>
              </a:rPr>
              <a:t>2024</a:t>
            </a:r>
            <a:r>
              <a:rPr lang="ja-JP" altLang="en-US" sz="1600" b="1" dirty="0">
                <a:solidFill>
                  <a:prstClr val="white"/>
                </a:solidFill>
                <a:latin typeface="Meiryo UI" panose="020B0604030504040204" pitchFamily="50" charset="-128"/>
                <a:ea typeface="Meiryo UI" panose="020B0604030504040204" pitchFamily="50" charset="-128"/>
              </a:rPr>
              <a:t>年度（都道府県分）保険者機能強化推進交付金に係る得点＜①目標別＞</a:t>
            </a:r>
          </a:p>
        </p:txBody>
      </p:sp>
      <p:sp>
        <p:nvSpPr>
          <p:cNvPr id="5" name="スライド番号プレースホルダー 1">
            <a:extLst>
              <a:ext uri="{FF2B5EF4-FFF2-40B4-BE49-F238E27FC236}">
                <a16:creationId xmlns:a16="http://schemas.microsoft.com/office/drawing/2014/main" id="{6079E945-820C-4B02-82F8-46805AC4B8B2}"/>
              </a:ext>
            </a:extLst>
          </p:cNvPr>
          <p:cNvSpPr txBox="1">
            <a:spLocks/>
          </p:cNvSpPr>
          <p:nvPr/>
        </p:nvSpPr>
        <p:spPr>
          <a:xfrm>
            <a:off x="7344070" y="6608477"/>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20</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6" name="図 5">
            <a:extLst>
              <a:ext uri="{FF2B5EF4-FFF2-40B4-BE49-F238E27FC236}">
                <a16:creationId xmlns:a16="http://schemas.microsoft.com/office/drawing/2014/main" id="{35692DF7-D451-2BAB-A678-FB6CAA6ECBA5}"/>
              </a:ext>
            </a:extLst>
          </p:cNvPr>
          <p:cNvPicPr>
            <a:picLocks noChangeAspect="1"/>
          </p:cNvPicPr>
          <p:nvPr/>
        </p:nvPicPr>
        <p:blipFill>
          <a:blip r:embed="rId3"/>
          <a:stretch>
            <a:fillRect/>
          </a:stretch>
        </p:blipFill>
        <p:spPr>
          <a:xfrm>
            <a:off x="540131" y="616940"/>
            <a:ext cx="9003792" cy="6170676"/>
          </a:xfrm>
          <a:prstGeom prst="rect">
            <a:avLst/>
          </a:prstGeom>
        </p:spPr>
      </p:pic>
    </p:spTree>
    <p:extLst>
      <p:ext uri="{BB962C8B-B14F-4D97-AF65-F5344CB8AC3E}">
        <p14:creationId xmlns:p14="http://schemas.microsoft.com/office/powerpoint/2010/main" val="1397184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57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defRPr/>
            </a:pPr>
            <a:r>
              <a:rPr lang="en-US" altLang="ja-JP" sz="1600" b="1" dirty="0">
                <a:solidFill>
                  <a:prstClr val="white"/>
                </a:solidFill>
                <a:latin typeface="Meiryo UI" panose="020B0604030504040204" pitchFamily="50" charset="-128"/>
                <a:ea typeface="Meiryo UI" panose="020B0604030504040204" pitchFamily="50" charset="-128"/>
              </a:rPr>
              <a:t>2024</a:t>
            </a:r>
            <a:r>
              <a:rPr lang="ja-JP" altLang="en-US" sz="1600" b="1" dirty="0">
                <a:solidFill>
                  <a:prstClr val="white"/>
                </a:solidFill>
                <a:latin typeface="Meiryo UI" panose="020B0604030504040204" pitchFamily="50" charset="-128"/>
                <a:ea typeface="Meiryo UI" panose="020B0604030504040204" pitchFamily="50" charset="-128"/>
              </a:rPr>
              <a:t>年度（都道府県分）保険者機能強化推進交付金に係る得点＜②指標群別＞</a:t>
            </a:r>
          </a:p>
        </p:txBody>
      </p:sp>
      <p:sp>
        <p:nvSpPr>
          <p:cNvPr id="5" name="スライド番号プレースホルダー 1">
            <a:extLst>
              <a:ext uri="{FF2B5EF4-FFF2-40B4-BE49-F238E27FC236}">
                <a16:creationId xmlns:a16="http://schemas.microsoft.com/office/drawing/2014/main" id="{6079E945-820C-4B02-82F8-46805AC4B8B2}"/>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21</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566474A9-22E7-004F-8DD2-DD5D1351A551}"/>
              </a:ext>
            </a:extLst>
          </p:cNvPr>
          <p:cNvPicPr>
            <a:picLocks noChangeAspect="1"/>
          </p:cNvPicPr>
          <p:nvPr/>
        </p:nvPicPr>
        <p:blipFill>
          <a:blip r:embed="rId3"/>
          <a:stretch>
            <a:fillRect/>
          </a:stretch>
        </p:blipFill>
        <p:spPr>
          <a:xfrm>
            <a:off x="468131" y="740060"/>
            <a:ext cx="9000744" cy="6077712"/>
          </a:xfrm>
          <a:prstGeom prst="rect">
            <a:avLst/>
          </a:prstGeom>
        </p:spPr>
      </p:pic>
    </p:spTree>
    <p:extLst>
      <p:ext uri="{BB962C8B-B14F-4D97-AF65-F5344CB8AC3E}">
        <p14:creationId xmlns:p14="http://schemas.microsoft.com/office/powerpoint/2010/main" val="3097719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57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defRPr/>
            </a:pPr>
            <a:r>
              <a:rPr lang="en-US" altLang="ja-JP" sz="1600" b="1" dirty="0">
                <a:solidFill>
                  <a:prstClr val="white"/>
                </a:solidFill>
                <a:latin typeface="Meiryo UI" panose="020B0604030504040204" pitchFamily="50" charset="-128"/>
                <a:ea typeface="Meiryo UI" panose="020B0604030504040204" pitchFamily="50" charset="-128"/>
              </a:rPr>
              <a:t>2024</a:t>
            </a:r>
            <a:r>
              <a:rPr lang="ja-JP" altLang="en-US" sz="1600" b="1" dirty="0">
                <a:solidFill>
                  <a:prstClr val="white"/>
                </a:solidFill>
                <a:latin typeface="Meiryo UI" panose="020B0604030504040204" pitchFamily="50" charset="-128"/>
                <a:ea typeface="Meiryo UI" panose="020B0604030504040204" pitchFamily="50" charset="-128"/>
              </a:rPr>
              <a:t>年度（都道府県分）介護保険保険者努力支援交付金に係る得点＜①目標別＞</a:t>
            </a:r>
          </a:p>
        </p:txBody>
      </p:sp>
      <p:sp>
        <p:nvSpPr>
          <p:cNvPr id="5" name="スライド番号プレースホルダー 1">
            <a:extLst>
              <a:ext uri="{FF2B5EF4-FFF2-40B4-BE49-F238E27FC236}">
                <a16:creationId xmlns:a16="http://schemas.microsoft.com/office/drawing/2014/main" id="{487060D3-CD7E-4FBF-931F-3D97B85D2AEF}"/>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22</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6" name="図 5">
            <a:extLst>
              <a:ext uri="{FF2B5EF4-FFF2-40B4-BE49-F238E27FC236}">
                <a16:creationId xmlns:a16="http://schemas.microsoft.com/office/drawing/2014/main" id="{F15B4FA3-6E00-F644-75F5-7A02E84110BC}"/>
              </a:ext>
            </a:extLst>
          </p:cNvPr>
          <p:cNvPicPr>
            <a:picLocks noChangeAspect="1"/>
          </p:cNvPicPr>
          <p:nvPr/>
        </p:nvPicPr>
        <p:blipFill>
          <a:blip r:embed="rId3"/>
          <a:stretch>
            <a:fillRect/>
          </a:stretch>
        </p:blipFill>
        <p:spPr>
          <a:xfrm>
            <a:off x="656501" y="599072"/>
            <a:ext cx="9008364" cy="6172200"/>
          </a:xfrm>
          <a:prstGeom prst="rect">
            <a:avLst/>
          </a:prstGeom>
        </p:spPr>
      </p:pic>
    </p:spTree>
    <p:extLst>
      <p:ext uri="{BB962C8B-B14F-4D97-AF65-F5344CB8AC3E}">
        <p14:creationId xmlns:p14="http://schemas.microsoft.com/office/powerpoint/2010/main" val="1434275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57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defRPr/>
            </a:pPr>
            <a:r>
              <a:rPr lang="en-US" altLang="ja-JP" sz="1600" b="1" dirty="0">
                <a:solidFill>
                  <a:prstClr val="white"/>
                </a:solidFill>
                <a:latin typeface="Meiryo UI" panose="020B0604030504040204" pitchFamily="50" charset="-128"/>
                <a:ea typeface="Meiryo UI" panose="020B0604030504040204" pitchFamily="50" charset="-128"/>
              </a:rPr>
              <a:t>2024</a:t>
            </a:r>
            <a:r>
              <a:rPr lang="ja-JP" altLang="en-US" sz="1600" b="1" dirty="0">
                <a:solidFill>
                  <a:prstClr val="white"/>
                </a:solidFill>
                <a:latin typeface="Meiryo UI" panose="020B0604030504040204" pitchFamily="50" charset="-128"/>
                <a:ea typeface="Meiryo UI" panose="020B0604030504040204" pitchFamily="50" charset="-128"/>
              </a:rPr>
              <a:t>年度（都道府県分）介護保険保険者努力支援交付金に係る得点＜②指標群別＞</a:t>
            </a:r>
          </a:p>
        </p:txBody>
      </p:sp>
      <p:sp>
        <p:nvSpPr>
          <p:cNvPr id="5" name="スライド番号プレースホルダー 1">
            <a:extLst>
              <a:ext uri="{FF2B5EF4-FFF2-40B4-BE49-F238E27FC236}">
                <a16:creationId xmlns:a16="http://schemas.microsoft.com/office/drawing/2014/main" id="{6079E945-820C-4B02-82F8-46805AC4B8B2}"/>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23</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2DF40206-B961-55D7-65A0-1CD24EA85E19}"/>
              </a:ext>
            </a:extLst>
          </p:cNvPr>
          <p:cNvPicPr>
            <a:picLocks noChangeAspect="1"/>
          </p:cNvPicPr>
          <p:nvPr/>
        </p:nvPicPr>
        <p:blipFill>
          <a:blip r:embed="rId3"/>
          <a:stretch>
            <a:fillRect/>
          </a:stretch>
        </p:blipFill>
        <p:spPr>
          <a:xfrm>
            <a:off x="366616" y="558756"/>
            <a:ext cx="8987028" cy="6080760"/>
          </a:xfrm>
          <a:prstGeom prst="rect">
            <a:avLst/>
          </a:prstGeom>
        </p:spPr>
      </p:pic>
    </p:spTree>
    <p:extLst>
      <p:ext uri="{BB962C8B-B14F-4D97-AF65-F5344CB8AC3E}">
        <p14:creationId xmlns:p14="http://schemas.microsoft.com/office/powerpoint/2010/main" val="2919780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4893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r>
              <a:rPr lang="en-US" altLang="ja-JP" sz="1600" b="1" dirty="0">
                <a:latin typeface="Meiryo UI" panose="020B0604030504040204" pitchFamily="50" charset="-128"/>
                <a:ea typeface="Meiryo UI" panose="020B0604030504040204" pitchFamily="50" charset="-128"/>
              </a:rPr>
              <a:t>2024</a:t>
            </a:r>
            <a:r>
              <a:rPr lang="ja-JP" altLang="en-US" sz="1600" b="1" dirty="0">
                <a:latin typeface="Meiryo UI" panose="020B0604030504040204" pitchFamily="50" charset="-128"/>
                <a:ea typeface="Meiryo UI" panose="020B0604030504040204" pitchFamily="50" charset="-128"/>
              </a:rPr>
              <a:t>年度（都道府県分）推進：目標</a:t>
            </a:r>
            <a:r>
              <a:rPr lang="en-US" altLang="ja-JP" sz="1600" b="1" dirty="0">
                <a:latin typeface="Meiryo UI" panose="020B0604030504040204" pitchFamily="50" charset="-128"/>
                <a:ea typeface="Meiryo UI" panose="020B0604030504040204" pitchFamily="50" charset="-128"/>
              </a:rPr>
              <a:t>Ⅰ</a:t>
            </a:r>
            <a:r>
              <a:rPr lang="ja-JP" altLang="en-US" sz="1600" b="1" dirty="0">
                <a:latin typeface="Meiryo UI" panose="020B0604030504040204" pitchFamily="50" charset="-128"/>
                <a:ea typeface="Meiryo UI" panose="020B0604030504040204" pitchFamily="50" charset="-128"/>
              </a:rPr>
              <a:t>「持続可能な地域のあるべき姿をかたちにする」得点</a:t>
            </a:r>
          </a:p>
        </p:txBody>
      </p:sp>
      <p:sp>
        <p:nvSpPr>
          <p:cNvPr id="6" name="スライド番号プレースホルダー 1">
            <a:extLst>
              <a:ext uri="{FF2B5EF4-FFF2-40B4-BE49-F238E27FC236}">
                <a16:creationId xmlns:a16="http://schemas.microsoft.com/office/drawing/2014/main" id="{D7CF623F-BBAC-4528-8FDC-956FE5030D67}"/>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24</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CA5128AE-DDD1-7955-468F-7179D258067E}"/>
              </a:ext>
            </a:extLst>
          </p:cNvPr>
          <p:cNvPicPr>
            <a:picLocks noChangeAspect="1"/>
          </p:cNvPicPr>
          <p:nvPr/>
        </p:nvPicPr>
        <p:blipFill>
          <a:blip r:embed="rId3"/>
          <a:stretch>
            <a:fillRect/>
          </a:stretch>
        </p:blipFill>
        <p:spPr>
          <a:xfrm>
            <a:off x="468131" y="472084"/>
            <a:ext cx="9005316" cy="6172200"/>
          </a:xfrm>
          <a:prstGeom prst="rect">
            <a:avLst/>
          </a:prstGeom>
        </p:spPr>
      </p:pic>
    </p:spTree>
    <p:extLst>
      <p:ext uri="{BB962C8B-B14F-4D97-AF65-F5344CB8AC3E}">
        <p14:creationId xmlns:p14="http://schemas.microsoft.com/office/powerpoint/2010/main" val="1153910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4893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r>
              <a:rPr lang="en-US" altLang="ja-JP" sz="1600" b="1" dirty="0">
                <a:latin typeface="Meiryo UI" panose="020B0604030504040204" pitchFamily="50" charset="-128"/>
                <a:ea typeface="Meiryo UI" panose="020B0604030504040204" pitchFamily="50" charset="-128"/>
              </a:rPr>
              <a:t>2024</a:t>
            </a:r>
            <a:r>
              <a:rPr lang="ja-JP" altLang="en-US" sz="1600" b="1">
                <a:latin typeface="Meiryo UI" panose="020B0604030504040204" pitchFamily="50" charset="-128"/>
                <a:ea typeface="Meiryo UI" panose="020B0604030504040204" pitchFamily="50" charset="-128"/>
              </a:rPr>
              <a:t>年度（都道府県分</a:t>
            </a:r>
            <a:r>
              <a:rPr lang="ja-JP" altLang="en-US" sz="1600" b="1" dirty="0">
                <a:latin typeface="Meiryo UI" panose="020B0604030504040204" pitchFamily="50" charset="-128"/>
                <a:ea typeface="Meiryo UI" panose="020B0604030504040204" pitchFamily="50" charset="-128"/>
              </a:rPr>
              <a:t>）推進：目標</a:t>
            </a:r>
            <a:r>
              <a:rPr lang="en-US" altLang="ja-JP" sz="1600" b="1" dirty="0">
                <a:latin typeface="Meiryo UI" panose="020B0604030504040204" pitchFamily="50" charset="-128"/>
                <a:ea typeface="Meiryo UI" panose="020B0604030504040204" pitchFamily="50" charset="-128"/>
              </a:rPr>
              <a:t>Ⅱ</a:t>
            </a:r>
            <a:r>
              <a:rPr lang="ja-JP" altLang="en-US" sz="1600" b="1" dirty="0">
                <a:latin typeface="Meiryo UI" panose="020B0604030504040204" pitchFamily="50" charset="-128"/>
                <a:ea typeface="Meiryo UI" panose="020B0604030504040204" pitchFamily="50" charset="-128"/>
              </a:rPr>
              <a:t>「公正・公平な給付を行う体制を構築する」得点</a:t>
            </a:r>
          </a:p>
        </p:txBody>
      </p:sp>
      <p:sp>
        <p:nvSpPr>
          <p:cNvPr id="6" name="スライド番号プレースホルダー 1">
            <a:extLst>
              <a:ext uri="{FF2B5EF4-FFF2-40B4-BE49-F238E27FC236}">
                <a16:creationId xmlns:a16="http://schemas.microsoft.com/office/drawing/2014/main" id="{D7CF623F-BBAC-4528-8FDC-956FE5030D67}"/>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25</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86360F53-2C92-1E59-960F-08D75ED3DFA1}"/>
              </a:ext>
            </a:extLst>
          </p:cNvPr>
          <p:cNvPicPr>
            <a:picLocks noChangeAspect="1"/>
          </p:cNvPicPr>
          <p:nvPr/>
        </p:nvPicPr>
        <p:blipFill>
          <a:blip r:embed="rId3"/>
          <a:stretch>
            <a:fillRect/>
          </a:stretch>
        </p:blipFill>
        <p:spPr>
          <a:xfrm>
            <a:off x="342995" y="443706"/>
            <a:ext cx="9034272" cy="6134100"/>
          </a:xfrm>
          <a:prstGeom prst="rect">
            <a:avLst/>
          </a:prstGeom>
        </p:spPr>
      </p:pic>
    </p:spTree>
    <p:extLst>
      <p:ext uri="{BB962C8B-B14F-4D97-AF65-F5344CB8AC3E}">
        <p14:creationId xmlns:p14="http://schemas.microsoft.com/office/powerpoint/2010/main" val="1557794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4893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r>
              <a:rPr lang="en-US" altLang="ja-JP" sz="1600" b="1" dirty="0">
                <a:latin typeface="Meiryo UI" panose="020B0604030504040204" pitchFamily="50" charset="-128"/>
                <a:ea typeface="Meiryo UI" panose="020B0604030504040204" pitchFamily="50" charset="-128"/>
              </a:rPr>
              <a:t>2024</a:t>
            </a:r>
            <a:r>
              <a:rPr lang="ja-JP" altLang="en-US" sz="1600" b="1" dirty="0">
                <a:latin typeface="Meiryo UI" panose="020B0604030504040204" pitchFamily="50" charset="-128"/>
                <a:ea typeface="Meiryo UI" panose="020B0604030504040204" pitchFamily="50" charset="-128"/>
              </a:rPr>
              <a:t>年度（都道府県分）推進：目標</a:t>
            </a:r>
            <a:r>
              <a:rPr lang="en-US" altLang="ja-JP" sz="1600" b="1" dirty="0">
                <a:latin typeface="Meiryo UI" panose="020B0604030504040204" pitchFamily="50" charset="-128"/>
                <a:ea typeface="Meiryo UI" panose="020B0604030504040204" pitchFamily="50" charset="-128"/>
              </a:rPr>
              <a:t>Ⅲ</a:t>
            </a:r>
            <a:r>
              <a:rPr lang="ja-JP" altLang="en-US" sz="1600" b="1" dirty="0">
                <a:latin typeface="Meiryo UI" panose="020B0604030504040204" pitchFamily="50" charset="-128"/>
                <a:ea typeface="Meiryo UI" panose="020B0604030504040204" pitchFamily="50" charset="-128"/>
              </a:rPr>
              <a:t>「介護人材の確保その他のサービス提供基盤の整備を推進する」得点</a:t>
            </a:r>
          </a:p>
        </p:txBody>
      </p:sp>
      <p:sp>
        <p:nvSpPr>
          <p:cNvPr id="6" name="スライド番号プレースホルダー 1">
            <a:extLst>
              <a:ext uri="{FF2B5EF4-FFF2-40B4-BE49-F238E27FC236}">
                <a16:creationId xmlns:a16="http://schemas.microsoft.com/office/drawing/2014/main" id="{D7CF623F-BBAC-4528-8FDC-956FE5030D67}"/>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26</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7" name="図 6">
            <a:extLst>
              <a:ext uri="{FF2B5EF4-FFF2-40B4-BE49-F238E27FC236}">
                <a16:creationId xmlns:a16="http://schemas.microsoft.com/office/drawing/2014/main" id="{8B32560E-D5C5-FCF1-5256-4A3443812F60}"/>
              </a:ext>
            </a:extLst>
          </p:cNvPr>
          <p:cNvPicPr>
            <a:picLocks noChangeAspect="1"/>
          </p:cNvPicPr>
          <p:nvPr/>
        </p:nvPicPr>
        <p:blipFill>
          <a:blip r:embed="rId3"/>
          <a:stretch>
            <a:fillRect/>
          </a:stretch>
        </p:blipFill>
        <p:spPr>
          <a:xfrm>
            <a:off x="354424" y="459515"/>
            <a:ext cx="9011412" cy="6161532"/>
          </a:xfrm>
          <a:prstGeom prst="rect">
            <a:avLst/>
          </a:prstGeom>
        </p:spPr>
      </p:pic>
    </p:spTree>
    <p:extLst>
      <p:ext uri="{BB962C8B-B14F-4D97-AF65-F5344CB8AC3E}">
        <p14:creationId xmlns:p14="http://schemas.microsoft.com/office/powerpoint/2010/main" val="2096930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4893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r>
              <a:rPr lang="en-US" altLang="ja-JP" sz="1600" b="1" dirty="0">
                <a:latin typeface="Meiryo UI" panose="020B0604030504040204" pitchFamily="50" charset="-128"/>
                <a:ea typeface="Meiryo UI" panose="020B0604030504040204" pitchFamily="50" charset="-128"/>
              </a:rPr>
              <a:t>2024</a:t>
            </a:r>
            <a:r>
              <a:rPr lang="ja-JP" altLang="en-US" sz="1600" b="1" dirty="0">
                <a:latin typeface="Meiryo UI" panose="020B0604030504040204" pitchFamily="50" charset="-128"/>
                <a:ea typeface="Meiryo UI" panose="020B0604030504040204" pitchFamily="50" charset="-128"/>
              </a:rPr>
              <a:t>年度（都道府県分）支援：目標</a:t>
            </a:r>
            <a:r>
              <a:rPr lang="en-US" altLang="ja-JP" sz="1600" b="1" dirty="0">
                <a:latin typeface="Meiryo UI" panose="020B0604030504040204" pitchFamily="50" charset="-128"/>
                <a:ea typeface="Meiryo UI" panose="020B0604030504040204" pitchFamily="50" charset="-128"/>
              </a:rPr>
              <a:t>Ⅰ</a:t>
            </a:r>
            <a:r>
              <a:rPr lang="ja-JP" altLang="en-US" sz="1600" b="1" dirty="0">
                <a:latin typeface="Meiryo UI" panose="020B0604030504040204" pitchFamily="50" charset="-128"/>
                <a:ea typeface="Meiryo UI" panose="020B0604030504040204" pitchFamily="50" charset="-128"/>
              </a:rPr>
              <a:t>「介護予防</a:t>
            </a:r>
            <a:r>
              <a:rPr lang="en-US" altLang="ja-JP" sz="1600" b="1" dirty="0">
                <a:latin typeface="Meiryo UI" panose="020B0604030504040204" pitchFamily="50" charset="-128"/>
                <a:ea typeface="Meiryo UI" panose="020B0604030504040204" pitchFamily="50" charset="-128"/>
              </a:rPr>
              <a:t>/</a:t>
            </a:r>
            <a:r>
              <a:rPr lang="ja-JP" altLang="en-US" sz="1600" b="1" dirty="0">
                <a:latin typeface="Meiryo UI" panose="020B0604030504040204" pitchFamily="50" charset="-128"/>
                <a:ea typeface="Meiryo UI" panose="020B0604030504040204" pitchFamily="50" charset="-128"/>
              </a:rPr>
              <a:t>日常生活支援を推進する」得点</a:t>
            </a:r>
          </a:p>
        </p:txBody>
      </p:sp>
      <p:sp>
        <p:nvSpPr>
          <p:cNvPr id="6" name="スライド番号プレースホルダー 1">
            <a:extLst>
              <a:ext uri="{FF2B5EF4-FFF2-40B4-BE49-F238E27FC236}">
                <a16:creationId xmlns:a16="http://schemas.microsoft.com/office/drawing/2014/main" id="{D7CF623F-BBAC-4528-8FDC-956FE5030D67}"/>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27</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C6A97B1A-B108-FA22-9FCE-B0F80E0A4933}"/>
              </a:ext>
            </a:extLst>
          </p:cNvPr>
          <p:cNvPicPr>
            <a:picLocks noChangeAspect="1"/>
          </p:cNvPicPr>
          <p:nvPr/>
        </p:nvPicPr>
        <p:blipFill>
          <a:blip r:embed="rId3"/>
          <a:stretch>
            <a:fillRect/>
          </a:stretch>
        </p:blipFill>
        <p:spPr>
          <a:xfrm>
            <a:off x="684131" y="514911"/>
            <a:ext cx="8496000" cy="6438576"/>
          </a:xfrm>
          <a:prstGeom prst="rect">
            <a:avLst/>
          </a:prstGeom>
        </p:spPr>
      </p:pic>
    </p:spTree>
    <p:extLst>
      <p:ext uri="{BB962C8B-B14F-4D97-AF65-F5344CB8AC3E}">
        <p14:creationId xmlns:p14="http://schemas.microsoft.com/office/powerpoint/2010/main" val="3841233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4893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r>
              <a:rPr lang="en-US" altLang="ja-JP" sz="1600" b="1" dirty="0">
                <a:latin typeface="Meiryo UI" panose="020B0604030504040204" pitchFamily="50" charset="-128"/>
                <a:ea typeface="Meiryo UI" panose="020B0604030504040204" pitchFamily="50" charset="-128"/>
              </a:rPr>
              <a:t>2024</a:t>
            </a:r>
            <a:r>
              <a:rPr lang="ja-JP" altLang="en-US" sz="1600" b="1" dirty="0">
                <a:latin typeface="Meiryo UI" panose="020B0604030504040204" pitchFamily="50" charset="-128"/>
                <a:ea typeface="Meiryo UI" panose="020B0604030504040204" pitchFamily="50" charset="-128"/>
              </a:rPr>
              <a:t>年度（都道府県分）支援：目標</a:t>
            </a:r>
            <a:r>
              <a:rPr lang="en-US" altLang="ja-JP" sz="1600" b="1" dirty="0">
                <a:latin typeface="Meiryo UI" panose="020B0604030504040204" pitchFamily="50" charset="-128"/>
                <a:ea typeface="Meiryo UI" panose="020B0604030504040204" pitchFamily="50" charset="-128"/>
              </a:rPr>
              <a:t>Ⅱ</a:t>
            </a:r>
            <a:r>
              <a:rPr lang="ja-JP" altLang="en-US" sz="1600" b="1" dirty="0">
                <a:latin typeface="Meiryo UI" panose="020B0604030504040204" pitchFamily="50" charset="-128"/>
                <a:ea typeface="Meiryo UI" panose="020B0604030504040204" pitchFamily="50" charset="-128"/>
              </a:rPr>
              <a:t>「認知症総合支援を推進する」得点</a:t>
            </a:r>
          </a:p>
        </p:txBody>
      </p:sp>
      <p:sp>
        <p:nvSpPr>
          <p:cNvPr id="6" name="スライド番号プレースホルダー 1">
            <a:extLst>
              <a:ext uri="{FF2B5EF4-FFF2-40B4-BE49-F238E27FC236}">
                <a16:creationId xmlns:a16="http://schemas.microsoft.com/office/drawing/2014/main" id="{D7CF623F-BBAC-4528-8FDC-956FE5030D67}"/>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28</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8D707CF9-30D8-2ABA-2D04-37CCB44381BB}"/>
              </a:ext>
            </a:extLst>
          </p:cNvPr>
          <p:cNvPicPr>
            <a:picLocks noChangeAspect="1"/>
          </p:cNvPicPr>
          <p:nvPr/>
        </p:nvPicPr>
        <p:blipFill>
          <a:blip r:embed="rId3"/>
          <a:stretch>
            <a:fillRect/>
          </a:stretch>
        </p:blipFill>
        <p:spPr>
          <a:xfrm>
            <a:off x="354425" y="472662"/>
            <a:ext cx="9011412" cy="6076188"/>
          </a:xfrm>
          <a:prstGeom prst="rect">
            <a:avLst/>
          </a:prstGeom>
        </p:spPr>
      </p:pic>
    </p:spTree>
    <p:extLst>
      <p:ext uri="{BB962C8B-B14F-4D97-AF65-F5344CB8AC3E}">
        <p14:creationId xmlns:p14="http://schemas.microsoft.com/office/powerpoint/2010/main" val="946307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4893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marL="0" marR="0" lvl="0" indent="0" algn="ctr" defTabSz="93258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2024</a:t>
            </a:r>
            <a:r>
              <a:rPr kumimoji="1" lang="ja-JP" altLang="en-US" sz="16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年度（都道府県分）支援：目標</a:t>
            </a:r>
            <a:r>
              <a:rPr kumimoji="1" lang="en-US" altLang="ja-JP" sz="16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Ⅲ</a:t>
            </a:r>
            <a:r>
              <a:rPr kumimoji="1" lang="ja-JP" altLang="en-US" sz="16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「在宅医療・在宅介護連携の体制を構築する」得点</a:t>
            </a:r>
          </a:p>
        </p:txBody>
      </p:sp>
      <p:sp>
        <p:nvSpPr>
          <p:cNvPr id="6" name="スライド番号プレースホルダー 1">
            <a:extLst>
              <a:ext uri="{FF2B5EF4-FFF2-40B4-BE49-F238E27FC236}">
                <a16:creationId xmlns:a16="http://schemas.microsoft.com/office/drawing/2014/main" id="{D7CF623F-BBAC-4528-8FDC-956FE5030D67}"/>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9E2A29CB-BA86-48A6-80E1-CB8750A963B5}" type="slidenum">
              <a:rPr kumimoji="1" lang="ja-JP" altLang="en-US" sz="1178"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ja-JP" altLang="en-US" sz="1178"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pic>
        <p:nvPicPr>
          <p:cNvPr id="3" name="図 2">
            <a:extLst>
              <a:ext uri="{FF2B5EF4-FFF2-40B4-BE49-F238E27FC236}">
                <a16:creationId xmlns:a16="http://schemas.microsoft.com/office/drawing/2014/main" id="{FEF1A052-DD30-85EB-89FE-008FACAA7949}"/>
              </a:ext>
            </a:extLst>
          </p:cNvPr>
          <p:cNvPicPr>
            <a:picLocks noChangeAspect="1"/>
          </p:cNvPicPr>
          <p:nvPr/>
        </p:nvPicPr>
        <p:blipFill>
          <a:blip r:embed="rId3"/>
          <a:stretch>
            <a:fillRect/>
          </a:stretch>
        </p:blipFill>
        <p:spPr>
          <a:xfrm>
            <a:off x="360520" y="712952"/>
            <a:ext cx="8999220" cy="6074664"/>
          </a:xfrm>
          <a:prstGeom prst="rect">
            <a:avLst/>
          </a:prstGeom>
        </p:spPr>
      </p:pic>
    </p:spTree>
    <p:extLst>
      <p:ext uri="{BB962C8B-B14F-4D97-AF65-F5344CB8AC3E}">
        <p14:creationId xmlns:p14="http://schemas.microsoft.com/office/powerpoint/2010/main" val="1430181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a:xfrm>
            <a:off x="-1" y="-17244"/>
            <a:ext cx="9720263" cy="4893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r>
              <a:rPr lang="en-US" altLang="ja-JP" sz="1400" b="1" dirty="0">
                <a:latin typeface="Meiryo UI" panose="020B0604030504040204" pitchFamily="50" charset="-128"/>
                <a:ea typeface="Meiryo UI" panose="020B0604030504040204" pitchFamily="50" charset="-128"/>
              </a:rPr>
              <a:t>2024</a:t>
            </a:r>
            <a:r>
              <a:rPr lang="ja-JP" altLang="en-US" sz="1400" b="1" dirty="0">
                <a:latin typeface="Meiryo UI" panose="020B0604030504040204" pitchFamily="50" charset="-128"/>
                <a:ea typeface="Meiryo UI" panose="020B0604030504040204" pitchFamily="50" charset="-128"/>
              </a:rPr>
              <a:t>年度（都道府県分）推進・支援共通：目標</a:t>
            </a:r>
            <a:r>
              <a:rPr lang="en-US" altLang="ja-JP" sz="1400" b="1" dirty="0">
                <a:latin typeface="Meiryo UI" panose="020B0604030504040204" pitchFamily="50" charset="-128"/>
                <a:ea typeface="Meiryo UI" panose="020B0604030504040204" pitchFamily="50" charset="-128"/>
              </a:rPr>
              <a:t>Ⅳ</a:t>
            </a:r>
            <a:r>
              <a:rPr lang="ja-JP" altLang="en-US" sz="1400" b="1" dirty="0">
                <a:latin typeface="Meiryo UI" panose="020B0604030504040204" pitchFamily="50" charset="-128"/>
                <a:ea typeface="Meiryo UI" panose="020B0604030504040204" pitchFamily="50" charset="-128"/>
              </a:rPr>
              <a:t>「高齢者がその状況に応じて可能な限り自立した日常生活を営む」得点</a:t>
            </a:r>
          </a:p>
        </p:txBody>
      </p:sp>
      <p:sp>
        <p:nvSpPr>
          <p:cNvPr id="6" name="スライド番号プレースホルダー 1">
            <a:extLst>
              <a:ext uri="{FF2B5EF4-FFF2-40B4-BE49-F238E27FC236}">
                <a16:creationId xmlns:a16="http://schemas.microsoft.com/office/drawing/2014/main" id="{D7CF623F-BBAC-4528-8FDC-956FE5030D67}"/>
              </a:ext>
            </a:extLst>
          </p:cNvPr>
          <p:cNvSpPr txBox="1">
            <a:spLocks/>
          </p:cNvSpPr>
          <p:nvPr/>
        </p:nvSpPr>
        <p:spPr>
          <a:xfrm>
            <a:off x="7308131" y="6534756"/>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30</a:t>
            </a:fld>
            <a:endParaRPr lang="ja-JP" altLang="en-US" sz="1178" b="1" dirty="0">
              <a:solidFill>
                <a:schemeClr val="tx1"/>
              </a:solidFill>
              <a:latin typeface="Meiryo UI" panose="020B0604030504040204" pitchFamily="50" charset="-128"/>
              <a:ea typeface="Meiryo UI" panose="020B0604030504040204" pitchFamily="50" charset="-128"/>
            </a:endParaRPr>
          </a:p>
        </p:txBody>
      </p:sp>
      <p:pic>
        <p:nvPicPr>
          <p:cNvPr id="5" name="図 4">
            <a:extLst>
              <a:ext uri="{FF2B5EF4-FFF2-40B4-BE49-F238E27FC236}">
                <a16:creationId xmlns:a16="http://schemas.microsoft.com/office/drawing/2014/main" id="{C2C14AD0-2764-7FE9-CCEF-AA93FABF164D}"/>
              </a:ext>
            </a:extLst>
          </p:cNvPr>
          <p:cNvPicPr>
            <a:picLocks noChangeAspect="1"/>
          </p:cNvPicPr>
          <p:nvPr/>
        </p:nvPicPr>
        <p:blipFill>
          <a:blip r:embed="rId3"/>
          <a:stretch>
            <a:fillRect/>
          </a:stretch>
        </p:blipFill>
        <p:spPr>
          <a:xfrm>
            <a:off x="349091" y="458946"/>
            <a:ext cx="9022080" cy="6103620"/>
          </a:xfrm>
          <a:prstGeom prst="rect">
            <a:avLst/>
          </a:prstGeom>
        </p:spPr>
      </p:pic>
    </p:spTree>
    <p:extLst>
      <p:ext uri="{BB962C8B-B14F-4D97-AF65-F5344CB8AC3E}">
        <p14:creationId xmlns:p14="http://schemas.microsoft.com/office/powerpoint/2010/main" val="2744163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20522"/>
            <a:ext cx="9720263" cy="43527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r>
              <a:rPr lang="ja-JP" altLang="en-US" sz="2000" b="1" dirty="0">
                <a:solidFill>
                  <a:prstClr val="white"/>
                </a:solidFill>
                <a:latin typeface="Meiryo UI" panose="020B0604030504040204" pitchFamily="50" charset="-128"/>
                <a:ea typeface="Meiryo UI" panose="020B0604030504040204" pitchFamily="50" charset="-128"/>
              </a:rPr>
              <a:t>（</a:t>
            </a:r>
            <a:r>
              <a:rPr lang="ja-JP" altLang="en-US" sz="2000" b="1">
                <a:solidFill>
                  <a:prstClr val="white"/>
                </a:solidFill>
                <a:latin typeface="Meiryo UI" panose="020B0604030504040204" pitchFamily="50" charset="-128"/>
                <a:ea typeface="Meiryo UI" panose="020B0604030504040204" pitchFamily="50" charset="-128"/>
              </a:rPr>
              <a:t>参考）</a:t>
            </a:r>
            <a:r>
              <a:rPr lang="zh-TW" altLang="en-US" sz="2000" b="1" dirty="0">
                <a:solidFill>
                  <a:prstClr val="white"/>
                </a:solidFill>
                <a:latin typeface="Meiryo UI" panose="020B0604030504040204" pitchFamily="50" charset="-128"/>
                <a:ea typeface="Meiryo UI" panose="020B0604030504040204" pitchFamily="50" charset="-128"/>
              </a:rPr>
              <a:t>令和６年度</a:t>
            </a:r>
            <a:r>
              <a:rPr lang="ja-JP" altLang="en-US" sz="2000" b="1" dirty="0">
                <a:solidFill>
                  <a:prstClr val="white"/>
                </a:solidFill>
                <a:latin typeface="Meiryo UI" panose="020B0604030504040204" pitchFamily="50" charset="-128"/>
                <a:ea typeface="Meiryo UI" panose="020B0604030504040204" pitchFamily="50" charset="-128"/>
              </a:rPr>
              <a:t>保険者機能強化推進</a:t>
            </a:r>
            <a:r>
              <a:rPr lang="ja-JP" altLang="en-US" sz="2000" b="1">
                <a:solidFill>
                  <a:prstClr val="white"/>
                </a:solidFill>
                <a:latin typeface="Meiryo UI" panose="020B0604030504040204" pitchFamily="50" charset="-128"/>
                <a:ea typeface="Meiryo UI" panose="020B0604030504040204" pitchFamily="50" charset="-128"/>
              </a:rPr>
              <a:t>交付金</a:t>
            </a:r>
            <a:r>
              <a:rPr lang="zh-TW" altLang="en-US" sz="2000" b="1" dirty="0">
                <a:solidFill>
                  <a:prstClr val="white"/>
                </a:solidFill>
                <a:latin typeface="Meiryo UI" panose="020B0604030504040204" pitchFamily="50" charset="-128"/>
                <a:ea typeface="Meiryo UI" panose="020B0604030504040204" pitchFamily="50" charset="-128"/>
              </a:rPr>
              <a:t>評価指標</a:t>
            </a:r>
            <a:r>
              <a:rPr lang="ja-JP" altLang="en-US" sz="2000" b="1" dirty="0">
                <a:solidFill>
                  <a:prstClr val="white"/>
                </a:solidFill>
                <a:latin typeface="Meiryo UI" panose="020B0604030504040204" pitchFamily="50" charset="-128"/>
                <a:ea typeface="Meiryo UI" panose="020B0604030504040204" pitchFamily="50" charset="-128"/>
              </a:rPr>
              <a:t>（</a:t>
            </a:r>
            <a:r>
              <a:rPr lang="ja-JP" altLang="en-US" sz="2000" b="1">
                <a:solidFill>
                  <a:prstClr val="white"/>
                </a:solidFill>
                <a:latin typeface="Meiryo UI" panose="020B0604030504040204" pitchFamily="50" charset="-128"/>
                <a:ea typeface="Meiryo UI" panose="020B0604030504040204" pitchFamily="50" charset="-128"/>
              </a:rPr>
              <a:t>都道府県分）</a:t>
            </a:r>
            <a:endParaRPr lang="en-US" altLang="ja-JP" sz="2000" b="1" dirty="0">
              <a:solidFill>
                <a:prstClr val="white"/>
              </a:solidFill>
              <a:latin typeface="Meiryo UI" panose="020B0604030504040204" pitchFamily="50" charset="-128"/>
              <a:ea typeface="Meiryo UI" panose="020B0604030504040204" pitchFamily="50" charset="-128"/>
            </a:endParaRPr>
          </a:p>
        </p:txBody>
      </p:sp>
      <p:graphicFrame>
        <p:nvGraphicFramePr>
          <p:cNvPr id="2" name="表 1"/>
          <p:cNvGraphicFramePr>
            <a:graphicFrameLocks noGrp="1"/>
          </p:cNvGraphicFramePr>
          <p:nvPr/>
        </p:nvGraphicFramePr>
        <p:xfrm>
          <a:off x="108131" y="593389"/>
          <a:ext cx="6984775" cy="6338146"/>
        </p:xfrm>
        <a:graphic>
          <a:graphicData uri="http://schemas.openxmlformats.org/drawingml/2006/table">
            <a:tbl>
              <a:tblPr firstRow="1" bandRow="1">
                <a:tableStyleId>{5C22544A-7EE6-4342-B048-85BDC9FD1C3A}</a:tableStyleId>
              </a:tblPr>
              <a:tblGrid>
                <a:gridCol w="392403">
                  <a:extLst>
                    <a:ext uri="{9D8B030D-6E8A-4147-A177-3AD203B41FA5}">
                      <a16:colId xmlns:a16="http://schemas.microsoft.com/office/drawing/2014/main" val="3309622065"/>
                    </a:ext>
                  </a:extLst>
                </a:gridCol>
                <a:gridCol w="3856117">
                  <a:extLst>
                    <a:ext uri="{9D8B030D-6E8A-4147-A177-3AD203B41FA5}">
                      <a16:colId xmlns:a16="http://schemas.microsoft.com/office/drawing/2014/main" val="1200025529"/>
                    </a:ext>
                  </a:extLst>
                </a:gridCol>
                <a:gridCol w="2736255">
                  <a:extLst>
                    <a:ext uri="{9D8B030D-6E8A-4147-A177-3AD203B41FA5}">
                      <a16:colId xmlns:a16="http://schemas.microsoft.com/office/drawing/2014/main" val="1263091272"/>
                    </a:ext>
                  </a:extLst>
                </a:gridCol>
              </a:tblGrid>
              <a:tr h="303022">
                <a:tc>
                  <a:txBody>
                    <a:bodyPr/>
                    <a:lstStyle/>
                    <a:p>
                      <a:pPr>
                        <a:lnSpc>
                          <a:spcPts val="1400"/>
                        </a:lnSpc>
                      </a:pPr>
                      <a:endParaRPr kumimoji="1" lang="ja-JP" altLang="en-US" sz="1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50000"/>
                      </a:schemeClr>
                    </a:solidFill>
                  </a:tcPr>
                </a:tc>
                <a:tc>
                  <a:txBody>
                    <a:bodyPr/>
                    <a:lstStyle/>
                    <a:p>
                      <a:pPr algn="ctr">
                        <a:lnSpc>
                          <a:spcPts val="1400"/>
                        </a:lnSpc>
                      </a:pPr>
                      <a:r>
                        <a:rPr kumimoji="1" lang="ja-JP" altLang="en-US" sz="1000" dirty="0"/>
                        <a:t>体制・取組指標群（プロセス指標）</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50000"/>
                      </a:schemeClr>
                    </a:solidFill>
                  </a:tcPr>
                </a:tc>
                <a:tc>
                  <a:txBody>
                    <a:bodyPr/>
                    <a:lstStyle/>
                    <a:p>
                      <a:pPr algn="ctr">
                        <a:lnSpc>
                          <a:spcPts val="1400"/>
                        </a:lnSpc>
                      </a:pPr>
                      <a:r>
                        <a:rPr kumimoji="1" lang="ja-JP" altLang="en-US" sz="1000" i="0" dirty="0"/>
                        <a:t>活動指標群</a:t>
                      </a:r>
                      <a:r>
                        <a:rPr kumimoji="1" lang="ja-JP" altLang="en-US" sz="900" i="0" dirty="0"/>
                        <a:t>（中間アウトカム・アウトプット指標）</a:t>
                      </a:r>
                      <a:endParaRPr kumimoji="1" lang="ja-JP" altLang="en-US" sz="9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3723466751"/>
                  </a:ext>
                </a:extLst>
              </a:tr>
              <a:tr h="301086">
                <a:tc rowSpan="10">
                  <a:txBody>
                    <a:bodyPr/>
                    <a:lstStyle/>
                    <a:p>
                      <a:pPr algn="ctr">
                        <a:lnSpc>
                          <a:spcPts val="1400"/>
                        </a:lnSpc>
                      </a:pPr>
                      <a:r>
                        <a:rPr kumimoji="1" lang="ja-JP" altLang="en-US" sz="1000" dirty="0"/>
                        <a:t>保険者機能強化推進交付金</a:t>
                      </a:r>
                    </a:p>
                  </a:txBody>
                  <a:tcPr vert="eaVert">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tc gridSpan="2">
                  <a:txBody>
                    <a:bodyPr/>
                    <a:lstStyle/>
                    <a:p>
                      <a:pPr>
                        <a:lnSpc>
                          <a:spcPts val="1400"/>
                        </a:lnSpc>
                      </a:pPr>
                      <a:r>
                        <a:rPr kumimoji="1" lang="ja-JP" altLang="en-US" sz="1050" i="0" dirty="0">
                          <a:latin typeface="ＤＦ特太ゴシック体" panose="020B0509000000000000" pitchFamily="49" charset="-128"/>
                          <a:ea typeface="ＤＦ特太ゴシック体" panose="020B0509000000000000" pitchFamily="49" charset="-128"/>
                        </a:rPr>
                        <a:t>目標</a:t>
                      </a:r>
                      <a:r>
                        <a:rPr kumimoji="1" lang="en-US" altLang="ja-JP" sz="1050" i="0" dirty="0">
                          <a:latin typeface="ＤＦ特太ゴシック体" panose="020B0509000000000000" pitchFamily="49" charset="-128"/>
                          <a:ea typeface="ＤＦ特太ゴシック体" panose="020B0509000000000000" pitchFamily="49" charset="-128"/>
                        </a:rPr>
                        <a:t>Ⅰ</a:t>
                      </a:r>
                      <a:r>
                        <a:rPr kumimoji="1" lang="ja-JP" altLang="en-US" sz="1050" i="0" dirty="0">
                          <a:latin typeface="ＤＦ特太ゴシック体" panose="020B0509000000000000" pitchFamily="49" charset="-128"/>
                          <a:ea typeface="ＤＦ特太ゴシック体" panose="020B0509000000000000" pitchFamily="49" charset="-128"/>
                        </a:rPr>
                        <a:t>　持続可能な地域のあるべき姿をかたちにする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extLst>
                  <a:ext uri="{0D108BD9-81ED-4DB2-BD59-A6C34878D82A}">
                    <a16:rowId xmlns:a16="http://schemas.microsoft.com/office/drawing/2014/main" val="3271202915"/>
                  </a:ext>
                </a:extLst>
              </a:tr>
              <a:tr h="807241">
                <a:tc vMerge="1">
                  <a:txBody>
                    <a:bodyPr/>
                    <a:lstStyle/>
                    <a:p>
                      <a:endParaRPr kumimoji="1" lang="ja-JP" altLang="en-US"/>
                    </a:p>
                  </a:txBody>
                  <a:tcPr/>
                </a:tc>
                <a:tc>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１　管内における地域課題の解決や地域差（管内市町村間の一人当たり給付費の差）の把握・分析、その改善に向けた市町村支援を実施しているか。</a:t>
                      </a:r>
                      <a:endParaRPr kumimoji="1" lang="en-US" altLang="ja-JP" sz="1000" kern="1200" dirty="0">
                        <a:solidFill>
                          <a:schemeClr val="dk1"/>
                        </a:solidFill>
                        <a:latin typeface="+mn-lt"/>
                        <a:ea typeface="+mn-ea"/>
                        <a:cs typeface="+mn-cs"/>
                      </a:endParaRP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　</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地域課題や地域差の改善に向けた市町村支援の状況を評価</a:t>
                      </a: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bg1"/>
                    </a:solidFill>
                  </a:tcPr>
                </a:tc>
                <a:tc rowSpan="2">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１　今年度の評価得点</a:t>
                      </a: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２　今年度の管内市町村全体の平均得点</a:t>
                      </a: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３　管内市町村における１人当たり給付費の差の状況</a:t>
                      </a: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４　管内市町村における年齢調整後要介護認定率の差の状況</a:t>
                      </a: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５　市町村支援の実施状況</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bg1"/>
                    </a:solidFill>
                  </a:tcPr>
                </a:tc>
                <a:extLst>
                  <a:ext uri="{0D108BD9-81ED-4DB2-BD59-A6C34878D82A}">
                    <a16:rowId xmlns:a16="http://schemas.microsoft.com/office/drawing/2014/main" val="1307639872"/>
                  </a:ext>
                </a:extLst>
              </a:tr>
              <a:tr h="804782">
                <a:tc vMerge="1">
                  <a:txBody>
                    <a:bodyPr/>
                    <a:lstStyle/>
                    <a:p>
                      <a:endParaRPr kumimoji="1" lang="ja-JP" altLang="en-US" sz="1050" dirty="0"/>
                    </a:p>
                  </a:txBody>
                  <a:tcPr/>
                </a:tc>
                <a:tc>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２　保険者機能強化推進交付金等に係る評価結果を活用し、管内市町村間の比較、課題分析、その改善に向けた取組を実施しているか。</a:t>
                      </a:r>
                      <a:endParaRPr kumimoji="1" lang="en-US" altLang="ja-JP" sz="1000" kern="1200" dirty="0">
                        <a:solidFill>
                          <a:schemeClr val="dk1"/>
                        </a:solidFill>
                        <a:latin typeface="+mn-lt"/>
                        <a:ea typeface="+mn-ea"/>
                        <a:cs typeface="+mn-cs"/>
                      </a:endParaRP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　市町村支援の実施に当たっての評価結果の活用状況を評価</a:t>
                      </a: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marL="62865" marR="6286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3464236"/>
                  </a:ext>
                </a:extLst>
              </a:tr>
              <a:tr h="301086">
                <a:tc vMerge="1">
                  <a:txBody>
                    <a:bodyPr/>
                    <a:lstStyle/>
                    <a:p>
                      <a:pPr algn="ctr"/>
                      <a:endParaRPr kumimoji="1" lang="ja-JP" altLang="en-US" sz="1000" dirty="0"/>
                    </a:p>
                  </a:txBody>
                  <a:tcPr vert="eaVe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gridSpan="2">
                  <a:txBody>
                    <a:bodyPr/>
                    <a:lstStyle/>
                    <a:p>
                      <a:pPr marL="0" algn="l" defTabSz="897212" rtl="0" eaLnBrk="1" latinLnBrk="0" hangingPunct="1">
                        <a:lnSpc>
                          <a:spcPts val="1400"/>
                        </a:lnSpc>
                      </a:pPr>
                      <a:r>
                        <a:rPr kumimoji="1" lang="ja-JP" altLang="en-US" sz="1050" i="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1050" i="0" kern="1200" dirty="0">
                          <a:solidFill>
                            <a:schemeClr val="dk1"/>
                          </a:solidFill>
                          <a:latin typeface="ＤＦ特太ゴシック体" panose="020B0509000000000000" pitchFamily="49" charset="-128"/>
                          <a:ea typeface="ＤＦ特太ゴシック体" panose="020B0509000000000000" pitchFamily="49" charset="-128"/>
                          <a:cs typeface="+mn-cs"/>
                        </a:rPr>
                        <a:t>Ⅱ</a:t>
                      </a:r>
                      <a:r>
                        <a:rPr kumimoji="1" lang="ja-JP" altLang="en-US" sz="1050" i="0" kern="1200" dirty="0">
                          <a:solidFill>
                            <a:schemeClr val="dk1"/>
                          </a:solidFill>
                          <a:latin typeface="ＤＦ特太ゴシック体" panose="020B0509000000000000" pitchFamily="49" charset="-128"/>
                          <a:ea typeface="ＤＦ特太ゴシック体" panose="020B0509000000000000" pitchFamily="49" charset="-128"/>
                          <a:cs typeface="+mn-cs"/>
                        </a:rPr>
                        <a:t>　公正・公平な給付を行う体制を構築する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extLst>
                  <a:ext uri="{0D108BD9-81ED-4DB2-BD59-A6C34878D82A}">
                    <a16:rowId xmlns:a16="http://schemas.microsoft.com/office/drawing/2014/main" val="2941634933"/>
                  </a:ext>
                </a:extLst>
              </a:tr>
              <a:tr h="914505">
                <a:tc vMerge="1">
                  <a:txBody>
                    <a:bodyPr/>
                    <a:lstStyle/>
                    <a:p>
                      <a:endParaRPr kumimoji="1" lang="ja-JP" altLang="en-US" sz="1050" dirty="0"/>
                    </a:p>
                  </a:txBody>
                  <a:tcPr/>
                </a:tc>
                <a:tc>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１　管内の介護給付費の適正化に向け、市町村支援を実施しているか。</a:t>
                      </a:r>
                      <a:endParaRPr kumimoji="1" lang="en-US" altLang="ja-JP" sz="1000" kern="1200" dirty="0">
                        <a:solidFill>
                          <a:schemeClr val="dk1"/>
                        </a:solidFill>
                        <a:latin typeface="+mn-lt"/>
                        <a:ea typeface="+mn-ea"/>
                        <a:cs typeface="+mn-cs"/>
                      </a:endParaRP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　介護給付費の適正化に向けた市町村支援の状況を評価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１　管内市町村のケアプラン点検の実施割合</a:t>
                      </a: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２　管内市町村の医療情報との突合の実施割合</a:t>
                      </a:r>
                      <a:endParaRPr kumimoji="1" lang="en-US" altLang="ja-JP" sz="1000" kern="1200" dirty="0">
                        <a:solidFill>
                          <a:schemeClr val="dk1"/>
                        </a:solidFill>
                        <a:latin typeface="+mn-lt"/>
                        <a:ea typeface="+mn-ea"/>
                        <a:cs typeface="+mn-cs"/>
                      </a:endParaRP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３　管内市町村の縦覧点検の実施状況</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0468346"/>
                  </a:ext>
                </a:extLst>
              </a:tr>
              <a:tr h="301086">
                <a:tc vMerge="1">
                  <a:txBody>
                    <a:bodyPr/>
                    <a:lstStyle/>
                    <a:p>
                      <a:endParaRPr kumimoji="1" lang="ja-JP" altLang="en-US" sz="1050" dirty="0"/>
                    </a:p>
                  </a:txBody>
                  <a:tcPr/>
                </a:tc>
                <a:tc gridSpan="2">
                  <a:txBody>
                    <a:bodyPr/>
                    <a:lstStyle/>
                    <a:p>
                      <a:pPr marL="0" algn="l" defTabSz="897212" rtl="0" eaLnBrk="1" latinLnBrk="0" hangingPunct="1">
                        <a:lnSpc>
                          <a:spcPts val="1400"/>
                        </a:lnSpc>
                      </a:pPr>
                      <a:r>
                        <a:rPr kumimoji="1" lang="ja-JP" altLang="en-US" sz="1050" i="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1050" i="0" kern="1200" dirty="0">
                          <a:solidFill>
                            <a:schemeClr val="dk1"/>
                          </a:solidFill>
                          <a:latin typeface="ＤＦ特太ゴシック体" panose="020B0509000000000000" pitchFamily="49" charset="-128"/>
                          <a:ea typeface="ＤＦ特太ゴシック体" panose="020B0509000000000000" pitchFamily="49" charset="-128"/>
                          <a:cs typeface="+mn-cs"/>
                        </a:rPr>
                        <a:t>Ⅲ</a:t>
                      </a:r>
                      <a:r>
                        <a:rPr kumimoji="1" lang="ja-JP" altLang="en-US" sz="1050" i="0" kern="1200" dirty="0">
                          <a:solidFill>
                            <a:schemeClr val="dk1"/>
                          </a:solidFill>
                          <a:latin typeface="ＤＦ特太ゴシック体" panose="020B0509000000000000" pitchFamily="49" charset="-128"/>
                          <a:ea typeface="ＤＦ特太ゴシック体" panose="020B0509000000000000" pitchFamily="49" charset="-128"/>
                          <a:cs typeface="+mn-cs"/>
                        </a:rPr>
                        <a:t>　介護人材の確保その他のサービス提供基盤の整備を推進する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tc hMerge="1">
                  <a:txBody>
                    <a:bodyPr/>
                    <a:lstStyle/>
                    <a:p>
                      <a:endParaRPr kumimoji="1" lang="ja-JP" altLang="en-US"/>
                    </a:p>
                  </a:txBody>
                  <a:tcPr/>
                </a:tc>
                <a:extLst>
                  <a:ext uri="{0D108BD9-81ED-4DB2-BD59-A6C34878D82A}">
                    <a16:rowId xmlns:a16="http://schemas.microsoft.com/office/drawing/2014/main" val="3026443121"/>
                  </a:ext>
                </a:extLst>
              </a:tr>
              <a:tr h="703477">
                <a:tc vMerge="1">
                  <a:txBody>
                    <a:bodyPr/>
                    <a:lstStyle/>
                    <a:p>
                      <a:endParaRPr kumimoji="1" lang="ja-JP" altLang="en-US" sz="1050" dirty="0"/>
                    </a:p>
                  </a:txBody>
                  <a:tcPr/>
                </a:tc>
                <a:tc>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１　介護人材の将来推計を行い、人材確保に向けた具体的な目標を設定しているか。</a:t>
                      </a:r>
                      <a:endParaRPr kumimoji="1" lang="en-US" altLang="ja-JP" sz="1000" kern="1200" dirty="0">
                        <a:solidFill>
                          <a:schemeClr val="dk1"/>
                        </a:solidFill>
                        <a:latin typeface="+mn-lt"/>
                        <a:ea typeface="+mn-ea"/>
                        <a:cs typeface="+mn-cs"/>
                      </a:endParaRP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　介護人材確保に向けた目標設定及びその</a:t>
                      </a:r>
                      <a:r>
                        <a:rPr kumimoji="1" lang="en-US" altLang="ja-JP" sz="900" kern="1200" dirty="0">
                          <a:solidFill>
                            <a:srgbClr val="FF0000"/>
                          </a:solidFill>
                          <a:latin typeface="ＭＳ 明朝" panose="02020609040205080304" pitchFamily="17" charset="-128"/>
                          <a:ea typeface="ＭＳ 明朝" panose="02020609040205080304" pitchFamily="17" charset="-128"/>
                          <a:cs typeface="+mn-cs"/>
                        </a:rPr>
                        <a:t>PDCA</a:t>
                      </a: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サイクルを評価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4">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１　管内の高齢者人口当たりの介護職員数</a:t>
                      </a: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２　管内の介護職員離職率</a:t>
                      </a: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３　管内の介護職員関係職種の有効求人倍率</a:t>
                      </a: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４　管内における高齢者人口当たりの</a:t>
                      </a:r>
                      <a:r>
                        <a:rPr kumimoji="1" lang="en-US" altLang="ja-JP" sz="1000" kern="1200" dirty="0">
                          <a:solidFill>
                            <a:schemeClr val="dk1"/>
                          </a:solidFill>
                          <a:latin typeface="+mn-lt"/>
                          <a:ea typeface="+mn-ea"/>
                          <a:cs typeface="+mn-cs"/>
                        </a:rPr>
                        <a:t>59</a:t>
                      </a:r>
                      <a:r>
                        <a:rPr kumimoji="1" lang="ja-JP" altLang="en-US" sz="1000" kern="1200" dirty="0">
                          <a:solidFill>
                            <a:schemeClr val="dk1"/>
                          </a:solidFill>
                          <a:latin typeface="+mn-lt"/>
                          <a:ea typeface="+mn-ea"/>
                          <a:cs typeface="+mn-cs"/>
                        </a:rPr>
                        <a:t>時間研修（生活援助従者研修）及び</a:t>
                      </a:r>
                      <a:r>
                        <a:rPr kumimoji="1" lang="en-US" altLang="ja-JP" sz="1000" kern="1200" dirty="0">
                          <a:solidFill>
                            <a:schemeClr val="dk1"/>
                          </a:solidFill>
                          <a:latin typeface="+mn-lt"/>
                          <a:ea typeface="+mn-ea"/>
                          <a:cs typeface="+mn-cs"/>
                        </a:rPr>
                        <a:t>130</a:t>
                      </a:r>
                      <a:r>
                        <a:rPr kumimoji="1" lang="ja-JP" altLang="en-US" sz="1000" kern="1200" dirty="0">
                          <a:solidFill>
                            <a:schemeClr val="dk1"/>
                          </a:solidFill>
                          <a:latin typeface="+mn-lt"/>
                          <a:ea typeface="+mn-ea"/>
                          <a:cs typeface="+mn-cs"/>
                        </a:rPr>
                        <a:t>時間研修（介護職員初任者研修）の修了者数</a:t>
                      </a: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５　管内における高齢者人口当たりの「介護に関する入門的研修」修了者数</a:t>
                      </a: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６　介護支援専門員を対象としたケアマネジメントの質の向上に関する研修の総実施日数</a:t>
                      </a:r>
                      <a:endParaRPr kumimoji="1" lang="en-US" altLang="ja-JP" sz="1000" kern="1200" dirty="0">
                        <a:solidFill>
                          <a:schemeClr val="dk1"/>
                        </a:solidFill>
                        <a:latin typeface="+mn-lt"/>
                        <a:ea typeface="+mn-ea"/>
                        <a:cs typeface="+mn-cs"/>
                      </a:endParaRP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７　生産年齢人口に占める介護福祉士修学資金等貸付件数割合</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9543498"/>
                  </a:ext>
                </a:extLst>
              </a:tr>
              <a:tr h="494907">
                <a:tc vMerge="1">
                  <a:txBody>
                    <a:bodyPr/>
                    <a:lstStyle/>
                    <a:p>
                      <a:endParaRPr kumimoji="1" lang="ja-JP" altLang="en-US" sz="1050" dirty="0"/>
                    </a:p>
                  </a:txBody>
                  <a:tcPr/>
                </a:tc>
                <a:tc>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２　介護人材の確保のための取組を実施しているか。</a:t>
                      </a:r>
                      <a:endParaRPr kumimoji="1" lang="en-US" altLang="ja-JP" sz="1000" kern="1200" dirty="0">
                        <a:solidFill>
                          <a:schemeClr val="dk1"/>
                        </a:solidFill>
                        <a:latin typeface="+mn-lt"/>
                        <a:ea typeface="+mn-ea"/>
                        <a:cs typeface="+mn-cs"/>
                      </a:endParaRP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　介護人材確保に向けた取組状況を評価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5935765"/>
                  </a:ext>
                </a:extLst>
              </a:tr>
              <a:tr h="494907">
                <a:tc vMerge="1">
                  <a:txBody>
                    <a:bodyPr/>
                    <a:lstStyle/>
                    <a:p>
                      <a:endParaRPr kumimoji="1" lang="ja-JP" altLang="en-US"/>
                    </a:p>
                  </a:txBody>
                  <a:tcPr/>
                </a:tc>
                <a:tc>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３　介護人材の定着・質の向上に向けた取組を実施しているか。</a:t>
                      </a:r>
                      <a:endParaRPr kumimoji="1" lang="en-US" altLang="ja-JP" sz="1000" kern="1200" dirty="0">
                        <a:solidFill>
                          <a:schemeClr val="dk1"/>
                        </a:solidFill>
                        <a:latin typeface="+mn-lt"/>
                        <a:ea typeface="+mn-ea"/>
                        <a:cs typeface="+mn-cs"/>
                      </a:endParaRP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　介護人材の定着・質の向上に向けた取組状況を評価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270622"/>
                  </a:ext>
                </a:extLst>
              </a:tr>
              <a:tr h="912047">
                <a:tc vMerge="1">
                  <a:txBody>
                    <a:bodyPr/>
                    <a:lstStyle/>
                    <a:p>
                      <a:endParaRPr kumimoji="1" lang="ja-JP" altLang="en-US" sz="1050" dirty="0"/>
                    </a:p>
                  </a:txBody>
                  <a:tcPr/>
                </a:tc>
                <a:tc>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1000" kern="1200" dirty="0">
                          <a:solidFill>
                            <a:schemeClr val="dk1"/>
                          </a:solidFill>
                          <a:latin typeface="+mn-lt"/>
                          <a:ea typeface="+mn-ea"/>
                          <a:cs typeface="+mn-cs"/>
                        </a:rPr>
                        <a:t>４　管内における自立支援、重度化防止、介護人材確保に関する施策等の推進に当たって、庁内・庁外における連携体制が確保されているか。</a:t>
                      </a:r>
                      <a:endParaRPr kumimoji="1" lang="en-US" altLang="ja-JP" sz="1000" kern="1200" dirty="0">
                        <a:solidFill>
                          <a:schemeClr val="dk1"/>
                        </a:solidFill>
                        <a:latin typeface="+mn-lt"/>
                        <a:ea typeface="+mn-ea"/>
                        <a:cs typeface="+mn-cs"/>
                      </a:endParaRPr>
                    </a:p>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r>
                        <a:rPr kumimoji="1" lang="ja-JP" altLang="en-US" sz="900" kern="1200" dirty="0">
                          <a:solidFill>
                            <a:srgbClr val="FF0000"/>
                          </a:solidFill>
                          <a:latin typeface="ＭＳ 明朝" panose="02020609040205080304" pitchFamily="17" charset="-128"/>
                          <a:ea typeface="ＭＳ 明朝" panose="02020609040205080304" pitchFamily="17" charset="-128"/>
                          <a:cs typeface="+mn-cs"/>
                        </a:rPr>
                        <a:t>　⇒　庁内・庁外のおける連携体制の構築状況等を評価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marL="84138" marR="0" lvl="0" indent="-84138" algn="l" defTabSz="897212" rtl="0" eaLnBrk="1" fontAlgn="auto" latinLnBrk="0" hangingPunct="1">
                        <a:lnSpc>
                          <a:spcPts val="1400"/>
                        </a:lnSpc>
                        <a:spcBef>
                          <a:spcPts val="0"/>
                        </a:spcBef>
                        <a:spcAft>
                          <a:spcPts val="0"/>
                        </a:spcAft>
                        <a:buClrTx/>
                        <a:buSzTx/>
                        <a:buFontTx/>
                        <a:buNone/>
                        <a:tabLst>
                          <a:tab pos="179388" algn="l"/>
                        </a:tabLst>
                        <a:defRPr/>
                      </a:pP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0293685"/>
                  </a:ext>
                </a:extLst>
              </a:tr>
            </a:tbl>
          </a:graphicData>
        </a:graphic>
      </p:graphicFrame>
      <p:graphicFrame>
        <p:nvGraphicFramePr>
          <p:cNvPr id="32" name="表 31"/>
          <p:cNvGraphicFramePr>
            <a:graphicFrameLocks noGrp="1"/>
          </p:cNvGraphicFramePr>
          <p:nvPr>
            <p:extLst>
              <p:ext uri="{D42A27DB-BD31-4B8C-83A1-F6EECF244321}">
                <p14:modId xmlns:p14="http://schemas.microsoft.com/office/powerpoint/2010/main" val="380604070"/>
              </p:ext>
            </p:extLst>
          </p:nvPr>
        </p:nvGraphicFramePr>
        <p:xfrm>
          <a:off x="7467349" y="593389"/>
          <a:ext cx="2145838" cy="6338144"/>
        </p:xfrm>
        <a:graphic>
          <a:graphicData uri="http://schemas.openxmlformats.org/drawingml/2006/table">
            <a:tbl>
              <a:tblPr firstRow="1" bandRow="1">
                <a:tableStyleId>{5C22544A-7EE6-4342-B048-85BDC9FD1C3A}</a:tableStyleId>
              </a:tblPr>
              <a:tblGrid>
                <a:gridCol w="2145838">
                  <a:extLst>
                    <a:ext uri="{9D8B030D-6E8A-4147-A177-3AD203B41FA5}">
                      <a16:colId xmlns:a16="http://schemas.microsoft.com/office/drawing/2014/main" val="267994785"/>
                    </a:ext>
                  </a:extLst>
                </a:gridCol>
              </a:tblGrid>
              <a:tr h="323180">
                <a:tc>
                  <a:txBody>
                    <a:bodyPr/>
                    <a:lstStyle/>
                    <a:p>
                      <a:pPr algn="ctr"/>
                      <a:r>
                        <a:rPr kumimoji="1" lang="ja-JP" altLang="en-US" sz="1000" dirty="0"/>
                        <a:t>成果指標群（アウトカム指標）</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2807503567"/>
                  </a:ext>
                </a:extLst>
              </a:tr>
              <a:tr h="819554">
                <a:tc>
                  <a:txBody>
                    <a:bodyPr/>
                    <a:lstStyle/>
                    <a:p>
                      <a:pPr marL="176213" indent="-352425" algn="l" defTabSz="897212" rtl="0" eaLnBrk="1" latinLnBrk="0" hangingPunct="1"/>
                      <a:r>
                        <a:rPr kumimoji="1" lang="ja-JP" altLang="en-US" sz="105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1050" kern="1200" dirty="0">
                          <a:solidFill>
                            <a:schemeClr val="dk1"/>
                          </a:solidFill>
                          <a:latin typeface="ＤＦ特太ゴシック体" panose="020B0509000000000000" pitchFamily="49" charset="-128"/>
                          <a:ea typeface="ＤＦ特太ゴシック体" panose="020B0509000000000000" pitchFamily="49" charset="-128"/>
                          <a:cs typeface="+mn-cs"/>
                        </a:rPr>
                        <a:t>Ⅳ</a:t>
                      </a:r>
                      <a:r>
                        <a:rPr kumimoji="1" lang="ja-JP" altLang="en-US" sz="1050" kern="1200" dirty="0">
                          <a:solidFill>
                            <a:schemeClr val="dk1"/>
                          </a:solidFill>
                          <a:latin typeface="ＤＦ特太ゴシック体" panose="020B0509000000000000" pitchFamily="49" charset="-128"/>
                          <a:ea typeface="ＤＦ特太ゴシック体" panose="020B0509000000000000" pitchFamily="49" charset="-128"/>
                          <a:cs typeface="+mn-cs"/>
                        </a:rPr>
                        <a:t>　高齢者がその状況に応じて可能な限り自立した日常生活を営む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017738085"/>
                  </a:ext>
                </a:extLst>
              </a:tr>
              <a:tr h="1039082">
                <a:tc>
                  <a:txBody>
                    <a:bodyPr/>
                    <a:lstStyle/>
                    <a:p>
                      <a:pPr marL="84138" indent="-84138"/>
                      <a:r>
                        <a:rPr kumimoji="1" lang="ja-JP" altLang="en-US" sz="1000" dirty="0"/>
                        <a:t>１　管内保険者における短期的な要介護認定者の平均要介護度（１・２）の変化率の状況はどのようになっているか。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1113151"/>
                  </a:ext>
                </a:extLst>
              </a:tr>
              <a:tr h="1039082">
                <a:tc>
                  <a:txBody>
                    <a:bodyPr/>
                    <a:lstStyle/>
                    <a:p>
                      <a:pPr marL="84138" indent="-84138"/>
                      <a:r>
                        <a:rPr kumimoji="1" lang="ja-JP" altLang="en-US" sz="1000" dirty="0"/>
                        <a:t>２　管内保険者における長期的な要介護認定者の平均要介護度（１・２）の変化率の状況はどのようになっているか。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6180893"/>
                  </a:ext>
                </a:extLst>
              </a:tr>
              <a:tr h="1039082">
                <a:tc>
                  <a:txBody>
                    <a:bodyPr/>
                    <a:lstStyle/>
                    <a:p>
                      <a:pPr marL="84138" indent="-84138"/>
                      <a:r>
                        <a:rPr kumimoji="1" lang="ja-JP" altLang="en-US" sz="1000" dirty="0"/>
                        <a:t>３　管内保険者における短期的な要介護認定者の平均要介護度（３～５）の変化率の状況はどのようになっているか。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30926925"/>
                  </a:ext>
                </a:extLst>
              </a:tr>
              <a:tr h="1039082">
                <a:tc>
                  <a:txBody>
                    <a:bodyPr/>
                    <a:lstStyle/>
                    <a:p>
                      <a:pPr marL="84138" indent="-84138"/>
                      <a:r>
                        <a:rPr kumimoji="1" lang="ja-JP" altLang="en-US" sz="1000" dirty="0"/>
                        <a:t>４　管内保険者における長期的な要介護認定者の平均要介護度（３～５）の変化率の状況はどのようになっているか。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4794803"/>
                  </a:ext>
                </a:extLst>
              </a:tr>
              <a:tr h="1039082">
                <a:tc>
                  <a:txBody>
                    <a:bodyPr/>
                    <a:lstStyle/>
                    <a:p>
                      <a:pPr marL="84138" indent="-84138"/>
                      <a:r>
                        <a:rPr kumimoji="1" lang="ja-JP" altLang="en-US" sz="1000" dirty="0"/>
                        <a:t>５　管内保険者における要介護２以上の認定率、認定率の変化率の状況はどのようになっているか。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8071435"/>
                  </a:ext>
                </a:extLst>
              </a:tr>
            </a:tbl>
          </a:graphicData>
        </a:graphic>
      </p:graphicFrame>
      <p:sp>
        <p:nvSpPr>
          <p:cNvPr id="7" name="右矢印 6"/>
          <p:cNvSpPr/>
          <p:nvPr/>
        </p:nvSpPr>
        <p:spPr>
          <a:xfrm>
            <a:off x="7092907" y="3041662"/>
            <a:ext cx="360040" cy="1368152"/>
          </a:xfrm>
          <a:prstGeom prst="right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 name="スライド番号プレースホルダー 1"/>
          <p:cNvSpPr>
            <a:spLocks noGrp="1"/>
          </p:cNvSpPr>
          <p:nvPr>
            <p:ph type="sldNum" sz="quarter" idx="12"/>
          </p:nvPr>
        </p:nvSpPr>
        <p:spPr>
          <a:xfrm>
            <a:off x="7344590" y="6606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31</a:t>
            </a:fld>
            <a:endParaRPr lang="ja-JP" altLang="en-US" sz="1178"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1944909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右矢印 3"/>
          <p:cNvSpPr/>
          <p:nvPr/>
        </p:nvSpPr>
        <p:spPr>
          <a:xfrm>
            <a:off x="7092907" y="3051336"/>
            <a:ext cx="360040" cy="1368152"/>
          </a:xfrm>
          <a:prstGeom prst="right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 name="Rectangle 19"/>
          <p:cNvSpPr>
            <a:spLocks noChangeArrowheads="1"/>
          </p:cNvSpPr>
          <p:nvPr/>
        </p:nvSpPr>
        <p:spPr bwMode="auto">
          <a:xfrm>
            <a:off x="-1" y="-20522"/>
            <a:ext cx="9720263" cy="50727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89679" tIns="44840" rIns="89679" bIns="44840" anchor="ctr"/>
          <a:lstStyle/>
          <a:p>
            <a:pPr algn="ctr"/>
            <a:r>
              <a:rPr lang="ja-JP" altLang="en-US" sz="2000" b="1" dirty="0">
                <a:solidFill>
                  <a:prstClr val="white"/>
                </a:solidFill>
                <a:latin typeface="Meiryo UI" panose="020B0604030504040204" pitchFamily="50" charset="-128"/>
                <a:ea typeface="Meiryo UI" panose="020B0604030504040204" pitchFamily="50" charset="-128"/>
              </a:rPr>
              <a:t>（参考）</a:t>
            </a:r>
            <a:r>
              <a:rPr lang="zh-TW" altLang="en-US" sz="2000" b="1" dirty="0">
                <a:solidFill>
                  <a:prstClr val="white"/>
                </a:solidFill>
                <a:latin typeface="Meiryo UI" panose="020B0604030504040204" pitchFamily="50" charset="-128"/>
                <a:ea typeface="Meiryo UI" panose="020B0604030504040204" pitchFamily="50" charset="-128"/>
              </a:rPr>
              <a:t>令和６年度</a:t>
            </a:r>
            <a:r>
              <a:rPr lang="ja-JP" altLang="en-US" sz="2000" b="1" dirty="0">
                <a:solidFill>
                  <a:prstClr val="white"/>
                </a:solidFill>
                <a:latin typeface="Meiryo UI" panose="020B0604030504040204" pitchFamily="50" charset="-128"/>
                <a:ea typeface="Meiryo UI" panose="020B0604030504040204" pitchFamily="50" charset="-128"/>
              </a:rPr>
              <a:t>介護保険保険者努力支援交付金</a:t>
            </a:r>
            <a:r>
              <a:rPr lang="zh-TW" altLang="en-US" sz="2000" b="1" dirty="0">
                <a:solidFill>
                  <a:prstClr val="white"/>
                </a:solidFill>
                <a:latin typeface="Meiryo UI" panose="020B0604030504040204" pitchFamily="50" charset="-128"/>
                <a:ea typeface="Meiryo UI" panose="020B0604030504040204" pitchFamily="50" charset="-128"/>
              </a:rPr>
              <a:t>評価指標（都道府県分）</a:t>
            </a:r>
            <a:endParaRPr lang="en-US" altLang="ja-JP" sz="2000" b="1" dirty="0">
              <a:solidFill>
                <a:prstClr val="white"/>
              </a:solidFill>
              <a:latin typeface="Meiryo UI" panose="020B0604030504040204" pitchFamily="50" charset="-128"/>
              <a:ea typeface="Meiryo UI" panose="020B0604030504040204" pitchFamily="50" charset="-128"/>
            </a:endParaRPr>
          </a:p>
        </p:txBody>
      </p:sp>
      <p:graphicFrame>
        <p:nvGraphicFramePr>
          <p:cNvPr id="2" name="表 1"/>
          <p:cNvGraphicFramePr>
            <a:graphicFrameLocks noGrp="1"/>
          </p:cNvGraphicFramePr>
          <p:nvPr/>
        </p:nvGraphicFramePr>
        <p:xfrm>
          <a:off x="108131" y="715105"/>
          <a:ext cx="6970374" cy="6180027"/>
        </p:xfrm>
        <a:graphic>
          <a:graphicData uri="http://schemas.openxmlformats.org/drawingml/2006/table">
            <a:tbl>
              <a:tblPr firstRow="1" bandRow="1">
                <a:tableStyleId>{5C22544A-7EE6-4342-B048-85BDC9FD1C3A}</a:tableStyleId>
              </a:tblPr>
              <a:tblGrid>
                <a:gridCol w="391594">
                  <a:extLst>
                    <a:ext uri="{9D8B030D-6E8A-4147-A177-3AD203B41FA5}">
                      <a16:colId xmlns:a16="http://schemas.microsoft.com/office/drawing/2014/main" val="3309622065"/>
                    </a:ext>
                  </a:extLst>
                </a:gridCol>
                <a:gridCol w="3856926">
                  <a:extLst>
                    <a:ext uri="{9D8B030D-6E8A-4147-A177-3AD203B41FA5}">
                      <a16:colId xmlns:a16="http://schemas.microsoft.com/office/drawing/2014/main" val="1200025529"/>
                    </a:ext>
                  </a:extLst>
                </a:gridCol>
                <a:gridCol w="2721854">
                  <a:extLst>
                    <a:ext uri="{9D8B030D-6E8A-4147-A177-3AD203B41FA5}">
                      <a16:colId xmlns:a16="http://schemas.microsoft.com/office/drawing/2014/main" val="3208073948"/>
                    </a:ext>
                  </a:extLst>
                </a:gridCol>
              </a:tblGrid>
              <a:tr h="263573">
                <a:tc>
                  <a:txBody>
                    <a:bodyPr/>
                    <a:lstStyle/>
                    <a:p>
                      <a:pPr>
                        <a:lnSpc>
                          <a:spcPts val="1200"/>
                        </a:lnSpc>
                      </a:pPr>
                      <a:endParaRPr kumimoji="1" lang="ja-JP" altLang="en-US" sz="8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50000"/>
                      </a:schemeClr>
                    </a:solidFill>
                  </a:tcPr>
                </a:tc>
                <a:tc>
                  <a:txBody>
                    <a:bodyPr/>
                    <a:lstStyle/>
                    <a:p>
                      <a:pPr algn="ctr">
                        <a:lnSpc>
                          <a:spcPts val="1200"/>
                        </a:lnSpc>
                      </a:pPr>
                      <a:r>
                        <a:rPr kumimoji="1" lang="ja-JP" altLang="en-US" sz="1000" dirty="0"/>
                        <a:t>体制・取組指標群（プロセス指標）</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50000"/>
                      </a:schemeClr>
                    </a:solidFill>
                  </a:tcPr>
                </a:tc>
                <a:tc>
                  <a:txBody>
                    <a:bodyPr/>
                    <a:lstStyle/>
                    <a:p>
                      <a:pPr algn="ctr">
                        <a:lnSpc>
                          <a:spcPts val="1200"/>
                        </a:lnSpc>
                      </a:pPr>
                      <a:r>
                        <a:rPr kumimoji="1" lang="ja-JP" altLang="en-US" sz="1000" dirty="0"/>
                        <a:t>活動指標群</a:t>
                      </a:r>
                      <a:r>
                        <a:rPr kumimoji="1" lang="ja-JP" altLang="en-US" sz="900" dirty="0"/>
                        <a:t>（中間アウトカム・アウトプット指標）</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3723466751"/>
                  </a:ext>
                </a:extLst>
              </a:tr>
              <a:tr h="251973">
                <a:tc rowSpan="12">
                  <a:txBody>
                    <a:bodyPr/>
                    <a:lstStyle/>
                    <a:p>
                      <a:pPr algn="ctr">
                        <a:lnSpc>
                          <a:spcPts val="1200"/>
                        </a:lnSpc>
                      </a:pPr>
                      <a:r>
                        <a:rPr kumimoji="1" lang="ja-JP" altLang="en-US" sz="1000" dirty="0"/>
                        <a:t>介護</a:t>
                      </a:r>
                      <a:r>
                        <a:rPr kumimoji="1" lang="ja-JP" altLang="en-US" sz="1000" dirty="0" err="1"/>
                        <a:t>保険保険</a:t>
                      </a:r>
                      <a:r>
                        <a:rPr kumimoji="1" lang="ja-JP" altLang="en-US" sz="1000" dirty="0"/>
                        <a:t>者努力支援交付金</a:t>
                      </a:r>
                    </a:p>
                  </a:txBody>
                  <a:tcPr vert="eaVert">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tc gridSpan="2">
                  <a:txBody>
                    <a:bodyPr/>
                    <a:lstStyle/>
                    <a:p>
                      <a:pPr marL="0" algn="l" defTabSz="897212" rtl="0" eaLnBrk="1" latinLnBrk="0" hangingPunct="1">
                        <a:lnSpc>
                          <a:spcPts val="1200"/>
                        </a:lnSpc>
                      </a:pPr>
                      <a:r>
                        <a:rPr kumimoji="1" lang="ja-JP" altLang="en-US" sz="90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900" kern="1200" dirty="0">
                          <a:solidFill>
                            <a:schemeClr val="dk1"/>
                          </a:solidFill>
                          <a:latin typeface="ＤＦ特太ゴシック体" panose="020B0509000000000000" pitchFamily="49" charset="-128"/>
                          <a:ea typeface="ＤＦ特太ゴシック体" panose="020B0509000000000000" pitchFamily="49" charset="-128"/>
                          <a:cs typeface="+mn-cs"/>
                        </a:rPr>
                        <a:t>Ⅰ</a:t>
                      </a:r>
                      <a:r>
                        <a:rPr kumimoji="1" lang="ja-JP" altLang="en-US" sz="900" kern="1200" dirty="0">
                          <a:solidFill>
                            <a:schemeClr val="dk1"/>
                          </a:solidFill>
                          <a:latin typeface="ＤＦ特太ゴシック体" panose="020B0509000000000000" pitchFamily="49" charset="-128"/>
                          <a:ea typeface="ＤＦ特太ゴシック体" panose="020B0509000000000000" pitchFamily="49" charset="-128"/>
                          <a:cs typeface="+mn-cs"/>
                        </a:rPr>
                        <a:t>　介護予防</a:t>
                      </a:r>
                      <a:r>
                        <a:rPr kumimoji="1" lang="en-US" altLang="ja-JP" sz="900" kern="1200" dirty="0">
                          <a:solidFill>
                            <a:schemeClr val="dk1"/>
                          </a:solidFill>
                          <a:latin typeface="ＤＦ特太ゴシック体" panose="020B0509000000000000" pitchFamily="49" charset="-128"/>
                          <a:ea typeface="ＤＦ特太ゴシック体" panose="020B0509000000000000" pitchFamily="49" charset="-128"/>
                          <a:cs typeface="+mn-cs"/>
                        </a:rPr>
                        <a:t>/</a:t>
                      </a:r>
                      <a:r>
                        <a:rPr kumimoji="1" lang="ja-JP" altLang="en-US" sz="900" kern="1200" dirty="0">
                          <a:solidFill>
                            <a:schemeClr val="dk1"/>
                          </a:solidFill>
                          <a:latin typeface="ＤＦ特太ゴシック体" panose="020B0509000000000000" pitchFamily="49" charset="-128"/>
                          <a:ea typeface="ＤＦ特太ゴシック体" panose="020B0509000000000000" pitchFamily="49" charset="-128"/>
                          <a:cs typeface="+mn-cs"/>
                        </a:rPr>
                        <a:t>日常生活支援を推進する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tc hMerge="1">
                  <a:txBody>
                    <a:bodyPr/>
                    <a:lstStyle/>
                    <a:p>
                      <a:pPr marL="0" algn="l" defTabSz="897212" rtl="0" eaLnBrk="1" latinLnBrk="0" hangingPunct="1">
                        <a:lnSpc>
                          <a:spcPts val="1200"/>
                        </a:lnSpc>
                      </a:pPr>
                      <a:endParaRPr kumimoji="1" lang="ja-JP" altLang="en-US" sz="900" kern="1200" dirty="0">
                        <a:solidFill>
                          <a:schemeClr val="dk1"/>
                        </a:solidFill>
                        <a:latin typeface="ＤＦ特太ゴシック体" panose="020B0509000000000000" pitchFamily="49" charset="-128"/>
                        <a:ea typeface="ＤＦ特太ゴシック体" panose="020B0509000000000000" pitchFamily="49" charset="-128"/>
                        <a:cs typeface="+mn-cs"/>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142412711"/>
                  </a:ext>
                </a:extLst>
              </a:tr>
              <a:tr h="570388">
                <a:tc vMerge="1">
                  <a:txBody>
                    <a:bodyPr/>
                    <a:lstStyle/>
                    <a:p>
                      <a:endParaRPr kumimoji="1" lang="ja-JP" altLang="en-US" sz="1050" dirty="0"/>
                    </a:p>
                  </a:txBody>
                  <a:tcPr vert="eaVert"/>
                </a:tc>
                <a:tc>
                  <a:txBody>
                    <a:bodyPr/>
                    <a:lstStyle/>
                    <a:p>
                      <a:pPr marL="85725" marR="0" lvl="0" indent="-85725" algn="l" defTabSz="897212" rtl="0" eaLnBrk="1" fontAlgn="auto" latinLnBrk="0" hangingPunct="1">
                        <a:lnSpc>
                          <a:spcPts val="1200"/>
                        </a:lnSpc>
                        <a:spcBef>
                          <a:spcPts val="0"/>
                        </a:spcBef>
                        <a:spcAft>
                          <a:spcPts val="0"/>
                        </a:spcAft>
                        <a:buClrTx/>
                        <a:buSzTx/>
                        <a:buFontTx/>
                        <a:buNone/>
                        <a:tabLst>
                          <a:tab pos="85725" algn="l"/>
                        </a:tabLst>
                        <a:defRPr/>
                      </a:pPr>
                      <a:r>
                        <a:rPr kumimoji="1" lang="ja-JP" altLang="en-US" sz="900" dirty="0">
                          <a:solidFill>
                            <a:schemeClr val="tx1"/>
                          </a:solidFill>
                        </a:rPr>
                        <a:t>１　地域ケア会議の活性化を図るため、課題の把握・分析を行いつつ、その改善に向けた市町村支援を実施しているか。</a:t>
                      </a:r>
                      <a:endParaRPr kumimoji="1" lang="en-US" altLang="ja-JP" sz="900" dirty="0">
                        <a:solidFill>
                          <a:schemeClr val="tx1"/>
                        </a:solidFill>
                      </a:endParaRPr>
                    </a:p>
                    <a:p>
                      <a:pPr marL="85725" marR="0" lvl="0" indent="-85725" algn="l" defTabSz="897212" rtl="0" eaLnBrk="1" fontAlgn="auto" latinLnBrk="0" hangingPunct="1">
                        <a:lnSpc>
                          <a:spcPts val="1200"/>
                        </a:lnSpc>
                        <a:spcBef>
                          <a:spcPts val="0"/>
                        </a:spcBef>
                        <a:spcAft>
                          <a:spcPts val="0"/>
                        </a:spcAft>
                        <a:buClrTx/>
                        <a:buSzTx/>
                        <a:buFontTx/>
                        <a:buNone/>
                        <a:tabLst>
                          <a:tab pos="85725" algn="l"/>
                        </a:tabLst>
                        <a:defRPr/>
                      </a:pP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　地域ケア会議の活性化に向けた市町村支援の状況を評価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5">
                  <a:txBody>
                    <a:bodyPr/>
                    <a:lstStyle/>
                    <a:p>
                      <a:pPr marL="87313" indent="-87313">
                        <a:lnSpc>
                          <a:spcPts val="1200"/>
                        </a:lnSpc>
                      </a:pPr>
                      <a:r>
                        <a:rPr kumimoji="1" lang="ja-JP" altLang="en-US" sz="900" i="0" dirty="0">
                          <a:solidFill>
                            <a:schemeClr val="tx1"/>
                          </a:solidFill>
                        </a:rPr>
                        <a:t>１　管内市町村の高齢者人口当たりの地域包括支援センターに配置される３職種の人数</a:t>
                      </a:r>
                    </a:p>
                    <a:p>
                      <a:pPr marL="87313" indent="-87313">
                        <a:lnSpc>
                          <a:spcPts val="1200"/>
                        </a:lnSpc>
                      </a:pPr>
                      <a:r>
                        <a:rPr kumimoji="1" lang="ja-JP" altLang="en-US" sz="900" i="0" dirty="0">
                          <a:solidFill>
                            <a:schemeClr val="tx1"/>
                          </a:solidFill>
                        </a:rPr>
                        <a:t>２　管内の地域包括支援センター事業評価の達成状況</a:t>
                      </a:r>
                    </a:p>
                    <a:p>
                      <a:pPr marL="87313" indent="-87313">
                        <a:lnSpc>
                          <a:spcPts val="1200"/>
                        </a:lnSpc>
                      </a:pPr>
                      <a:r>
                        <a:rPr kumimoji="1" lang="ja-JP" altLang="en-US" sz="900" i="0" dirty="0">
                          <a:solidFill>
                            <a:schemeClr val="tx1"/>
                          </a:solidFill>
                        </a:rPr>
                        <a:t>３　管内市町村の地域ケア会議における個別事例の検討割合（個別事例の検討件数／受給者数）</a:t>
                      </a:r>
                    </a:p>
                    <a:p>
                      <a:pPr marL="87313" indent="-87313">
                        <a:lnSpc>
                          <a:spcPts val="1200"/>
                        </a:lnSpc>
                      </a:pPr>
                      <a:r>
                        <a:rPr kumimoji="1" lang="ja-JP" altLang="en-US" sz="900" i="0" dirty="0">
                          <a:solidFill>
                            <a:schemeClr val="tx1"/>
                          </a:solidFill>
                        </a:rPr>
                        <a:t>４　管内市町村の通いの場への</a:t>
                      </a:r>
                      <a:r>
                        <a:rPr kumimoji="1" lang="en-US" altLang="ja-JP" sz="900" i="0" dirty="0">
                          <a:solidFill>
                            <a:schemeClr val="tx1"/>
                          </a:solidFill>
                        </a:rPr>
                        <a:t>65</a:t>
                      </a:r>
                      <a:r>
                        <a:rPr kumimoji="1" lang="ja-JP" altLang="en-US" sz="900" i="0" dirty="0">
                          <a:solidFill>
                            <a:schemeClr val="tx1"/>
                          </a:solidFill>
                        </a:rPr>
                        <a:t>歳以上高齢者の参加率</a:t>
                      </a:r>
                      <a:endParaRPr kumimoji="1" lang="en-US" altLang="ja-JP" sz="900" i="0" dirty="0">
                        <a:solidFill>
                          <a:schemeClr val="tx1"/>
                        </a:solidFill>
                      </a:endParaRPr>
                    </a:p>
                    <a:p>
                      <a:pPr marL="87313" indent="-87313">
                        <a:lnSpc>
                          <a:spcPts val="1200"/>
                        </a:lnSpc>
                      </a:pPr>
                      <a:r>
                        <a:rPr kumimoji="1" lang="ja-JP" altLang="en-US" sz="900" i="0" dirty="0">
                          <a:solidFill>
                            <a:schemeClr val="tx1"/>
                          </a:solidFill>
                        </a:rPr>
                        <a:t>５　管内の高齢者のポイント事業への参加率</a:t>
                      </a:r>
                    </a:p>
                    <a:p>
                      <a:pPr marL="87313" indent="-87313">
                        <a:lnSpc>
                          <a:spcPts val="1200"/>
                        </a:lnSpc>
                      </a:pPr>
                      <a:r>
                        <a:rPr kumimoji="1" lang="ja-JP" altLang="en-US" sz="900" i="0" dirty="0">
                          <a:solidFill>
                            <a:schemeClr val="tx1"/>
                          </a:solidFill>
                        </a:rPr>
                        <a:t>６　管内の通いの場等において心身・認知機能を維持・改善した者の割合</a:t>
                      </a:r>
                    </a:p>
                    <a:p>
                      <a:pPr marL="87313" indent="-87313">
                        <a:lnSpc>
                          <a:spcPts val="1200"/>
                        </a:lnSpc>
                      </a:pPr>
                      <a:r>
                        <a:rPr kumimoji="1" lang="ja-JP" altLang="en-US" sz="900" i="0" dirty="0">
                          <a:solidFill>
                            <a:schemeClr val="tx1"/>
                          </a:solidFill>
                        </a:rPr>
                        <a:t>７　管内の高齢者人口当たりの生活支援コーディネーター数</a:t>
                      </a:r>
                    </a:p>
                    <a:p>
                      <a:pPr marL="87313" indent="-87313">
                        <a:lnSpc>
                          <a:spcPts val="1200"/>
                        </a:lnSpc>
                      </a:pPr>
                      <a:r>
                        <a:rPr kumimoji="1" lang="ja-JP" altLang="en-US" sz="900" i="0" dirty="0">
                          <a:solidFill>
                            <a:schemeClr val="tx1"/>
                          </a:solidFill>
                        </a:rPr>
                        <a:t>８　管内の生活支援コーディネーターの地域ケア会議への参加割合</a:t>
                      </a:r>
                    </a:p>
                    <a:p>
                      <a:pPr marL="87313" indent="-87313">
                        <a:lnSpc>
                          <a:spcPts val="1200"/>
                        </a:lnSpc>
                      </a:pPr>
                      <a:r>
                        <a:rPr kumimoji="1" lang="ja-JP" altLang="en-US" sz="900" i="0" dirty="0">
                          <a:solidFill>
                            <a:schemeClr val="tx1"/>
                          </a:solidFill>
                        </a:rPr>
                        <a:t>９　管内の多様なサービスの実施状況</a:t>
                      </a:r>
                    </a:p>
                    <a:p>
                      <a:pPr marL="87313" indent="-87313">
                        <a:lnSpc>
                          <a:spcPts val="1200"/>
                        </a:lnSpc>
                      </a:pPr>
                      <a:r>
                        <a:rPr kumimoji="1" lang="ja-JP" altLang="en-US" sz="900" i="0" dirty="0">
                          <a:solidFill>
                            <a:schemeClr val="tx1"/>
                          </a:solidFill>
                        </a:rPr>
                        <a:t>１０　管内市町村における介護予防等と保健事業の一体的実施の実施状況</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1091435"/>
                  </a:ext>
                </a:extLst>
              </a:tr>
              <a:tr h="570388">
                <a:tc vMerge="1">
                  <a:txBody>
                    <a:bodyPr/>
                    <a:lstStyle/>
                    <a:p>
                      <a:endParaRPr kumimoji="1" lang="ja-JP" altLang="en-US" sz="1050" dirty="0"/>
                    </a:p>
                  </a:txBody>
                  <a:tcPr vert="eaVert"/>
                </a:tc>
                <a:tc>
                  <a:txBody>
                    <a:bodyPr/>
                    <a:lstStyle/>
                    <a:p>
                      <a:pPr marL="85725" marR="0" lvl="0" indent="-85725" algn="l" defTabSz="897212" rtl="0" eaLnBrk="1" fontAlgn="auto" latinLnBrk="0" hangingPunct="1">
                        <a:lnSpc>
                          <a:spcPts val="1200"/>
                        </a:lnSpc>
                        <a:spcBef>
                          <a:spcPts val="0"/>
                        </a:spcBef>
                        <a:spcAft>
                          <a:spcPts val="0"/>
                        </a:spcAft>
                        <a:buClrTx/>
                        <a:buSzTx/>
                        <a:buFontTx/>
                        <a:buNone/>
                        <a:tabLst/>
                        <a:defRPr/>
                      </a:pPr>
                      <a:r>
                        <a:rPr kumimoji="1" lang="ja-JP" altLang="en-US" sz="900" dirty="0">
                          <a:solidFill>
                            <a:schemeClr val="tx1"/>
                          </a:solidFill>
                        </a:rPr>
                        <a:t>２　通いの場の立ち上げ等、介護予防を効果的なものとするため、市町村支援を実施しているか。</a:t>
                      </a:r>
                      <a:endParaRPr kumimoji="1" lang="en-US" altLang="ja-JP" sz="900" dirty="0">
                        <a:solidFill>
                          <a:schemeClr val="tx1"/>
                        </a:solidFill>
                      </a:endParaRPr>
                    </a:p>
                    <a:p>
                      <a:pPr marL="85725" marR="0" lvl="0" indent="-85725" algn="l" defTabSz="897212" rtl="0" eaLnBrk="1" fontAlgn="auto" latinLnBrk="0" hangingPunct="1">
                        <a:lnSpc>
                          <a:spcPts val="1200"/>
                        </a:lnSpc>
                        <a:spcBef>
                          <a:spcPts val="0"/>
                        </a:spcBef>
                        <a:spcAft>
                          <a:spcPts val="0"/>
                        </a:spcAft>
                        <a:buClrTx/>
                        <a:buSzTx/>
                        <a:buFontTx/>
                        <a:buNone/>
                        <a:tabLst>
                          <a:tab pos="85725" algn="l"/>
                        </a:tabLst>
                        <a:defRPr/>
                      </a:pP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　介護予防事業の効果的な実施に向けた市町村支援の状況を評価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981249321"/>
                  </a:ext>
                </a:extLst>
              </a:tr>
              <a:tr h="570388">
                <a:tc vMerge="1">
                  <a:txBody>
                    <a:bodyPr/>
                    <a:lstStyle/>
                    <a:p>
                      <a:endParaRPr kumimoji="1" lang="ja-JP" altLang="en-US"/>
                    </a:p>
                  </a:txBody>
                  <a:tcPr/>
                </a:tc>
                <a:tc>
                  <a:txBody>
                    <a:bodyPr/>
                    <a:lstStyle/>
                    <a:p>
                      <a:pPr marL="85725" marR="0" lvl="0" indent="-85725" algn="l" defTabSz="897212" rtl="0" eaLnBrk="1" fontAlgn="auto" latinLnBrk="0" hangingPunct="1">
                        <a:lnSpc>
                          <a:spcPts val="1200"/>
                        </a:lnSpc>
                        <a:spcBef>
                          <a:spcPts val="0"/>
                        </a:spcBef>
                        <a:spcAft>
                          <a:spcPts val="0"/>
                        </a:spcAft>
                        <a:buClrTx/>
                        <a:buSzTx/>
                        <a:buFontTx/>
                        <a:buNone/>
                        <a:tabLst/>
                        <a:defRPr/>
                      </a:pPr>
                      <a:r>
                        <a:rPr kumimoji="1" lang="ja-JP" altLang="en-US" sz="900" dirty="0">
                          <a:solidFill>
                            <a:schemeClr val="tx1"/>
                          </a:solidFill>
                        </a:rPr>
                        <a:t>３　介護予防等と保健事業との一体的実施に向けた環境整備を実施しているか。</a:t>
                      </a:r>
                      <a:endParaRPr kumimoji="1" lang="en-US" altLang="ja-JP" sz="900" dirty="0">
                        <a:solidFill>
                          <a:schemeClr val="tx1"/>
                        </a:solidFill>
                      </a:endParaRPr>
                    </a:p>
                    <a:p>
                      <a:pPr marL="85725" marR="0" lvl="0" indent="-85725" algn="l" defTabSz="897212" rtl="0" eaLnBrk="1" fontAlgn="auto" latinLnBrk="0" hangingPunct="1">
                        <a:lnSpc>
                          <a:spcPts val="1200"/>
                        </a:lnSpc>
                        <a:spcBef>
                          <a:spcPts val="0"/>
                        </a:spcBef>
                        <a:spcAft>
                          <a:spcPts val="0"/>
                        </a:spcAft>
                        <a:buClrTx/>
                        <a:buSzTx/>
                        <a:buFontTx/>
                        <a:buNone/>
                        <a:tabLst>
                          <a:tab pos="85725" algn="l"/>
                        </a:tabLst>
                        <a:defRPr/>
                      </a:pP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　介護予防事業と保健事業との一体的実施に向けた市町村支援の状況を評価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864859616"/>
                  </a:ext>
                </a:extLst>
              </a:tr>
              <a:tr h="405655">
                <a:tc vMerge="1">
                  <a:txBody>
                    <a:bodyPr/>
                    <a:lstStyle/>
                    <a:p>
                      <a:endParaRPr kumimoji="1" lang="ja-JP" altLang="en-US" sz="1050" dirty="0"/>
                    </a:p>
                  </a:txBody>
                  <a:tcPr vert="eaVert"/>
                </a:tc>
                <a:tc>
                  <a:txBody>
                    <a:bodyPr/>
                    <a:lstStyle/>
                    <a:p>
                      <a:pPr marL="85725" indent="-85725">
                        <a:lnSpc>
                          <a:spcPts val="1200"/>
                        </a:lnSpc>
                      </a:pPr>
                      <a:r>
                        <a:rPr kumimoji="1" lang="ja-JP" altLang="en-US" sz="900" dirty="0">
                          <a:solidFill>
                            <a:schemeClr val="tx1"/>
                          </a:solidFill>
                        </a:rPr>
                        <a:t>４　リハビリテーション等の専門職の確保に向けた環境整備を実施しているか。</a:t>
                      </a:r>
                      <a:endParaRPr kumimoji="1" lang="en-US" altLang="ja-JP" sz="900" dirty="0">
                        <a:solidFill>
                          <a:schemeClr val="tx1"/>
                        </a:solidFill>
                      </a:endParaRPr>
                    </a:p>
                    <a:p>
                      <a:pPr marL="85725" marR="0" lvl="0" indent="-85725" algn="l" defTabSz="897212" rtl="0" eaLnBrk="1" fontAlgn="auto" latinLnBrk="0" hangingPunct="1">
                        <a:lnSpc>
                          <a:spcPts val="1200"/>
                        </a:lnSpc>
                        <a:spcBef>
                          <a:spcPts val="0"/>
                        </a:spcBef>
                        <a:spcAft>
                          <a:spcPts val="0"/>
                        </a:spcAft>
                        <a:buClrTx/>
                        <a:buSzTx/>
                        <a:buFontTx/>
                        <a:buNone/>
                        <a:tabLst/>
                        <a:defRPr/>
                      </a:pP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　リハ専門職の確保に向けた環境整備の状況を評価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381730963"/>
                  </a:ext>
                </a:extLst>
              </a:tr>
              <a:tr h="762164">
                <a:tc vMerge="1">
                  <a:txBody>
                    <a:bodyPr/>
                    <a:lstStyle/>
                    <a:p>
                      <a:endParaRPr kumimoji="1" lang="ja-JP" altLang="en-US"/>
                    </a:p>
                  </a:txBody>
                  <a:tcPr/>
                </a:tc>
                <a:tc>
                  <a:txBody>
                    <a:bodyPr/>
                    <a:lstStyle/>
                    <a:p>
                      <a:pPr marL="85725" marR="0" lvl="0" indent="-85725" algn="l" defTabSz="897212" rtl="0" eaLnBrk="1" fontAlgn="auto" latinLnBrk="0" hangingPunct="1">
                        <a:lnSpc>
                          <a:spcPts val="1200"/>
                        </a:lnSpc>
                        <a:spcBef>
                          <a:spcPts val="0"/>
                        </a:spcBef>
                        <a:spcAft>
                          <a:spcPts val="0"/>
                        </a:spcAft>
                        <a:buClrTx/>
                        <a:buSzTx/>
                        <a:buFontTx/>
                        <a:buNone/>
                        <a:tabLst/>
                        <a:defRPr/>
                      </a:pPr>
                      <a:r>
                        <a:rPr kumimoji="1" lang="ja-JP" altLang="en-US" sz="900" dirty="0">
                          <a:solidFill>
                            <a:schemeClr val="tx1"/>
                          </a:solidFill>
                        </a:rPr>
                        <a:t>５　生活支援体制の整備の推進を図るため、課題の分析・把握を行いつつ、その改善に向けた市町村支援を実施しているか。</a:t>
                      </a:r>
                      <a:endParaRPr kumimoji="1" lang="en-US" altLang="ja-JP" sz="900" dirty="0">
                        <a:solidFill>
                          <a:schemeClr val="tx1"/>
                        </a:solidFill>
                      </a:endParaRPr>
                    </a:p>
                    <a:p>
                      <a:pPr marL="85725" marR="0" lvl="0" indent="-85725" algn="l" defTabSz="897212" rtl="0" eaLnBrk="1" fontAlgn="auto" latinLnBrk="0" hangingPunct="1">
                        <a:lnSpc>
                          <a:spcPts val="1200"/>
                        </a:lnSpc>
                        <a:spcBef>
                          <a:spcPts val="0"/>
                        </a:spcBef>
                        <a:spcAft>
                          <a:spcPts val="0"/>
                        </a:spcAft>
                        <a:buClrTx/>
                        <a:buSzTx/>
                        <a:buFontTx/>
                        <a:buNone/>
                        <a:tabLst>
                          <a:tab pos="85725" algn="l"/>
                        </a:tabLst>
                        <a:defRPr/>
                      </a:pP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　生活支援体制の整備の推進に向けた市町村支援の状況を評価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516428922"/>
                  </a:ext>
                </a:extLst>
              </a:tr>
              <a:tr h="251973">
                <a:tc vMerge="1">
                  <a:txBody>
                    <a:bodyPr/>
                    <a:lstStyle/>
                    <a:p>
                      <a:pPr algn="ctr"/>
                      <a:endParaRPr kumimoji="1" lang="ja-JP" altLang="en-US" sz="1000" dirty="0"/>
                    </a:p>
                  </a:txBody>
                  <a:tcPr vert="eaVe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gridSpan="2">
                  <a:txBody>
                    <a:bodyPr/>
                    <a:lstStyle/>
                    <a:p>
                      <a:pPr marL="0" algn="l" defTabSz="897212" rtl="0" eaLnBrk="1" latinLnBrk="0" hangingPunct="1">
                        <a:lnSpc>
                          <a:spcPts val="1200"/>
                        </a:lnSpc>
                      </a:pP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900" i="0" kern="1200" dirty="0">
                          <a:solidFill>
                            <a:schemeClr val="dk1"/>
                          </a:solidFill>
                          <a:latin typeface="ＤＦ特太ゴシック体" panose="020B0509000000000000" pitchFamily="49" charset="-128"/>
                          <a:ea typeface="ＤＦ特太ゴシック体" panose="020B0509000000000000" pitchFamily="49" charset="-128"/>
                          <a:cs typeface="+mn-cs"/>
                        </a:rPr>
                        <a:t>Ⅱ</a:t>
                      </a: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　認知症総合支援を推進する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tc hMerge="1">
                  <a:txBody>
                    <a:bodyPr/>
                    <a:lstStyle/>
                    <a:p>
                      <a:pPr marL="0" algn="l" defTabSz="897212" rtl="0" eaLnBrk="1" latinLnBrk="0" hangingPunct="1">
                        <a:lnSpc>
                          <a:spcPts val="1200"/>
                        </a:lnSpc>
                      </a:pPr>
                      <a:endPar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255986991"/>
                  </a:ext>
                </a:extLst>
              </a:tr>
              <a:tr h="570388">
                <a:tc vMerge="1">
                  <a:txBody>
                    <a:bodyPr/>
                    <a:lstStyle/>
                    <a:p>
                      <a:endParaRPr kumimoji="1" lang="ja-JP" altLang="en-US" sz="1050" dirty="0"/>
                    </a:p>
                  </a:txBody>
                  <a:tcPr vert="eaVert"/>
                </a:tc>
                <a:tc>
                  <a:txBody>
                    <a:bodyPr/>
                    <a:lstStyle/>
                    <a:p>
                      <a:pPr marL="85725" indent="-85725">
                        <a:lnSpc>
                          <a:spcPts val="1200"/>
                        </a:lnSpc>
                      </a:pPr>
                      <a:r>
                        <a:rPr kumimoji="1" lang="ja-JP" altLang="en-US" sz="900" dirty="0"/>
                        <a:t>１　都道府県における認知症施策の推進に関し、現状把握、計画の策定、評価・改善を行っているか。</a:t>
                      </a:r>
                      <a:endParaRPr kumimoji="1" lang="en-US" altLang="ja-JP" sz="900" dirty="0"/>
                    </a:p>
                    <a:p>
                      <a:pPr marL="180975" marR="0" lvl="0" indent="-180975" algn="l" defTabSz="897212" rtl="0" eaLnBrk="1" fontAlgn="auto" latinLnBrk="0" hangingPunct="1">
                        <a:lnSpc>
                          <a:spcPts val="1200"/>
                        </a:lnSpc>
                        <a:spcBef>
                          <a:spcPts val="0"/>
                        </a:spcBef>
                        <a:spcAft>
                          <a:spcPts val="0"/>
                        </a:spcAft>
                        <a:buClrTx/>
                        <a:buSzTx/>
                        <a:buFontTx/>
                        <a:buNone/>
                        <a:tabLst/>
                        <a:defRPr/>
                      </a:pP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　認知症施策の現状把握、計画の策定等の</a:t>
                      </a:r>
                      <a:r>
                        <a:rPr kumimoji="1" lang="en-US" altLang="ja-JP" sz="800" kern="1200" dirty="0">
                          <a:solidFill>
                            <a:srgbClr val="FF0000"/>
                          </a:solidFill>
                          <a:latin typeface="ＭＳ 明朝" panose="02020609040205080304" pitchFamily="17" charset="-128"/>
                          <a:ea typeface="ＭＳ 明朝" panose="02020609040205080304" pitchFamily="17" charset="-128"/>
                          <a:cs typeface="+mn-cs"/>
                        </a:rPr>
                        <a:t>PDCA</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サイクルを評価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3">
                  <a:txBody>
                    <a:bodyPr/>
                    <a:lstStyle/>
                    <a:p>
                      <a:pPr marL="87313" indent="-87313">
                        <a:lnSpc>
                          <a:spcPts val="1200"/>
                        </a:lnSpc>
                      </a:pPr>
                      <a:r>
                        <a:rPr kumimoji="1" lang="ja-JP" altLang="en-US" sz="900" i="0" dirty="0"/>
                        <a:t>１　管内の高齢者人口当たりの認知症サポーター数</a:t>
                      </a:r>
                    </a:p>
                    <a:p>
                      <a:pPr marL="87313" indent="-87313">
                        <a:lnSpc>
                          <a:spcPts val="1200"/>
                        </a:lnSpc>
                      </a:pPr>
                      <a:r>
                        <a:rPr kumimoji="1" lang="ja-JP" altLang="en-US" sz="900" i="0" dirty="0"/>
                        <a:t>２　管内の高齢者人口当たりの認知症サポーターステップアップ講座修了者数</a:t>
                      </a:r>
                    </a:p>
                    <a:p>
                      <a:pPr marL="87313" indent="-87313">
                        <a:lnSpc>
                          <a:spcPts val="1200"/>
                        </a:lnSpc>
                      </a:pPr>
                      <a:r>
                        <a:rPr kumimoji="1" lang="ja-JP" altLang="en-US" sz="900" i="0" dirty="0"/>
                        <a:t>３　管内のチームオレンジ設置市町村数（割合）</a:t>
                      </a:r>
                    </a:p>
                    <a:p>
                      <a:pPr marL="87313" indent="-87313">
                        <a:lnSpc>
                          <a:spcPts val="1200"/>
                        </a:lnSpc>
                      </a:pPr>
                      <a:r>
                        <a:rPr kumimoji="1" lang="ja-JP" altLang="en-US" sz="900" i="0" dirty="0"/>
                        <a:t>４　管内の高齢者人口当たりの認知症カフェ箇所数</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5909909"/>
                  </a:ext>
                </a:extLst>
              </a:tr>
              <a:tr h="570388">
                <a:tc vMerge="1">
                  <a:txBody>
                    <a:bodyPr/>
                    <a:lstStyle/>
                    <a:p>
                      <a:endParaRPr kumimoji="1" lang="ja-JP" altLang="en-US" sz="1050" dirty="0"/>
                    </a:p>
                  </a:txBody>
                  <a:tcPr vert="eaVert"/>
                </a:tc>
                <a:tc>
                  <a:txBody>
                    <a:bodyPr/>
                    <a:lstStyle/>
                    <a:p>
                      <a:pPr marL="85725" indent="-85725">
                        <a:lnSpc>
                          <a:spcPts val="1200"/>
                        </a:lnSpc>
                      </a:pPr>
                      <a:r>
                        <a:rPr kumimoji="1" lang="ja-JP" altLang="en-US" sz="900" dirty="0"/>
                        <a:t>２　認知症状のある人（若年性認知症の人を含む。）がその状態に応じた適切な支援を受けられるようにするための取組を行っているか。</a:t>
                      </a:r>
                      <a:endParaRPr kumimoji="1" lang="en-US" altLang="ja-JP" sz="900" dirty="0"/>
                    </a:p>
                    <a:p>
                      <a:pPr marL="180975" marR="0" lvl="0" indent="-180975" algn="l" defTabSz="897212" rtl="0" eaLnBrk="1" fontAlgn="auto" latinLnBrk="0" hangingPunct="1">
                        <a:lnSpc>
                          <a:spcPts val="1200"/>
                        </a:lnSpc>
                        <a:spcBef>
                          <a:spcPts val="0"/>
                        </a:spcBef>
                        <a:spcAft>
                          <a:spcPts val="0"/>
                        </a:spcAft>
                        <a:buClrTx/>
                        <a:buSzTx/>
                        <a:buFontTx/>
                        <a:buNone/>
                        <a:tabLst>
                          <a:tab pos="180975" algn="l"/>
                        </a:tabLst>
                        <a:defRPr/>
                      </a:pPr>
                      <a:r>
                        <a:rPr kumimoji="1" lang="ja-JP" altLang="en-US" sz="800" dirty="0"/>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認知症状のある人に対する支援体制を評価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405658978"/>
                  </a:ext>
                </a:extLst>
              </a:tr>
              <a:tr h="570388">
                <a:tc vMerge="1">
                  <a:txBody>
                    <a:bodyPr/>
                    <a:lstStyle/>
                    <a:p>
                      <a:endParaRPr kumimoji="1" lang="ja-JP" altLang="en-US" sz="1050" dirty="0"/>
                    </a:p>
                  </a:txBody>
                  <a:tcPr vert="eaVert"/>
                </a:tc>
                <a:tc>
                  <a:txBody>
                    <a:bodyPr/>
                    <a:lstStyle/>
                    <a:p>
                      <a:pPr marL="85725" indent="-85725">
                        <a:lnSpc>
                          <a:spcPts val="1200"/>
                        </a:lnSpc>
                      </a:pPr>
                      <a:r>
                        <a:rPr kumimoji="1" lang="ja-JP" altLang="en-US" sz="900" dirty="0"/>
                        <a:t>３　管内保険者における認知症施策に関する取組状況を把握し、市町村支援を実施しているか。</a:t>
                      </a:r>
                      <a:endParaRPr kumimoji="1" lang="en-US" altLang="ja-JP" sz="900" dirty="0"/>
                    </a:p>
                    <a:p>
                      <a:pPr marL="85725" marR="0" lvl="0" indent="-85725" algn="l" defTabSz="897212" rtl="0" eaLnBrk="1" fontAlgn="auto" latinLnBrk="0" hangingPunct="1">
                        <a:lnSpc>
                          <a:spcPts val="1200"/>
                        </a:lnSpc>
                        <a:spcBef>
                          <a:spcPts val="0"/>
                        </a:spcBef>
                        <a:spcAft>
                          <a:spcPts val="0"/>
                        </a:spcAft>
                        <a:buClrTx/>
                        <a:buSzTx/>
                        <a:buFontTx/>
                        <a:buNone/>
                        <a:tabLst>
                          <a:tab pos="85725" algn="l"/>
                        </a:tabLst>
                        <a:defRPr/>
                      </a:pP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　認知症施策に関する市町村支援の状況を評価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190393105"/>
                  </a:ext>
                </a:extLst>
              </a:tr>
              <a:tr h="251973">
                <a:tc vMerge="1">
                  <a:txBody>
                    <a:bodyPr/>
                    <a:lstStyle/>
                    <a:p>
                      <a:endParaRPr kumimoji="1" lang="ja-JP" altLang="en-US" sz="1050" dirty="0"/>
                    </a:p>
                  </a:txBody>
                  <a:tcPr vert="eaVert"/>
                </a:tc>
                <a:tc gridSpan="2">
                  <a:txBody>
                    <a:bodyPr/>
                    <a:lstStyle/>
                    <a:p>
                      <a:pPr marL="0" algn="l" defTabSz="897212" rtl="0" eaLnBrk="1" latinLnBrk="0" hangingPunct="1">
                        <a:lnSpc>
                          <a:spcPts val="1200"/>
                        </a:lnSpc>
                      </a:pP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900" i="0" kern="1200" dirty="0">
                          <a:solidFill>
                            <a:schemeClr val="dk1"/>
                          </a:solidFill>
                          <a:latin typeface="ＤＦ特太ゴシック体" panose="020B0509000000000000" pitchFamily="49" charset="-128"/>
                          <a:ea typeface="ＤＦ特太ゴシック体" panose="020B0509000000000000" pitchFamily="49" charset="-128"/>
                          <a:cs typeface="+mn-cs"/>
                        </a:rPr>
                        <a:t>Ⅲ</a:t>
                      </a:r>
                      <a:r>
                        <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rPr>
                        <a:t>　在宅医療・在宅介護連携の体制を構築する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tc hMerge="1">
                  <a:txBody>
                    <a:bodyPr/>
                    <a:lstStyle/>
                    <a:p>
                      <a:pPr marL="0" algn="l" defTabSz="897212" rtl="0" eaLnBrk="1" latinLnBrk="0" hangingPunct="1">
                        <a:lnSpc>
                          <a:spcPts val="1200"/>
                        </a:lnSpc>
                      </a:pPr>
                      <a:endParaRPr kumimoji="1" lang="ja-JP" altLang="en-US" sz="900" i="0" kern="1200" dirty="0">
                        <a:solidFill>
                          <a:schemeClr val="dk1"/>
                        </a:solidFill>
                        <a:latin typeface="ＤＦ特太ゴシック体" panose="020B0509000000000000" pitchFamily="49" charset="-128"/>
                        <a:ea typeface="ＤＦ特太ゴシック体" panose="020B0509000000000000" pitchFamily="49" charset="-128"/>
                        <a:cs typeface="+mn-cs"/>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827923558"/>
                  </a:ext>
                </a:extLst>
              </a:tr>
              <a:tr h="570388">
                <a:tc vMerge="1">
                  <a:txBody>
                    <a:bodyPr/>
                    <a:lstStyle/>
                    <a:p>
                      <a:endParaRPr kumimoji="1" lang="ja-JP" altLang="en-US" sz="1050" dirty="0"/>
                    </a:p>
                  </a:txBody>
                  <a:tcPr vert="eaVert"/>
                </a:tc>
                <a:tc>
                  <a:txBody>
                    <a:bodyPr/>
                    <a:lstStyle/>
                    <a:p>
                      <a:pPr marL="85725" indent="-85725">
                        <a:lnSpc>
                          <a:spcPts val="1200"/>
                        </a:lnSpc>
                      </a:pPr>
                      <a:r>
                        <a:rPr kumimoji="1" lang="ja-JP" altLang="en-US" sz="900" dirty="0"/>
                        <a:t>１　管内保険者における在宅医療・介護連携に関する取組状況を把握し、市町村支援を実施しているか。</a:t>
                      </a:r>
                      <a:endParaRPr kumimoji="1" lang="en-US" altLang="ja-JP" sz="900" dirty="0"/>
                    </a:p>
                    <a:p>
                      <a:pPr marL="85725" marR="0" lvl="0" indent="-85725" algn="l" defTabSz="897212" rtl="0" eaLnBrk="1" fontAlgn="auto" latinLnBrk="0" hangingPunct="1">
                        <a:lnSpc>
                          <a:spcPts val="1200"/>
                        </a:lnSpc>
                        <a:spcBef>
                          <a:spcPts val="0"/>
                        </a:spcBef>
                        <a:spcAft>
                          <a:spcPts val="0"/>
                        </a:spcAft>
                        <a:buClrTx/>
                        <a:buSzTx/>
                        <a:buFontTx/>
                        <a:buNone/>
                        <a:tabLst/>
                        <a:defRPr/>
                      </a:pPr>
                      <a:r>
                        <a:rPr kumimoji="1" lang="ja-JP" altLang="en-US" sz="800" dirty="0"/>
                        <a:t>　</a:t>
                      </a:r>
                      <a:r>
                        <a:rPr kumimoji="1" lang="ja-JP" altLang="en-US" sz="800" kern="1200" dirty="0">
                          <a:solidFill>
                            <a:srgbClr val="FF0000"/>
                          </a:solidFill>
                          <a:latin typeface="ＭＳ 明朝" panose="02020609040205080304" pitchFamily="17" charset="-128"/>
                          <a:ea typeface="ＭＳ 明朝" panose="02020609040205080304" pitchFamily="17" charset="-128"/>
                          <a:cs typeface="+mn-cs"/>
                        </a:rPr>
                        <a:t>⇒　在宅医療・介護連携に関する市町村支援の状況を評価</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87313" indent="-87313">
                        <a:lnSpc>
                          <a:spcPts val="1200"/>
                        </a:lnSpc>
                      </a:pPr>
                      <a:r>
                        <a:rPr kumimoji="1" lang="ja-JP" altLang="en-US" sz="900" i="0" dirty="0"/>
                        <a:t>１　管内市町村の入退院支援の実施状況</a:t>
                      </a:r>
                    </a:p>
                    <a:p>
                      <a:pPr marL="87313" indent="-87313">
                        <a:lnSpc>
                          <a:spcPts val="1200"/>
                        </a:lnSpc>
                      </a:pPr>
                      <a:r>
                        <a:rPr kumimoji="1" lang="ja-JP" altLang="en-US" sz="900" i="0" dirty="0"/>
                        <a:t>２　管内市町村の人生の最終段階における支援の実施状況</a:t>
                      </a:r>
                      <a:endParaRPr kumimoji="1" lang="ja-JP" altLang="en-US" sz="900" kern="1200" dirty="0">
                        <a:solidFill>
                          <a:srgbClr val="FF0000"/>
                        </a:solidFill>
                        <a:latin typeface="ＭＳ 明朝" panose="02020609040205080304" pitchFamily="17" charset="-128"/>
                        <a:ea typeface="ＭＳ 明朝" panose="02020609040205080304" pitchFamily="17" charset="-128"/>
                        <a:cs typeface="+mn-cs"/>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8792625"/>
                  </a:ext>
                </a:extLst>
              </a:tr>
            </a:tbl>
          </a:graphicData>
        </a:graphic>
      </p:graphicFrame>
      <p:graphicFrame>
        <p:nvGraphicFramePr>
          <p:cNvPr id="36" name="表 35"/>
          <p:cNvGraphicFramePr>
            <a:graphicFrameLocks noGrp="1"/>
          </p:cNvGraphicFramePr>
          <p:nvPr>
            <p:extLst>
              <p:ext uri="{D42A27DB-BD31-4B8C-83A1-F6EECF244321}">
                <p14:modId xmlns:p14="http://schemas.microsoft.com/office/powerpoint/2010/main" val="362800571"/>
              </p:ext>
            </p:extLst>
          </p:nvPr>
        </p:nvGraphicFramePr>
        <p:xfrm>
          <a:off x="7467349" y="702444"/>
          <a:ext cx="2145838" cy="6192686"/>
        </p:xfrm>
        <a:graphic>
          <a:graphicData uri="http://schemas.openxmlformats.org/drawingml/2006/table">
            <a:tbl>
              <a:tblPr firstRow="1" bandRow="1">
                <a:tableStyleId>{5C22544A-7EE6-4342-B048-85BDC9FD1C3A}</a:tableStyleId>
              </a:tblPr>
              <a:tblGrid>
                <a:gridCol w="2145838">
                  <a:extLst>
                    <a:ext uri="{9D8B030D-6E8A-4147-A177-3AD203B41FA5}">
                      <a16:colId xmlns:a16="http://schemas.microsoft.com/office/drawing/2014/main" val="267994785"/>
                    </a:ext>
                  </a:extLst>
                </a:gridCol>
              </a:tblGrid>
              <a:tr h="362096">
                <a:tc>
                  <a:txBody>
                    <a:bodyPr/>
                    <a:lstStyle/>
                    <a:p>
                      <a:pPr algn="ctr"/>
                      <a:r>
                        <a:rPr kumimoji="1" lang="ja-JP" altLang="en-US" sz="1000"/>
                        <a:t>成果指標群（アウトカム指標）</a:t>
                      </a:r>
                      <a:endParaRPr kumimoji="1" lang="ja-JP" altLang="en-US" sz="10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2807503567"/>
                  </a:ext>
                </a:extLst>
              </a:tr>
              <a:tr h="728825">
                <a:tc>
                  <a:txBody>
                    <a:bodyPr/>
                    <a:lstStyle/>
                    <a:p>
                      <a:pPr marL="176213" indent="-352425" algn="l" defTabSz="897212" rtl="0" eaLnBrk="1" latinLnBrk="0" hangingPunct="1"/>
                      <a:r>
                        <a:rPr kumimoji="1" lang="ja-JP" altLang="en-US" sz="1050" kern="1200" dirty="0">
                          <a:solidFill>
                            <a:schemeClr val="dk1"/>
                          </a:solidFill>
                          <a:latin typeface="ＤＦ特太ゴシック体" panose="020B0509000000000000" pitchFamily="49" charset="-128"/>
                          <a:ea typeface="ＤＦ特太ゴシック体" panose="020B0509000000000000" pitchFamily="49" charset="-128"/>
                          <a:cs typeface="+mn-cs"/>
                        </a:rPr>
                        <a:t>目標</a:t>
                      </a:r>
                      <a:r>
                        <a:rPr kumimoji="1" lang="en-US" altLang="ja-JP" sz="1050" kern="1200" dirty="0">
                          <a:solidFill>
                            <a:schemeClr val="dk1"/>
                          </a:solidFill>
                          <a:latin typeface="ＤＦ特太ゴシック体" panose="020B0509000000000000" pitchFamily="49" charset="-128"/>
                          <a:ea typeface="ＤＦ特太ゴシック体" panose="020B0509000000000000" pitchFamily="49" charset="-128"/>
                          <a:cs typeface="+mn-cs"/>
                        </a:rPr>
                        <a:t>Ⅳ</a:t>
                      </a:r>
                      <a:r>
                        <a:rPr kumimoji="1" lang="ja-JP" altLang="en-US" sz="1050" kern="1200" dirty="0">
                          <a:solidFill>
                            <a:schemeClr val="dk1"/>
                          </a:solidFill>
                          <a:latin typeface="ＤＦ特太ゴシック体" panose="020B0509000000000000" pitchFamily="49" charset="-128"/>
                          <a:ea typeface="ＤＦ特太ゴシック体" panose="020B0509000000000000" pitchFamily="49" charset="-128"/>
                          <a:cs typeface="+mn-cs"/>
                        </a:rPr>
                        <a:t>　高齢者がその状況に応じて可能な限り自立した日常生活を営む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017738085"/>
                  </a:ext>
                </a:extLst>
              </a:tr>
              <a:tr h="1020353">
                <a:tc>
                  <a:txBody>
                    <a:bodyPr/>
                    <a:lstStyle/>
                    <a:p>
                      <a:pPr marL="84138" indent="-84138"/>
                      <a:r>
                        <a:rPr kumimoji="1" lang="ja-JP" altLang="en-US" sz="1000" dirty="0"/>
                        <a:t>１　管内保険者における短期的な要介護認定者の平均要介護度（１・２）の変化率の状況はどのようになっているか。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1113151"/>
                  </a:ext>
                </a:extLst>
              </a:tr>
              <a:tr h="1020353">
                <a:tc>
                  <a:txBody>
                    <a:bodyPr/>
                    <a:lstStyle/>
                    <a:p>
                      <a:pPr marL="84138" indent="-84138"/>
                      <a:r>
                        <a:rPr kumimoji="1" lang="ja-JP" altLang="en-US" sz="1000" dirty="0"/>
                        <a:t>２　管内保険者における長期的な要介護認定者の平均要介護度（１・２）の変化率の状況はどのようになっているか。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6180893"/>
                  </a:ext>
                </a:extLst>
              </a:tr>
              <a:tr h="1020353">
                <a:tc>
                  <a:txBody>
                    <a:bodyPr/>
                    <a:lstStyle/>
                    <a:p>
                      <a:pPr marL="84138" indent="-84138"/>
                      <a:r>
                        <a:rPr kumimoji="1" lang="ja-JP" altLang="en-US" sz="1000" dirty="0"/>
                        <a:t>３　管内保険者における短期的な要介護認定者の平均要介護度（３～５）の変化率の状況はどのようになっているか。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30926925"/>
                  </a:ext>
                </a:extLst>
              </a:tr>
              <a:tr h="1020353">
                <a:tc>
                  <a:txBody>
                    <a:bodyPr/>
                    <a:lstStyle/>
                    <a:p>
                      <a:pPr marL="84138" indent="-84138"/>
                      <a:r>
                        <a:rPr kumimoji="1" lang="ja-JP" altLang="en-US" sz="1000" dirty="0"/>
                        <a:t>４　管内保険者における長期的な要介護認定者の平均要介護度（３～５）の変化率の状況はどのようになっているか。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4794803"/>
                  </a:ext>
                </a:extLst>
              </a:tr>
              <a:tr h="1020353">
                <a:tc>
                  <a:txBody>
                    <a:bodyPr/>
                    <a:lstStyle/>
                    <a:p>
                      <a:pPr marL="84138" indent="-84138"/>
                      <a:r>
                        <a:rPr kumimoji="1" lang="ja-JP" altLang="en-US" sz="1000" dirty="0"/>
                        <a:t>５　管内保険者における要介護２以上の認定率、認定率の変化率の状況はどのようになっているか。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8071435"/>
                  </a:ext>
                </a:extLst>
              </a:tr>
            </a:tbl>
          </a:graphicData>
        </a:graphic>
      </p:graphicFrame>
      <p:sp>
        <p:nvSpPr>
          <p:cNvPr id="7" name="スライド番号プレースホルダー 1"/>
          <p:cNvSpPr>
            <a:spLocks noGrp="1"/>
          </p:cNvSpPr>
          <p:nvPr>
            <p:ph type="sldNum" sz="quarter" idx="12"/>
          </p:nvPr>
        </p:nvSpPr>
        <p:spPr>
          <a:xfrm>
            <a:off x="7344590" y="6606756"/>
            <a:ext cx="2268061" cy="373831"/>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32</a:t>
            </a:fld>
            <a:endParaRPr lang="ja-JP" altLang="en-US" sz="1178"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15599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テキスト ボックス 24">
            <a:extLst>
              <a:ext uri="{FF2B5EF4-FFF2-40B4-BE49-F238E27FC236}">
                <a16:creationId xmlns:a16="http://schemas.microsoft.com/office/drawing/2014/main" id="{55318B66-CD40-493D-8237-25AACCFB551B}"/>
              </a:ext>
            </a:extLst>
          </p:cNvPr>
          <p:cNvSpPr txBox="1"/>
          <p:nvPr/>
        </p:nvSpPr>
        <p:spPr>
          <a:xfrm>
            <a:off x="1609870" y="702756"/>
            <a:ext cx="7560390" cy="493860"/>
          </a:xfrm>
          <a:prstGeom prst="rect">
            <a:avLst/>
          </a:prstGeom>
          <a:noFill/>
        </p:spPr>
        <p:txBody>
          <a:bodyPr wrap="square" lIns="88270" tIns="45901" rIns="88270" bIns="45901" rtlCol="0" anchor="t" anchorCtr="0">
            <a:noAutofit/>
          </a:bodyPr>
          <a:lstStyle/>
          <a:p>
            <a:pPr defTabSz="448426" fontAlgn="base">
              <a:lnSpc>
                <a:spcPts val="1471"/>
              </a:lnSpc>
              <a:spcBef>
                <a:spcPct val="0"/>
              </a:spcBef>
              <a:spcAft>
                <a:spcPct val="0"/>
              </a:spcAft>
              <a:tabLst>
                <a:tab pos="3523571" algn="r"/>
              </a:tabLst>
              <a:defRPr/>
            </a:pPr>
            <a:r>
              <a:rPr lang="zh-TW" altLang="en-US" sz="1177" dirty="0">
                <a:solidFill>
                  <a:prstClr val="black"/>
                </a:solidFill>
                <a:latin typeface="メイリオ" panose="020B0604030504040204" pitchFamily="50" charset="-128"/>
                <a:ea typeface="メイリオ" panose="020B0604030504040204" pitchFamily="50" charset="-128"/>
              </a:rPr>
              <a:t>令和</a:t>
            </a:r>
            <a:r>
              <a:rPr lang="ja-JP" altLang="en-US" sz="1177" dirty="0">
                <a:solidFill>
                  <a:prstClr val="black"/>
                </a:solidFill>
                <a:latin typeface="メイリオ" panose="020B0604030504040204" pitchFamily="50" charset="-128"/>
                <a:ea typeface="メイリオ" panose="020B0604030504040204" pitchFamily="50" charset="-128"/>
              </a:rPr>
              <a:t>６</a:t>
            </a:r>
            <a:r>
              <a:rPr lang="zh-TW" altLang="en-US" sz="1177" dirty="0">
                <a:solidFill>
                  <a:prstClr val="black"/>
                </a:solidFill>
                <a:latin typeface="メイリオ" panose="020B0604030504040204" pitchFamily="50" charset="-128"/>
                <a:ea typeface="メイリオ" panose="020B0604030504040204" pitchFamily="50" charset="-128"/>
              </a:rPr>
              <a:t>年度</a:t>
            </a:r>
            <a:r>
              <a:rPr lang="ja-JP" altLang="en-US" sz="1177" dirty="0">
                <a:solidFill>
                  <a:prstClr val="black"/>
                </a:solidFill>
                <a:latin typeface="メイリオ" panose="020B0604030504040204" pitchFamily="50" charset="-128"/>
                <a:ea typeface="メイリオ" panose="020B0604030504040204" pitchFamily="50" charset="-128"/>
              </a:rPr>
              <a:t>当初予算案</a:t>
            </a:r>
            <a:r>
              <a:rPr lang="ja-JP" altLang="en-US" sz="1078" dirty="0">
                <a:solidFill>
                  <a:prstClr val="black"/>
                </a:solidFill>
                <a:latin typeface="メイリオ" panose="020B0604030504040204" pitchFamily="50" charset="-128"/>
                <a:ea typeface="メイリオ" panose="020B0604030504040204" pitchFamily="50" charset="-128"/>
              </a:rPr>
              <a:t>　</a:t>
            </a:r>
            <a:r>
              <a:rPr lang="zh-TW" altLang="en-US" sz="1177" dirty="0">
                <a:solidFill>
                  <a:prstClr val="black"/>
                </a:solidFill>
                <a:latin typeface="メイリオ" panose="020B0604030504040204" pitchFamily="50" charset="-128"/>
                <a:ea typeface="メイリオ" panose="020B0604030504040204" pitchFamily="50" charset="-128"/>
              </a:rPr>
              <a:t>（一般財源）　</a:t>
            </a:r>
            <a:r>
              <a:rPr lang="en-US" altLang="ja-JP" sz="1374" dirty="0">
                <a:solidFill>
                  <a:prstClr val="black"/>
                </a:solidFill>
                <a:latin typeface="メイリオ" panose="020B0604030504040204" pitchFamily="50" charset="-128"/>
                <a:ea typeface="メイリオ" panose="020B0604030504040204" pitchFamily="50" charset="-128"/>
              </a:rPr>
              <a:t>100</a:t>
            </a:r>
            <a:r>
              <a:rPr lang="ja-JP" altLang="en-US" sz="883" dirty="0">
                <a:solidFill>
                  <a:prstClr val="black"/>
                </a:solidFill>
                <a:latin typeface="メイリオ" panose="020B0604030504040204" pitchFamily="50" charset="-128"/>
                <a:ea typeface="メイリオ" panose="020B0604030504040204" pitchFamily="50" charset="-128"/>
              </a:rPr>
              <a:t>億円</a:t>
            </a:r>
            <a:r>
              <a:rPr lang="zh-TW" altLang="en-US" sz="1177" dirty="0">
                <a:solidFill>
                  <a:prstClr val="black"/>
                </a:solidFill>
                <a:latin typeface="メイリオ" panose="020B0604030504040204" pitchFamily="50" charset="-128"/>
                <a:ea typeface="メイリオ" panose="020B0604030504040204" pitchFamily="50" charset="-128"/>
              </a:rPr>
              <a:t>（</a:t>
            </a:r>
            <a:r>
              <a:rPr lang="en-US" altLang="ja-JP" sz="1374" dirty="0">
                <a:solidFill>
                  <a:prstClr val="black"/>
                </a:solidFill>
                <a:latin typeface="メイリオ" panose="020B0604030504040204" pitchFamily="50" charset="-128"/>
                <a:ea typeface="メイリオ" panose="020B0604030504040204" pitchFamily="50" charset="-128"/>
              </a:rPr>
              <a:t>150</a:t>
            </a:r>
            <a:r>
              <a:rPr lang="ja-JP" altLang="en-US" sz="883" dirty="0">
                <a:solidFill>
                  <a:prstClr val="black"/>
                </a:solidFill>
                <a:latin typeface="メイリオ" panose="020B0604030504040204" pitchFamily="50" charset="-128"/>
                <a:ea typeface="メイリオ" panose="020B0604030504040204" pitchFamily="50" charset="-128"/>
              </a:rPr>
              <a:t>億</a:t>
            </a:r>
            <a:r>
              <a:rPr lang="zh-TW" altLang="en-US" sz="883" dirty="0">
                <a:solidFill>
                  <a:prstClr val="black"/>
                </a:solidFill>
                <a:latin typeface="メイリオ" panose="020B0604030504040204" pitchFamily="50" charset="-128"/>
                <a:ea typeface="メイリオ" panose="020B0604030504040204" pitchFamily="50" charset="-128"/>
              </a:rPr>
              <a:t>円</a:t>
            </a:r>
            <a:r>
              <a:rPr lang="zh-TW" altLang="en-US" sz="1177" dirty="0">
                <a:solidFill>
                  <a:prstClr val="black"/>
                </a:solidFill>
                <a:latin typeface="メイリオ" panose="020B0604030504040204" pitchFamily="50" charset="-128"/>
                <a:ea typeface="メイリオ" panose="020B0604030504040204" pitchFamily="50" charset="-128"/>
              </a:rPr>
              <a:t>）</a:t>
            </a:r>
            <a:r>
              <a:rPr lang="ja-JP" altLang="en-US" sz="1177" dirty="0">
                <a:solidFill>
                  <a:prstClr val="black"/>
                </a:solidFill>
                <a:latin typeface="メイリオ" panose="020B0604030504040204" pitchFamily="50" charset="-128"/>
                <a:ea typeface="メイリオ" panose="020B0604030504040204" pitchFamily="50" charset="-128"/>
              </a:rPr>
              <a:t>　　</a:t>
            </a:r>
            <a:endParaRPr lang="en-US" altLang="zh-TW" sz="1177" dirty="0">
              <a:solidFill>
                <a:prstClr val="black"/>
              </a:solidFill>
              <a:latin typeface="メイリオ" panose="020B0604030504040204" pitchFamily="50" charset="-128"/>
              <a:ea typeface="メイリオ" panose="020B0604030504040204" pitchFamily="50" charset="-128"/>
            </a:endParaRPr>
          </a:p>
          <a:p>
            <a:pPr defTabSz="448426" fontAlgn="base">
              <a:lnSpc>
                <a:spcPts val="1471"/>
              </a:lnSpc>
              <a:spcBef>
                <a:spcPct val="0"/>
              </a:spcBef>
              <a:spcAft>
                <a:spcPct val="0"/>
              </a:spcAft>
              <a:tabLst>
                <a:tab pos="3523571" algn="r"/>
              </a:tabLst>
              <a:defRPr/>
            </a:pPr>
            <a:r>
              <a:rPr lang="zh-TW" altLang="en-US" sz="1177" dirty="0">
                <a:solidFill>
                  <a:prstClr val="black"/>
                </a:solidFill>
                <a:latin typeface="メイリオ" panose="020B0604030504040204" pitchFamily="50" charset="-128"/>
                <a:ea typeface="メイリオ" panose="020B0604030504040204" pitchFamily="50" charset="-128"/>
              </a:rPr>
              <a:t>　　　　　　　　　　</a:t>
            </a:r>
            <a:r>
              <a:rPr lang="ja-JP" altLang="en-US" sz="1177" dirty="0">
                <a:solidFill>
                  <a:prstClr val="black"/>
                </a:solidFill>
                <a:latin typeface="メイリオ" panose="020B0604030504040204" pitchFamily="50" charset="-128"/>
                <a:ea typeface="メイリオ" panose="020B0604030504040204" pitchFamily="50" charset="-128"/>
              </a:rPr>
              <a:t>　</a:t>
            </a:r>
            <a:r>
              <a:rPr lang="zh-TW" altLang="en-US" sz="1177" dirty="0">
                <a:solidFill>
                  <a:prstClr val="black"/>
                </a:solidFill>
                <a:latin typeface="メイリオ" panose="020B0604030504040204" pitchFamily="50" charset="-128"/>
                <a:ea typeface="メイリオ" panose="020B0604030504040204" pitchFamily="50" charset="-128"/>
              </a:rPr>
              <a:t>（消費税財源）</a:t>
            </a:r>
            <a:r>
              <a:rPr lang="en-US" altLang="zh-TW" sz="1374" dirty="0">
                <a:solidFill>
                  <a:prstClr val="black"/>
                </a:solidFill>
                <a:latin typeface="メイリオ" panose="020B0604030504040204" pitchFamily="50" charset="-128"/>
                <a:ea typeface="メイリオ" panose="020B0604030504040204" pitchFamily="50" charset="-128"/>
              </a:rPr>
              <a:t>200</a:t>
            </a:r>
            <a:r>
              <a:rPr lang="ja-JP" altLang="en-US" sz="883" dirty="0">
                <a:solidFill>
                  <a:prstClr val="black"/>
                </a:solidFill>
                <a:latin typeface="メイリオ" panose="020B0604030504040204" pitchFamily="50" charset="-128"/>
                <a:ea typeface="メイリオ" panose="020B0604030504040204" pitchFamily="50" charset="-128"/>
              </a:rPr>
              <a:t>億</a:t>
            </a:r>
            <a:r>
              <a:rPr lang="zh-TW" altLang="en-US" sz="883" dirty="0">
                <a:solidFill>
                  <a:prstClr val="black"/>
                </a:solidFill>
                <a:latin typeface="メイリオ" panose="020B0604030504040204" pitchFamily="50" charset="-128"/>
                <a:ea typeface="メイリオ" panose="020B0604030504040204" pitchFamily="50" charset="-128"/>
              </a:rPr>
              <a:t>円</a:t>
            </a:r>
            <a:r>
              <a:rPr lang="zh-TW" altLang="en-US" sz="1177" dirty="0">
                <a:solidFill>
                  <a:prstClr val="black"/>
                </a:solidFill>
                <a:latin typeface="メイリオ" panose="020B0604030504040204" pitchFamily="50" charset="-128"/>
                <a:ea typeface="メイリオ" panose="020B0604030504040204" pitchFamily="50" charset="-128"/>
              </a:rPr>
              <a:t>（</a:t>
            </a:r>
            <a:r>
              <a:rPr lang="en-US" altLang="zh-TW" sz="1374" dirty="0">
                <a:solidFill>
                  <a:prstClr val="black"/>
                </a:solidFill>
                <a:latin typeface="メイリオ" panose="020B0604030504040204" pitchFamily="50" charset="-128"/>
                <a:ea typeface="メイリオ" panose="020B0604030504040204" pitchFamily="50" charset="-128"/>
              </a:rPr>
              <a:t>200</a:t>
            </a:r>
            <a:r>
              <a:rPr lang="ja-JP" altLang="en-US" sz="883" dirty="0">
                <a:solidFill>
                  <a:prstClr val="black"/>
                </a:solidFill>
                <a:latin typeface="メイリオ" panose="020B0604030504040204" pitchFamily="50" charset="-128"/>
                <a:ea typeface="メイリオ" panose="020B0604030504040204" pitchFamily="50" charset="-128"/>
              </a:rPr>
              <a:t>億</a:t>
            </a:r>
            <a:r>
              <a:rPr lang="zh-TW" altLang="en-US" sz="883" dirty="0">
                <a:solidFill>
                  <a:prstClr val="black"/>
                </a:solidFill>
                <a:latin typeface="メイリオ" panose="020B0604030504040204" pitchFamily="50" charset="-128"/>
                <a:ea typeface="メイリオ" panose="020B0604030504040204" pitchFamily="50" charset="-128"/>
              </a:rPr>
              <a:t>円</a:t>
            </a:r>
            <a:r>
              <a:rPr lang="zh-TW" altLang="en-US" sz="1177" dirty="0">
                <a:solidFill>
                  <a:prstClr val="black"/>
                </a:solidFill>
                <a:latin typeface="メイリオ" panose="020B0604030504040204" pitchFamily="50" charset="-128"/>
                <a:ea typeface="メイリオ" panose="020B0604030504040204" pitchFamily="50" charset="-128"/>
              </a:rPr>
              <a:t>）</a:t>
            </a:r>
            <a:endParaRPr lang="en-US" altLang="zh-TW" sz="785" dirty="0">
              <a:solidFill>
                <a:prstClr val="black"/>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A889522F-FA51-F14C-BAA2-ADEAB79DDF80}"/>
              </a:ext>
            </a:extLst>
          </p:cNvPr>
          <p:cNvSpPr/>
          <p:nvPr/>
        </p:nvSpPr>
        <p:spPr>
          <a:xfrm>
            <a:off x="196712" y="3083648"/>
            <a:ext cx="9396400" cy="3739705"/>
          </a:xfrm>
          <a:prstGeom prst="rect">
            <a:avLst/>
          </a:prstGeom>
          <a:noFill/>
          <a:ln w="25400" cap="rnd" cmpd="sng" algn="ctr">
            <a:solidFill>
              <a:srgbClr val="103185"/>
            </a:solidFill>
            <a:prstDash val="solid"/>
            <a:bevel/>
          </a:ln>
          <a:effectLst/>
        </p:spPr>
        <p:txBody>
          <a:bodyPr lIns="129788" tIns="162235" rIns="129788" bIns="162235" rtlCol="0" anchor="t"/>
          <a:lstStyle/>
          <a:p>
            <a:pPr marL="163201" indent="-163201" defTabSz="412092" fontAlgn="base">
              <a:spcBef>
                <a:spcPct val="0"/>
              </a:spcBef>
              <a:spcAft>
                <a:spcPct val="0"/>
              </a:spcAft>
              <a:buClr>
                <a:prstClr val="black"/>
              </a:buClr>
              <a:defRPr/>
            </a:pPr>
            <a:r>
              <a:rPr kumimoji="0" lang="ja-JP" altLang="en-US" sz="981" kern="0" spc="108" dirty="0">
                <a:solidFill>
                  <a:prstClr val="black"/>
                </a:solidFill>
                <a:latin typeface="Segoe UI" panose="020B0502040204020203" pitchFamily="34" charset="0"/>
                <a:ea typeface="メイリオ" panose="020B0604030504040204" pitchFamily="50" charset="-128"/>
              </a:rPr>
              <a:t>○　各市町村が行う自立支援・重度化防止の取組及び都道府県が行う市町村支援の取組に対し、評価指標の達成状況（評価指標の総合得点）に応じて、交付金を交付する。</a:t>
            </a:r>
          </a:p>
          <a:p>
            <a:pPr marL="240507" indent="-240507" defTabSz="412092" fontAlgn="base">
              <a:spcBef>
                <a:spcPct val="0"/>
              </a:spcBef>
              <a:spcAft>
                <a:spcPct val="0"/>
              </a:spcAft>
              <a:buClr>
                <a:prstClr val="black"/>
              </a:buClr>
              <a:defRPr/>
            </a:pPr>
            <a:r>
              <a:rPr kumimoji="0" lang="ja-JP" altLang="en-US" sz="981" kern="0" spc="108" dirty="0">
                <a:solidFill>
                  <a:prstClr val="black"/>
                </a:solidFill>
                <a:latin typeface="Segoe UI" panose="020B0502040204020203" pitchFamily="34" charset="0"/>
                <a:ea typeface="メイリオ" panose="020B0604030504040204" pitchFamily="50" charset="-128"/>
              </a:rPr>
              <a:t>　</a:t>
            </a:r>
            <a:r>
              <a:rPr kumimoji="0" lang="en-US" altLang="ja-JP" sz="981" kern="0" spc="108" dirty="0">
                <a:solidFill>
                  <a:prstClr val="black"/>
                </a:solidFill>
                <a:latin typeface="ＭＳ 明朝" panose="02020609040205080304" pitchFamily="17" charset="-128"/>
                <a:ea typeface="ＭＳ 明朝" panose="02020609040205080304" pitchFamily="17" charset="-128"/>
              </a:rPr>
              <a:t>※</a:t>
            </a:r>
            <a:r>
              <a:rPr kumimoji="0" lang="ja-JP" altLang="en-US" sz="981" kern="0" spc="108" dirty="0">
                <a:solidFill>
                  <a:prstClr val="black"/>
                </a:solidFill>
                <a:latin typeface="ＭＳ 明朝" panose="02020609040205080304" pitchFamily="17" charset="-128"/>
                <a:ea typeface="ＭＳ 明朝" panose="02020609040205080304" pitchFamily="17" charset="-128"/>
              </a:rPr>
              <a:t>　介護</a:t>
            </a:r>
            <a:r>
              <a:rPr kumimoji="0" lang="ja-JP" altLang="en-US" sz="981" kern="0" spc="108" dirty="0" err="1">
                <a:solidFill>
                  <a:prstClr val="black"/>
                </a:solidFill>
                <a:latin typeface="ＭＳ 明朝" panose="02020609040205080304" pitchFamily="17" charset="-128"/>
                <a:ea typeface="ＭＳ 明朝" panose="02020609040205080304" pitchFamily="17" charset="-128"/>
              </a:rPr>
              <a:t>保険保険</a:t>
            </a:r>
            <a:r>
              <a:rPr kumimoji="0" lang="ja-JP" altLang="en-US" sz="981" kern="0" spc="108" dirty="0">
                <a:solidFill>
                  <a:prstClr val="black"/>
                </a:solidFill>
                <a:latin typeface="ＭＳ 明朝" panose="02020609040205080304" pitchFamily="17" charset="-128"/>
                <a:ea typeface="ＭＳ 明朝" panose="02020609040205080304" pitchFamily="17" charset="-128"/>
              </a:rPr>
              <a:t>者努力支援交付金（消費税財源）は、上記の取組の中でも介護予防・日常生活支援総合事業及び包括的支援事業（包括的・継続的ケアマネジメント支援事業、在宅医療介護連携推進事業、生活支援体制整備事業、認知症総合支援事業）に使途範囲を限定。</a:t>
            </a:r>
            <a:endParaRPr kumimoji="0" lang="en-US" altLang="ja-JP" sz="981" kern="0" spc="108" dirty="0">
              <a:solidFill>
                <a:prstClr val="black"/>
              </a:solidFill>
              <a:latin typeface="ＭＳ 明朝" panose="02020609040205080304" pitchFamily="17" charset="-128"/>
              <a:ea typeface="ＭＳ 明朝" panose="02020609040205080304" pitchFamily="17" charset="-128"/>
            </a:endParaRPr>
          </a:p>
          <a:p>
            <a:pPr marL="240507" indent="-240507" defTabSz="412092" fontAlgn="base">
              <a:spcBef>
                <a:spcPct val="0"/>
              </a:spcBef>
              <a:spcAft>
                <a:spcPct val="0"/>
              </a:spcAft>
              <a:buClr>
                <a:prstClr val="black"/>
              </a:buClr>
              <a:defRPr/>
            </a:pPr>
            <a:endParaRPr kumimoji="0" lang="ja-JP" altLang="en-US" sz="491" kern="0" spc="108" dirty="0">
              <a:solidFill>
                <a:prstClr val="black"/>
              </a:solidFill>
              <a:latin typeface="ＭＳ 明朝" panose="02020609040205080304" pitchFamily="17" charset="-128"/>
              <a:ea typeface="ＭＳ 明朝" panose="02020609040205080304" pitchFamily="17" charset="-128"/>
            </a:endParaRPr>
          </a:p>
          <a:p>
            <a:pPr marL="405140" indent="-405140" defTabSz="412092" fontAlgn="base">
              <a:spcBef>
                <a:spcPct val="0"/>
              </a:spcBef>
              <a:spcAft>
                <a:spcPct val="0"/>
              </a:spcAft>
              <a:buClr>
                <a:prstClr val="black"/>
              </a:buClr>
              <a:defRPr/>
            </a:pPr>
            <a:r>
              <a:rPr kumimoji="0" lang="ja-JP" altLang="en-US" sz="981" b="1" kern="0" spc="108" dirty="0">
                <a:solidFill>
                  <a:prstClr val="black"/>
                </a:solidFill>
                <a:latin typeface="Segoe UI" panose="020B0502040204020203" pitchFamily="34" charset="0"/>
                <a:ea typeface="メイリオ" panose="020B0604030504040204" pitchFamily="50" charset="-128"/>
              </a:rPr>
              <a:t>　</a:t>
            </a:r>
            <a:r>
              <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rPr>
              <a:t>【</a:t>
            </a:r>
            <a:r>
              <a:rPr kumimoji="0" lang="ja-JP" altLang="en-US" sz="981" b="1" kern="0" spc="108" dirty="0">
                <a:solidFill>
                  <a:srgbClr val="4F81BD">
                    <a:lumMod val="75000"/>
                  </a:srgbClr>
                </a:solidFill>
                <a:latin typeface="Segoe UI" panose="020B0502040204020203" pitchFamily="34" charset="0"/>
                <a:ea typeface="メイリオ" panose="020B0604030504040204" pitchFamily="50" charset="-128"/>
              </a:rPr>
              <a:t>実施主体</a:t>
            </a:r>
            <a:r>
              <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rPr>
              <a:t>】</a:t>
            </a:r>
          </a:p>
          <a:p>
            <a:pPr marL="1226260" indent="-1485247" defTabSz="412092" fontAlgn="base">
              <a:spcBef>
                <a:spcPct val="0"/>
              </a:spcBef>
              <a:spcAft>
                <a:spcPct val="0"/>
              </a:spcAft>
              <a:buClr>
                <a:prstClr val="black"/>
              </a:buClr>
              <a:defRPr/>
            </a:pPr>
            <a:r>
              <a:rPr kumimoji="0" lang="ja-JP" altLang="en-US" sz="981" b="1" kern="0" spc="108" dirty="0">
                <a:solidFill>
                  <a:prstClr val="black"/>
                </a:solidFill>
                <a:latin typeface="Segoe UI" panose="020B0502040204020203" pitchFamily="34" charset="0"/>
                <a:ea typeface="メイリオ" panose="020B0604030504040204" pitchFamily="50" charset="-128"/>
              </a:rPr>
              <a:t>　</a:t>
            </a:r>
            <a:r>
              <a:rPr kumimoji="0" lang="ja-JP" altLang="en-US" sz="981" kern="0" spc="108" dirty="0">
                <a:solidFill>
                  <a:prstClr val="black"/>
                </a:solidFill>
                <a:latin typeface="Segoe UI" panose="020B0502040204020203" pitchFamily="34" charset="0"/>
                <a:ea typeface="メイリオ" panose="020B0604030504040204" pitchFamily="50" charset="-128"/>
              </a:rPr>
              <a:t>　都道府県、市町村</a:t>
            </a:r>
            <a:endParaRPr kumimoji="0" lang="en-US" altLang="ja-JP" sz="981" kern="0" spc="108" dirty="0">
              <a:solidFill>
                <a:prstClr val="black"/>
              </a:solidFill>
              <a:latin typeface="Segoe UI" panose="020B0502040204020203" pitchFamily="34" charset="0"/>
              <a:ea typeface="メイリオ" panose="020B0604030504040204" pitchFamily="50" charset="-128"/>
            </a:endParaRPr>
          </a:p>
          <a:p>
            <a:pPr marL="1226260" indent="-1485247" defTabSz="412092" fontAlgn="base">
              <a:spcBef>
                <a:spcPct val="0"/>
              </a:spcBef>
              <a:spcAft>
                <a:spcPct val="0"/>
              </a:spcAft>
              <a:buClr>
                <a:prstClr val="black"/>
              </a:buClr>
              <a:defRPr/>
            </a:pPr>
            <a:endParaRPr kumimoji="0" lang="en-US" altLang="ja-JP" sz="491" b="1" kern="0" spc="108" dirty="0">
              <a:solidFill>
                <a:prstClr val="black"/>
              </a:solidFill>
              <a:latin typeface="Segoe UI" panose="020B0502040204020203" pitchFamily="34" charset="0"/>
              <a:ea typeface="メイリオ" panose="020B0604030504040204" pitchFamily="50" charset="-128"/>
            </a:endParaRPr>
          </a:p>
          <a:p>
            <a:pPr marL="405140" indent="-405140" defTabSz="412092" fontAlgn="base">
              <a:spcBef>
                <a:spcPct val="0"/>
              </a:spcBef>
              <a:spcAft>
                <a:spcPct val="0"/>
              </a:spcAft>
              <a:buClr>
                <a:prstClr val="black"/>
              </a:buClr>
              <a:defRPr/>
            </a:pPr>
            <a:r>
              <a:rPr kumimoji="0" lang="ja-JP" altLang="en-US" sz="981" b="1" kern="0" spc="108" dirty="0">
                <a:solidFill>
                  <a:prstClr val="black"/>
                </a:solidFill>
                <a:latin typeface="Segoe UI" panose="020B0502040204020203" pitchFamily="34" charset="0"/>
                <a:ea typeface="メイリオ" panose="020B0604030504040204" pitchFamily="50" charset="-128"/>
              </a:rPr>
              <a:t>　</a:t>
            </a:r>
            <a:r>
              <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rPr>
              <a:t>【</a:t>
            </a:r>
            <a:r>
              <a:rPr kumimoji="0" lang="ja-JP" altLang="en-US" sz="981" b="1" kern="0" spc="108" dirty="0">
                <a:solidFill>
                  <a:srgbClr val="4F81BD">
                    <a:lumMod val="75000"/>
                  </a:srgbClr>
                </a:solidFill>
                <a:latin typeface="Segoe UI" panose="020B0502040204020203" pitchFamily="34" charset="0"/>
                <a:ea typeface="メイリオ" panose="020B0604030504040204" pitchFamily="50" charset="-128"/>
              </a:rPr>
              <a:t>交付金の配分に係る主な評価指標</a:t>
            </a:r>
            <a:r>
              <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rPr>
              <a:t>】</a:t>
            </a:r>
          </a:p>
          <a:p>
            <a:pPr marL="1226260" indent="-1485247" defTabSz="412092" fontAlgn="base">
              <a:spcBef>
                <a:spcPct val="0"/>
              </a:spcBef>
              <a:spcAft>
                <a:spcPct val="0"/>
              </a:spcAft>
              <a:buClr>
                <a:prstClr val="black"/>
              </a:buClr>
              <a:defRPr/>
            </a:pPr>
            <a:r>
              <a:rPr kumimoji="0" lang="ja-JP" altLang="en-US" sz="981" kern="0" spc="108" dirty="0">
                <a:solidFill>
                  <a:prstClr val="black"/>
                </a:solidFill>
                <a:latin typeface="Segoe UI" panose="020B0502040204020203" pitchFamily="34" charset="0"/>
                <a:ea typeface="メイリオ" panose="020B0604030504040204" pitchFamily="50" charset="-128"/>
              </a:rPr>
              <a:t>　　①</a:t>
            </a:r>
            <a:r>
              <a:rPr kumimoji="0" lang="en-US" altLang="ja-JP" sz="981" kern="0" spc="108" dirty="0">
                <a:solidFill>
                  <a:prstClr val="black"/>
                </a:solidFill>
                <a:latin typeface="Segoe UI" panose="020B0502040204020203" pitchFamily="34" charset="0"/>
                <a:ea typeface="メイリオ" panose="020B0604030504040204" pitchFamily="50" charset="-128"/>
              </a:rPr>
              <a:t>PDCA</a:t>
            </a:r>
            <a:r>
              <a:rPr kumimoji="0" lang="ja-JP" altLang="en-US" sz="981" kern="0" spc="108" dirty="0">
                <a:solidFill>
                  <a:prstClr val="black"/>
                </a:solidFill>
                <a:latin typeface="Segoe UI" panose="020B0502040204020203" pitchFamily="34" charset="0"/>
                <a:ea typeface="メイリオ" panose="020B0604030504040204" pitchFamily="50" charset="-128"/>
              </a:rPr>
              <a:t>サイクルの活用による保険者機能の強化　④介護予防の推進</a:t>
            </a:r>
          </a:p>
          <a:p>
            <a:pPr marL="1226260" indent="-1485247" defTabSz="412092" fontAlgn="base">
              <a:spcBef>
                <a:spcPct val="0"/>
              </a:spcBef>
              <a:spcAft>
                <a:spcPct val="0"/>
              </a:spcAft>
              <a:buClr>
                <a:prstClr val="black"/>
              </a:buClr>
              <a:defRPr/>
            </a:pPr>
            <a:r>
              <a:rPr kumimoji="0" lang="ja-JP" altLang="en-US" sz="981" kern="0" spc="108" dirty="0">
                <a:solidFill>
                  <a:prstClr val="black"/>
                </a:solidFill>
                <a:latin typeface="Segoe UI" panose="020B0502040204020203" pitchFamily="34" charset="0"/>
                <a:ea typeface="メイリオ" panose="020B0604030504040204" pitchFamily="50" charset="-128"/>
              </a:rPr>
              <a:t>　　②ケアマネジメントの質の向上　　　　　　 ⑤介護給付適正化事業の推進</a:t>
            </a:r>
          </a:p>
          <a:p>
            <a:pPr marL="1226260" indent="-1485247" defTabSz="412092" fontAlgn="base">
              <a:spcBef>
                <a:spcPct val="0"/>
              </a:spcBef>
              <a:spcAft>
                <a:spcPct val="0"/>
              </a:spcAft>
              <a:buClr>
                <a:prstClr val="black"/>
              </a:buClr>
              <a:defRPr/>
            </a:pPr>
            <a:r>
              <a:rPr kumimoji="0" lang="ja-JP" altLang="en-US" sz="981" kern="0" spc="108" dirty="0">
                <a:solidFill>
                  <a:prstClr val="black"/>
                </a:solidFill>
                <a:latin typeface="Segoe UI" panose="020B0502040204020203" pitchFamily="34" charset="0"/>
                <a:ea typeface="メイリオ" panose="020B0604030504040204" pitchFamily="50" charset="-128"/>
              </a:rPr>
              <a:t>　　③多職種連携による地域ケア会議の活性化　 ⑥要介護状態の維持・改善の度合い</a:t>
            </a:r>
            <a:endParaRPr kumimoji="0" lang="en-US" altLang="ja-JP" sz="981" kern="0" spc="108" dirty="0">
              <a:solidFill>
                <a:prstClr val="black"/>
              </a:solidFill>
              <a:latin typeface="Segoe UI" panose="020B0502040204020203" pitchFamily="34" charset="0"/>
              <a:ea typeface="メイリオ" panose="020B0604030504040204" pitchFamily="50" charset="-128"/>
            </a:endParaRPr>
          </a:p>
          <a:p>
            <a:pPr marL="1226260" indent="-1485247" defTabSz="412092" fontAlgn="base">
              <a:spcBef>
                <a:spcPct val="0"/>
              </a:spcBef>
              <a:spcAft>
                <a:spcPct val="0"/>
              </a:spcAft>
              <a:buClr>
                <a:prstClr val="black"/>
              </a:buClr>
              <a:defRPr/>
            </a:pPr>
            <a:endParaRPr kumimoji="0" lang="en-US" altLang="ja-JP" sz="491" kern="0" spc="108" dirty="0">
              <a:solidFill>
                <a:prstClr val="black"/>
              </a:solidFill>
              <a:latin typeface="Segoe UI" panose="020B0502040204020203" pitchFamily="34" charset="0"/>
              <a:ea typeface="メイリオ" panose="020B0604030504040204" pitchFamily="50" charset="-128"/>
            </a:endParaRPr>
          </a:p>
          <a:p>
            <a:pPr marL="405140" indent="-405140" defTabSz="412092" fontAlgn="base">
              <a:spcBef>
                <a:spcPct val="0"/>
              </a:spcBef>
              <a:spcAft>
                <a:spcPct val="0"/>
              </a:spcAft>
              <a:buClr>
                <a:prstClr val="black"/>
              </a:buClr>
              <a:defRPr/>
            </a:pPr>
            <a:r>
              <a:rPr kumimoji="0" lang="ja-JP" altLang="en-US" sz="981" b="1" kern="0" spc="108" dirty="0">
                <a:solidFill>
                  <a:prstClr val="black"/>
                </a:solidFill>
                <a:latin typeface="Segoe UI" panose="020B0502040204020203" pitchFamily="34" charset="0"/>
                <a:ea typeface="メイリオ" panose="020B0604030504040204" pitchFamily="50" charset="-128"/>
              </a:rPr>
              <a:t>　</a:t>
            </a:r>
            <a:r>
              <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rPr>
              <a:t>【</a:t>
            </a:r>
            <a:r>
              <a:rPr kumimoji="0" lang="ja-JP" altLang="en-US" sz="981" b="1" kern="0" spc="108" dirty="0">
                <a:solidFill>
                  <a:srgbClr val="4F81BD">
                    <a:lumMod val="75000"/>
                  </a:srgbClr>
                </a:solidFill>
                <a:latin typeface="Segoe UI" panose="020B0502040204020203" pitchFamily="34" charset="0"/>
                <a:ea typeface="メイリオ" panose="020B0604030504040204" pitchFamily="50" charset="-128"/>
              </a:rPr>
              <a:t>交付金の活用方法</a:t>
            </a:r>
            <a:r>
              <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rPr>
              <a:t>】</a:t>
            </a:r>
          </a:p>
          <a:p>
            <a:pPr marL="1226260" indent="-1485247" defTabSz="412092" fontAlgn="base">
              <a:spcBef>
                <a:spcPct val="0"/>
              </a:spcBef>
              <a:spcAft>
                <a:spcPct val="0"/>
              </a:spcAft>
              <a:buClr>
                <a:prstClr val="black"/>
              </a:buClr>
              <a:defRPr/>
            </a:pPr>
            <a:r>
              <a:rPr kumimoji="0" lang="ja-JP" altLang="en-US" sz="981" kern="0" spc="108" dirty="0">
                <a:solidFill>
                  <a:prstClr val="black"/>
                </a:solidFill>
                <a:latin typeface="Segoe UI" panose="020B0502040204020203" pitchFamily="34" charset="0"/>
                <a:ea typeface="メイリオ" panose="020B0604030504040204" pitchFamily="50" charset="-128"/>
              </a:rPr>
              <a:t>　　＜都道府県分＞</a:t>
            </a:r>
          </a:p>
          <a:p>
            <a:pPr marL="405140" indent="-405140" defTabSz="412092" fontAlgn="base">
              <a:spcBef>
                <a:spcPct val="0"/>
              </a:spcBef>
              <a:spcAft>
                <a:spcPct val="0"/>
              </a:spcAft>
              <a:buClr>
                <a:prstClr val="black"/>
              </a:buClr>
              <a:defRPr/>
            </a:pPr>
            <a:r>
              <a:rPr kumimoji="0" lang="ja-JP" altLang="en-US" sz="981" kern="0" spc="108" dirty="0">
                <a:solidFill>
                  <a:prstClr val="black"/>
                </a:solidFill>
                <a:latin typeface="Segoe UI" panose="020B0502040204020203" pitchFamily="34" charset="0"/>
                <a:ea typeface="メイリオ" panose="020B0604030504040204" pitchFamily="50" charset="-128"/>
              </a:rPr>
              <a:t>　　　　高齢者の自立支援・重度化防止等に向けて市町村を支援する各種事業（市町村に対する研修事業、リハビリ専門職等の派遣事業等）の事業費に充当。</a:t>
            </a:r>
          </a:p>
          <a:p>
            <a:pPr marL="1226260" indent="-1485247" defTabSz="412092" fontAlgn="base">
              <a:spcBef>
                <a:spcPct val="0"/>
              </a:spcBef>
              <a:spcAft>
                <a:spcPct val="0"/>
              </a:spcAft>
              <a:buClr>
                <a:prstClr val="black"/>
              </a:buClr>
              <a:defRPr/>
            </a:pPr>
            <a:r>
              <a:rPr kumimoji="0" lang="ja-JP" altLang="en-US" sz="981" kern="0" spc="108" dirty="0">
                <a:solidFill>
                  <a:prstClr val="black"/>
                </a:solidFill>
                <a:latin typeface="Segoe UI" panose="020B0502040204020203" pitchFamily="34" charset="0"/>
                <a:ea typeface="メイリオ" panose="020B0604030504040204" pitchFamily="50" charset="-128"/>
              </a:rPr>
              <a:t>　　＜市町村分＞</a:t>
            </a:r>
          </a:p>
          <a:p>
            <a:pPr marL="405140" indent="-405140" defTabSz="412092" fontAlgn="base">
              <a:spcBef>
                <a:spcPct val="0"/>
              </a:spcBef>
              <a:spcAft>
                <a:spcPct val="0"/>
              </a:spcAft>
              <a:buClr>
                <a:prstClr val="black"/>
              </a:buClr>
              <a:defRPr/>
            </a:pPr>
            <a:r>
              <a:rPr kumimoji="0" lang="ja-JP" altLang="en-US" sz="981" kern="0" spc="108" dirty="0">
                <a:solidFill>
                  <a:prstClr val="black"/>
                </a:solidFill>
                <a:latin typeface="Segoe UI" panose="020B0502040204020203" pitchFamily="34" charset="0"/>
                <a:ea typeface="メイリオ" panose="020B0604030504040204" pitchFamily="50" charset="-128"/>
              </a:rPr>
              <a:t>　　　　国、都道府県、市町村及び第２号保険料の法定負担割合に加えて、介護保険特別会計に充当し、地域支援事業、市町村特別給付、保健福祉事業など、高齢者の自立支援、重度化防止、介護予防等に必要な事業を充実。</a:t>
            </a:r>
            <a:endParaRPr kumimoji="0" lang="en-US" altLang="ja-JP" sz="981" kern="0" spc="108" dirty="0">
              <a:solidFill>
                <a:prstClr val="black"/>
              </a:solidFill>
              <a:latin typeface="Segoe UI" panose="020B0502040204020203" pitchFamily="34" charset="0"/>
              <a:ea typeface="メイリオ" panose="020B0604030504040204" pitchFamily="50" charset="-128"/>
            </a:endParaRPr>
          </a:p>
          <a:p>
            <a:pPr marL="405140" indent="-405140" defTabSz="412092" fontAlgn="base">
              <a:spcBef>
                <a:spcPct val="0"/>
              </a:spcBef>
              <a:spcAft>
                <a:spcPct val="0"/>
              </a:spcAft>
              <a:buClr>
                <a:prstClr val="black"/>
              </a:buClr>
              <a:defRPr/>
            </a:pPr>
            <a:endParaRPr kumimoji="0" lang="en-US" altLang="ja-JP" sz="491" b="1" kern="0" spc="108" dirty="0">
              <a:solidFill>
                <a:prstClr val="black"/>
              </a:solidFill>
              <a:latin typeface="Segoe UI" panose="020B0502040204020203" pitchFamily="34" charset="0"/>
              <a:ea typeface="メイリオ" panose="020B0604030504040204" pitchFamily="50" charset="-128"/>
            </a:endParaRPr>
          </a:p>
          <a:p>
            <a:pPr marL="405140" indent="-405140" defTabSz="412092" fontAlgn="base">
              <a:spcBef>
                <a:spcPct val="0"/>
              </a:spcBef>
              <a:spcAft>
                <a:spcPct val="0"/>
              </a:spcAft>
              <a:buClr>
                <a:prstClr val="black"/>
              </a:buClr>
              <a:defRPr/>
            </a:pPr>
            <a:r>
              <a:rPr kumimoji="0" lang="ja-JP" altLang="en-US" sz="981" b="1" kern="0" spc="108" dirty="0">
                <a:solidFill>
                  <a:prstClr val="black"/>
                </a:solidFill>
                <a:latin typeface="Segoe UI" panose="020B0502040204020203" pitchFamily="34" charset="0"/>
                <a:ea typeface="メイリオ" panose="020B0604030504040204" pitchFamily="50" charset="-128"/>
              </a:rPr>
              <a:t>　</a:t>
            </a:r>
            <a:r>
              <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rPr>
              <a:t>【</a:t>
            </a:r>
            <a:r>
              <a:rPr kumimoji="0" lang="ja-JP" altLang="en-US" sz="981" b="1" kern="0" spc="108" dirty="0">
                <a:solidFill>
                  <a:srgbClr val="4F81BD">
                    <a:lumMod val="75000"/>
                  </a:srgbClr>
                </a:solidFill>
                <a:latin typeface="Segoe UI" panose="020B0502040204020203" pitchFamily="34" charset="0"/>
                <a:ea typeface="メイリオ" panose="020B0604030504040204" pitchFamily="50" charset="-128"/>
              </a:rPr>
              <a:t>補助率・単価</a:t>
            </a:r>
            <a:r>
              <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rPr>
              <a:t>】</a:t>
            </a:r>
          </a:p>
          <a:p>
            <a:pPr marL="1226260" indent="-1485247" defTabSz="412092" fontAlgn="base">
              <a:spcBef>
                <a:spcPct val="0"/>
              </a:spcBef>
              <a:spcAft>
                <a:spcPct val="0"/>
              </a:spcAft>
              <a:buClr>
                <a:prstClr val="black"/>
              </a:buClr>
              <a:defRPr/>
            </a:pPr>
            <a:r>
              <a:rPr kumimoji="0" lang="ja-JP" altLang="en-US" sz="981" b="1" kern="0" spc="108" dirty="0">
                <a:solidFill>
                  <a:prstClr val="black"/>
                </a:solidFill>
                <a:latin typeface="Segoe UI" panose="020B0502040204020203" pitchFamily="34" charset="0"/>
                <a:ea typeface="メイリオ" panose="020B0604030504040204" pitchFamily="50" charset="-128"/>
              </a:rPr>
              <a:t>　　</a:t>
            </a:r>
            <a:r>
              <a:rPr kumimoji="0" lang="ja-JP" altLang="en-US" sz="981" kern="0" spc="108" dirty="0">
                <a:solidFill>
                  <a:prstClr val="black"/>
                </a:solidFill>
                <a:latin typeface="Segoe UI" panose="020B0502040204020203" pitchFamily="34" charset="0"/>
                <a:ea typeface="メイリオ" panose="020B0604030504040204" pitchFamily="50" charset="-128"/>
              </a:rPr>
              <a:t>定額（国が定める評価指標の達成状況（評価指標の総合得点）に応じて、交付金を配分）</a:t>
            </a:r>
            <a:endParaRPr kumimoji="0" lang="en-US" altLang="ja-JP" sz="981" kern="0" spc="108" dirty="0">
              <a:solidFill>
                <a:prstClr val="black"/>
              </a:solidFill>
              <a:latin typeface="Segoe UI" panose="020B0502040204020203" pitchFamily="34" charset="0"/>
              <a:ea typeface="メイリオ" panose="020B0604030504040204" pitchFamily="50" charset="-128"/>
            </a:endParaRPr>
          </a:p>
          <a:p>
            <a:pPr marL="1226260" indent="-1485247" defTabSz="412092" fontAlgn="base">
              <a:spcBef>
                <a:spcPct val="0"/>
              </a:spcBef>
              <a:spcAft>
                <a:spcPct val="0"/>
              </a:spcAft>
              <a:buClr>
                <a:prstClr val="black"/>
              </a:buClr>
              <a:defRPr/>
            </a:pPr>
            <a:endParaRPr kumimoji="0" lang="en-US" altLang="ja-JP" sz="491" kern="0" spc="108" dirty="0">
              <a:solidFill>
                <a:prstClr val="black"/>
              </a:solidFill>
              <a:latin typeface="Segoe UI" panose="020B0502040204020203" pitchFamily="34" charset="0"/>
              <a:ea typeface="メイリオ" panose="020B0604030504040204" pitchFamily="50" charset="-128"/>
            </a:endParaRPr>
          </a:p>
          <a:p>
            <a:pPr marL="405140" indent="-405140" defTabSz="412092" fontAlgn="base">
              <a:spcBef>
                <a:spcPct val="0"/>
              </a:spcBef>
              <a:spcAft>
                <a:spcPct val="0"/>
              </a:spcAft>
              <a:buClr>
                <a:prstClr val="black"/>
              </a:buClr>
              <a:defRPr/>
            </a:pPr>
            <a:r>
              <a:rPr kumimoji="0" lang="ja-JP" altLang="en-US" sz="981" b="1" kern="0" spc="108" dirty="0">
                <a:solidFill>
                  <a:srgbClr val="4F81BD">
                    <a:lumMod val="75000"/>
                  </a:srgbClr>
                </a:solidFill>
                <a:latin typeface="Segoe UI" panose="020B0502040204020203" pitchFamily="34" charset="0"/>
                <a:ea typeface="メイリオ" panose="020B0604030504040204" pitchFamily="50" charset="-128"/>
              </a:rPr>
              <a:t>　</a:t>
            </a:r>
            <a:r>
              <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rPr>
              <a:t>【</a:t>
            </a:r>
            <a:r>
              <a:rPr kumimoji="0" lang="ja-JP" altLang="en-US" sz="981" b="1" kern="0" spc="108" dirty="0">
                <a:solidFill>
                  <a:srgbClr val="4F81BD">
                    <a:lumMod val="75000"/>
                  </a:srgbClr>
                </a:solidFill>
                <a:latin typeface="Segoe UI" panose="020B0502040204020203" pitchFamily="34" charset="0"/>
                <a:ea typeface="メイリオ" panose="020B0604030504040204" pitchFamily="50" charset="-128"/>
              </a:rPr>
              <a:t>負担割合</a:t>
            </a:r>
            <a:r>
              <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rPr>
              <a:t>】</a:t>
            </a:r>
            <a:r>
              <a:rPr kumimoji="0" lang="ja-JP" altLang="en-US" sz="981" b="1" kern="0" spc="108" dirty="0">
                <a:solidFill>
                  <a:srgbClr val="4F81BD">
                    <a:lumMod val="75000"/>
                  </a:srgbClr>
                </a:solidFill>
                <a:latin typeface="Segoe UI" panose="020B0502040204020203" pitchFamily="34" charset="0"/>
                <a:ea typeface="メイリオ" panose="020B0604030504040204" pitchFamily="50" charset="-128"/>
              </a:rPr>
              <a:t>　</a:t>
            </a:r>
            <a:endParaRPr kumimoji="0" lang="en-US" altLang="ja-JP" sz="981" b="1" kern="0" spc="108" dirty="0">
              <a:solidFill>
                <a:srgbClr val="4F81BD">
                  <a:lumMod val="75000"/>
                </a:srgbClr>
              </a:solidFill>
              <a:latin typeface="Segoe UI" panose="020B0502040204020203" pitchFamily="34" charset="0"/>
              <a:ea typeface="メイリオ" panose="020B0604030504040204" pitchFamily="50" charset="-128"/>
            </a:endParaRPr>
          </a:p>
          <a:p>
            <a:pPr marL="1226260" indent="-1485247" defTabSz="412092" fontAlgn="base">
              <a:spcBef>
                <a:spcPct val="0"/>
              </a:spcBef>
              <a:spcAft>
                <a:spcPct val="0"/>
              </a:spcAft>
              <a:buClr>
                <a:prstClr val="black"/>
              </a:buClr>
              <a:defRPr/>
            </a:pPr>
            <a:r>
              <a:rPr kumimoji="0" lang="ja-JP" altLang="en-US" sz="981" b="1" kern="0" spc="108" dirty="0">
                <a:solidFill>
                  <a:prstClr val="black"/>
                </a:solidFill>
                <a:latin typeface="Segoe UI" panose="020B0502040204020203" pitchFamily="34" charset="0"/>
                <a:ea typeface="メイリオ" panose="020B0604030504040204" pitchFamily="50" charset="-128"/>
              </a:rPr>
              <a:t>　　</a:t>
            </a:r>
            <a:r>
              <a:rPr kumimoji="0" lang="ja-JP" altLang="en-US" sz="981" kern="0" spc="108" dirty="0">
                <a:solidFill>
                  <a:prstClr val="black"/>
                </a:solidFill>
                <a:latin typeface="Segoe UI" panose="020B0502040204020203" pitchFamily="34" charset="0"/>
                <a:ea typeface="メイリオ" panose="020B0604030504040204" pitchFamily="50" charset="-128"/>
              </a:rPr>
              <a:t>国</a:t>
            </a:r>
            <a:r>
              <a:rPr kumimoji="0" lang="en-US" altLang="ja-JP" sz="981" kern="0" spc="108" dirty="0">
                <a:solidFill>
                  <a:prstClr val="black"/>
                </a:solidFill>
                <a:latin typeface="Segoe UI" panose="020B0502040204020203" pitchFamily="34" charset="0"/>
                <a:ea typeface="メイリオ" panose="020B0604030504040204" pitchFamily="50" charset="-128"/>
              </a:rPr>
              <a:t>10/10</a:t>
            </a:r>
            <a:endParaRPr kumimoji="0" lang="ja-JP" altLang="en-US" sz="981" kern="0" spc="108" dirty="0">
              <a:solidFill>
                <a:prstClr val="black"/>
              </a:solidFill>
              <a:latin typeface="Segoe UI" panose="020B0502040204020203" pitchFamily="34" charset="0"/>
              <a:ea typeface="メイリオ" panose="020B0604030504040204" pitchFamily="50" charset="-128"/>
            </a:endParaRPr>
          </a:p>
        </p:txBody>
      </p:sp>
      <p:sp>
        <p:nvSpPr>
          <p:cNvPr id="29" name="角丸四角形 28">
            <a:extLst>
              <a:ext uri="{FF2B5EF4-FFF2-40B4-BE49-F238E27FC236}">
                <a16:creationId xmlns:a16="http://schemas.microsoft.com/office/drawing/2014/main" id="{8569347B-8A4C-9646-89AB-DDDCB8E6B339}"/>
              </a:ext>
            </a:extLst>
          </p:cNvPr>
          <p:cNvSpPr/>
          <p:nvPr/>
        </p:nvSpPr>
        <p:spPr>
          <a:xfrm>
            <a:off x="72996" y="2822496"/>
            <a:ext cx="3221169" cy="324471"/>
          </a:xfrm>
          <a:prstGeom prst="roundRect">
            <a:avLst>
              <a:gd name="adj" fmla="val 0"/>
            </a:avLst>
          </a:prstGeom>
          <a:solidFill>
            <a:srgbClr val="103185"/>
          </a:solidFill>
          <a:ln w="76200">
            <a:solidFill>
              <a:srgbClr val="FFFFFF"/>
            </a:solidFill>
          </a:ln>
        </p:spPr>
        <p:txBody>
          <a:bodyPr lIns="129788" tIns="32448" bIns="32448" anchor="ctr"/>
          <a:lstStyle/>
          <a:p>
            <a:pPr defTabSz="532740" fontAlgn="base">
              <a:lnSpc>
                <a:spcPct val="130000"/>
              </a:lnSpc>
              <a:spcBef>
                <a:spcPct val="0"/>
              </a:spcBef>
              <a:spcAft>
                <a:spcPts val="718"/>
              </a:spcAft>
              <a:defRPr/>
            </a:pPr>
            <a:r>
              <a:rPr kumimoji="0" lang="ja-JP" altLang="en-US" sz="1374" b="1" kern="0" spc="217" dirty="0">
                <a:solidFill>
                  <a:srgbClr val="FFFFFF"/>
                </a:solidFill>
                <a:latin typeface="Segoe UI" panose="020B0502040204020203" pitchFamily="34" charset="0"/>
                <a:ea typeface="メイリオ" panose="020B0604030504040204" pitchFamily="50" charset="-128"/>
                <a:cs typeface="Noto Sans CJK JP DemiLight" charset="-128"/>
              </a:rPr>
              <a:t>２ 事業スキーム・実施主体等</a:t>
            </a:r>
          </a:p>
        </p:txBody>
      </p:sp>
      <p:sp>
        <p:nvSpPr>
          <p:cNvPr id="30" name="正方形/長方形 29">
            <a:extLst>
              <a:ext uri="{FF2B5EF4-FFF2-40B4-BE49-F238E27FC236}">
                <a16:creationId xmlns:a16="http://schemas.microsoft.com/office/drawing/2014/main" id="{A889522F-FA51-F14C-BAA2-ADEAB79DDF80}"/>
              </a:ext>
            </a:extLst>
          </p:cNvPr>
          <p:cNvSpPr/>
          <p:nvPr/>
        </p:nvSpPr>
        <p:spPr>
          <a:xfrm>
            <a:off x="196713" y="1238057"/>
            <a:ext cx="9396400" cy="1456302"/>
          </a:xfrm>
          <a:prstGeom prst="rect">
            <a:avLst/>
          </a:prstGeom>
          <a:noFill/>
          <a:ln w="25400" cap="rnd" cmpd="sng" algn="ctr">
            <a:solidFill>
              <a:srgbClr val="103185"/>
            </a:solidFill>
            <a:prstDash val="solid"/>
            <a:bevel/>
          </a:ln>
          <a:effectLst/>
        </p:spPr>
        <p:txBody>
          <a:bodyPr lIns="129788" tIns="129850" rIns="129788" bIns="162235" rtlCol="0" anchor="t"/>
          <a:lstStyle/>
          <a:p>
            <a:pPr marL="163201" indent="-163201" defTabSz="412092" fontAlgn="base">
              <a:spcBef>
                <a:spcPct val="0"/>
              </a:spcBef>
              <a:spcAft>
                <a:spcPct val="0"/>
              </a:spcAft>
              <a:buClr>
                <a:prstClr val="black"/>
              </a:buClr>
              <a:defRPr/>
            </a:pPr>
            <a:r>
              <a:rPr kumimoji="0" lang="ja-JP" altLang="en-US" sz="1178" kern="0" dirty="0">
                <a:solidFill>
                  <a:prstClr val="black"/>
                </a:solidFill>
                <a:latin typeface="Segoe UI" panose="020B0502040204020203" pitchFamily="34" charset="0"/>
                <a:ea typeface="メイリオ" panose="020B0604030504040204" pitchFamily="50" charset="-128"/>
              </a:rPr>
              <a:t>○　平成</a:t>
            </a:r>
            <a:r>
              <a:rPr kumimoji="0" lang="en-US" altLang="ja-JP" sz="1178" kern="0" dirty="0">
                <a:solidFill>
                  <a:prstClr val="black"/>
                </a:solidFill>
                <a:latin typeface="Segoe UI" panose="020B0502040204020203" pitchFamily="34" charset="0"/>
                <a:ea typeface="メイリオ" panose="020B0604030504040204" pitchFamily="50" charset="-128"/>
              </a:rPr>
              <a:t>29</a:t>
            </a:r>
            <a:r>
              <a:rPr kumimoji="0" lang="ja-JP" altLang="en-US" sz="1178" kern="0" dirty="0">
                <a:solidFill>
                  <a:prstClr val="black"/>
                </a:solidFill>
                <a:latin typeface="Segoe UI" panose="020B0502040204020203" pitchFamily="34" charset="0"/>
                <a:ea typeface="メイリオ" panose="020B0604030504040204" pitchFamily="50" charset="-128"/>
              </a:rPr>
              <a:t>年の地域包括ケア強化法の成立を踏まえ、客観的な指標による評価結果に基づく財政的インセンティブとして、平成</a:t>
            </a:r>
            <a:r>
              <a:rPr kumimoji="0" lang="en-US" altLang="ja-JP" sz="1178" kern="0" dirty="0">
                <a:solidFill>
                  <a:prstClr val="black"/>
                </a:solidFill>
                <a:latin typeface="Segoe UI" panose="020B0502040204020203" pitchFamily="34" charset="0"/>
                <a:ea typeface="メイリオ" panose="020B0604030504040204" pitchFamily="50" charset="-128"/>
              </a:rPr>
              <a:t>30</a:t>
            </a:r>
            <a:r>
              <a:rPr kumimoji="0" lang="ja-JP" altLang="en-US" sz="1178" kern="0" dirty="0">
                <a:solidFill>
                  <a:prstClr val="black"/>
                </a:solidFill>
                <a:latin typeface="Segoe UI" panose="020B0502040204020203" pitchFamily="34" charset="0"/>
                <a:ea typeface="メイリオ" panose="020B0604030504040204" pitchFamily="50" charset="-128"/>
              </a:rPr>
              <a:t>年度より、保険者機能強化推進交付金を創設し、保険者（市町村）による高齢者の自立支援、重度化防止の取組や、都道府県による保険者支援の取組を推進。令和２年度からは、介護保険保険者努力支援交付金（社会保障の充実分）を創設し、介護予防・健康づくり等に資する取組を重点的に評価することにより、これらの取組を強化。</a:t>
            </a:r>
            <a:endParaRPr kumimoji="0" lang="en-US" altLang="ja-JP" sz="1178" kern="0" dirty="0">
              <a:solidFill>
                <a:prstClr val="black"/>
              </a:solidFill>
              <a:latin typeface="Segoe UI" panose="020B0502040204020203" pitchFamily="34" charset="0"/>
              <a:ea typeface="メイリオ" panose="020B0604030504040204" pitchFamily="50" charset="-128"/>
            </a:endParaRPr>
          </a:p>
          <a:p>
            <a:pPr marL="163201" indent="-163201" defTabSz="412092" fontAlgn="base">
              <a:spcBef>
                <a:spcPct val="0"/>
              </a:spcBef>
              <a:spcAft>
                <a:spcPct val="0"/>
              </a:spcAft>
              <a:buClr>
                <a:prstClr val="black"/>
              </a:buClr>
              <a:defRPr/>
            </a:pPr>
            <a:r>
              <a:rPr kumimoji="0" lang="ja-JP" altLang="en-US" sz="1178" kern="0" dirty="0">
                <a:solidFill>
                  <a:prstClr val="black"/>
                </a:solidFill>
                <a:latin typeface="Segoe UI" panose="020B0502040204020203" pitchFamily="34" charset="0"/>
                <a:ea typeface="メイリオ" panose="020B0604030504040204" pitchFamily="50" charset="-128"/>
              </a:rPr>
              <a:t>○　</a:t>
            </a:r>
            <a:r>
              <a:rPr kumimoji="0" lang="ja-JP" altLang="en-US" sz="1178" u="sng" kern="0" dirty="0">
                <a:solidFill>
                  <a:prstClr val="black"/>
                </a:solidFill>
                <a:latin typeface="Segoe UI" panose="020B0502040204020203" pitchFamily="34" charset="0"/>
                <a:ea typeface="メイリオ" panose="020B0604030504040204" pitchFamily="50" charset="-128"/>
              </a:rPr>
              <a:t>令和５年度においては、秋の行政事業レビューや予算執行調査などの結果を踏まえ、アウトカムに関連するアウトプット・中間アウトカム指標の充実や、評価指標の縮減など、制度の効率化・重点化を図るための見直しを行った</a:t>
            </a:r>
            <a:r>
              <a:rPr kumimoji="0" lang="ja-JP" altLang="en-US" sz="1178" kern="0" dirty="0">
                <a:solidFill>
                  <a:prstClr val="black"/>
                </a:solidFill>
                <a:latin typeface="Segoe UI" panose="020B0502040204020203" pitchFamily="34" charset="0"/>
                <a:ea typeface="メイリオ" panose="020B0604030504040204" pitchFamily="50" charset="-128"/>
              </a:rPr>
              <a:t>ところであり、令和６年度においてもこれらを踏まえつつ、引き続き保険者機能強化の推進を図る。</a:t>
            </a:r>
          </a:p>
          <a:p>
            <a:pPr defTabSz="412092" fontAlgn="base">
              <a:spcBef>
                <a:spcPct val="0"/>
              </a:spcBef>
              <a:spcAft>
                <a:spcPct val="0"/>
              </a:spcAft>
              <a:buClr>
                <a:prstClr val="black"/>
              </a:buClr>
              <a:defRPr/>
            </a:pPr>
            <a:endParaRPr kumimoji="0" lang="ja-JP" altLang="en-US" sz="1178" kern="0" dirty="0">
              <a:solidFill>
                <a:prstClr val="black"/>
              </a:solidFill>
              <a:latin typeface="Segoe UI" panose="020B0502040204020203" pitchFamily="34" charset="0"/>
              <a:ea typeface="メイリオ" panose="020B0604030504040204" pitchFamily="50" charset="-128"/>
            </a:endParaRPr>
          </a:p>
        </p:txBody>
      </p:sp>
      <p:grpSp>
        <p:nvGrpSpPr>
          <p:cNvPr id="10" name="グループ化 9"/>
          <p:cNvGrpSpPr/>
          <p:nvPr/>
        </p:nvGrpSpPr>
        <p:grpSpPr>
          <a:xfrm>
            <a:off x="5720332" y="3972480"/>
            <a:ext cx="3465564" cy="1102433"/>
            <a:chOff x="6141628" y="3974867"/>
            <a:chExt cx="3561519" cy="1222561"/>
          </a:xfrm>
        </p:grpSpPr>
        <p:pic>
          <p:nvPicPr>
            <p:cNvPr id="23" name="図 22"/>
            <p:cNvPicPr>
              <a:picLocks noChangeAspect="1"/>
            </p:cNvPicPr>
            <p:nvPr/>
          </p:nvPicPr>
          <p:blipFill>
            <a:blip r:embed="rId3"/>
            <a:stretch>
              <a:fillRect/>
            </a:stretch>
          </p:blipFill>
          <p:spPr>
            <a:xfrm>
              <a:off x="6318771" y="4221088"/>
              <a:ext cx="3384376" cy="976340"/>
            </a:xfrm>
            <a:prstGeom prst="rect">
              <a:avLst/>
            </a:prstGeom>
          </p:spPr>
        </p:pic>
        <p:sp>
          <p:nvSpPr>
            <p:cNvPr id="9" name="テキスト ボックス 8"/>
            <p:cNvSpPr txBox="1"/>
            <p:nvPr/>
          </p:nvSpPr>
          <p:spPr>
            <a:xfrm>
              <a:off x="6141628" y="3974867"/>
              <a:ext cx="3561519" cy="254186"/>
            </a:xfrm>
            <a:prstGeom prst="rect">
              <a:avLst/>
            </a:prstGeom>
            <a:noFill/>
          </p:spPr>
          <p:txBody>
            <a:bodyPr wrap="square" rtlCol="0">
              <a:spAutoFit/>
            </a:bodyPr>
            <a:lstStyle/>
            <a:p>
              <a:pPr defTabSz="824596" fontAlgn="base">
                <a:spcBef>
                  <a:spcPct val="0"/>
                </a:spcBef>
                <a:spcAft>
                  <a:spcPct val="0"/>
                </a:spcAft>
                <a:defRPr/>
              </a:pPr>
              <a:r>
                <a:rPr kumimoji="0" lang="en-US" altLang="ja-JP" sz="901" b="1" kern="0" spc="108" dirty="0">
                  <a:solidFill>
                    <a:srgbClr val="4F81BD">
                      <a:lumMod val="75000"/>
                    </a:srgbClr>
                  </a:solidFill>
                  <a:latin typeface="Segoe UI" panose="020B0502040204020203" pitchFamily="34" charset="0"/>
                  <a:ea typeface="メイリオ" panose="020B0604030504040204" pitchFamily="50" charset="-128"/>
                </a:rPr>
                <a:t>〈</a:t>
              </a:r>
              <a:r>
                <a:rPr kumimoji="0" lang="ja-JP" altLang="en-US" sz="901" b="1" kern="0" spc="108" dirty="0">
                  <a:solidFill>
                    <a:srgbClr val="4F81BD">
                      <a:lumMod val="75000"/>
                    </a:srgbClr>
                  </a:solidFill>
                  <a:latin typeface="Segoe UI" panose="020B0502040204020203" pitchFamily="34" charset="0"/>
                  <a:ea typeface="メイリオ" panose="020B0604030504040204" pitchFamily="50" charset="-128"/>
                </a:rPr>
                <a:t>交付金を活用した保険者機能の強化のイメージ</a:t>
              </a:r>
              <a:r>
                <a:rPr kumimoji="0" lang="en-US" altLang="ja-JP" sz="901" b="1" kern="0" spc="108" dirty="0">
                  <a:solidFill>
                    <a:srgbClr val="4F81BD">
                      <a:lumMod val="75000"/>
                    </a:srgbClr>
                  </a:solidFill>
                  <a:latin typeface="Segoe UI" panose="020B0502040204020203" pitchFamily="34" charset="0"/>
                  <a:ea typeface="メイリオ" panose="020B0604030504040204" pitchFamily="50" charset="-128"/>
                </a:rPr>
                <a:t>〉</a:t>
              </a:r>
              <a:endParaRPr kumimoji="0" lang="ja-JP" altLang="en-US" sz="901" b="1" kern="0" spc="108" dirty="0">
                <a:solidFill>
                  <a:srgbClr val="4F81BD">
                    <a:lumMod val="75000"/>
                  </a:srgbClr>
                </a:solidFill>
                <a:latin typeface="Segoe UI" panose="020B0502040204020203" pitchFamily="34" charset="0"/>
                <a:ea typeface="メイリオ" panose="020B0604030504040204" pitchFamily="50" charset="-128"/>
              </a:endParaRPr>
            </a:p>
          </p:txBody>
        </p:sp>
      </p:grpSp>
      <p:sp>
        <p:nvSpPr>
          <p:cNvPr id="15" name="正方形/長方形 14"/>
          <p:cNvSpPr/>
          <p:nvPr/>
        </p:nvSpPr>
        <p:spPr>
          <a:xfrm>
            <a:off x="1735785" y="6425494"/>
            <a:ext cx="3701153" cy="369588"/>
          </a:xfrm>
          <a:prstGeom prst="rect">
            <a:avLst/>
          </a:prstGeom>
        </p:spPr>
        <p:txBody>
          <a:bodyPr wrap="square">
            <a:spAutoFit/>
          </a:bodyPr>
          <a:lstStyle/>
          <a:p>
            <a:pPr marL="77306" indent="-77306" defTabSz="412092" fontAlgn="base">
              <a:spcBef>
                <a:spcPct val="0"/>
              </a:spcBef>
              <a:spcAft>
                <a:spcPct val="0"/>
              </a:spcAft>
              <a:buClr>
                <a:prstClr val="black"/>
              </a:buClr>
              <a:defRPr/>
            </a:pPr>
            <a:r>
              <a:rPr kumimoji="0" lang="en-US" altLang="ja-JP" sz="901" b="1" kern="0" spc="108" dirty="0">
                <a:solidFill>
                  <a:srgbClr val="4F81BD">
                    <a:lumMod val="75000"/>
                  </a:srgbClr>
                </a:solidFill>
                <a:latin typeface="Segoe UI" panose="020B0502040204020203" pitchFamily="34" charset="0"/>
                <a:ea typeface="メイリオ" panose="020B0604030504040204" pitchFamily="50" charset="-128"/>
              </a:rPr>
              <a:t>【</a:t>
            </a:r>
            <a:r>
              <a:rPr kumimoji="0" lang="ja-JP" altLang="en-US" sz="901" b="1" kern="0" spc="108" dirty="0">
                <a:solidFill>
                  <a:srgbClr val="4F81BD">
                    <a:lumMod val="75000"/>
                  </a:srgbClr>
                </a:solidFill>
                <a:latin typeface="Segoe UI" panose="020B0502040204020203" pitchFamily="34" charset="0"/>
                <a:ea typeface="メイリオ" panose="020B0604030504040204" pitchFamily="50" charset="-128"/>
              </a:rPr>
              <a:t>事業実績</a:t>
            </a:r>
            <a:r>
              <a:rPr kumimoji="0" lang="en-US" altLang="ja-JP" sz="901" b="1" kern="0" spc="108" dirty="0">
                <a:solidFill>
                  <a:srgbClr val="4F81BD">
                    <a:lumMod val="75000"/>
                  </a:srgbClr>
                </a:solidFill>
                <a:latin typeface="Segoe UI" panose="020B0502040204020203" pitchFamily="34" charset="0"/>
                <a:ea typeface="メイリオ" panose="020B0604030504040204" pitchFamily="50" charset="-128"/>
              </a:rPr>
              <a:t>】</a:t>
            </a:r>
          </a:p>
          <a:p>
            <a:pPr marL="77306" indent="-77306" defTabSz="412092" fontAlgn="base">
              <a:spcBef>
                <a:spcPct val="0"/>
              </a:spcBef>
              <a:spcAft>
                <a:spcPct val="0"/>
              </a:spcAft>
              <a:buClr>
                <a:prstClr val="black"/>
              </a:buClr>
              <a:defRPr/>
            </a:pPr>
            <a:r>
              <a:rPr kumimoji="0" lang="ja-JP" altLang="en-US" sz="901" kern="0" spc="108" dirty="0">
                <a:solidFill>
                  <a:prstClr val="black"/>
                </a:solidFill>
                <a:latin typeface="Segoe UI" panose="020B0502040204020203" pitchFamily="34" charset="0"/>
                <a:ea typeface="メイリオ" panose="020B0604030504040204" pitchFamily="50" charset="-128"/>
              </a:rPr>
              <a:t>　交付先</a:t>
            </a:r>
            <a:r>
              <a:rPr kumimoji="0" lang="en-US" altLang="ja-JP" sz="901" kern="0" spc="108" dirty="0">
                <a:solidFill>
                  <a:prstClr val="black"/>
                </a:solidFill>
                <a:latin typeface="Segoe UI" panose="020B0502040204020203" pitchFamily="34" charset="0"/>
                <a:ea typeface="メイリオ" panose="020B0604030504040204" pitchFamily="50" charset="-128"/>
              </a:rPr>
              <a:t>47</a:t>
            </a:r>
            <a:r>
              <a:rPr kumimoji="0" lang="ja-JP" altLang="en-US" sz="901" kern="0" spc="108" dirty="0">
                <a:solidFill>
                  <a:prstClr val="black"/>
                </a:solidFill>
                <a:latin typeface="Segoe UI" panose="020B0502040204020203" pitchFamily="34" charset="0"/>
                <a:ea typeface="メイリオ" panose="020B0604030504040204" pitchFamily="50" charset="-128"/>
              </a:rPr>
              <a:t>都道府県及び</a:t>
            </a:r>
            <a:r>
              <a:rPr kumimoji="0" lang="en-US" altLang="ja-JP" sz="901" kern="0" spc="108" dirty="0">
                <a:solidFill>
                  <a:prstClr val="black"/>
                </a:solidFill>
                <a:latin typeface="Segoe UI" panose="020B0502040204020203" pitchFamily="34" charset="0"/>
                <a:ea typeface="メイリオ" panose="020B0604030504040204" pitchFamily="50" charset="-128"/>
              </a:rPr>
              <a:t>1,571</a:t>
            </a:r>
            <a:r>
              <a:rPr kumimoji="0" lang="ja-JP" altLang="en-US" sz="901" kern="0" spc="108" dirty="0">
                <a:solidFill>
                  <a:prstClr val="black"/>
                </a:solidFill>
                <a:latin typeface="Segoe UI" panose="020B0502040204020203" pitchFamily="34" charset="0"/>
                <a:ea typeface="メイリオ" panose="020B0604030504040204" pitchFamily="50" charset="-128"/>
              </a:rPr>
              <a:t>保険者（令和４年度）</a:t>
            </a:r>
            <a:endParaRPr kumimoji="0" lang="en-US" altLang="ja-JP" sz="901" kern="0" spc="108" dirty="0">
              <a:solidFill>
                <a:prstClr val="black"/>
              </a:solidFill>
              <a:latin typeface="Segoe UI" panose="020B0502040204020203" pitchFamily="34" charset="0"/>
              <a:ea typeface="メイリオ" panose="020B0604030504040204" pitchFamily="50" charset="-128"/>
            </a:endParaRPr>
          </a:p>
        </p:txBody>
      </p:sp>
      <p:grpSp>
        <p:nvGrpSpPr>
          <p:cNvPr id="16" name="グループ化 15">
            <a:extLst>
              <a:ext uri="{FF2B5EF4-FFF2-40B4-BE49-F238E27FC236}">
                <a16:creationId xmlns:a16="http://schemas.microsoft.com/office/drawing/2014/main" id="{3B014BCA-AD84-467B-B8F4-005BA048A7B1}"/>
              </a:ext>
            </a:extLst>
          </p:cNvPr>
          <p:cNvGrpSpPr/>
          <p:nvPr/>
        </p:nvGrpSpPr>
        <p:grpSpPr>
          <a:xfrm>
            <a:off x="-6448" y="-17244"/>
            <a:ext cx="9725897" cy="635544"/>
            <a:chOff x="-8957" y="-27384"/>
            <a:chExt cx="9916510" cy="476672"/>
          </a:xfrm>
        </p:grpSpPr>
        <p:sp>
          <p:nvSpPr>
            <p:cNvPr id="17" name="テキスト プレースホルダー 6">
              <a:extLst>
                <a:ext uri="{FF2B5EF4-FFF2-40B4-BE49-F238E27FC236}">
                  <a16:creationId xmlns:a16="http://schemas.microsoft.com/office/drawing/2014/main" id="{0C93A190-4471-4E56-815E-9FDA6182633B}"/>
                </a:ext>
              </a:extLst>
            </p:cNvPr>
            <p:cNvSpPr txBox="1">
              <a:spLocks/>
            </p:cNvSpPr>
            <p:nvPr/>
          </p:nvSpPr>
          <p:spPr>
            <a:xfrm>
              <a:off x="-8957" y="-27384"/>
              <a:ext cx="9907200" cy="476672"/>
            </a:xfrm>
            <a:prstGeom prst="rect">
              <a:avLst/>
            </a:prstGeom>
            <a:pattFill prst="dkUpDiag">
              <a:fgClr>
                <a:srgbClr val="003579"/>
              </a:fgClr>
              <a:bgClr>
                <a:srgbClr val="004292"/>
              </a:bgClr>
            </a:pattFill>
            <a:ln w="12700" cap="flat" cmpd="sng" algn="ctr">
              <a:noFill/>
              <a:prstDash val="solid"/>
              <a:miter lim="800000"/>
            </a:ln>
            <a:effectLst/>
          </p:spPr>
          <p:txBody>
            <a:bodyPr lIns="353080" tIns="320307" rIns="320307" bIns="128123" rtlCol="0" anchor="b"/>
            <a:lstStyle>
              <a:defPPr>
                <a:defRPr lang="en-US"/>
              </a:defPPr>
              <a:lvl1pPr algn="ctr">
                <a:defRPr kumimoji="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448426" fontAlgn="base">
                <a:spcBef>
                  <a:spcPct val="0"/>
                </a:spcBef>
                <a:spcAft>
                  <a:spcPct val="0"/>
                </a:spcAft>
                <a:defRPr/>
              </a:pPr>
              <a:endParaRPr lang="en" altLang="ja-JP" sz="1779" b="1" kern="0" spc="267" dirty="0">
                <a:solidFill>
                  <a:srgbClr val="FFFFFF"/>
                </a:solidFill>
                <a:latin typeface="Meiryo" panose="020B0604030504040204" pitchFamily="34" charset="-128"/>
                <a:ea typeface="Meiryo" panose="020B0604030504040204" pitchFamily="34" charset="-128"/>
              </a:endParaRPr>
            </a:p>
          </p:txBody>
        </p:sp>
        <p:sp>
          <p:nvSpPr>
            <p:cNvPr id="18" name="テキスト プレースホルダー 6">
              <a:extLst>
                <a:ext uri="{FF2B5EF4-FFF2-40B4-BE49-F238E27FC236}">
                  <a16:creationId xmlns:a16="http://schemas.microsoft.com/office/drawing/2014/main" id="{BDEB5573-C382-4C46-A102-65F4F1A3A452}"/>
                </a:ext>
              </a:extLst>
            </p:cNvPr>
            <p:cNvSpPr txBox="1">
              <a:spLocks/>
            </p:cNvSpPr>
            <p:nvPr/>
          </p:nvSpPr>
          <p:spPr>
            <a:xfrm>
              <a:off x="6010843" y="-27384"/>
              <a:ext cx="3896710" cy="476672"/>
            </a:xfrm>
            <a:custGeom>
              <a:avLst/>
              <a:gdLst>
                <a:gd name="connsiteX0" fmla="*/ 0 w 9907200"/>
                <a:gd name="connsiteY0" fmla="*/ 0 h 827999"/>
                <a:gd name="connsiteX1" fmla="*/ 9907200 w 9907200"/>
                <a:gd name="connsiteY1" fmla="*/ 0 h 827999"/>
                <a:gd name="connsiteX2" fmla="*/ 9907200 w 9907200"/>
                <a:gd name="connsiteY2" fmla="*/ 827999 h 827999"/>
                <a:gd name="connsiteX3" fmla="*/ 0 w 9907200"/>
                <a:gd name="connsiteY3" fmla="*/ 827999 h 827999"/>
                <a:gd name="connsiteX4" fmla="*/ 0 w 9907200"/>
                <a:gd name="connsiteY4" fmla="*/ 0 h 827999"/>
                <a:gd name="connsiteX0" fmla="*/ 770562 w 9907200"/>
                <a:gd name="connsiteY0" fmla="*/ 0 h 827999"/>
                <a:gd name="connsiteX1" fmla="*/ 9907200 w 9907200"/>
                <a:gd name="connsiteY1" fmla="*/ 0 h 827999"/>
                <a:gd name="connsiteX2" fmla="*/ 9907200 w 9907200"/>
                <a:gd name="connsiteY2" fmla="*/ 827999 h 827999"/>
                <a:gd name="connsiteX3" fmla="*/ 0 w 9907200"/>
                <a:gd name="connsiteY3" fmla="*/ 827999 h 827999"/>
                <a:gd name="connsiteX4" fmla="*/ 770562 w 9907200"/>
                <a:gd name="connsiteY4" fmla="*/ 0 h 827999"/>
                <a:gd name="connsiteX0" fmla="*/ 1860369 w 9907200"/>
                <a:gd name="connsiteY0" fmla="*/ 0 h 827999"/>
                <a:gd name="connsiteX1" fmla="*/ 9907200 w 9907200"/>
                <a:gd name="connsiteY1" fmla="*/ 0 h 827999"/>
                <a:gd name="connsiteX2" fmla="*/ 9907200 w 9907200"/>
                <a:gd name="connsiteY2" fmla="*/ 827999 h 827999"/>
                <a:gd name="connsiteX3" fmla="*/ 0 w 9907200"/>
                <a:gd name="connsiteY3" fmla="*/ 827999 h 827999"/>
                <a:gd name="connsiteX4" fmla="*/ 1860369 w 9907200"/>
                <a:gd name="connsiteY4" fmla="*/ 0 h 827999"/>
                <a:gd name="connsiteX0" fmla="*/ 2088851 w 9907200"/>
                <a:gd name="connsiteY0" fmla="*/ 0 h 827999"/>
                <a:gd name="connsiteX1" fmla="*/ 9907200 w 9907200"/>
                <a:gd name="connsiteY1" fmla="*/ 0 h 827999"/>
                <a:gd name="connsiteX2" fmla="*/ 9907200 w 9907200"/>
                <a:gd name="connsiteY2" fmla="*/ 827999 h 827999"/>
                <a:gd name="connsiteX3" fmla="*/ 0 w 9907200"/>
                <a:gd name="connsiteY3" fmla="*/ 827999 h 827999"/>
                <a:gd name="connsiteX4" fmla="*/ 2088851 w 9907200"/>
                <a:gd name="connsiteY4" fmla="*/ 0 h 827999"/>
                <a:gd name="connsiteX0" fmla="*/ 2146971 w 9907200"/>
                <a:gd name="connsiteY0" fmla="*/ 82296 h 827999"/>
                <a:gd name="connsiteX1" fmla="*/ 9907200 w 9907200"/>
                <a:gd name="connsiteY1" fmla="*/ 0 h 827999"/>
                <a:gd name="connsiteX2" fmla="*/ 9907200 w 9907200"/>
                <a:gd name="connsiteY2" fmla="*/ 827999 h 827999"/>
                <a:gd name="connsiteX3" fmla="*/ 0 w 9907200"/>
                <a:gd name="connsiteY3" fmla="*/ 827999 h 827999"/>
                <a:gd name="connsiteX4" fmla="*/ 2146971 w 9907200"/>
                <a:gd name="connsiteY4" fmla="*/ 82296 h 827999"/>
                <a:gd name="connsiteX0" fmla="*/ 2100475 w 9907200"/>
                <a:gd name="connsiteY0" fmla="*/ 4572 h 827999"/>
                <a:gd name="connsiteX1" fmla="*/ 9907200 w 9907200"/>
                <a:gd name="connsiteY1" fmla="*/ 0 h 827999"/>
                <a:gd name="connsiteX2" fmla="*/ 9907200 w 9907200"/>
                <a:gd name="connsiteY2" fmla="*/ 827999 h 827999"/>
                <a:gd name="connsiteX3" fmla="*/ 0 w 9907200"/>
                <a:gd name="connsiteY3" fmla="*/ 827999 h 827999"/>
                <a:gd name="connsiteX4" fmla="*/ 2100475 w 9907200"/>
                <a:gd name="connsiteY4" fmla="*/ 4572 h 82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7200" h="827999">
                  <a:moveTo>
                    <a:pt x="2100475" y="4572"/>
                  </a:moveTo>
                  <a:lnTo>
                    <a:pt x="9907200" y="0"/>
                  </a:lnTo>
                  <a:lnTo>
                    <a:pt x="9907200" y="827999"/>
                  </a:lnTo>
                  <a:lnTo>
                    <a:pt x="0" y="827999"/>
                  </a:lnTo>
                  <a:lnTo>
                    <a:pt x="2100475" y="4572"/>
                  </a:lnTo>
                  <a:close/>
                </a:path>
              </a:pathLst>
            </a:custGeom>
            <a:gradFill flip="none" rotWithShape="1">
              <a:gsLst>
                <a:gs pos="0">
                  <a:srgbClr val="0064DF">
                    <a:alpha val="50196"/>
                  </a:srgbClr>
                </a:gs>
                <a:gs pos="62000">
                  <a:srgbClr val="0C338E">
                    <a:alpha val="55000"/>
                  </a:srgbClr>
                </a:gs>
              </a:gsLst>
              <a:path path="circle">
                <a:fillToRect r="100000" b="100000"/>
              </a:path>
              <a:tileRect l="-100000" t="-100000"/>
            </a:gradFill>
            <a:ln w="12700" cap="flat" cmpd="sng" algn="ctr">
              <a:noFill/>
              <a:prstDash val="solid"/>
              <a:miter lim="800000"/>
            </a:ln>
            <a:effectLst/>
          </p:spPr>
          <p:txBody>
            <a:bodyPr lIns="353080" tIns="320307" rIns="320307" bIns="128123" rtlCol="0" anchor="b"/>
            <a:lstStyle>
              <a:defPPr>
                <a:defRPr lang="en-US"/>
              </a:defPPr>
              <a:lvl1pPr algn="ctr">
                <a:defRPr kumimoji="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448426" fontAlgn="base">
                <a:spcBef>
                  <a:spcPct val="0"/>
                </a:spcBef>
                <a:spcAft>
                  <a:spcPct val="0"/>
                </a:spcAft>
                <a:defRPr/>
              </a:pPr>
              <a:endParaRPr lang="en" altLang="ja-JP" sz="1779" b="1" kern="0" spc="267" dirty="0">
                <a:solidFill>
                  <a:srgbClr val="FFFFFF"/>
                </a:solidFill>
                <a:latin typeface="Meiryo" panose="020B0604030504040204" pitchFamily="34" charset="-128"/>
                <a:ea typeface="Meiryo" panose="020B0604030504040204" pitchFamily="34" charset="-128"/>
              </a:endParaRPr>
            </a:p>
          </p:txBody>
        </p:sp>
      </p:grpSp>
      <p:sp>
        <p:nvSpPr>
          <p:cNvPr id="21" name="角丸四角形 30">
            <a:extLst>
              <a:ext uri="{FF2B5EF4-FFF2-40B4-BE49-F238E27FC236}">
                <a16:creationId xmlns:a16="http://schemas.microsoft.com/office/drawing/2014/main" id="{50D2E020-6806-4AEF-9FCB-1EED27E0F885}"/>
              </a:ext>
            </a:extLst>
          </p:cNvPr>
          <p:cNvSpPr/>
          <p:nvPr/>
        </p:nvSpPr>
        <p:spPr>
          <a:xfrm>
            <a:off x="57707" y="990756"/>
            <a:ext cx="1624169" cy="353080"/>
          </a:xfrm>
          <a:prstGeom prst="roundRect">
            <a:avLst>
              <a:gd name="adj" fmla="val 0"/>
            </a:avLst>
          </a:prstGeom>
          <a:solidFill>
            <a:srgbClr val="103185"/>
          </a:solidFill>
          <a:ln w="76200">
            <a:solidFill>
              <a:srgbClr val="FFFFFF"/>
            </a:solidFill>
          </a:ln>
        </p:spPr>
        <p:txBody>
          <a:bodyPr lIns="141232" tIns="35308" bIns="35308" anchor="ctr"/>
          <a:lstStyle/>
          <a:p>
            <a:pPr defTabSz="579712" fontAlgn="base">
              <a:lnSpc>
                <a:spcPct val="130000"/>
              </a:lnSpc>
              <a:spcBef>
                <a:spcPct val="0"/>
              </a:spcBef>
              <a:spcAft>
                <a:spcPts val="781"/>
              </a:spcAft>
              <a:defRPr/>
            </a:pPr>
            <a:r>
              <a:rPr kumimoji="0" lang="ja-JP" altLang="en-US" sz="1373" b="1" kern="0" spc="235" dirty="0">
                <a:solidFill>
                  <a:srgbClr val="FFFFFF"/>
                </a:solidFill>
                <a:latin typeface="Segoe UI" panose="020B0502040204020203" pitchFamily="34" charset="0"/>
                <a:ea typeface="メイリオ" panose="020B0604030504040204" pitchFamily="50" charset="-128"/>
                <a:cs typeface="Noto Sans CJK JP DemiLight" charset="-128"/>
              </a:rPr>
              <a:t>１ 事業の目的</a:t>
            </a:r>
          </a:p>
        </p:txBody>
      </p:sp>
      <p:sp>
        <p:nvSpPr>
          <p:cNvPr id="22" name="テキスト ボックス 21">
            <a:extLst>
              <a:ext uri="{FF2B5EF4-FFF2-40B4-BE49-F238E27FC236}">
                <a16:creationId xmlns:a16="http://schemas.microsoft.com/office/drawing/2014/main" id="{AB8DD961-FB68-4E97-81A0-8987262B02DA}"/>
              </a:ext>
            </a:extLst>
          </p:cNvPr>
          <p:cNvSpPr txBox="1"/>
          <p:nvPr/>
        </p:nvSpPr>
        <p:spPr>
          <a:xfrm>
            <a:off x="72995" y="123713"/>
            <a:ext cx="7117725" cy="392481"/>
          </a:xfrm>
          <a:prstGeom prst="rect">
            <a:avLst/>
          </a:prstGeom>
          <a:noFill/>
        </p:spPr>
        <p:txBody>
          <a:bodyPr wrap="square" rtlCol="0">
            <a:spAutoFit/>
          </a:bodyPr>
          <a:lstStyle/>
          <a:p>
            <a:pPr defTabSz="896852" fontAlgn="base">
              <a:spcBef>
                <a:spcPct val="0"/>
              </a:spcBef>
              <a:spcAft>
                <a:spcPct val="0"/>
              </a:spcAft>
              <a:defRPr/>
            </a:pPr>
            <a:r>
              <a:rPr lang="ja-JP" altLang="en-US" sz="1962" b="1" dirty="0">
                <a:solidFill>
                  <a:prstClr val="white"/>
                </a:solidFill>
                <a:latin typeface="メイリオ" panose="020B0604030504040204" pitchFamily="50" charset="-128"/>
                <a:ea typeface="メイリオ" panose="020B0604030504040204" pitchFamily="50" charset="-128"/>
              </a:rPr>
              <a:t>保険者機能強化推進交付金・介護</a:t>
            </a:r>
            <a:r>
              <a:rPr lang="ja-JP" altLang="en-US" sz="1962" b="1" dirty="0" err="1">
                <a:solidFill>
                  <a:prstClr val="white"/>
                </a:solidFill>
                <a:latin typeface="メイリオ" panose="020B0604030504040204" pitchFamily="50" charset="-128"/>
                <a:ea typeface="メイリオ" panose="020B0604030504040204" pitchFamily="50" charset="-128"/>
              </a:rPr>
              <a:t>保険保険</a:t>
            </a:r>
            <a:r>
              <a:rPr lang="ja-JP" altLang="en-US" sz="1962" b="1" dirty="0">
                <a:solidFill>
                  <a:prstClr val="white"/>
                </a:solidFill>
                <a:latin typeface="メイリオ" panose="020B0604030504040204" pitchFamily="50" charset="-128"/>
                <a:ea typeface="メイリオ" panose="020B0604030504040204" pitchFamily="50" charset="-128"/>
              </a:rPr>
              <a:t>者努力支援交付金</a:t>
            </a:r>
            <a:endParaRPr lang="en-US" altLang="ja-JP" sz="1962" b="1" dirty="0">
              <a:solidFill>
                <a:prstClr val="white"/>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8D3CBDBD-B565-4F97-A9E8-2DE69677F676}"/>
              </a:ext>
            </a:extLst>
          </p:cNvPr>
          <p:cNvSpPr txBox="1"/>
          <p:nvPr/>
        </p:nvSpPr>
        <p:spPr>
          <a:xfrm>
            <a:off x="7190720" y="9617"/>
            <a:ext cx="2472235" cy="608684"/>
          </a:xfrm>
          <a:prstGeom prst="rect">
            <a:avLst/>
          </a:prstGeom>
          <a:noFill/>
        </p:spPr>
        <p:txBody>
          <a:bodyPr wrap="square" lIns="70616" tIns="35308" rIns="70616" bIns="35308" rtlCol="0" anchor="t" anchorCtr="0">
            <a:noAutofit/>
          </a:bodyPr>
          <a:lstStyle/>
          <a:p>
            <a:pPr algn="r" defTabSz="448426" fontAlgn="base">
              <a:spcBef>
                <a:spcPct val="0"/>
              </a:spcBef>
              <a:spcAft>
                <a:spcPct val="0"/>
              </a:spcAft>
              <a:defRPr/>
            </a:pPr>
            <a:r>
              <a:rPr lang="zh-TW" altLang="en-US" sz="1177" dirty="0">
                <a:solidFill>
                  <a:prstClr val="white"/>
                </a:solidFill>
                <a:latin typeface="メイリオ" panose="020B0604030504040204" pitchFamily="50" charset="-128"/>
                <a:ea typeface="メイリオ" panose="020B0604030504040204" pitchFamily="50" charset="-128"/>
              </a:rPr>
              <a:t>老健局介護保険計画課（内線</a:t>
            </a:r>
            <a:r>
              <a:rPr lang="en-US" altLang="zh-TW" sz="1177" dirty="0">
                <a:solidFill>
                  <a:prstClr val="white"/>
                </a:solidFill>
                <a:latin typeface="メイリオ" panose="020B0604030504040204" pitchFamily="50" charset="-128"/>
                <a:ea typeface="メイリオ" panose="020B0604030504040204" pitchFamily="50" charset="-128"/>
              </a:rPr>
              <a:t>2161</a:t>
            </a:r>
            <a:r>
              <a:rPr lang="zh-TW" altLang="en-US" sz="1177" dirty="0">
                <a:solidFill>
                  <a:prstClr val="white"/>
                </a:solidFill>
                <a:latin typeface="メイリオ" panose="020B0604030504040204" pitchFamily="50" charset="-128"/>
                <a:ea typeface="メイリオ" panose="020B0604030504040204" pitchFamily="50" charset="-128"/>
              </a:rPr>
              <a:t>）</a:t>
            </a:r>
          </a:p>
        </p:txBody>
      </p:sp>
      <p:sp>
        <p:nvSpPr>
          <p:cNvPr id="3" name="スライド番号プレースホルダー 1">
            <a:extLst>
              <a:ext uri="{FF2B5EF4-FFF2-40B4-BE49-F238E27FC236}">
                <a16:creationId xmlns:a16="http://schemas.microsoft.com/office/drawing/2014/main" id="{F8648AC2-D60D-E580-A488-BBADF7E7E005}"/>
              </a:ext>
            </a:extLst>
          </p:cNvPr>
          <p:cNvSpPr txBox="1">
            <a:spLocks/>
          </p:cNvSpPr>
          <p:nvPr/>
        </p:nvSpPr>
        <p:spPr>
          <a:xfrm>
            <a:off x="7308131" y="6534756"/>
            <a:ext cx="2268061" cy="373831"/>
          </a:xfrm>
          <a:prstGeom prst="rect">
            <a:avLst/>
          </a:prstGeom>
        </p:spPr>
        <p:txBody>
          <a:bodyPr vert="horz" lIns="89726" tIns="44863" rIns="89726" bIns="44863" rtlCol="0" anchor="ctr"/>
          <a:lstStyle>
            <a:defPPr>
              <a:defRPr lang="ja-JP"/>
            </a:defPPr>
            <a:lvl1pPr marL="0" algn="r" defTabSz="932580" rtl="0" eaLnBrk="1" latinLnBrk="0" hangingPunct="1">
              <a:defRPr kumimoji="1" sz="1177" kern="1200">
                <a:solidFill>
                  <a:schemeClr val="tx1"/>
                </a:solidFill>
                <a:latin typeface="+mn-lt"/>
                <a:ea typeface="+mn-ea"/>
                <a:cs typeface="+mn-cs"/>
              </a:defRPr>
            </a:lvl1pPr>
            <a:lvl2pPr marL="466288" algn="l" defTabSz="932580" rtl="0" eaLnBrk="1" latinLnBrk="0" hangingPunct="1">
              <a:defRPr kumimoji="1" sz="1800" kern="1200">
                <a:solidFill>
                  <a:schemeClr val="tx1"/>
                </a:solidFill>
                <a:latin typeface="+mn-lt"/>
                <a:ea typeface="+mn-ea"/>
                <a:cs typeface="+mn-cs"/>
              </a:defRPr>
            </a:lvl2pPr>
            <a:lvl3pPr marL="932580" algn="l" defTabSz="932580" rtl="0" eaLnBrk="1" latinLnBrk="0" hangingPunct="1">
              <a:defRPr kumimoji="1" sz="1800" kern="1200">
                <a:solidFill>
                  <a:schemeClr val="tx1"/>
                </a:solidFill>
                <a:latin typeface="+mn-lt"/>
                <a:ea typeface="+mn-ea"/>
                <a:cs typeface="+mn-cs"/>
              </a:defRPr>
            </a:lvl3pPr>
            <a:lvl4pPr marL="1398867" algn="l" defTabSz="932580" rtl="0" eaLnBrk="1" latinLnBrk="0" hangingPunct="1">
              <a:defRPr kumimoji="1" sz="1800" kern="1200">
                <a:solidFill>
                  <a:schemeClr val="tx1"/>
                </a:solidFill>
                <a:latin typeface="+mn-lt"/>
                <a:ea typeface="+mn-ea"/>
                <a:cs typeface="+mn-cs"/>
              </a:defRPr>
            </a:lvl4pPr>
            <a:lvl5pPr marL="1865158" algn="l" defTabSz="932580" rtl="0" eaLnBrk="1" latinLnBrk="0" hangingPunct="1">
              <a:defRPr kumimoji="1" sz="1800" kern="1200">
                <a:solidFill>
                  <a:schemeClr val="tx1"/>
                </a:solidFill>
                <a:latin typeface="+mn-lt"/>
                <a:ea typeface="+mn-ea"/>
                <a:cs typeface="+mn-cs"/>
              </a:defRPr>
            </a:lvl5pPr>
            <a:lvl6pPr marL="2331439" algn="l" defTabSz="932580" rtl="0" eaLnBrk="1" latinLnBrk="0" hangingPunct="1">
              <a:defRPr kumimoji="1" sz="1800" kern="1200">
                <a:solidFill>
                  <a:schemeClr val="tx1"/>
                </a:solidFill>
                <a:latin typeface="+mn-lt"/>
                <a:ea typeface="+mn-ea"/>
                <a:cs typeface="+mn-cs"/>
              </a:defRPr>
            </a:lvl6pPr>
            <a:lvl7pPr marL="2797735" algn="l" defTabSz="932580" rtl="0" eaLnBrk="1" latinLnBrk="0" hangingPunct="1">
              <a:defRPr kumimoji="1" sz="1800" kern="1200">
                <a:solidFill>
                  <a:schemeClr val="tx1"/>
                </a:solidFill>
                <a:latin typeface="+mn-lt"/>
                <a:ea typeface="+mn-ea"/>
                <a:cs typeface="+mn-cs"/>
              </a:defRPr>
            </a:lvl7pPr>
            <a:lvl8pPr marL="3264024" algn="l" defTabSz="932580" rtl="0" eaLnBrk="1" latinLnBrk="0" hangingPunct="1">
              <a:defRPr kumimoji="1" sz="1800" kern="1200">
                <a:solidFill>
                  <a:schemeClr val="tx1"/>
                </a:solidFill>
                <a:latin typeface="+mn-lt"/>
                <a:ea typeface="+mn-ea"/>
                <a:cs typeface="+mn-cs"/>
              </a:defRPr>
            </a:lvl8pPr>
            <a:lvl9pPr marL="3730316" algn="l" defTabSz="932580" rtl="0" eaLnBrk="1" latinLnBrk="0" hangingPunct="1">
              <a:defRPr kumimoji="1" sz="1800" kern="1200">
                <a:solidFill>
                  <a:schemeClr val="tx1"/>
                </a:solidFill>
                <a:latin typeface="+mn-lt"/>
                <a:ea typeface="+mn-ea"/>
                <a:cs typeface="+mn-cs"/>
              </a:defRPr>
            </a:lvl9pPr>
          </a:lstStyle>
          <a:p>
            <a:pPr defTabSz="914400"/>
            <a:fld id="{9E2A29CB-BA86-48A6-80E1-CB8750A963B5}" type="slidenum">
              <a:rPr lang="ja-JP" altLang="en-US" sz="1178" b="1" smtClean="0">
                <a:latin typeface="Meiryo UI" panose="020B0604030504040204" pitchFamily="50" charset="-128"/>
                <a:ea typeface="Meiryo UI" panose="020B0604030504040204" pitchFamily="50" charset="-128"/>
              </a:rPr>
              <a:pPr defTabSz="914400"/>
              <a:t>33</a:t>
            </a:fld>
            <a:endParaRPr lang="ja-JP" altLang="en-US" sz="1178"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42477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17637"/>
            <a:ext cx="9720263" cy="504393"/>
          </a:xfrm>
          <a:prstGeom prst="rect">
            <a:avLst/>
          </a:prstGeom>
          <a:pattFill prst="dkUpDiag">
            <a:fgClr>
              <a:srgbClr val="003579"/>
            </a:fgClr>
            <a:bgClr>
              <a:srgbClr val="004292"/>
            </a:bgClr>
          </a:pattFill>
          <a:ln w="12700" cap="flat" cmpd="sng" algn="ctr">
            <a:noFill/>
            <a:prstDash val="solid"/>
            <a:miter lim="800000"/>
          </a:ln>
          <a:effectLst/>
        </p:spPr>
        <p:txBody>
          <a:bodyPr lIns="360000" tIns="180000" rIns="326585" bIns="108000" rtlCol="0" anchor="ctr"/>
          <a:lstStyle/>
          <a:p>
            <a:pPr algn="ctr" defTabSz="457200"/>
            <a:r>
              <a:rPr lang="ja-JP" altLang="en-US" sz="2000" b="1" kern="0" dirty="0">
                <a:solidFill>
                  <a:srgbClr val="FFFFFF"/>
                </a:solidFill>
                <a:latin typeface="Meiryo" panose="020B0604030504040204" pitchFamily="34" charset="-128"/>
                <a:ea typeface="Meiryo" panose="020B0604030504040204" pitchFamily="34" charset="-128"/>
              </a:rPr>
              <a:t>令和６年度における保険者機能強化推進交付金等に係る予算案</a:t>
            </a:r>
            <a:r>
              <a:rPr lang="ja-JP" altLang="en-US" sz="2000" b="1" kern="0">
                <a:solidFill>
                  <a:srgbClr val="FFFFFF"/>
                </a:solidFill>
                <a:latin typeface="Meiryo" panose="020B0604030504040204" pitchFamily="34" charset="-128"/>
                <a:ea typeface="Meiryo" panose="020B0604030504040204" pitchFamily="34" charset="-128"/>
              </a:rPr>
              <a:t>について</a:t>
            </a:r>
            <a:endParaRPr lang="en-US" altLang="ja-JP" sz="2000" b="1" kern="0" dirty="0">
              <a:solidFill>
                <a:srgbClr val="FFFFFF"/>
              </a:solidFill>
              <a:latin typeface="Meiryo" panose="020B0604030504040204" pitchFamily="34" charset="-128"/>
              <a:ea typeface="Meiryo" panose="020B0604030504040204" pitchFamily="34" charset="-128"/>
            </a:endParaRPr>
          </a:p>
        </p:txBody>
      </p:sp>
      <p:sp>
        <p:nvSpPr>
          <p:cNvPr id="11" name="正方形/長方形 10"/>
          <p:cNvSpPr/>
          <p:nvPr/>
        </p:nvSpPr>
        <p:spPr>
          <a:xfrm>
            <a:off x="107603" y="697369"/>
            <a:ext cx="9505056" cy="2515530"/>
          </a:xfrm>
          <a:prstGeom prst="rect">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r>
              <a:rPr kumimoji="1" lang="ja-JP" altLang="en-US" sz="1400" dirty="0">
                <a:solidFill>
                  <a:schemeClr val="tx1"/>
                </a:solidFill>
                <a:latin typeface="メイリオ" panose="020B0604030504040204" pitchFamily="50" charset="-128"/>
                <a:ea typeface="メイリオ" panose="020B0604030504040204" pitchFamily="50" charset="-128"/>
              </a:rPr>
              <a:t>○　令和６年度における保険者機能強化推進交付金・介護保険保険者努力支援交付金に係る予算案については</a:t>
            </a:r>
            <a:r>
              <a:rPr lang="ja-JP" altLang="en-US" sz="1400" dirty="0">
                <a:solidFill>
                  <a:schemeClr val="tx1"/>
                </a:solidFill>
                <a:latin typeface="メイリオ" panose="020B0604030504040204" pitchFamily="50" charset="-128"/>
                <a:ea typeface="メイリオ" panose="020B0604030504040204" pitchFamily="50" charset="-128"/>
              </a:rPr>
              <a:t>、介護職員の処遇改善や、現下の物価高騰への対応など、介護報酬を必要な水準に引き上げつつ、その他介護保険制度関連予算の調整を行った結果、保険者機能強化推進交付金について</a:t>
            </a:r>
            <a:r>
              <a:rPr kumimoji="1" lang="ja-JP" altLang="en-US" sz="1400" dirty="0">
                <a:solidFill>
                  <a:schemeClr val="tx1"/>
                </a:solidFill>
                <a:latin typeface="メイリオ" panose="020B0604030504040204" pitchFamily="50" charset="-128"/>
                <a:ea typeface="メイリオ" panose="020B0604030504040204" pitchFamily="50" charset="-128"/>
              </a:rPr>
              <a:t>対前年度▲</a:t>
            </a:r>
            <a:r>
              <a:rPr kumimoji="1" lang="en-US" altLang="ja-JP" sz="1400" dirty="0">
                <a:solidFill>
                  <a:schemeClr val="tx1"/>
                </a:solidFill>
                <a:latin typeface="メイリオ" panose="020B0604030504040204" pitchFamily="50" charset="-128"/>
                <a:ea typeface="メイリオ" panose="020B0604030504040204" pitchFamily="50" charset="-128"/>
              </a:rPr>
              <a:t>50</a:t>
            </a:r>
            <a:r>
              <a:rPr kumimoji="1" lang="ja-JP" altLang="en-US" sz="1400" dirty="0">
                <a:solidFill>
                  <a:schemeClr val="tx1"/>
                </a:solidFill>
                <a:latin typeface="メイリオ" panose="020B0604030504040204" pitchFamily="50" charset="-128"/>
                <a:ea typeface="メイリオ" panose="020B0604030504040204" pitchFamily="50" charset="-128"/>
              </a:rPr>
              <a:t>億円となる。（介護保険保険者努力支援交付金については、介護予防・健康づくりの取組の重要性に鑑み、対前年度同額を確保。）</a:t>
            </a:r>
            <a:endParaRPr kumimoji="1" lang="en-US" altLang="ja-JP" sz="1400" dirty="0">
              <a:solidFill>
                <a:schemeClr val="tx1"/>
              </a:solidFill>
              <a:latin typeface="メイリオ" panose="020B0604030504040204" pitchFamily="50" charset="-128"/>
              <a:ea typeface="メイリオ" panose="020B0604030504040204" pitchFamily="50" charset="-128"/>
            </a:endParaRPr>
          </a:p>
          <a:p>
            <a:pPr marL="179388" indent="-179388"/>
            <a:endParaRPr kumimoji="1" lang="en-US" altLang="ja-JP" sz="800" dirty="0">
              <a:solidFill>
                <a:schemeClr val="tx1"/>
              </a:solidFill>
              <a:latin typeface="メイリオ" panose="020B0604030504040204" pitchFamily="50" charset="-128"/>
              <a:ea typeface="メイリオ" panose="020B0604030504040204" pitchFamily="50" charset="-128"/>
            </a:endParaRPr>
          </a:p>
          <a:p>
            <a:pPr marL="179388" indent="-179388"/>
            <a:r>
              <a:rPr kumimoji="1" lang="ja-JP" altLang="en-US" sz="1400" dirty="0">
                <a:solidFill>
                  <a:schemeClr val="tx1"/>
                </a:solidFill>
                <a:latin typeface="メイリオ" panose="020B0604030504040204" pitchFamily="50" charset="-128"/>
                <a:ea typeface="メイリオ" panose="020B0604030504040204" pitchFamily="50" charset="-128"/>
              </a:rPr>
              <a:t>　</a:t>
            </a:r>
            <a:r>
              <a:rPr lang="ja-JP" altLang="en-US" sz="1400" dirty="0">
                <a:solidFill>
                  <a:schemeClr val="tx1"/>
                </a:solidFill>
                <a:latin typeface="ＭＳ 明朝" panose="02020609040205080304" pitchFamily="17" charset="-128"/>
                <a:ea typeface="ＭＳ 明朝" panose="02020609040205080304" pitchFamily="17" charset="-128"/>
              </a:rPr>
              <a:t>（参考）令和６年度予算</a:t>
            </a:r>
            <a:r>
              <a:rPr kumimoji="1" lang="ja-JP" altLang="en-US" sz="1400" dirty="0">
                <a:solidFill>
                  <a:schemeClr val="tx1"/>
                </a:solidFill>
                <a:latin typeface="ＭＳ 明朝" panose="02020609040205080304" pitchFamily="17" charset="-128"/>
                <a:ea typeface="ＭＳ 明朝" panose="02020609040205080304" pitchFamily="17" charset="-128"/>
              </a:rPr>
              <a:t>案</a:t>
            </a:r>
            <a:endParaRPr kumimoji="1" lang="en-US" altLang="ja-JP" sz="1400" dirty="0">
              <a:solidFill>
                <a:schemeClr val="tx1"/>
              </a:solidFill>
              <a:latin typeface="ＭＳ 明朝" panose="02020609040205080304" pitchFamily="17" charset="-128"/>
              <a:ea typeface="ＭＳ 明朝" panose="02020609040205080304" pitchFamily="17" charset="-128"/>
            </a:endParaRPr>
          </a:p>
          <a:p>
            <a:pPr marL="179388" indent="-179388"/>
            <a:r>
              <a:rPr kumimoji="1" lang="ja-JP" altLang="en-US" sz="1400" dirty="0">
                <a:solidFill>
                  <a:schemeClr val="tx1"/>
                </a:solidFill>
                <a:latin typeface="ＭＳ 明朝" panose="02020609040205080304" pitchFamily="17" charset="-128"/>
                <a:ea typeface="ＭＳ 明朝" panose="02020609040205080304" pitchFamily="17" charset="-128"/>
              </a:rPr>
              <a:t>　　・保険者機能強化推進交付金：</a:t>
            </a:r>
            <a:r>
              <a:rPr kumimoji="1" lang="en-US" altLang="ja-JP" sz="1400" b="1" u="sng" dirty="0">
                <a:solidFill>
                  <a:srgbClr val="FF0000"/>
                </a:solidFill>
                <a:latin typeface="ＭＳ 明朝" panose="02020609040205080304" pitchFamily="17" charset="-128"/>
                <a:ea typeface="ＭＳ 明朝" panose="02020609040205080304" pitchFamily="17" charset="-128"/>
              </a:rPr>
              <a:t>100</a:t>
            </a:r>
            <a:r>
              <a:rPr kumimoji="1" lang="ja-JP" altLang="en-US" sz="1400" b="1" u="sng" dirty="0">
                <a:solidFill>
                  <a:srgbClr val="FF0000"/>
                </a:solidFill>
                <a:latin typeface="ＭＳ 明朝" panose="02020609040205080304" pitchFamily="17" charset="-128"/>
                <a:ea typeface="ＭＳ 明朝" panose="02020609040205080304" pitchFamily="17" charset="-128"/>
              </a:rPr>
              <a:t>億円</a:t>
            </a:r>
            <a:r>
              <a:rPr kumimoji="1" lang="ja-JP" altLang="en-US" sz="1400" dirty="0">
                <a:solidFill>
                  <a:schemeClr val="tx1"/>
                </a:solidFill>
                <a:latin typeface="ＭＳ 明朝" panose="02020609040205080304" pitchFamily="17" charset="-128"/>
                <a:ea typeface="ＭＳ 明朝" panose="02020609040205080304" pitchFamily="17" charset="-128"/>
              </a:rPr>
              <a:t>（</a:t>
            </a:r>
            <a:r>
              <a:rPr kumimoji="1" lang="en-US" altLang="ja-JP" sz="1400" dirty="0">
                <a:solidFill>
                  <a:schemeClr val="tx1"/>
                </a:solidFill>
                <a:latin typeface="ＭＳ 明朝" panose="02020609040205080304" pitchFamily="17" charset="-128"/>
                <a:ea typeface="ＭＳ 明朝" panose="02020609040205080304" pitchFamily="17" charset="-128"/>
              </a:rPr>
              <a:t>150</a:t>
            </a:r>
            <a:r>
              <a:rPr kumimoji="1" lang="ja-JP" altLang="en-US" sz="1400" dirty="0">
                <a:solidFill>
                  <a:schemeClr val="tx1"/>
                </a:solidFill>
                <a:latin typeface="ＭＳ 明朝" panose="02020609040205080304" pitchFamily="17" charset="-128"/>
                <a:ea typeface="ＭＳ 明朝" panose="02020609040205080304" pitchFamily="17" charset="-128"/>
              </a:rPr>
              <a:t>億円）</a:t>
            </a:r>
            <a:endParaRPr kumimoji="1" lang="en-US" altLang="ja-JP" sz="1400" dirty="0">
              <a:solidFill>
                <a:schemeClr val="tx1"/>
              </a:solidFill>
              <a:latin typeface="ＭＳ 明朝" panose="02020609040205080304" pitchFamily="17" charset="-128"/>
              <a:ea typeface="ＭＳ 明朝" panose="02020609040205080304" pitchFamily="17" charset="-128"/>
            </a:endParaRPr>
          </a:p>
          <a:p>
            <a:pPr marL="179388" indent="-179388"/>
            <a:r>
              <a:rPr kumimoji="1" lang="ja-JP" altLang="en-US" sz="1400" dirty="0">
                <a:solidFill>
                  <a:schemeClr val="tx1"/>
                </a:solidFill>
                <a:latin typeface="ＭＳ 明朝" panose="02020609040205080304" pitchFamily="17" charset="-128"/>
                <a:ea typeface="ＭＳ 明朝" panose="02020609040205080304" pitchFamily="17" charset="-128"/>
              </a:rPr>
              <a:t>　　・介護保険保険者努力支援交付金：</a:t>
            </a:r>
            <a:r>
              <a:rPr kumimoji="1" lang="en-US" altLang="ja-JP" sz="1400" dirty="0">
                <a:solidFill>
                  <a:schemeClr val="tx1"/>
                </a:solidFill>
                <a:latin typeface="ＭＳ 明朝" panose="02020609040205080304" pitchFamily="17" charset="-128"/>
                <a:ea typeface="ＭＳ 明朝" panose="02020609040205080304" pitchFamily="17" charset="-128"/>
              </a:rPr>
              <a:t>200</a:t>
            </a:r>
            <a:r>
              <a:rPr kumimoji="1" lang="ja-JP" altLang="en-US" sz="1400" dirty="0">
                <a:solidFill>
                  <a:schemeClr val="tx1"/>
                </a:solidFill>
                <a:latin typeface="ＭＳ 明朝" panose="02020609040205080304" pitchFamily="17" charset="-128"/>
                <a:ea typeface="ＭＳ 明朝" panose="02020609040205080304" pitchFamily="17" charset="-128"/>
              </a:rPr>
              <a:t>億円（</a:t>
            </a:r>
            <a:r>
              <a:rPr kumimoji="1" lang="en-US" altLang="ja-JP" sz="1400" dirty="0">
                <a:solidFill>
                  <a:schemeClr val="tx1"/>
                </a:solidFill>
                <a:latin typeface="ＭＳ 明朝" panose="02020609040205080304" pitchFamily="17" charset="-128"/>
                <a:ea typeface="ＭＳ 明朝" panose="02020609040205080304" pitchFamily="17" charset="-128"/>
              </a:rPr>
              <a:t>200</a:t>
            </a:r>
            <a:r>
              <a:rPr kumimoji="1" lang="ja-JP" altLang="en-US" sz="1400" dirty="0">
                <a:solidFill>
                  <a:schemeClr val="tx1"/>
                </a:solidFill>
                <a:latin typeface="ＭＳ 明朝" panose="02020609040205080304" pitchFamily="17" charset="-128"/>
                <a:ea typeface="ＭＳ 明朝" panose="02020609040205080304" pitchFamily="17" charset="-128"/>
              </a:rPr>
              <a:t>億円）　</a:t>
            </a:r>
            <a:r>
              <a:rPr lang="en-US" altLang="ja-JP" sz="1050" dirty="0">
                <a:solidFill>
                  <a:schemeClr val="tx1"/>
                </a:solidFill>
                <a:latin typeface="ＭＳ 明朝" panose="02020609040205080304" pitchFamily="17" charset="-128"/>
                <a:ea typeface="ＭＳ 明朝" panose="02020609040205080304" pitchFamily="17" charset="-128"/>
              </a:rPr>
              <a:t>※</a:t>
            </a:r>
            <a:r>
              <a:rPr lang="ja-JP" altLang="en-US" sz="1050" dirty="0">
                <a:solidFill>
                  <a:schemeClr val="tx1"/>
                </a:solidFill>
                <a:latin typeface="ＭＳ 明朝" panose="02020609040205080304" pitchFamily="17" charset="-128"/>
                <a:ea typeface="ＭＳ 明朝" panose="02020609040205080304" pitchFamily="17" charset="-128"/>
              </a:rPr>
              <a:t>（）内は前年度当初予算額</a:t>
            </a:r>
            <a:endParaRPr kumimoji="1" lang="en-US" altLang="ja-JP" sz="1050" dirty="0">
              <a:solidFill>
                <a:schemeClr val="tx1"/>
              </a:solidFill>
              <a:latin typeface="ＭＳ 明朝" panose="02020609040205080304" pitchFamily="17" charset="-128"/>
              <a:ea typeface="ＭＳ 明朝" panose="02020609040205080304" pitchFamily="17" charset="-128"/>
            </a:endParaRPr>
          </a:p>
          <a:p>
            <a:pPr marL="179388" indent="-179388"/>
            <a:endParaRPr lang="en-US" altLang="ja-JP" sz="1400" dirty="0">
              <a:solidFill>
                <a:schemeClr val="tx1"/>
              </a:solidFill>
              <a:latin typeface="メイリオ" panose="020B0604030504040204" pitchFamily="50" charset="-128"/>
              <a:ea typeface="メイリオ" panose="020B0604030504040204" pitchFamily="50" charset="-128"/>
            </a:endParaRPr>
          </a:p>
          <a:p>
            <a:pPr marL="179388" indent="-179388"/>
            <a:r>
              <a:rPr lang="ja-JP" altLang="en-US" sz="1400" dirty="0">
                <a:solidFill>
                  <a:schemeClr val="tx1"/>
                </a:solidFill>
                <a:latin typeface="メイリオ" panose="020B0604030504040204" pitchFamily="50" charset="-128"/>
                <a:ea typeface="メイリオ" panose="020B0604030504040204" pitchFamily="50" charset="-128"/>
              </a:rPr>
              <a:t>○　これに伴い、令和６年度における都道府県・市町村への配分額については、各交付金の５％相当額（</a:t>
            </a:r>
            <a:r>
              <a:rPr lang="en-US" altLang="ja-JP" sz="1400" dirty="0">
                <a:solidFill>
                  <a:schemeClr val="tx1"/>
                </a:solidFill>
                <a:latin typeface="メイリオ" panose="020B0604030504040204" pitchFamily="50" charset="-128"/>
                <a:ea typeface="メイリオ" panose="020B0604030504040204" pitchFamily="50" charset="-128"/>
              </a:rPr>
              <a:t>17.5</a:t>
            </a:r>
            <a:r>
              <a:rPr lang="ja-JP" altLang="en-US" sz="1400" dirty="0">
                <a:solidFill>
                  <a:schemeClr val="tx1"/>
                </a:solidFill>
                <a:latin typeface="メイリオ" panose="020B0604030504040204" pitchFamily="50" charset="-128"/>
                <a:ea typeface="メイリオ" panose="020B0604030504040204" pitchFamily="50" charset="-128"/>
              </a:rPr>
              <a:t>億円）を都道府県分、残り（</a:t>
            </a:r>
            <a:r>
              <a:rPr lang="en-US" altLang="ja-JP" sz="1400" dirty="0">
                <a:solidFill>
                  <a:schemeClr val="tx1"/>
                </a:solidFill>
                <a:latin typeface="メイリオ" panose="020B0604030504040204" pitchFamily="50" charset="-128"/>
                <a:ea typeface="メイリオ" panose="020B0604030504040204" pitchFamily="50" charset="-128"/>
              </a:rPr>
              <a:t>332.5</a:t>
            </a:r>
            <a:r>
              <a:rPr lang="ja-JP" altLang="en-US" sz="1400" dirty="0">
                <a:solidFill>
                  <a:schemeClr val="tx1"/>
                </a:solidFill>
                <a:latin typeface="メイリオ" panose="020B0604030504040204" pitchFamily="50" charset="-128"/>
                <a:ea typeface="メイリオ" panose="020B0604030504040204" pitchFamily="50" charset="-128"/>
              </a:rPr>
              <a:t>億円）を市町村分とする従来の考え方を踏まえ、次のとおりとする。</a:t>
            </a:r>
            <a:endParaRPr lang="en-US" altLang="ja-JP" sz="1400" dirty="0">
              <a:solidFill>
                <a:schemeClr val="tx1"/>
              </a:solidFill>
              <a:latin typeface="メイリオ" panose="020B0604030504040204" pitchFamily="50" charset="-128"/>
              <a:ea typeface="メイリオ" panose="020B0604030504040204" pitchFamily="50" charset="-128"/>
            </a:endParaRPr>
          </a:p>
        </p:txBody>
      </p:sp>
      <p:graphicFrame>
        <p:nvGraphicFramePr>
          <p:cNvPr id="2" name="表 1"/>
          <p:cNvGraphicFramePr>
            <a:graphicFrameLocks noGrp="1"/>
          </p:cNvGraphicFramePr>
          <p:nvPr/>
        </p:nvGraphicFramePr>
        <p:xfrm>
          <a:off x="107075" y="3428897"/>
          <a:ext cx="9505056" cy="3393859"/>
        </p:xfrm>
        <a:graphic>
          <a:graphicData uri="http://schemas.openxmlformats.org/drawingml/2006/table">
            <a:tbl>
              <a:tblPr firstRow="1" bandRow="1">
                <a:tableStyleId>{5C22544A-7EE6-4342-B048-85BDC9FD1C3A}</a:tableStyleId>
              </a:tblPr>
              <a:tblGrid>
                <a:gridCol w="1441056">
                  <a:extLst>
                    <a:ext uri="{9D8B030D-6E8A-4147-A177-3AD203B41FA5}">
                      <a16:colId xmlns:a16="http://schemas.microsoft.com/office/drawing/2014/main" val="3501717160"/>
                    </a:ext>
                  </a:extLst>
                </a:gridCol>
                <a:gridCol w="3024000">
                  <a:extLst>
                    <a:ext uri="{9D8B030D-6E8A-4147-A177-3AD203B41FA5}">
                      <a16:colId xmlns:a16="http://schemas.microsoft.com/office/drawing/2014/main" val="3791898177"/>
                    </a:ext>
                  </a:extLst>
                </a:gridCol>
                <a:gridCol w="2520000">
                  <a:extLst>
                    <a:ext uri="{9D8B030D-6E8A-4147-A177-3AD203B41FA5}">
                      <a16:colId xmlns:a16="http://schemas.microsoft.com/office/drawing/2014/main" val="3798376893"/>
                    </a:ext>
                  </a:extLst>
                </a:gridCol>
                <a:gridCol w="2520000">
                  <a:extLst>
                    <a:ext uri="{9D8B030D-6E8A-4147-A177-3AD203B41FA5}">
                      <a16:colId xmlns:a16="http://schemas.microsoft.com/office/drawing/2014/main" val="695594436"/>
                    </a:ext>
                  </a:extLst>
                </a:gridCol>
              </a:tblGrid>
              <a:tr h="664214">
                <a:tc gridSpan="2">
                  <a:txBody>
                    <a:bodyPr/>
                    <a:lstStyle/>
                    <a:p>
                      <a:pPr algn="ctr"/>
                      <a:endParaRPr kumimoji="1" lang="ja-JP" altLang="en-US" sz="1400" b="0" dirty="0">
                        <a:solidFill>
                          <a:schemeClr val="tx1"/>
                        </a:solidFill>
                        <a:latin typeface="メイリオ" panose="020B0604030504040204" pitchFamily="50" charset="-128"/>
                        <a:ea typeface="メイリオ" panose="020B0604030504040204" pitchFamily="50" charset="-128"/>
                      </a:endParaRPr>
                    </a:p>
                  </a:txBody>
                  <a:tcPr anchor="ctr">
                    <a:lnL w="9525"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a:txBody>
                    <a:bodyPr/>
                    <a:lstStyle/>
                    <a:p>
                      <a:pPr algn="ctr"/>
                      <a:r>
                        <a:rPr kumimoji="1" lang="ja-JP" altLang="en-US" sz="1400" b="0" dirty="0">
                          <a:solidFill>
                            <a:schemeClr val="tx1"/>
                          </a:solidFill>
                          <a:latin typeface="メイリオ" panose="020B0604030504040204" pitchFamily="50" charset="-128"/>
                          <a:ea typeface="メイリオ" panose="020B0604030504040204" pitchFamily="50" charset="-128"/>
                        </a:rPr>
                        <a:t>令和６年度分</a:t>
                      </a: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b="0" dirty="0">
                          <a:solidFill>
                            <a:schemeClr val="tx1"/>
                          </a:solidFill>
                          <a:latin typeface="メイリオ" panose="020B0604030504040204" pitchFamily="50" charset="-128"/>
                          <a:ea typeface="メイリオ" panose="020B0604030504040204" pitchFamily="50" charset="-128"/>
                        </a:rPr>
                        <a:t>令和５年度分</a:t>
                      </a:r>
                    </a:p>
                  </a:txBody>
                  <a:tcPr anchor="ctr">
                    <a:lnL w="38100" cap="flat" cmpd="sng" algn="ctr">
                      <a:solidFill>
                        <a:srgbClr val="FF0000"/>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28481636"/>
                  </a:ext>
                </a:extLst>
              </a:tr>
              <a:tr h="545929">
                <a:tc rowSpan="2">
                  <a:txBody>
                    <a:bodyPr/>
                    <a:lstStyle/>
                    <a:p>
                      <a:pPr algn="ctr"/>
                      <a:r>
                        <a:rPr kumimoji="1" lang="ja-JP" altLang="en-US" sz="1400" dirty="0">
                          <a:latin typeface="メイリオ" panose="020B0604030504040204" pitchFamily="50" charset="-128"/>
                          <a:ea typeface="メイリオ" panose="020B0604030504040204" pitchFamily="50" charset="-128"/>
                        </a:rPr>
                        <a:t>都道府県分</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dirty="0">
                          <a:latin typeface="メイリオ" panose="020B0604030504040204" pitchFamily="50" charset="-128"/>
                          <a:ea typeface="メイリオ" panose="020B0604030504040204" pitchFamily="50" charset="-128"/>
                        </a:rPr>
                        <a:t>保険者機能強化推進交付金</a:t>
                      </a:r>
                    </a:p>
                  </a:txBody>
                  <a:tcPr anchor="ctr">
                    <a:lnL w="9525"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800" b="1" u="sng" dirty="0">
                          <a:solidFill>
                            <a:srgbClr val="FF0000"/>
                          </a:solidFill>
                          <a:latin typeface="メイリオ" panose="020B0604030504040204" pitchFamily="50" charset="-128"/>
                          <a:ea typeface="メイリオ" panose="020B0604030504040204" pitchFamily="50" charset="-128"/>
                        </a:rPr>
                        <a:t>５億円</a:t>
                      </a:r>
                      <a:endParaRPr kumimoji="1" lang="en-US" altLang="ja-JP" sz="1800" b="1" u="sng" dirty="0">
                        <a:solidFill>
                          <a:srgbClr val="FF0000"/>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800" b="0" u="none" dirty="0">
                          <a:solidFill>
                            <a:schemeClr val="tx1"/>
                          </a:solidFill>
                          <a:latin typeface="メイリオ" panose="020B0604030504040204" pitchFamily="50" charset="-128"/>
                          <a:ea typeface="メイリオ" panose="020B0604030504040204" pitchFamily="50" charset="-128"/>
                        </a:rPr>
                        <a:t>７．５億円</a:t>
                      </a:r>
                      <a:endParaRPr kumimoji="1" lang="en-US" altLang="ja-JP" sz="18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0084726"/>
                  </a:ext>
                </a:extLst>
              </a:tr>
              <a:tr h="545929">
                <a:tc vMerge="1">
                  <a:txBody>
                    <a:bodyPr/>
                    <a:lstStyle/>
                    <a:p>
                      <a:endParaRPr kumimoji="1" lang="ja-JP" altLang="en-US"/>
                    </a:p>
                  </a:txBody>
                  <a:tcPr/>
                </a:tc>
                <a:tc>
                  <a:txBody>
                    <a:bodyPr/>
                    <a:lstStyle/>
                    <a:p>
                      <a:pPr algn="ctr"/>
                      <a:r>
                        <a:rPr kumimoji="1" lang="ja-JP" altLang="en-US" sz="1400" dirty="0">
                          <a:latin typeface="メイリオ" panose="020B0604030504040204" pitchFamily="50" charset="-128"/>
                          <a:ea typeface="メイリオ" panose="020B0604030504040204" pitchFamily="50" charset="-128"/>
                        </a:rPr>
                        <a:t>介護保険保険者努力支援交付金</a:t>
                      </a:r>
                    </a:p>
                  </a:txBody>
                  <a:tcPr anchor="ctr">
                    <a:lnL w="9525"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800" dirty="0">
                          <a:latin typeface="メイリオ" panose="020B0604030504040204" pitchFamily="50" charset="-128"/>
                          <a:ea typeface="メイリオ" panose="020B0604030504040204" pitchFamily="50" charset="-128"/>
                        </a:rPr>
                        <a:t>１０億円</a:t>
                      </a: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800" b="0" u="none" dirty="0">
                          <a:solidFill>
                            <a:schemeClr val="tx1"/>
                          </a:solidFill>
                          <a:latin typeface="メイリオ" panose="020B0604030504040204" pitchFamily="50" charset="-128"/>
                          <a:ea typeface="メイリオ" panose="020B0604030504040204" pitchFamily="50" charset="-128"/>
                        </a:rPr>
                        <a:t>１０億円</a:t>
                      </a:r>
                    </a:p>
                  </a:txBody>
                  <a:tcPr anchor="ctr">
                    <a:lnL w="38100" cap="flat" cmpd="sng" algn="ctr">
                      <a:solidFill>
                        <a:srgbClr val="FF0000"/>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2739901"/>
                  </a:ext>
                </a:extLst>
              </a:tr>
              <a:tr h="545929">
                <a:tc rowSpan="2">
                  <a:txBody>
                    <a:bodyPr/>
                    <a:lstStyle/>
                    <a:p>
                      <a:pPr algn="ctr"/>
                      <a:r>
                        <a:rPr kumimoji="1" lang="ja-JP" altLang="en-US" sz="1400" dirty="0">
                          <a:latin typeface="メイリオ" panose="020B0604030504040204" pitchFamily="50" charset="-128"/>
                          <a:ea typeface="メイリオ" panose="020B0604030504040204" pitchFamily="50" charset="-128"/>
                        </a:rPr>
                        <a:t>市町村分</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dirty="0">
                          <a:latin typeface="メイリオ" panose="020B0604030504040204" pitchFamily="50" charset="-128"/>
                          <a:ea typeface="メイリオ" panose="020B0604030504040204" pitchFamily="50" charset="-128"/>
                        </a:rPr>
                        <a:t>保険者機能強化推進交付金</a:t>
                      </a:r>
                    </a:p>
                  </a:txBody>
                  <a:tcPr anchor="ctr">
                    <a:lnL w="9525"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800" b="1" u="sng" dirty="0">
                          <a:solidFill>
                            <a:srgbClr val="FF0000"/>
                          </a:solidFill>
                          <a:latin typeface="メイリオ" panose="020B0604030504040204" pitchFamily="50" charset="-128"/>
                          <a:ea typeface="メイリオ" panose="020B0604030504040204" pitchFamily="50" charset="-128"/>
                        </a:rPr>
                        <a:t>９５億円</a:t>
                      </a:r>
                      <a:endParaRPr kumimoji="1" lang="en-US" altLang="ja-JP" sz="1800" b="1" u="sng" dirty="0">
                        <a:solidFill>
                          <a:srgbClr val="FF0000"/>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800" b="0" u="none" dirty="0">
                          <a:solidFill>
                            <a:schemeClr val="tx1"/>
                          </a:solidFill>
                          <a:latin typeface="メイリオ" panose="020B0604030504040204" pitchFamily="50" charset="-128"/>
                          <a:ea typeface="メイリオ" panose="020B0604030504040204" pitchFamily="50" charset="-128"/>
                        </a:rPr>
                        <a:t>１４２．５億円</a:t>
                      </a:r>
                      <a:endParaRPr kumimoji="1" lang="en-US" altLang="ja-JP" sz="18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37720911"/>
                  </a:ext>
                </a:extLst>
              </a:tr>
              <a:tr h="545929">
                <a:tc vMerge="1">
                  <a:txBody>
                    <a:bodyPr/>
                    <a:lstStyle/>
                    <a:p>
                      <a:endParaRPr kumimoji="1" lang="ja-JP" altLang="en-US"/>
                    </a:p>
                  </a:txBody>
                  <a:tcPr/>
                </a:tc>
                <a:tc>
                  <a:txBody>
                    <a:bodyPr/>
                    <a:lstStyle/>
                    <a:p>
                      <a:pPr algn="ctr"/>
                      <a:r>
                        <a:rPr kumimoji="1" lang="ja-JP" altLang="en-US" sz="1400" dirty="0">
                          <a:latin typeface="メイリオ" panose="020B0604030504040204" pitchFamily="50" charset="-128"/>
                          <a:ea typeface="メイリオ" panose="020B0604030504040204" pitchFamily="50" charset="-128"/>
                        </a:rPr>
                        <a:t>介護保険保険者努力支援交付金</a:t>
                      </a:r>
                    </a:p>
                  </a:txBody>
                  <a:tcPr anchor="ctr">
                    <a:lnL w="9525"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800" dirty="0">
                          <a:latin typeface="メイリオ" panose="020B0604030504040204" pitchFamily="50" charset="-128"/>
                          <a:ea typeface="メイリオ" panose="020B0604030504040204" pitchFamily="50" charset="-128"/>
                        </a:rPr>
                        <a:t>１９０億円</a:t>
                      </a: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1800" b="0" u="none" dirty="0">
                          <a:solidFill>
                            <a:schemeClr val="tx1"/>
                          </a:solidFill>
                          <a:latin typeface="メイリオ" panose="020B0604030504040204" pitchFamily="50" charset="-128"/>
                          <a:ea typeface="メイリオ" panose="020B0604030504040204" pitchFamily="50" charset="-128"/>
                        </a:rPr>
                        <a:t>１９０億円</a:t>
                      </a:r>
                    </a:p>
                  </a:txBody>
                  <a:tcPr anchor="ctr">
                    <a:lnL w="38100" cap="flat" cmpd="sng" algn="ctr">
                      <a:solidFill>
                        <a:srgbClr val="FF0000"/>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397494"/>
                  </a:ext>
                </a:extLst>
              </a:tr>
              <a:tr h="545929">
                <a:tc gridSpan="2">
                  <a:txBody>
                    <a:bodyPr/>
                    <a:lstStyle/>
                    <a:p>
                      <a:pPr algn="ctr"/>
                      <a:r>
                        <a:rPr kumimoji="1" lang="ja-JP" altLang="en-US" sz="1800" b="1" dirty="0">
                          <a:latin typeface="メイリオ" panose="020B0604030504040204" pitchFamily="50" charset="-128"/>
                          <a:ea typeface="メイリオ" panose="020B0604030504040204" pitchFamily="50" charset="-128"/>
                        </a:rPr>
                        <a:t>合計</a:t>
                      </a:r>
                    </a:p>
                  </a:txBody>
                  <a:tcPr anchor="ctr">
                    <a:lnL w="9525"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CC"/>
                    </a:solidFill>
                  </a:tcPr>
                </a:tc>
                <a:tc hMerge="1">
                  <a:txBody>
                    <a:bodyPr/>
                    <a:lstStyle/>
                    <a:p>
                      <a:pPr algn="ctr"/>
                      <a:endParaRPr kumimoji="1" lang="ja-JP" altLang="en-US" sz="14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800" b="1" u="sng" dirty="0">
                          <a:solidFill>
                            <a:srgbClr val="FF0000"/>
                          </a:solidFill>
                          <a:latin typeface="メイリオ" panose="020B0604030504040204" pitchFamily="50" charset="-128"/>
                          <a:ea typeface="メイリオ" panose="020B0604030504040204" pitchFamily="50" charset="-128"/>
                        </a:rPr>
                        <a:t>３００億円</a:t>
                      </a: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FCC"/>
                    </a:solidFill>
                  </a:tcPr>
                </a:tc>
                <a:tc>
                  <a:txBody>
                    <a:bodyPr/>
                    <a:lstStyle/>
                    <a:p>
                      <a:pPr algn="ctr"/>
                      <a:r>
                        <a:rPr kumimoji="1" lang="ja-JP" altLang="en-US" sz="1800" b="1" dirty="0">
                          <a:solidFill>
                            <a:schemeClr val="tx1"/>
                          </a:solidFill>
                          <a:latin typeface="メイリオ" panose="020B0604030504040204" pitchFamily="50" charset="-128"/>
                          <a:ea typeface="メイリオ" panose="020B0604030504040204" pitchFamily="50" charset="-128"/>
                        </a:rPr>
                        <a:t>３５０億円</a:t>
                      </a:r>
                    </a:p>
                  </a:txBody>
                  <a:tcPr anchor="ctr">
                    <a:lnL w="38100" cap="flat" cmpd="sng" algn="ctr">
                      <a:solidFill>
                        <a:srgbClr val="FF0000"/>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3240823386"/>
                  </a:ext>
                </a:extLst>
              </a:tr>
            </a:tbl>
          </a:graphicData>
        </a:graphic>
      </p:graphicFrame>
      <p:sp>
        <p:nvSpPr>
          <p:cNvPr id="6" name="スライド番号プレースホルダー 1"/>
          <p:cNvSpPr txBox="1">
            <a:spLocks/>
          </p:cNvSpPr>
          <p:nvPr/>
        </p:nvSpPr>
        <p:spPr>
          <a:xfrm>
            <a:off x="7308131" y="6534756"/>
            <a:ext cx="2268061" cy="373831"/>
          </a:xfrm>
          <a:prstGeom prst="rect">
            <a:avLst/>
          </a:prstGeom>
        </p:spPr>
        <p:txBody>
          <a:bodyPr vert="horz" lIns="89726" tIns="44863" rIns="89726" bIns="44863" rtlCol="0" anchor="ctr"/>
          <a:lstStyle>
            <a:defPPr>
              <a:defRPr lang="ja-JP"/>
            </a:defPPr>
            <a:lvl1pPr marL="0" algn="r" defTabSz="932580" rtl="0" eaLnBrk="1" latinLnBrk="0" hangingPunct="1">
              <a:defRPr kumimoji="1" sz="1177" kern="1200">
                <a:solidFill>
                  <a:schemeClr val="tx1"/>
                </a:solidFill>
                <a:latin typeface="+mn-lt"/>
                <a:ea typeface="+mn-ea"/>
                <a:cs typeface="+mn-cs"/>
              </a:defRPr>
            </a:lvl1pPr>
            <a:lvl2pPr marL="466288" algn="l" defTabSz="932580" rtl="0" eaLnBrk="1" latinLnBrk="0" hangingPunct="1">
              <a:defRPr kumimoji="1" sz="1800" kern="1200">
                <a:solidFill>
                  <a:schemeClr val="tx1"/>
                </a:solidFill>
                <a:latin typeface="+mn-lt"/>
                <a:ea typeface="+mn-ea"/>
                <a:cs typeface="+mn-cs"/>
              </a:defRPr>
            </a:lvl2pPr>
            <a:lvl3pPr marL="932580" algn="l" defTabSz="932580" rtl="0" eaLnBrk="1" latinLnBrk="0" hangingPunct="1">
              <a:defRPr kumimoji="1" sz="1800" kern="1200">
                <a:solidFill>
                  <a:schemeClr val="tx1"/>
                </a:solidFill>
                <a:latin typeface="+mn-lt"/>
                <a:ea typeface="+mn-ea"/>
                <a:cs typeface="+mn-cs"/>
              </a:defRPr>
            </a:lvl3pPr>
            <a:lvl4pPr marL="1398867" algn="l" defTabSz="932580" rtl="0" eaLnBrk="1" latinLnBrk="0" hangingPunct="1">
              <a:defRPr kumimoji="1" sz="1800" kern="1200">
                <a:solidFill>
                  <a:schemeClr val="tx1"/>
                </a:solidFill>
                <a:latin typeface="+mn-lt"/>
                <a:ea typeface="+mn-ea"/>
                <a:cs typeface="+mn-cs"/>
              </a:defRPr>
            </a:lvl4pPr>
            <a:lvl5pPr marL="1865158" algn="l" defTabSz="932580" rtl="0" eaLnBrk="1" latinLnBrk="0" hangingPunct="1">
              <a:defRPr kumimoji="1" sz="1800" kern="1200">
                <a:solidFill>
                  <a:schemeClr val="tx1"/>
                </a:solidFill>
                <a:latin typeface="+mn-lt"/>
                <a:ea typeface="+mn-ea"/>
                <a:cs typeface="+mn-cs"/>
              </a:defRPr>
            </a:lvl5pPr>
            <a:lvl6pPr marL="2331439" algn="l" defTabSz="932580" rtl="0" eaLnBrk="1" latinLnBrk="0" hangingPunct="1">
              <a:defRPr kumimoji="1" sz="1800" kern="1200">
                <a:solidFill>
                  <a:schemeClr val="tx1"/>
                </a:solidFill>
                <a:latin typeface="+mn-lt"/>
                <a:ea typeface="+mn-ea"/>
                <a:cs typeface="+mn-cs"/>
              </a:defRPr>
            </a:lvl6pPr>
            <a:lvl7pPr marL="2797735" algn="l" defTabSz="932580" rtl="0" eaLnBrk="1" latinLnBrk="0" hangingPunct="1">
              <a:defRPr kumimoji="1" sz="1800" kern="1200">
                <a:solidFill>
                  <a:schemeClr val="tx1"/>
                </a:solidFill>
                <a:latin typeface="+mn-lt"/>
                <a:ea typeface="+mn-ea"/>
                <a:cs typeface="+mn-cs"/>
              </a:defRPr>
            </a:lvl7pPr>
            <a:lvl8pPr marL="3264024" algn="l" defTabSz="932580" rtl="0" eaLnBrk="1" latinLnBrk="0" hangingPunct="1">
              <a:defRPr kumimoji="1" sz="1800" kern="1200">
                <a:solidFill>
                  <a:schemeClr val="tx1"/>
                </a:solidFill>
                <a:latin typeface="+mn-lt"/>
                <a:ea typeface="+mn-ea"/>
                <a:cs typeface="+mn-cs"/>
              </a:defRPr>
            </a:lvl8pPr>
            <a:lvl9pPr marL="3730316" algn="l" defTabSz="932580" rtl="0" eaLnBrk="1" latinLnBrk="0" hangingPunct="1">
              <a:defRPr kumimoji="1" sz="1800" kern="1200">
                <a:solidFill>
                  <a:schemeClr val="tx1"/>
                </a:solidFill>
                <a:latin typeface="+mn-lt"/>
                <a:ea typeface="+mn-ea"/>
                <a:cs typeface="+mn-cs"/>
              </a:defRPr>
            </a:lvl9pPr>
          </a:lstStyle>
          <a:p>
            <a:pPr defTabSz="914400"/>
            <a:fld id="{9E2A29CB-BA86-48A6-80E1-CB8750A963B5}" type="slidenum">
              <a:rPr lang="ja-JP" altLang="en-US" sz="1178" b="1" smtClean="0">
                <a:latin typeface="Meiryo UI" panose="020B0604030504040204" pitchFamily="50" charset="-128"/>
                <a:ea typeface="Meiryo UI" panose="020B0604030504040204" pitchFamily="50" charset="-128"/>
              </a:rPr>
              <a:pPr defTabSz="914400"/>
              <a:t>34</a:t>
            </a:fld>
            <a:endParaRPr lang="ja-JP" altLang="en-US" sz="1178"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01406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a:spLocks noChangeArrowheads="1"/>
          </p:cNvSpPr>
          <p:nvPr/>
        </p:nvSpPr>
        <p:spPr bwMode="auto">
          <a:xfrm>
            <a:off x="-1" y="-17637"/>
            <a:ext cx="9720263" cy="504393"/>
          </a:xfrm>
          <a:prstGeom prst="rect">
            <a:avLst/>
          </a:prstGeom>
          <a:pattFill prst="dkUpDiag">
            <a:fgClr>
              <a:srgbClr val="003579"/>
            </a:fgClr>
            <a:bgClr>
              <a:srgbClr val="004292"/>
            </a:bgClr>
          </a:pattFill>
          <a:ln w="12700" cap="flat" cmpd="sng" algn="ctr">
            <a:noFill/>
            <a:prstDash val="solid"/>
            <a:miter lim="800000"/>
          </a:ln>
          <a:effectLst/>
        </p:spPr>
        <p:txBody>
          <a:bodyPr lIns="360000" tIns="180000" rIns="326585" bIns="108000" rtlCol="0" anchor="ctr"/>
          <a:lstStyle/>
          <a:p>
            <a:pPr algn="ctr" defTabSz="457200"/>
            <a:r>
              <a:rPr lang="ja-JP" altLang="en-US" sz="2000" b="1" kern="0" dirty="0">
                <a:solidFill>
                  <a:srgbClr val="FFFFFF"/>
                </a:solidFill>
                <a:latin typeface="Meiryo" panose="020B0604030504040204" pitchFamily="34" charset="-128"/>
                <a:ea typeface="Meiryo" panose="020B0604030504040204" pitchFamily="34" charset="-128"/>
              </a:rPr>
              <a:t>令和６年度における保険者機能強化推進交付金等の配分</a:t>
            </a:r>
            <a:r>
              <a:rPr lang="ja-JP" altLang="en-US" sz="2000" b="1" kern="0">
                <a:solidFill>
                  <a:srgbClr val="FFFFFF"/>
                </a:solidFill>
                <a:latin typeface="Meiryo" panose="020B0604030504040204" pitchFamily="34" charset="-128"/>
                <a:ea typeface="Meiryo" panose="020B0604030504040204" pitchFamily="34" charset="-128"/>
              </a:rPr>
              <a:t>について</a:t>
            </a:r>
            <a:endParaRPr lang="en-US" altLang="ja-JP" sz="2000" b="1" kern="0" dirty="0">
              <a:solidFill>
                <a:srgbClr val="FFFFFF"/>
              </a:solidFill>
              <a:latin typeface="Meiryo" panose="020B0604030504040204" pitchFamily="34" charset="-128"/>
              <a:ea typeface="Meiryo" panose="020B0604030504040204" pitchFamily="34" charset="-128"/>
            </a:endParaRPr>
          </a:p>
        </p:txBody>
      </p:sp>
      <p:sp>
        <p:nvSpPr>
          <p:cNvPr id="11" name="正方形/長方形 10"/>
          <p:cNvSpPr/>
          <p:nvPr/>
        </p:nvSpPr>
        <p:spPr>
          <a:xfrm>
            <a:off x="107603" y="697369"/>
            <a:ext cx="9505056" cy="2165387"/>
          </a:xfrm>
          <a:prstGeom prst="rect">
            <a:avLst/>
          </a:prstGeom>
          <a:solidFill>
            <a:schemeClr val="bg1"/>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r>
              <a:rPr kumimoji="1" lang="ja-JP" altLang="en-US" sz="1400" dirty="0">
                <a:solidFill>
                  <a:schemeClr val="tx1"/>
                </a:solidFill>
                <a:latin typeface="メイリオ" panose="020B0604030504040204" pitchFamily="50" charset="-128"/>
                <a:ea typeface="メイリオ" panose="020B0604030504040204" pitchFamily="50" charset="-128"/>
              </a:rPr>
              <a:t>○　令和６年度における保険者機能強化推進交付金・介護保険保険者努力支援交付金の配分については、保険者機能強化推進交付金を</a:t>
            </a:r>
            <a:r>
              <a:rPr kumimoji="1" lang="en-US" altLang="ja-JP" sz="1400" dirty="0">
                <a:solidFill>
                  <a:schemeClr val="tx1"/>
                </a:solidFill>
                <a:latin typeface="メイリオ" panose="020B0604030504040204" pitchFamily="50" charset="-128"/>
                <a:ea typeface="メイリオ" panose="020B0604030504040204" pitchFamily="50" charset="-128"/>
              </a:rPr>
              <a:t>50</a:t>
            </a:r>
            <a:r>
              <a:rPr kumimoji="1" lang="ja-JP" altLang="en-US" sz="1400" dirty="0">
                <a:solidFill>
                  <a:schemeClr val="tx1"/>
                </a:solidFill>
                <a:latin typeface="メイリオ" panose="020B0604030504040204" pitchFamily="50" charset="-128"/>
                <a:ea typeface="メイリオ" panose="020B0604030504040204" pitchFamily="50" charset="-128"/>
              </a:rPr>
              <a:t>億円縮減することに伴い、自治体における取組に大きな支障が生じることのないよう、激変緩和の観点から、</a:t>
            </a:r>
            <a:r>
              <a:rPr kumimoji="1" lang="ja-JP" altLang="en-US" sz="1400" b="1" u="sng" dirty="0">
                <a:solidFill>
                  <a:srgbClr val="FF0000"/>
                </a:solidFill>
                <a:latin typeface="メイリオ" panose="020B0604030504040204" pitchFamily="50" charset="-128"/>
                <a:ea typeface="メイリオ" panose="020B0604030504040204" pitchFamily="50" charset="-128"/>
              </a:rPr>
              <a:t>予算案のうち、次の①及び②にその</a:t>
            </a:r>
            <a:r>
              <a:rPr kumimoji="1" lang="en-US" altLang="ja-JP" sz="1400" b="1" u="sng" dirty="0">
                <a:solidFill>
                  <a:srgbClr val="FF0000"/>
                </a:solidFill>
                <a:latin typeface="メイリオ" panose="020B0604030504040204" pitchFamily="50" charset="-128"/>
                <a:ea typeface="メイリオ" panose="020B0604030504040204" pitchFamily="50" charset="-128"/>
              </a:rPr>
              <a:t>90</a:t>
            </a:r>
            <a:r>
              <a:rPr kumimoji="1" lang="ja-JP" altLang="en-US" sz="1400" b="1" u="sng" dirty="0">
                <a:solidFill>
                  <a:srgbClr val="FF0000"/>
                </a:solidFill>
                <a:latin typeface="メイリオ" panose="020B0604030504040204" pitchFamily="50" charset="-128"/>
                <a:ea typeface="メイリオ" panose="020B0604030504040204" pitchFamily="50" charset="-128"/>
              </a:rPr>
              <a:t>％を充てることとし、残りの</a:t>
            </a:r>
            <a:r>
              <a:rPr kumimoji="1" lang="en-US" altLang="ja-JP" sz="1400" b="1" u="sng" dirty="0">
                <a:solidFill>
                  <a:srgbClr val="FF0000"/>
                </a:solidFill>
                <a:latin typeface="メイリオ" panose="020B0604030504040204" pitchFamily="50" charset="-128"/>
                <a:ea typeface="メイリオ" panose="020B0604030504040204" pitchFamily="50" charset="-128"/>
              </a:rPr>
              <a:t>10</a:t>
            </a:r>
            <a:r>
              <a:rPr kumimoji="1" lang="ja-JP" altLang="en-US" sz="1400" b="1" u="sng" dirty="0">
                <a:solidFill>
                  <a:srgbClr val="FF0000"/>
                </a:solidFill>
                <a:latin typeface="メイリオ" panose="020B0604030504040204" pitchFamily="50" charset="-128"/>
                <a:ea typeface="メイリオ" panose="020B0604030504040204" pitchFamily="50" charset="-128"/>
              </a:rPr>
              <a:t>％については、令和</a:t>
            </a:r>
            <a:r>
              <a:rPr kumimoji="1" lang="en-US" altLang="ja-JP" sz="1400" b="1" u="sng" dirty="0">
                <a:solidFill>
                  <a:srgbClr val="FF0000"/>
                </a:solidFill>
                <a:latin typeface="メイリオ" panose="020B0604030504040204" pitchFamily="50" charset="-128"/>
                <a:ea typeface="メイリオ" panose="020B0604030504040204" pitchFamily="50" charset="-128"/>
              </a:rPr>
              <a:t>5</a:t>
            </a:r>
            <a:r>
              <a:rPr kumimoji="1" lang="ja-JP" altLang="en-US" sz="1400" b="1" u="sng" dirty="0">
                <a:solidFill>
                  <a:srgbClr val="FF0000"/>
                </a:solidFill>
                <a:latin typeface="メイリオ" panose="020B0604030504040204" pitchFamily="50" charset="-128"/>
                <a:ea typeface="メイリオ" panose="020B0604030504040204" pitchFamily="50" charset="-128"/>
              </a:rPr>
              <a:t>年度交付額から、評価得点の影響により減額幅が著しく大きい自治体に対し、一定額を補填</a:t>
            </a:r>
            <a:r>
              <a:rPr kumimoji="1" lang="ja-JP" altLang="en-US" sz="1400" dirty="0">
                <a:solidFill>
                  <a:schemeClr val="tx1"/>
                </a:solidFill>
                <a:latin typeface="メイリオ" panose="020B0604030504040204" pitchFamily="50" charset="-128"/>
                <a:ea typeface="メイリオ" panose="020B0604030504040204" pitchFamily="50" charset="-128"/>
              </a:rPr>
              <a:t>する。</a:t>
            </a:r>
            <a:endParaRPr kumimoji="1" lang="en-US" altLang="ja-JP" sz="1400" dirty="0">
              <a:solidFill>
                <a:schemeClr val="tx1"/>
              </a:solidFill>
              <a:latin typeface="メイリオ" panose="020B0604030504040204" pitchFamily="50" charset="-128"/>
              <a:ea typeface="メイリオ" panose="020B0604030504040204" pitchFamily="50" charset="-128"/>
            </a:endParaRPr>
          </a:p>
          <a:p>
            <a:pPr marL="179388" indent="-179388"/>
            <a:r>
              <a:rPr kumimoji="1" lang="ja-JP" altLang="en-US" sz="1400" dirty="0">
                <a:solidFill>
                  <a:schemeClr val="tx1"/>
                </a:solidFill>
                <a:latin typeface="メイリオ" panose="020B0604030504040204" pitchFamily="50" charset="-128"/>
                <a:ea typeface="メイリオ" panose="020B0604030504040204" pitchFamily="50" charset="-128"/>
              </a:rPr>
              <a:t>　①　</a:t>
            </a:r>
            <a:r>
              <a:rPr kumimoji="1" lang="ja-JP" altLang="en-US" sz="1400" b="1" dirty="0">
                <a:solidFill>
                  <a:schemeClr val="tx1"/>
                </a:solidFill>
                <a:latin typeface="メイリオ" panose="020B0604030504040204" pitchFamily="50" charset="-128"/>
                <a:ea typeface="メイリオ" panose="020B0604030504040204" pitchFamily="50" charset="-128"/>
              </a:rPr>
              <a:t>基本配分枠</a:t>
            </a:r>
            <a:r>
              <a:rPr kumimoji="1" lang="ja-JP" altLang="en-US" sz="1400" dirty="0">
                <a:solidFill>
                  <a:schemeClr val="tx1"/>
                </a:solidFill>
                <a:latin typeface="メイリオ" panose="020B0604030504040204" pitchFamily="50" charset="-128"/>
                <a:ea typeface="メイリオ" panose="020B0604030504040204" pitchFamily="50" charset="-128"/>
              </a:rPr>
              <a:t>・・・従来どおり令和６年度評価指標に基づく得点結果に応じて配分</a:t>
            </a:r>
            <a:endParaRPr kumimoji="1" lang="en-US" altLang="ja-JP" sz="1400" dirty="0">
              <a:solidFill>
                <a:schemeClr val="tx1"/>
              </a:solidFill>
              <a:latin typeface="メイリオ" panose="020B0604030504040204" pitchFamily="50" charset="-128"/>
              <a:ea typeface="メイリオ" panose="020B0604030504040204" pitchFamily="50" charset="-128"/>
            </a:endParaRPr>
          </a:p>
          <a:p>
            <a:pPr marL="268288" indent="-268288"/>
            <a:r>
              <a:rPr kumimoji="1" lang="ja-JP" altLang="en-US" sz="1400" dirty="0">
                <a:solidFill>
                  <a:schemeClr val="tx1"/>
                </a:solidFill>
                <a:latin typeface="メイリオ" panose="020B0604030504040204" pitchFamily="50" charset="-128"/>
                <a:ea typeface="メイリオ" panose="020B0604030504040204" pitchFamily="50" charset="-128"/>
              </a:rPr>
              <a:t>　②　</a:t>
            </a:r>
            <a:r>
              <a:rPr kumimoji="1" lang="ja-JP" altLang="en-US" sz="1400" b="1" dirty="0">
                <a:solidFill>
                  <a:schemeClr val="tx1"/>
                </a:solidFill>
                <a:latin typeface="メイリオ" panose="020B0604030504040204" pitchFamily="50" charset="-128"/>
                <a:ea typeface="メイリオ" panose="020B0604030504040204" pitchFamily="50" charset="-128"/>
              </a:rPr>
              <a:t>追加配分枠</a:t>
            </a:r>
            <a:r>
              <a:rPr kumimoji="1" lang="ja-JP" altLang="en-US" sz="1400" dirty="0">
                <a:solidFill>
                  <a:schemeClr val="tx1"/>
                </a:solidFill>
                <a:latin typeface="メイリオ" panose="020B0604030504040204" pitchFamily="50" charset="-128"/>
                <a:ea typeface="メイリオ" panose="020B0604030504040204" pitchFamily="50" charset="-128"/>
              </a:rPr>
              <a:t>・・・成果を出している自治体に対する交付額のメリハリ付けを強化する観点から、「アウトカム指標配分枠」及び「保険者機能強化推進枠」を創設</a:t>
            </a:r>
            <a:endParaRPr kumimoji="1" lang="en-US" altLang="ja-JP" sz="1400" dirty="0">
              <a:solidFill>
                <a:schemeClr val="tx1"/>
              </a:solidFill>
              <a:latin typeface="メイリオ" panose="020B0604030504040204" pitchFamily="50" charset="-128"/>
              <a:ea typeface="メイリオ" panose="020B0604030504040204" pitchFamily="50" charset="-128"/>
            </a:endParaRPr>
          </a:p>
          <a:p>
            <a:pPr marL="268288" indent="-268288"/>
            <a:r>
              <a:rPr kumimoji="1" lang="ja-JP" altLang="en-US" sz="1400" dirty="0">
                <a:solidFill>
                  <a:schemeClr val="tx1"/>
                </a:solidFill>
                <a:latin typeface="メイリオ" panose="020B0604030504040204" pitchFamily="50" charset="-128"/>
                <a:ea typeface="メイリオ" panose="020B0604030504040204" pitchFamily="50" charset="-128"/>
              </a:rPr>
              <a:t>　③　</a:t>
            </a:r>
            <a:r>
              <a:rPr kumimoji="1" lang="ja-JP" altLang="en-US" sz="1400" b="1" dirty="0">
                <a:solidFill>
                  <a:schemeClr val="tx1"/>
                </a:solidFill>
                <a:latin typeface="メイリオ" panose="020B0604030504040204" pitchFamily="50" charset="-128"/>
                <a:ea typeface="メイリオ" panose="020B0604030504040204" pitchFamily="50" charset="-128"/>
              </a:rPr>
              <a:t>激変緩和措置</a:t>
            </a:r>
            <a:r>
              <a:rPr kumimoji="1" lang="ja-JP" altLang="en-US" sz="1400" dirty="0">
                <a:solidFill>
                  <a:schemeClr val="tx1"/>
                </a:solidFill>
                <a:latin typeface="メイリオ" panose="020B0604030504040204" pitchFamily="50" charset="-128"/>
                <a:ea typeface="メイリオ" panose="020B0604030504040204" pitchFamily="50" charset="-128"/>
              </a:rPr>
              <a:t>・・・令和５年度交付額からの減少率が推進</a:t>
            </a:r>
            <a:r>
              <a:rPr kumimoji="1" lang="ja-JP" altLang="en-US" sz="1400" b="1" u="sng" dirty="0">
                <a:solidFill>
                  <a:srgbClr val="FF0000"/>
                </a:solidFill>
                <a:latin typeface="メイリオ" panose="020B0604030504040204" pitchFamily="50" charset="-128"/>
                <a:ea typeface="メイリオ" panose="020B0604030504040204" pitchFamily="50" charset="-128"/>
              </a:rPr>
              <a:t>▲</a:t>
            </a:r>
            <a:r>
              <a:rPr kumimoji="1" lang="en-US" altLang="ja-JP" sz="1400" b="1" u="sng" dirty="0">
                <a:solidFill>
                  <a:srgbClr val="FF0000"/>
                </a:solidFill>
                <a:latin typeface="メイリオ" panose="020B0604030504040204" pitchFamily="50" charset="-128"/>
                <a:ea typeface="メイリオ" panose="020B0604030504040204" pitchFamily="50" charset="-128"/>
              </a:rPr>
              <a:t>38</a:t>
            </a:r>
            <a:r>
              <a:rPr kumimoji="1" lang="ja-JP" altLang="en-US" sz="1400" b="1" u="sng" dirty="0">
                <a:solidFill>
                  <a:srgbClr val="FF0000"/>
                </a:solidFill>
                <a:latin typeface="メイリオ" panose="020B0604030504040204" pitchFamily="50" charset="-128"/>
                <a:ea typeface="メイリオ" panose="020B0604030504040204" pitchFamily="50" charset="-128"/>
              </a:rPr>
              <a:t>％</a:t>
            </a:r>
            <a:r>
              <a:rPr kumimoji="1" lang="ja-JP" altLang="en-US" sz="1400" dirty="0">
                <a:solidFill>
                  <a:schemeClr val="tx1"/>
                </a:solidFill>
                <a:latin typeface="メイリオ" panose="020B0604030504040204" pitchFamily="50" charset="-128"/>
                <a:ea typeface="メイリオ" panose="020B0604030504040204" pitchFamily="50" charset="-128"/>
              </a:rPr>
              <a:t>、支援</a:t>
            </a:r>
            <a:r>
              <a:rPr kumimoji="1" lang="ja-JP" altLang="en-US" sz="1400" b="1" u="sng" dirty="0">
                <a:solidFill>
                  <a:srgbClr val="FF0000"/>
                </a:solidFill>
                <a:latin typeface="メイリオ" panose="020B0604030504040204" pitchFamily="50" charset="-128"/>
                <a:ea typeface="メイリオ" panose="020B0604030504040204" pitchFamily="50" charset="-128"/>
              </a:rPr>
              <a:t>▲</a:t>
            </a:r>
            <a:r>
              <a:rPr kumimoji="1" lang="en-US" altLang="ja-JP" sz="1400" b="1" u="sng" dirty="0">
                <a:solidFill>
                  <a:srgbClr val="FF0000"/>
                </a:solidFill>
                <a:latin typeface="メイリオ" panose="020B0604030504040204" pitchFamily="50" charset="-128"/>
                <a:ea typeface="メイリオ" panose="020B0604030504040204" pitchFamily="50" charset="-128"/>
              </a:rPr>
              <a:t>15</a:t>
            </a:r>
            <a:r>
              <a:rPr kumimoji="1" lang="ja-JP" altLang="en-US" sz="1400" b="1" u="sng" dirty="0">
                <a:solidFill>
                  <a:srgbClr val="FF0000"/>
                </a:solidFill>
                <a:latin typeface="メイリオ" panose="020B0604030504040204" pitchFamily="50" charset="-128"/>
                <a:ea typeface="メイリオ" panose="020B0604030504040204" pitchFamily="50" charset="-128"/>
              </a:rPr>
              <a:t>％</a:t>
            </a:r>
            <a:r>
              <a:rPr kumimoji="1" lang="ja-JP" altLang="en-US" sz="1400" dirty="0">
                <a:solidFill>
                  <a:schemeClr val="tx1"/>
                </a:solidFill>
                <a:latin typeface="メイリオ" panose="020B0604030504040204" pitchFamily="50" charset="-128"/>
                <a:ea typeface="メイリオ" panose="020B0604030504040204" pitchFamily="50" charset="-128"/>
              </a:rPr>
              <a:t>を上回る場合は、当該割合までの減少額を補填。</a:t>
            </a:r>
            <a:endParaRPr kumimoji="1" lang="en-US" altLang="ja-JP" sz="1400" dirty="0">
              <a:solidFill>
                <a:schemeClr val="tx1"/>
              </a:solidFill>
              <a:latin typeface="メイリオ" panose="020B0604030504040204" pitchFamily="50" charset="-128"/>
              <a:ea typeface="メイリオ" panose="020B0604030504040204" pitchFamily="50" charset="-128"/>
            </a:endParaRPr>
          </a:p>
        </p:txBody>
      </p:sp>
      <p:graphicFrame>
        <p:nvGraphicFramePr>
          <p:cNvPr id="4" name="表 3">
            <a:extLst>
              <a:ext uri="{FF2B5EF4-FFF2-40B4-BE49-F238E27FC236}">
                <a16:creationId xmlns:a16="http://schemas.microsoft.com/office/drawing/2014/main" id="{91EBC9EA-25B2-5E25-96D1-C57FFA5CF4BD}"/>
              </a:ext>
            </a:extLst>
          </p:cNvPr>
          <p:cNvGraphicFramePr>
            <a:graphicFrameLocks noGrp="1"/>
          </p:cNvGraphicFramePr>
          <p:nvPr/>
        </p:nvGraphicFramePr>
        <p:xfrm>
          <a:off x="108131" y="3078756"/>
          <a:ext cx="9433057" cy="3744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501717160"/>
                    </a:ext>
                  </a:extLst>
                </a:gridCol>
                <a:gridCol w="1815769">
                  <a:extLst>
                    <a:ext uri="{9D8B030D-6E8A-4147-A177-3AD203B41FA5}">
                      <a16:colId xmlns:a16="http://schemas.microsoft.com/office/drawing/2014/main" val="3791898177"/>
                    </a:ext>
                  </a:extLst>
                </a:gridCol>
                <a:gridCol w="1634322">
                  <a:extLst>
                    <a:ext uri="{9D8B030D-6E8A-4147-A177-3AD203B41FA5}">
                      <a16:colId xmlns:a16="http://schemas.microsoft.com/office/drawing/2014/main" val="3798376893"/>
                    </a:ext>
                  </a:extLst>
                </a:gridCol>
                <a:gridCol w="1634322">
                  <a:extLst>
                    <a:ext uri="{9D8B030D-6E8A-4147-A177-3AD203B41FA5}">
                      <a16:colId xmlns:a16="http://schemas.microsoft.com/office/drawing/2014/main" val="299959188"/>
                    </a:ext>
                  </a:extLst>
                </a:gridCol>
                <a:gridCol w="1634322">
                  <a:extLst>
                    <a:ext uri="{9D8B030D-6E8A-4147-A177-3AD203B41FA5}">
                      <a16:colId xmlns:a16="http://schemas.microsoft.com/office/drawing/2014/main" val="1787630088"/>
                    </a:ext>
                  </a:extLst>
                </a:gridCol>
                <a:gridCol w="1634322">
                  <a:extLst>
                    <a:ext uri="{9D8B030D-6E8A-4147-A177-3AD203B41FA5}">
                      <a16:colId xmlns:a16="http://schemas.microsoft.com/office/drawing/2014/main" val="4080940885"/>
                    </a:ext>
                  </a:extLst>
                </a:gridCol>
              </a:tblGrid>
              <a:tr h="325565">
                <a:tc rowSpan="3" gridSpan="2">
                  <a:txBody>
                    <a:bodyPr/>
                    <a:lstStyle/>
                    <a:p>
                      <a:pPr algn="ctr"/>
                      <a:endParaRPr kumimoji="1" lang="ja-JP" altLang="en-US" sz="1400" b="0" u="none" dirty="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hMerge="1">
                  <a:txBody>
                    <a:bodyPr/>
                    <a:lstStyle/>
                    <a:p>
                      <a:endParaRPr kumimoji="1" lang="ja-JP" altLang="en-US"/>
                    </a:p>
                  </a:txBody>
                  <a:tcPr/>
                </a:tc>
                <a:tc rowSpan="3">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令和６年度</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予算案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algn="ct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chemeClr val="accent1">
                        <a:lumMod val="20000"/>
                        <a:lumOff val="80000"/>
                      </a:schemeClr>
                    </a:solidFill>
                  </a:tcPr>
                </a:tc>
                <a:tc hMerge="1">
                  <a:txBody>
                    <a:bodyPr/>
                    <a:lstStyle/>
                    <a:p>
                      <a:pPr algn="ctr"/>
                      <a:endParaRPr kumimoji="1" lang="ja-JP" altLang="en-US" sz="1400" b="0"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a:endParaRPr kumimoji="1" lang="en-US" altLang="ja-JP" sz="1400" b="0" dirty="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53106691"/>
                  </a:ext>
                </a:extLst>
              </a:tr>
              <a:tr h="325565">
                <a:tc gridSpan="2" vMerge="1">
                  <a:txBody>
                    <a:bodyPr/>
                    <a:lstStyle/>
                    <a:p>
                      <a:endParaRPr kumimoji="1" lang="ja-JP" altLang="en-US"/>
                    </a:p>
                  </a:txBody>
                  <a:tcPr/>
                </a:tc>
                <a:tc hMerge="1" vMerge="1">
                  <a:txBody>
                    <a:bodyPr/>
                    <a:lstStyle/>
                    <a:p>
                      <a:endParaRPr kumimoji="1" lang="ja-JP" altLang="en-US"/>
                    </a:p>
                  </a:txBody>
                  <a:tcPr/>
                </a:tc>
                <a:tc vMerge="1">
                  <a:txBody>
                    <a:bodyPr/>
                    <a:lstStyle/>
                    <a:p>
                      <a:endParaRPr kumimoji="1" lang="ja-JP" altLang="en-US"/>
                    </a:p>
                  </a:txBody>
                  <a:tcPr/>
                </a:tc>
                <a:tc gridSpan="2">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予算案の</a:t>
                      </a:r>
                      <a:r>
                        <a:rPr kumimoji="1" lang="en-US" altLang="ja-JP" sz="1400" b="0" u="none" dirty="0">
                          <a:solidFill>
                            <a:schemeClr val="tx1"/>
                          </a:solidFill>
                          <a:latin typeface="メイリオ" panose="020B0604030504040204" pitchFamily="50" charset="-128"/>
                          <a:ea typeface="メイリオ" panose="020B0604030504040204" pitchFamily="50" charset="-128"/>
                        </a:rPr>
                        <a:t>90</a:t>
                      </a:r>
                      <a:r>
                        <a:rPr kumimoji="1" lang="ja-JP" altLang="en-US" sz="1400" b="0" u="none" dirty="0">
                          <a:solidFill>
                            <a:schemeClr val="tx1"/>
                          </a:solidFill>
                          <a:latin typeface="メイリオ" panose="020B0604030504040204" pitchFamily="50" charset="-128"/>
                          <a:ea typeface="メイリオ" panose="020B0604030504040204" pitchFamily="50" charset="-128"/>
                        </a:rPr>
                        <a:t>％</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a:endParaRPr kumimoji="1" lang="ja-JP" altLang="en-US" sz="140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予算案の</a:t>
                      </a:r>
                      <a:r>
                        <a:rPr kumimoji="1" lang="en-US" altLang="ja-JP" sz="1400" b="0" u="none" dirty="0">
                          <a:solidFill>
                            <a:schemeClr val="tx1"/>
                          </a:solidFill>
                          <a:latin typeface="メイリオ" panose="020B0604030504040204" pitchFamily="50" charset="-128"/>
                          <a:ea typeface="メイリオ" panose="020B0604030504040204" pitchFamily="50" charset="-128"/>
                        </a:rPr>
                        <a:t>10</a:t>
                      </a:r>
                      <a:r>
                        <a:rPr kumimoji="1" lang="ja-JP" altLang="en-US" sz="1400" b="0" u="none" dirty="0">
                          <a:solidFill>
                            <a:schemeClr val="tx1"/>
                          </a:solidFill>
                          <a:latin typeface="メイリオ" panose="020B0604030504040204" pitchFamily="50" charset="-128"/>
                          <a:ea typeface="メイリオ" panose="020B0604030504040204" pitchFamily="50" charset="-128"/>
                        </a:rPr>
                        <a:t>％</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59681165"/>
                  </a:ext>
                </a:extLst>
              </a:tr>
              <a:tr h="553461">
                <a:tc gridSpan="2" vMerge="1">
                  <a:txBody>
                    <a:bodyPr/>
                    <a:lstStyle/>
                    <a:p>
                      <a:pPr algn="ctr"/>
                      <a:endParaRPr kumimoji="1" lang="ja-JP" altLang="en-US" sz="1400" b="0" dirty="0">
                        <a:solidFill>
                          <a:schemeClr val="tx1"/>
                        </a:solidFill>
                        <a:latin typeface="メイリオ" panose="020B0604030504040204" pitchFamily="50" charset="-128"/>
                        <a:ea typeface="メイリオ" panose="020B0604030504040204" pitchFamily="50" charset="-128"/>
                      </a:endParaRPr>
                    </a:p>
                  </a:txBody>
                  <a:tcPr anchor="ctr">
                    <a:lnL w="9525"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hMerge="1" vMerge="1">
                  <a:txBody>
                    <a:bodyPr/>
                    <a:lstStyle/>
                    <a:p>
                      <a:endParaRPr kumimoji="1" lang="ja-JP" altLang="en-US"/>
                    </a:p>
                  </a:txBody>
                  <a:tcPr/>
                </a:tc>
                <a:tc vMerge="1">
                  <a:txBody>
                    <a:bodyPr/>
                    <a:lstStyle/>
                    <a:p>
                      <a:pPr algn="ctr"/>
                      <a:r>
                        <a:rPr kumimoji="1" lang="ja-JP" altLang="en-US" sz="1400" b="0" dirty="0">
                          <a:solidFill>
                            <a:schemeClr val="tx1"/>
                          </a:solidFill>
                          <a:latin typeface="メイリオ" panose="020B0604030504040204" pitchFamily="50" charset="-128"/>
                          <a:ea typeface="メイリオ" panose="020B0604030504040204" pitchFamily="50" charset="-128"/>
                        </a:rPr>
                        <a:t>令和６年度予算額案</a:t>
                      </a: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基本配分枠</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a:t>
                      </a:r>
                      <a:r>
                        <a:rPr kumimoji="1" lang="en-US" altLang="ja-JP" sz="1400" b="0" u="none" dirty="0">
                          <a:solidFill>
                            <a:schemeClr val="tx1"/>
                          </a:solidFill>
                          <a:latin typeface="メイリオ" panose="020B0604030504040204" pitchFamily="50" charset="-128"/>
                          <a:ea typeface="メイリオ" panose="020B0604030504040204" pitchFamily="50" charset="-128"/>
                        </a:rPr>
                        <a:t>95</a:t>
                      </a:r>
                      <a:r>
                        <a:rPr kumimoji="1" lang="ja-JP" altLang="en-US" sz="1400" b="0" u="none" dirty="0">
                          <a:solidFill>
                            <a:schemeClr val="tx1"/>
                          </a:solidFill>
                          <a:latin typeface="メイリオ" panose="020B0604030504040204" pitchFamily="50" charset="-128"/>
                          <a:ea typeface="メイリオ" panose="020B0604030504040204" pitchFamily="50" charset="-128"/>
                        </a:rPr>
                        <a:t>％）</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追加配分枠</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a:t>
                      </a:r>
                      <a:r>
                        <a:rPr kumimoji="1" lang="en-US" altLang="ja-JP" sz="1400" b="0" u="none" dirty="0">
                          <a:solidFill>
                            <a:schemeClr val="tx1"/>
                          </a:solidFill>
                          <a:latin typeface="メイリオ" panose="020B0604030504040204" pitchFamily="50" charset="-128"/>
                          <a:ea typeface="メイリオ" panose="020B0604030504040204" pitchFamily="50" charset="-128"/>
                        </a:rPr>
                        <a:t>5</a:t>
                      </a:r>
                      <a:r>
                        <a:rPr kumimoji="1" lang="ja-JP" altLang="en-US" sz="1400" b="0" u="none" dirty="0">
                          <a:solidFill>
                            <a:schemeClr val="tx1"/>
                          </a:solidFill>
                          <a:latin typeface="メイリオ" panose="020B0604030504040204" pitchFamily="50" charset="-128"/>
                          <a:ea typeface="メイリオ" panose="020B0604030504040204" pitchFamily="50" charset="-128"/>
                        </a:rPr>
                        <a:t>％）</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激変緩和措置</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28481636"/>
                  </a:ext>
                </a:extLst>
              </a:tr>
              <a:tr h="553461">
                <a:tc rowSpan="2">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都道府県分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保険者機能強化</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推進交付金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500,000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427,500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22,500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50,000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0084726"/>
                  </a:ext>
                </a:extLst>
              </a:tr>
              <a:tr h="553461">
                <a:tc vMerge="1">
                  <a:txBody>
                    <a:bodyPr/>
                    <a:lstStyle/>
                    <a:p>
                      <a:endParaRPr kumimoji="1" lang="ja-JP" altLang="en-US"/>
                    </a:p>
                  </a:txBody>
                  <a:tcPr/>
                </a:tc>
                <a:tc>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介護保険保険者</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努力支援交付金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1,000,000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855,000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p>
                  </a:txBody>
                  <a:tcPr anchor="ct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45,000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100,000</a:t>
                      </a:r>
                      <a:r>
                        <a:rPr kumimoji="1" lang="ja-JP" altLang="en-US" sz="1400" b="0" u="none">
                          <a:solidFill>
                            <a:schemeClr val="tx1"/>
                          </a:solidFill>
                          <a:latin typeface="メイリオ" panose="020B0604030504040204" pitchFamily="50" charset="-128"/>
                          <a:ea typeface="メイリオ" panose="020B0604030504040204" pitchFamily="50" charset="-128"/>
                        </a:rPr>
                        <a:t>千円</a:t>
                      </a:r>
                      <a:endParaRPr kumimoji="1" lang="ja-JP" altLang="en-US" sz="14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2739901"/>
                  </a:ext>
                </a:extLst>
              </a:tr>
              <a:tr h="553461">
                <a:tc rowSpan="2">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市町村分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保険者機能強化</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推進交付金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9,500,000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8,122,500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427,500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950,000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37720911"/>
                  </a:ext>
                </a:extLst>
              </a:tr>
              <a:tr h="553461">
                <a:tc vMerge="1">
                  <a:txBody>
                    <a:bodyPr/>
                    <a:lstStyle/>
                    <a:p>
                      <a:endParaRPr kumimoji="1" lang="ja-JP" altLang="en-US"/>
                    </a:p>
                  </a:txBody>
                  <a:tcPr/>
                </a:tc>
                <a:tc>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介護保険保険者</a:t>
                      </a:r>
                      <a:endParaRPr kumimoji="1" lang="en-US" altLang="ja-JP" sz="1400" b="0" u="none" dirty="0">
                        <a:solidFill>
                          <a:schemeClr val="tx1"/>
                        </a:solidFill>
                        <a:latin typeface="メイリオ" panose="020B0604030504040204" pitchFamily="50" charset="-128"/>
                        <a:ea typeface="メイリオ" panose="020B0604030504040204" pitchFamily="50" charset="-128"/>
                      </a:endParaRPr>
                    </a:p>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努力支援交付金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19,000,000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16,245,000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p>
                  </a:txBody>
                  <a:tcPr anchor="ct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855,000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400" b="0" u="none" dirty="0">
                          <a:solidFill>
                            <a:schemeClr val="tx1"/>
                          </a:solidFill>
                          <a:latin typeface="メイリオ" panose="020B0604030504040204" pitchFamily="50" charset="-128"/>
                          <a:ea typeface="メイリオ" panose="020B0604030504040204" pitchFamily="50" charset="-128"/>
                        </a:rPr>
                        <a:t>1,900,000</a:t>
                      </a:r>
                      <a:r>
                        <a:rPr kumimoji="1" lang="ja-JP" altLang="en-US" sz="1400" b="0" u="none" dirty="0">
                          <a:solidFill>
                            <a:schemeClr val="tx1"/>
                          </a:solidFill>
                          <a:latin typeface="メイリオ" panose="020B0604030504040204" pitchFamily="50" charset="-128"/>
                          <a:ea typeface="メイリオ" panose="020B0604030504040204" pitchFamily="50" charset="-128"/>
                        </a:rPr>
                        <a:t>千円</a:t>
                      </a: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397494"/>
                  </a:ext>
                </a:extLst>
              </a:tr>
              <a:tr h="325565">
                <a:tc gridSpan="2">
                  <a:txBody>
                    <a:bodyPr/>
                    <a:lstStyle/>
                    <a:p>
                      <a:pPr algn="ctr"/>
                      <a:r>
                        <a:rPr kumimoji="1" lang="ja-JP" altLang="en-US" sz="1400" b="0" u="none" dirty="0">
                          <a:solidFill>
                            <a:schemeClr val="tx1"/>
                          </a:solidFill>
                          <a:latin typeface="メイリオ" panose="020B0604030504040204" pitchFamily="50" charset="-128"/>
                          <a:ea typeface="メイリオ" panose="020B0604030504040204" pitchFamily="50" charset="-128"/>
                        </a:rPr>
                        <a:t>合計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hMerge="1">
                  <a:txBody>
                    <a:bodyPr/>
                    <a:lstStyle/>
                    <a:p>
                      <a:pPr algn="ctr"/>
                      <a:endParaRPr kumimoji="1" lang="ja-JP" altLang="en-US" sz="14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1400" b="0" u="none" dirty="0">
                          <a:solidFill>
                            <a:schemeClr val="tx1"/>
                          </a:solidFill>
                          <a:latin typeface="メイリオ" panose="020B0604030504040204" pitchFamily="50" charset="-128"/>
                          <a:ea typeface="メイリオ" panose="020B0604030504040204" pitchFamily="50" charset="-128"/>
                        </a:rPr>
                        <a:t>300</a:t>
                      </a:r>
                      <a:r>
                        <a:rPr kumimoji="1" lang="ja-JP" altLang="en-US" sz="1400" b="0" u="none" dirty="0">
                          <a:solidFill>
                            <a:schemeClr val="tx1"/>
                          </a:solidFill>
                          <a:latin typeface="メイリオ" panose="020B0604030504040204" pitchFamily="50" charset="-128"/>
                          <a:ea typeface="メイリオ" panose="020B0604030504040204" pitchFamily="50" charset="-128"/>
                        </a:rPr>
                        <a:t>億円</a:t>
                      </a: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kumimoji="1" lang="en-US" altLang="ja-JP" sz="1400" b="0" u="none" dirty="0">
                          <a:solidFill>
                            <a:schemeClr val="tx1"/>
                          </a:solidFill>
                          <a:latin typeface="メイリオ" panose="020B0604030504040204" pitchFamily="50" charset="-128"/>
                          <a:ea typeface="メイリオ" panose="020B0604030504040204" pitchFamily="50" charset="-128"/>
                        </a:rPr>
                        <a:t>256.5</a:t>
                      </a:r>
                      <a:r>
                        <a:rPr kumimoji="1" lang="ja-JP" altLang="en-US" sz="1400" b="0" u="none" dirty="0">
                          <a:solidFill>
                            <a:schemeClr val="tx1"/>
                          </a:solidFill>
                          <a:latin typeface="メイリオ" panose="020B0604030504040204" pitchFamily="50" charset="-128"/>
                          <a:ea typeface="メイリオ" panose="020B0604030504040204" pitchFamily="50" charset="-128"/>
                        </a:rPr>
                        <a:t>億円</a:t>
                      </a:r>
                    </a:p>
                  </a:txBody>
                  <a:tcPr anchor="ctr">
                    <a:lnL w="381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FCC"/>
                    </a:solidFill>
                  </a:tcPr>
                </a:tc>
                <a:tc>
                  <a:txBody>
                    <a:bodyPr/>
                    <a:lstStyle/>
                    <a:p>
                      <a:pPr algn="ctr"/>
                      <a:r>
                        <a:rPr kumimoji="1" lang="en-US" altLang="ja-JP" sz="1400" b="0" u="none" dirty="0">
                          <a:solidFill>
                            <a:schemeClr val="tx1"/>
                          </a:solidFill>
                          <a:latin typeface="メイリオ" panose="020B0604030504040204" pitchFamily="50" charset="-128"/>
                          <a:ea typeface="メイリオ" panose="020B0604030504040204" pitchFamily="50" charset="-128"/>
                        </a:rPr>
                        <a:t>13.5</a:t>
                      </a:r>
                      <a:r>
                        <a:rPr kumimoji="1" lang="ja-JP" altLang="en-US" sz="1400" b="0" u="none" dirty="0">
                          <a:solidFill>
                            <a:schemeClr val="tx1"/>
                          </a:solidFill>
                          <a:latin typeface="メイリオ" panose="020B0604030504040204" pitchFamily="50" charset="-128"/>
                          <a:ea typeface="メイリオ" panose="020B0604030504040204" pitchFamily="50" charset="-128"/>
                        </a:rPr>
                        <a:t>億円</a:t>
                      </a:r>
                    </a:p>
                  </a:txBody>
                  <a:tcPr anchor="ctr">
                    <a:lnL w="12700" cap="flat" cmpd="sng" algn="ctr">
                      <a:solidFill>
                        <a:schemeClr val="tx1"/>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FCC"/>
                    </a:solidFill>
                  </a:tcPr>
                </a:tc>
                <a:tc>
                  <a:txBody>
                    <a:bodyPr/>
                    <a:lstStyle/>
                    <a:p>
                      <a:pPr algn="ctr"/>
                      <a:r>
                        <a:rPr kumimoji="1" lang="en-US" altLang="ja-JP" sz="1400" b="0" u="none" dirty="0">
                          <a:solidFill>
                            <a:schemeClr val="tx1"/>
                          </a:solidFill>
                          <a:latin typeface="メイリオ" panose="020B0604030504040204" pitchFamily="50" charset="-128"/>
                          <a:ea typeface="メイリオ" panose="020B0604030504040204" pitchFamily="50" charset="-128"/>
                        </a:rPr>
                        <a:t>30.0</a:t>
                      </a:r>
                      <a:r>
                        <a:rPr kumimoji="1" lang="ja-JP" altLang="en-US" sz="1400" b="0" u="none" dirty="0">
                          <a:solidFill>
                            <a:schemeClr val="tx1"/>
                          </a:solidFill>
                          <a:latin typeface="メイリオ" panose="020B0604030504040204" pitchFamily="50" charset="-128"/>
                          <a:ea typeface="メイリオ" panose="020B0604030504040204" pitchFamily="50" charset="-128"/>
                        </a:rPr>
                        <a:t>億円</a:t>
                      </a:r>
                    </a:p>
                  </a:txBody>
                  <a:tcPr anchor="ct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solidFill>
                      <a:srgbClr val="FFFFCC"/>
                    </a:solidFill>
                  </a:tcPr>
                </a:tc>
                <a:extLst>
                  <a:ext uri="{0D108BD9-81ED-4DB2-BD59-A6C34878D82A}">
                    <a16:rowId xmlns:a16="http://schemas.microsoft.com/office/drawing/2014/main" val="3240823386"/>
                  </a:ext>
                </a:extLst>
              </a:tr>
            </a:tbl>
          </a:graphicData>
        </a:graphic>
      </p:graphicFrame>
      <p:sp>
        <p:nvSpPr>
          <p:cNvPr id="8" name="スライド番号プレースホルダー 1">
            <a:extLst>
              <a:ext uri="{FF2B5EF4-FFF2-40B4-BE49-F238E27FC236}">
                <a16:creationId xmlns:a16="http://schemas.microsoft.com/office/drawing/2014/main" id="{B99DBC31-F1FD-F946-CB86-11DD60C2755D}"/>
              </a:ext>
            </a:extLst>
          </p:cNvPr>
          <p:cNvSpPr txBox="1">
            <a:spLocks/>
          </p:cNvSpPr>
          <p:nvPr/>
        </p:nvSpPr>
        <p:spPr>
          <a:xfrm>
            <a:off x="7344070" y="6608477"/>
            <a:ext cx="2268061" cy="358279"/>
          </a:xfrm>
          <a:prstGeom prst="rect">
            <a:avLst/>
          </a:prstGeom>
        </p:spPr>
        <p:txBody>
          <a:bodyPr vert="horz" lIns="89726" tIns="44863" rIns="89726" bIns="44863"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9E2A29CB-BA86-48A6-80E1-CB8750A963B5}" type="slidenum">
              <a:rPr lang="ja-JP" altLang="en-US" sz="1178" b="1">
                <a:solidFill>
                  <a:schemeClr val="tx1"/>
                </a:solidFill>
                <a:latin typeface="Meiryo UI" panose="020B0604030504040204" pitchFamily="50" charset="-128"/>
                <a:ea typeface="Meiryo UI" panose="020B0604030504040204" pitchFamily="50" charset="-128"/>
              </a:rPr>
              <a:pPr/>
              <a:t>35</a:t>
            </a:fld>
            <a:endParaRPr lang="ja-JP" altLang="en-US" sz="1178" b="1"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13420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直線コネクタ 129" hidden="1"/>
          <p:cNvCxnSpPr/>
          <p:nvPr/>
        </p:nvCxnSpPr>
        <p:spPr>
          <a:xfrm>
            <a:off x="1557139" y="5308365"/>
            <a:ext cx="0" cy="5895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8" name="直線コネクタ 127" hidden="1"/>
          <p:cNvCxnSpPr/>
          <p:nvPr/>
        </p:nvCxnSpPr>
        <p:spPr>
          <a:xfrm>
            <a:off x="1557139" y="5956916"/>
            <a:ext cx="0" cy="5895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6" name="直線コネクタ 125" hidden="1"/>
          <p:cNvCxnSpPr/>
          <p:nvPr/>
        </p:nvCxnSpPr>
        <p:spPr>
          <a:xfrm>
            <a:off x="1554064" y="5642471"/>
            <a:ext cx="0" cy="5895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7" name="直線コネクタ 106" hidden="1"/>
          <p:cNvCxnSpPr/>
          <p:nvPr/>
        </p:nvCxnSpPr>
        <p:spPr>
          <a:xfrm>
            <a:off x="5032937" y="5308365"/>
            <a:ext cx="0" cy="5895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hidden="1"/>
          <p:cNvCxnSpPr/>
          <p:nvPr/>
        </p:nvCxnSpPr>
        <p:spPr>
          <a:xfrm>
            <a:off x="5032938" y="5701422"/>
            <a:ext cx="0" cy="5895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hidden="1"/>
          <p:cNvCxnSpPr/>
          <p:nvPr/>
        </p:nvCxnSpPr>
        <p:spPr>
          <a:xfrm>
            <a:off x="5032937" y="7094104"/>
            <a:ext cx="0" cy="5895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46" name="Rectangle 19"/>
          <p:cNvSpPr>
            <a:spLocks noChangeArrowheads="1"/>
          </p:cNvSpPr>
          <p:nvPr/>
        </p:nvSpPr>
        <p:spPr bwMode="auto">
          <a:xfrm>
            <a:off x="0" y="-17244"/>
            <a:ext cx="9720262" cy="559684"/>
          </a:xfrm>
          <a:prstGeom prst="rect">
            <a:avLst/>
          </a:prstGeom>
          <a:pattFill prst="dkUpDiag">
            <a:fgClr>
              <a:srgbClr val="003579"/>
            </a:fgClr>
            <a:bgClr>
              <a:srgbClr val="004292"/>
            </a:bgClr>
          </a:pattFill>
          <a:ln w="12700" cap="flat" cmpd="sng" algn="ctr">
            <a:noFill/>
            <a:prstDash val="solid"/>
            <a:miter lim="800000"/>
          </a:ln>
          <a:effectLst/>
        </p:spPr>
        <p:txBody>
          <a:bodyPr lIns="360000" tIns="180000" rIns="326585" bIns="108000" rtlCol="0" anchor="ctr"/>
          <a:lstStyle/>
          <a:p>
            <a:pPr algn="ctr" defTabSz="457200"/>
            <a:r>
              <a:rPr lang="ja-JP" altLang="en-US" sz="1900" b="1" kern="0" dirty="0">
                <a:solidFill>
                  <a:srgbClr val="FFFFFF"/>
                </a:solidFill>
                <a:latin typeface="Meiryo" panose="020B0604030504040204" pitchFamily="34" charset="-128"/>
                <a:ea typeface="Meiryo" panose="020B0604030504040204" pitchFamily="34" charset="-128"/>
              </a:rPr>
              <a:t>保険者機能強化推進交付金等の配分方法の見直しについて（追加配分枠の</a:t>
            </a:r>
            <a:r>
              <a:rPr lang="ja-JP" altLang="en-US" sz="1900" b="1" kern="0">
                <a:solidFill>
                  <a:srgbClr val="FFFFFF"/>
                </a:solidFill>
                <a:latin typeface="Meiryo" panose="020B0604030504040204" pitchFamily="34" charset="-128"/>
                <a:ea typeface="Meiryo" panose="020B0604030504040204" pitchFamily="34" charset="-128"/>
              </a:rPr>
              <a:t>創設）</a:t>
            </a:r>
            <a:endParaRPr lang="en-US" altLang="ja-JP" sz="1900" b="1" kern="0" dirty="0">
              <a:solidFill>
                <a:srgbClr val="FFFFFF"/>
              </a:solidFill>
              <a:latin typeface="Meiryo" panose="020B0604030504040204" pitchFamily="34" charset="-128"/>
              <a:ea typeface="Meiryo" panose="020B0604030504040204" pitchFamily="34" charset="-128"/>
            </a:endParaRPr>
          </a:p>
        </p:txBody>
      </p:sp>
      <p:sp>
        <p:nvSpPr>
          <p:cNvPr id="11" name="スライド番号プレースホルダー 1">
            <a:extLst>
              <a:ext uri="{FF2B5EF4-FFF2-40B4-BE49-F238E27FC236}">
                <a16:creationId xmlns:a16="http://schemas.microsoft.com/office/drawing/2014/main" id="{B1D75BC6-759E-4470-A942-9108462D9C37}"/>
              </a:ext>
            </a:extLst>
          </p:cNvPr>
          <p:cNvSpPr>
            <a:spLocks noGrp="1"/>
          </p:cNvSpPr>
          <p:nvPr>
            <p:ph type="sldNum" sz="quarter" idx="12"/>
          </p:nvPr>
        </p:nvSpPr>
        <p:spPr>
          <a:xfrm>
            <a:off x="7527848" y="6623216"/>
            <a:ext cx="2084283" cy="343540"/>
          </a:xfrm>
        </p:spPr>
        <p:txBody>
          <a:bodyPr vert="horz" lIns="89726" tIns="44863" rIns="89726" bIns="44863" rtlCol="0" anchor="ctr"/>
          <a:lstStyle/>
          <a:p>
            <a:pPr defTabSz="914400"/>
            <a:fld id="{9E2A29CB-BA86-48A6-80E1-CB8750A963B5}" type="slidenum">
              <a:rPr lang="ja-JP" altLang="en-US" sz="1178" b="1">
                <a:latin typeface="Meiryo UI" panose="020B0604030504040204" pitchFamily="50" charset="-128"/>
                <a:ea typeface="Meiryo UI" panose="020B0604030504040204" pitchFamily="50" charset="-128"/>
              </a:rPr>
              <a:pPr defTabSz="914400"/>
              <a:t>36</a:t>
            </a:fld>
            <a:endParaRPr lang="ja-JP" altLang="en-US" sz="1178" b="1"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C2A7D0F4-3394-09FF-A195-D0BC65E4F10D}"/>
              </a:ext>
            </a:extLst>
          </p:cNvPr>
          <p:cNvSpPr/>
          <p:nvPr/>
        </p:nvSpPr>
        <p:spPr>
          <a:xfrm>
            <a:off x="196713" y="702756"/>
            <a:ext cx="9362165" cy="117742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932" indent="-171932"/>
            <a:r>
              <a:rPr lang="ja-JP" altLang="en-US" sz="1374" dirty="0">
                <a:solidFill>
                  <a:schemeClr val="tx1"/>
                </a:solidFill>
                <a:latin typeface="メイリオ" panose="020B0604030504040204" pitchFamily="50" charset="-128"/>
                <a:ea typeface="メイリオ" panose="020B0604030504040204" pitchFamily="50" charset="-128"/>
              </a:rPr>
              <a:t>○　令和６年度以降の保険者機能強化推進交付金等の配分に当たっては、令和４年度秋の行政事業レビューの指摘等を踏まえ、評価得点及び第一号被保険者数に応じて配分を行う「基本配分枠」に加え、成果を出している自治体に対する交付額のメリハリ付けを強化する観点から、これとは別に</a:t>
            </a:r>
            <a:r>
              <a:rPr lang="ja-JP" altLang="en-US" sz="1374" b="1" u="sng" dirty="0">
                <a:solidFill>
                  <a:schemeClr val="tx2">
                    <a:lumMod val="60000"/>
                    <a:lumOff val="40000"/>
                  </a:schemeClr>
                </a:solidFill>
                <a:latin typeface="メイリオ" panose="020B0604030504040204" pitchFamily="50" charset="-128"/>
                <a:ea typeface="メイリオ" panose="020B0604030504040204" pitchFamily="50" charset="-128"/>
              </a:rPr>
              <a:t>「アウトカム指標配分枠」</a:t>
            </a:r>
            <a:r>
              <a:rPr lang="ja-JP" altLang="en-US" sz="1374" dirty="0">
                <a:solidFill>
                  <a:schemeClr val="tx1"/>
                </a:solidFill>
                <a:latin typeface="メイリオ" panose="020B0604030504040204" pitchFamily="50" charset="-128"/>
                <a:ea typeface="メイリオ" panose="020B0604030504040204" pitchFamily="50" charset="-128"/>
              </a:rPr>
              <a:t>及び</a:t>
            </a:r>
            <a:r>
              <a:rPr lang="ja-JP" altLang="en-US" sz="1374" b="1" u="sng" dirty="0">
                <a:solidFill>
                  <a:schemeClr val="tx2">
                    <a:lumMod val="60000"/>
                    <a:lumOff val="40000"/>
                  </a:schemeClr>
                </a:solidFill>
                <a:latin typeface="メイリオ" panose="020B0604030504040204" pitchFamily="50" charset="-128"/>
                <a:ea typeface="メイリオ" panose="020B0604030504040204" pitchFamily="50" charset="-128"/>
              </a:rPr>
              <a:t>「保険者機能強化推進枠」</a:t>
            </a:r>
            <a:r>
              <a:rPr lang="ja-JP" altLang="en-US" sz="1374" dirty="0">
                <a:solidFill>
                  <a:schemeClr val="tx1"/>
                </a:solidFill>
                <a:latin typeface="メイリオ" panose="020B0604030504040204" pitchFamily="50" charset="-128"/>
                <a:ea typeface="メイリオ" panose="020B0604030504040204" pitchFamily="50" charset="-128"/>
              </a:rPr>
              <a:t>を設けることとしている。</a:t>
            </a:r>
            <a:endParaRPr lang="en-US" altLang="ja-JP" sz="1374" dirty="0">
              <a:solidFill>
                <a:schemeClr val="tx1"/>
              </a:solidFill>
              <a:latin typeface="メイリオ" panose="020B0604030504040204" pitchFamily="50" charset="-128"/>
              <a:ea typeface="メイリオ" panose="020B0604030504040204" pitchFamily="50" charset="-128"/>
            </a:endParaRPr>
          </a:p>
          <a:p>
            <a:pPr marL="171932" indent="-171932"/>
            <a:r>
              <a:rPr lang="ja-JP" altLang="en-US" sz="1374" dirty="0">
                <a:solidFill>
                  <a:schemeClr val="tx1"/>
                </a:solidFill>
                <a:latin typeface="メイリオ" panose="020B0604030504040204" pitchFamily="50" charset="-128"/>
                <a:ea typeface="メイリオ" panose="020B0604030504040204" pitchFamily="50" charset="-128"/>
              </a:rPr>
              <a:t>○　これら追加配分枠については、具体的には次のような方法で行う。</a:t>
            </a:r>
            <a:endParaRPr lang="en-US" altLang="ja-JP" sz="1374" dirty="0">
              <a:solidFill>
                <a:schemeClr val="tx1"/>
              </a:solidFill>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D13C0450-DFDA-D03D-22C9-5A36B204A159}"/>
              </a:ext>
            </a:extLst>
          </p:cNvPr>
          <p:cNvSpPr txBox="1"/>
          <p:nvPr/>
        </p:nvSpPr>
        <p:spPr>
          <a:xfrm>
            <a:off x="126055" y="1926756"/>
            <a:ext cx="9503890" cy="1104277"/>
          </a:xfrm>
          <a:prstGeom prst="rect">
            <a:avLst/>
          </a:prstGeom>
          <a:noFill/>
        </p:spPr>
        <p:txBody>
          <a:bodyPr wrap="square" rtlCol="0">
            <a:spAutoFit/>
          </a:bodyPr>
          <a:lstStyle/>
          <a:p>
            <a:r>
              <a:rPr lang="ja-JP" altLang="en-US" sz="1374" u="sng" dirty="0">
                <a:solidFill>
                  <a:schemeClr val="tx2">
                    <a:lumMod val="60000"/>
                    <a:lumOff val="40000"/>
                  </a:schemeClr>
                </a:solidFill>
                <a:latin typeface="ＤＦ特太ゴシック体" panose="020B0509000000000000" pitchFamily="49" charset="-128"/>
                <a:ea typeface="ＤＦ特太ゴシック体" panose="020B0509000000000000" pitchFamily="49" charset="-128"/>
              </a:rPr>
              <a:t>１．配分枠に係る予算配分について</a:t>
            </a:r>
            <a:endParaRPr lang="en-US" altLang="ja-JP" sz="1374" u="sng" dirty="0">
              <a:solidFill>
                <a:schemeClr val="tx2">
                  <a:lumMod val="60000"/>
                  <a:lumOff val="40000"/>
                </a:schemeClr>
              </a:solidFill>
              <a:latin typeface="ＤＦ特太ゴシック体" panose="020B0509000000000000" pitchFamily="49" charset="-128"/>
              <a:ea typeface="ＤＦ特太ゴシック体" panose="020B0509000000000000" pitchFamily="49" charset="-128"/>
            </a:endParaRPr>
          </a:p>
          <a:p>
            <a:pPr marL="177591" indent="-177591"/>
            <a:r>
              <a:rPr lang="ja-JP" altLang="en-US" sz="1374" dirty="0"/>
              <a:t>　　　</a:t>
            </a:r>
            <a:r>
              <a:rPr lang="ja-JP" altLang="en-US" sz="1276" dirty="0"/>
              <a:t>「</a:t>
            </a:r>
            <a:r>
              <a:rPr lang="ja-JP" altLang="en-US" sz="1276" dirty="0">
                <a:latin typeface="メイリオ" panose="020B0604030504040204" pitchFamily="50" charset="-128"/>
                <a:ea typeface="メイリオ" panose="020B0604030504040204" pitchFamily="50" charset="-128"/>
              </a:rPr>
              <a:t>アウトカム配分枠」及び「保険者機能強化推進枠」について、各自治体から、少なくとも令和６年度においては、</a:t>
            </a:r>
            <a:r>
              <a:rPr lang="ja-JP" altLang="en-US" sz="1276" dirty="0">
                <a:solidFill>
                  <a:srgbClr val="FF0000"/>
                </a:solidFill>
                <a:latin typeface="メイリオ" panose="020B0604030504040204" pitchFamily="50" charset="-128"/>
                <a:ea typeface="メイリオ" panose="020B0604030504040204" pitchFamily="50" charset="-128"/>
              </a:rPr>
              <a:t>指標の見直しにより順位の大幅な変動の可能性があり、初年度は経過措置を望む声がある</a:t>
            </a:r>
            <a:r>
              <a:rPr lang="ja-JP" altLang="en-US" sz="1276" dirty="0">
                <a:latin typeface="メイリオ" panose="020B0604030504040204" pitchFamily="50" charset="-128"/>
                <a:ea typeface="メイリオ" panose="020B0604030504040204" pitchFamily="50" charset="-128"/>
              </a:rPr>
              <a:t>とともに、</a:t>
            </a:r>
            <a:r>
              <a:rPr lang="ja-JP" altLang="en-US" sz="1276" dirty="0">
                <a:solidFill>
                  <a:srgbClr val="FF0000"/>
                </a:solidFill>
                <a:latin typeface="メイリオ" panose="020B0604030504040204" pitchFamily="50" charset="-128"/>
                <a:ea typeface="メイリオ" panose="020B0604030504040204" pitchFamily="50" charset="-128"/>
              </a:rPr>
              <a:t>推進交付金が</a:t>
            </a:r>
            <a:r>
              <a:rPr lang="en-US" altLang="ja-JP" sz="1276" dirty="0">
                <a:solidFill>
                  <a:srgbClr val="FF0000"/>
                </a:solidFill>
                <a:latin typeface="メイリオ" panose="020B0604030504040204" pitchFamily="50" charset="-128"/>
                <a:ea typeface="メイリオ" panose="020B0604030504040204" pitchFamily="50" charset="-128"/>
              </a:rPr>
              <a:t>50</a:t>
            </a:r>
            <a:r>
              <a:rPr lang="ja-JP" altLang="en-US" sz="1276" dirty="0">
                <a:solidFill>
                  <a:srgbClr val="FF0000"/>
                </a:solidFill>
                <a:latin typeface="メイリオ" panose="020B0604030504040204" pitchFamily="50" charset="-128"/>
                <a:ea typeface="メイリオ" panose="020B0604030504040204" pitchFamily="50" charset="-128"/>
              </a:rPr>
              <a:t>億円削減される</a:t>
            </a:r>
            <a:r>
              <a:rPr lang="ja-JP" altLang="en-US" sz="1276" dirty="0">
                <a:latin typeface="メイリオ" panose="020B0604030504040204" pitchFamily="50" charset="-128"/>
                <a:ea typeface="メイリオ" panose="020B0604030504040204" pitchFamily="50" charset="-128"/>
              </a:rPr>
              <a:t>ことから、各自治体に対する交付額に過度に大幅な増減が生じることのないよう、予算額の大宗（</a:t>
            </a:r>
            <a:r>
              <a:rPr lang="en-US" altLang="ja-JP" sz="1276" dirty="0">
                <a:latin typeface="メイリオ" panose="020B0604030504040204" pitchFamily="50" charset="-128"/>
                <a:ea typeface="メイリオ" panose="020B0604030504040204" pitchFamily="50" charset="-128"/>
              </a:rPr>
              <a:t>95</a:t>
            </a:r>
            <a:r>
              <a:rPr lang="ja-JP" altLang="en-US" sz="1276" dirty="0">
                <a:latin typeface="メイリオ" panose="020B0604030504040204" pitchFamily="50" charset="-128"/>
                <a:ea typeface="メイリオ" panose="020B0604030504040204" pitchFamily="50" charset="-128"/>
              </a:rPr>
              <a:t>％）は基本配分枠として措置することとし、</a:t>
            </a:r>
            <a:r>
              <a:rPr lang="en-US" altLang="ja-JP" sz="1276" dirty="0">
                <a:latin typeface="メイリオ" panose="020B0604030504040204" pitchFamily="50" charset="-128"/>
                <a:ea typeface="メイリオ" panose="020B0604030504040204" pitchFamily="50" charset="-128"/>
              </a:rPr>
              <a:t>5</a:t>
            </a:r>
            <a:r>
              <a:rPr lang="ja-JP" altLang="en-US" sz="1276" dirty="0">
                <a:latin typeface="メイリオ" panose="020B0604030504040204" pitchFamily="50" charset="-128"/>
                <a:ea typeface="メイリオ" panose="020B0604030504040204" pitchFamily="50" charset="-128"/>
              </a:rPr>
              <a:t>％を追加配分枠とする。</a:t>
            </a:r>
            <a:endParaRPr lang="en-US" altLang="ja-JP" sz="1276" dirty="0">
              <a:latin typeface="メイリオ" panose="020B0604030504040204" pitchFamily="50" charset="-128"/>
              <a:ea typeface="メイリオ" panose="020B0604030504040204" pitchFamily="50" charset="-128"/>
            </a:endParaRPr>
          </a:p>
        </p:txBody>
      </p:sp>
      <p:graphicFrame>
        <p:nvGraphicFramePr>
          <p:cNvPr id="5" name="表 4">
            <a:extLst>
              <a:ext uri="{FF2B5EF4-FFF2-40B4-BE49-F238E27FC236}">
                <a16:creationId xmlns:a16="http://schemas.microsoft.com/office/drawing/2014/main" id="{5E82E701-3E68-F005-9518-B10DDFA6646B}"/>
              </a:ext>
            </a:extLst>
          </p:cNvPr>
          <p:cNvGraphicFramePr>
            <a:graphicFrameLocks noGrp="1"/>
          </p:cNvGraphicFramePr>
          <p:nvPr>
            <p:extLst>
              <p:ext uri="{D42A27DB-BD31-4B8C-83A1-F6EECF244321}">
                <p14:modId xmlns:p14="http://schemas.microsoft.com/office/powerpoint/2010/main" val="1839809556"/>
              </p:ext>
            </p:extLst>
          </p:nvPr>
        </p:nvGraphicFramePr>
        <p:xfrm>
          <a:off x="408686" y="3006756"/>
          <a:ext cx="9150191" cy="1228611"/>
        </p:xfrm>
        <a:graphic>
          <a:graphicData uri="http://schemas.openxmlformats.org/drawingml/2006/table">
            <a:tbl>
              <a:tblPr>
                <a:tableStyleId>{5C22544A-7EE6-4342-B048-85BDC9FD1C3A}</a:tableStyleId>
              </a:tblPr>
              <a:tblGrid>
                <a:gridCol w="1243010">
                  <a:extLst>
                    <a:ext uri="{9D8B030D-6E8A-4147-A177-3AD203B41FA5}">
                      <a16:colId xmlns:a16="http://schemas.microsoft.com/office/drawing/2014/main" val="621584830"/>
                    </a:ext>
                  </a:extLst>
                </a:gridCol>
                <a:gridCol w="968227">
                  <a:extLst>
                    <a:ext uri="{9D8B030D-6E8A-4147-A177-3AD203B41FA5}">
                      <a16:colId xmlns:a16="http://schemas.microsoft.com/office/drawing/2014/main" val="3138479442"/>
                    </a:ext>
                  </a:extLst>
                </a:gridCol>
                <a:gridCol w="403427">
                  <a:extLst>
                    <a:ext uri="{9D8B030D-6E8A-4147-A177-3AD203B41FA5}">
                      <a16:colId xmlns:a16="http://schemas.microsoft.com/office/drawing/2014/main" val="2706768417"/>
                    </a:ext>
                  </a:extLst>
                </a:gridCol>
                <a:gridCol w="1069682">
                  <a:extLst>
                    <a:ext uri="{9D8B030D-6E8A-4147-A177-3AD203B41FA5}">
                      <a16:colId xmlns:a16="http://schemas.microsoft.com/office/drawing/2014/main" val="456803372"/>
                    </a:ext>
                  </a:extLst>
                </a:gridCol>
                <a:gridCol w="865452">
                  <a:extLst>
                    <a:ext uri="{9D8B030D-6E8A-4147-A177-3AD203B41FA5}">
                      <a16:colId xmlns:a16="http://schemas.microsoft.com/office/drawing/2014/main" val="444263147"/>
                    </a:ext>
                  </a:extLst>
                </a:gridCol>
                <a:gridCol w="445089">
                  <a:extLst>
                    <a:ext uri="{9D8B030D-6E8A-4147-A177-3AD203B41FA5}">
                      <a16:colId xmlns:a16="http://schemas.microsoft.com/office/drawing/2014/main" val="1573703873"/>
                    </a:ext>
                  </a:extLst>
                </a:gridCol>
                <a:gridCol w="1048912">
                  <a:extLst>
                    <a:ext uri="{9D8B030D-6E8A-4147-A177-3AD203B41FA5}">
                      <a16:colId xmlns:a16="http://schemas.microsoft.com/office/drawing/2014/main" val="2746689465"/>
                    </a:ext>
                  </a:extLst>
                </a:gridCol>
                <a:gridCol w="443770">
                  <a:extLst>
                    <a:ext uri="{9D8B030D-6E8A-4147-A177-3AD203B41FA5}">
                      <a16:colId xmlns:a16="http://schemas.microsoft.com/office/drawing/2014/main" val="3575722481"/>
                    </a:ext>
                  </a:extLst>
                </a:gridCol>
                <a:gridCol w="1166161">
                  <a:extLst>
                    <a:ext uri="{9D8B030D-6E8A-4147-A177-3AD203B41FA5}">
                      <a16:colId xmlns:a16="http://schemas.microsoft.com/office/drawing/2014/main" val="2640936163"/>
                    </a:ext>
                  </a:extLst>
                </a:gridCol>
                <a:gridCol w="1496461">
                  <a:extLst>
                    <a:ext uri="{9D8B030D-6E8A-4147-A177-3AD203B41FA5}">
                      <a16:colId xmlns:a16="http://schemas.microsoft.com/office/drawing/2014/main" val="1376595285"/>
                    </a:ext>
                  </a:extLst>
                </a:gridCol>
              </a:tblGrid>
              <a:tr h="204047">
                <a:tc rowSpan="3">
                  <a:txBody>
                    <a:bodyPr/>
                    <a:lstStyle/>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　</a:t>
                      </a:r>
                    </a:p>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　</a:t>
                      </a:r>
                    </a:p>
                  </a:txBody>
                  <a:tcPr marL="6496" marR="6496" marT="649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gridSpan="3">
                  <a:txBody>
                    <a:bodyPr/>
                    <a:lstStyle/>
                    <a:p>
                      <a:pPr algn="ctr" fontAlgn="ctr">
                        <a:lnSpc>
                          <a:spcPct val="100000"/>
                        </a:lnSpc>
                      </a:pPr>
                      <a:r>
                        <a:rPr lang="ja-JP" altLang="en-US" sz="1000" u="none" strike="noStrike" dirty="0">
                          <a:effectLst/>
                          <a:latin typeface="メイリオ" panose="020B0604030504040204" pitchFamily="50" charset="-128"/>
                          <a:ea typeface="メイリオ" panose="020B0604030504040204" pitchFamily="50" charset="-128"/>
                        </a:rPr>
                        <a:t>都道府県分</a:t>
                      </a: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496" marR="6496" marT="649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kumimoji="1" lang="ja-JP" altLang="en-US"/>
                    </a:p>
                  </a:txBody>
                  <a:tcPr/>
                </a:tc>
                <a:tc hMerge="1">
                  <a:txBody>
                    <a:bodyPr/>
                    <a:lstStyle/>
                    <a:p>
                      <a:endParaRPr kumimoji="1" lang="ja-JP" altLang="en-US"/>
                    </a:p>
                  </a:txBody>
                  <a:tcPr/>
                </a:tc>
                <a:tc gridSpan="5">
                  <a:txBody>
                    <a:bodyPr/>
                    <a:lstStyle/>
                    <a:p>
                      <a:pPr algn="ctr" fontAlgn="ctr">
                        <a:lnSpc>
                          <a:spcPct val="100000"/>
                        </a:lnSpc>
                      </a:pPr>
                      <a:r>
                        <a:rPr lang="ja-JP" altLang="en-US" sz="1000" u="none" strike="noStrike" dirty="0">
                          <a:effectLst/>
                          <a:latin typeface="メイリオ" panose="020B0604030504040204" pitchFamily="50" charset="-128"/>
                          <a:ea typeface="メイリオ" panose="020B0604030504040204" pitchFamily="50" charset="-128"/>
                        </a:rPr>
                        <a:t>市町村分</a:t>
                      </a: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496" marR="6496" marT="649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rowSpan="3">
                  <a:txBody>
                    <a:bodyPr/>
                    <a:lstStyle/>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追加配分枠合計</a:t>
                      </a:r>
                    </a:p>
                  </a:txBody>
                  <a:tcPr marL="6496" marR="6496" marT="649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93875480"/>
                  </a:ext>
                </a:extLst>
              </a:tr>
              <a:tr h="204047">
                <a:tc vMerge="1">
                  <a:txBody>
                    <a:bodyPr/>
                    <a:lstStyle/>
                    <a:p>
                      <a:pPr algn="ctr" fontAlgn="ctr"/>
                      <a:r>
                        <a:rPr lang="ja-JP" altLang="en-US" sz="1000" u="none" strike="noStrike" dirty="0">
                          <a:effectLst/>
                        </a:rPr>
                        <a:t>　</a:t>
                      </a:r>
                      <a:endPar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620" marR="6620" marT="6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　予算額</a:t>
                      </a: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a:t>
                      </a:r>
                      <a:endPar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endParaRPr>
                    </a:p>
                  </a:txBody>
                  <a:tcPr marL="6496" marR="6496" marT="6496"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gridSpan="2">
                  <a:txBody>
                    <a:bodyPr/>
                    <a:lstStyle/>
                    <a:p>
                      <a:pPr marL="0" algn="ctr" defTabSz="842697" rtl="0" eaLnBrk="1" fontAlgn="ctr" latinLnBrk="0" hangingPunct="1">
                        <a:lnSpc>
                          <a:spcPct val="100000"/>
                        </a:lnSpc>
                      </a:pPr>
                      <a:endPar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endParaRPr>
                    </a:p>
                  </a:txBody>
                  <a:tcPr marL="6496" marR="6496" marT="6496"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kumimoji="1" lang="ja-JP" altLang="en-US"/>
                    </a:p>
                  </a:txBody>
                  <a:tcPr/>
                </a:tc>
                <a:tc rowSpan="2">
                  <a:txBody>
                    <a:bodyPr/>
                    <a:lstStyle/>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　予算額</a:t>
                      </a: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a:t>
                      </a:r>
                    </a:p>
                  </a:txBody>
                  <a:tcPr marL="6496" marR="6496" marT="6496"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gridSpan="4">
                  <a:txBody>
                    <a:bodyPr/>
                    <a:lstStyle/>
                    <a:p>
                      <a:pPr marL="0" algn="ctr" defTabSz="842697" rtl="0" eaLnBrk="1" fontAlgn="ctr" latinLnBrk="0" hangingPunct="1">
                        <a:lnSpc>
                          <a:spcPct val="100000"/>
                        </a:lnSpc>
                      </a:pPr>
                      <a:endPar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endParaRPr>
                    </a:p>
                  </a:txBody>
                  <a:tcPr marL="6496" marR="6496" marT="6496"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kumimoji="1" lang="ja-JP" altLang="en-US"/>
                    </a:p>
                  </a:txBody>
                  <a:tcPr/>
                </a:tc>
                <a:tc hMerge="1">
                  <a:txBody>
                    <a:bodyPr/>
                    <a:lstStyle/>
                    <a:p>
                      <a:pPr algn="ctr" fontAlgn="ct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620" marR="6620" marT="6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kumimoji="1" lang="ja-JP" altLang="en-US"/>
                    </a:p>
                  </a:txBody>
                  <a:tcPr/>
                </a:tc>
                <a:tc vMerge="1">
                  <a:txBody>
                    <a:bodyPr/>
                    <a:lstStyle/>
                    <a:p>
                      <a:pPr algn="ctr" fontAlgn="ctr"/>
                      <a:endPar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620" marR="6620" marT="6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844386"/>
                  </a:ext>
                </a:extLst>
              </a:tr>
              <a:tr h="204047">
                <a:tc vMerge="1">
                  <a:txBody>
                    <a:bodyPr/>
                    <a:lstStyle/>
                    <a:p>
                      <a:endParaRPr kumimoji="1" lang="ja-JP" altLang="en-US"/>
                    </a:p>
                  </a:txBody>
                  <a:tcPr/>
                </a:tc>
                <a:tc vMerge="1">
                  <a:txBody>
                    <a:bodyPr/>
                    <a:lstStyle/>
                    <a:p>
                      <a:endParaRPr kumimoji="1" lang="ja-JP" altLang="en-US"/>
                    </a:p>
                  </a:txBody>
                  <a:tcPr/>
                </a:tc>
                <a:tc gridSpan="2">
                  <a:txBody>
                    <a:bodyPr/>
                    <a:lstStyle/>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うちアウトカム配分枠</a:t>
                      </a:r>
                    </a:p>
                  </a:txBody>
                  <a:tcPr marL="6496" marR="6496" marT="649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kumimoji="1" lang="ja-JP" altLang="en-US"/>
                    </a:p>
                  </a:txBody>
                  <a:tcPr/>
                </a:tc>
                <a:tc vMerge="1">
                  <a:txBody>
                    <a:bodyPr/>
                    <a:lstStyle/>
                    <a:p>
                      <a:pPr algn="ctr" fontAlgn="ctr"/>
                      <a:endParaRPr lang="en-US" altLang="ja-JP" sz="1000" u="none" strike="noStrike" dirty="0">
                        <a:effectLst/>
                        <a:latin typeface="メイリオ" panose="020B0604030504040204" pitchFamily="50" charset="-128"/>
                        <a:ea typeface="メイリオ" panose="020B0604030504040204" pitchFamily="50" charset="-128"/>
                      </a:endParaRPr>
                    </a:p>
                  </a:txBody>
                  <a:tcPr marL="6620" marR="6620" marT="6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gridSpan="2">
                  <a:txBody>
                    <a:bodyPr/>
                    <a:lstStyle/>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うちアウトカム配分枠</a:t>
                      </a:r>
                    </a:p>
                  </a:txBody>
                  <a:tcPr marL="6496" marR="6496" marT="649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kumimoji="1" lang="ja-JP" altLang="en-US"/>
                    </a:p>
                  </a:txBody>
                  <a:tcPr/>
                </a:tc>
                <a:tc gridSpan="2">
                  <a:txBody>
                    <a:bodyPr/>
                    <a:lstStyle/>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うち保険者機能強化推進枠</a:t>
                      </a:r>
                    </a:p>
                  </a:txBody>
                  <a:tcPr marL="6496" marR="6496" marT="649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919694794"/>
                  </a:ext>
                </a:extLst>
              </a:tr>
              <a:tr h="205490">
                <a:tc>
                  <a:txBody>
                    <a:bodyPr/>
                    <a:lstStyle/>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推進交付金</a:t>
                      </a:r>
                    </a:p>
                  </a:txBody>
                  <a:tcPr marL="6496" marR="6496" marT="649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427,500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a:solidFill>
                            <a:schemeClr val="dk1"/>
                          </a:solidFill>
                          <a:effectLst/>
                          <a:latin typeface="メイリオ" panose="020B0604030504040204" pitchFamily="50" charset="-128"/>
                          <a:ea typeface="メイリオ" panose="020B0604030504040204" pitchFamily="50" charset="-128"/>
                          <a:cs typeface="+mn-cs"/>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22,500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8,122,500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a:solidFill>
                            <a:schemeClr val="dk1"/>
                          </a:solidFill>
                          <a:effectLst/>
                          <a:latin typeface="メイリオ" panose="020B0604030504040204" pitchFamily="50" charset="-128"/>
                          <a:ea typeface="メイリオ" panose="020B0604030504040204" pitchFamily="50" charset="-128"/>
                          <a:cs typeface="+mn-cs"/>
                        </a:rPr>
                        <a:t>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213,750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a:solidFill>
                            <a:schemeClr val="dk1"/>
                          </a:solidFill>
                          <a:effectLst/>
                          <a:latin typeface="メイリオ" panose="020B0604030504040204" pitchFamily="50" charset="-128"/>
                          <a:ea typeface="メイリオ" panose="020B0604030504040204" pitchFamily="50" charset="-128"/>
                          <a:cs typeface="+mn-cs"/>
                        </a:rPr>
                        <a:t>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213,750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450,000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08158996"/>
                  </a:ext>
                </a:extLst>
              </a:tr>
              <a:tr h="205490">
                <a:tc>
                  <a:txBody>
                    <a:bodyPr/>
                    <a:lstStyle/>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努力支援交付金</a:t>
                      </a:r>
                    </a:p>
                  </a:txBody>
                  <a:tcPr marL="6496" marR="6496" marT="649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855,000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45,000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16,245,000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427,500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a:solidFill>
                            <a:schemeClr val="dk1"/>
                          </a:solidFill>
                          <a:effectLst/>
                          <a:latin typeface="メイリオ" panose="020B0604030504040204" pitchFamily="50" charset="-128"/>
                          <a:ea typeface="メイリオ" panose="020B0604030504040204" pitchFamily="50" charset="-128"/>
                          <a:cs typeface="+mn-cs"/>
                        </a:rPr>
                        <a:t>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427,500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900,000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6066562"/>
                  </a:ext>
                </a:extLst>
              </a:tr>
              <a:tr h="205490">
                <a:tc>
                  <a:txBody>
                    <a:bodyPr/>
                    <a:lstStyle/>
                    <a:p>
                      <a:pPr marL="0" algn="ct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合計</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1,282,500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algn="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BlToTr w="12700" cap="flat" cmpd="sng" algn="ctr">
                      <a:solidFill>
                        <a:schemeClr val="tx1"/>
                      </a:solidFill>
                      <a:prstDash val="solid"/>
                      <a:round/>
                      <a:headEnd type="none" w="med" len="med"/>
                      <a:tailEnd type="none" w="med" len="med"/>
                    </a:lnBlToTr>
                    <a:solidFill>
                      <a:schemeClr val="accent1">
                        <a:lumMod val="60000"/>
                        <a:lumOff val="40000"/>
                      </a:schemeClr>
                    </a:solid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67,500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24,367,500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algn="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BlToTr w="12700" cap="flat" cmpd="sng" algn="ctr">
                      <a:solidFill>
                        <a:schemeClr val="tx1"/>
                      </a:solidFill>
                      <a:prstDash val="solid"/>
                      <a:round/>
                      <a:headEnd type="none" w="med" len="med"/>
                      <a:tailEnd type="none" w="med" len="med"/>
                    </a:lnBlToTr>
                    <a:solidFill>
                      <a:schemeClr val="accent1">
                        <a:lumMod val="60000"/>
                        <a:lumOff val="40000"/>
                      </a:schemeClr>
                    </a:solid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641,250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algn="r" defTabSz="842697" rtl="0" eaLnBrk="1" fontAlgn="ctr" latinLnBrk="0" hangingPunct="1">
                        <a:lnSpc>
                          <a:spcPct val="100000"/>
                        </a:lnSpc>
                      </a:pPr>
                      <a:r>
                        <a:rPr kumimoji="1" lang="ja-JP" altLang="en-US" sz="1000" u="none" strike="noStrike" kern="1200" dirty="0">
                          <a:solidFill>
                            <a:schemeClr val="dk1"/>
                          </a:solidFill>
                          <a:effectLst/>
                          <a:latin typeface="メイリオ" panose="020B0604030504040204" pitchFamily="50" charset="-128"/>
                          <a:ea typeface="メイリオ" panose="020B0604030504040204" pitchFamily="50" charset="-128"/>
                          <a:cs typeface="+mn-cs"/>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BlToTr w="12700" cap="flat" cmpd="sng" algn="ctr">
                      <a:solidFill>
                        <a:schemeClr val="tx1"/>
                      </a:solidFill>
                      <a:prstDash val="solid"/>
                      <a:round/>
                      <a:headEnd type="none" w="med" len="med"/>
                      <a:tailEnd type="none" w="med" len="med"/>
                    </a:lnBlToTr>
                    <a:solidFill>
                      <a:schemeClr val="accent1">
                        <a:lumMod val="60000"/>
                        <a:lumOff val="40000"/>
                      </a:schemeClr>
                    </a:solid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641,250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algn="r" defTabSz="842697" rtl="0" eaLnBrk="1" fontAlgn="ctr" latinLnBrk="0" hangingPunct="1">
                        <a:lnSpc>
                          <a:spcPct val="100000"/>
                        </a:lnSpc>
                      </a:pPr>
                      <a:r>
                        <a:rPr kumimoji="1" lang="en-US" altLang="ja-JP" sz="1000" u="none" strike="noStrike" kern="1200" dirty="0">
                          <a:solidFill>
                            <a:schemeClr val="dk1"/>
                          </a:solidFill>
                          <a:effectLst/>
                          <a:latin typeface="メイリオ" panose="020B0604030504040204" pitchFamily="50" charset="-128"/>
                          <a:ea typeface="メイリオ" panose="020B0604030504040204" pitchFamily="50" charset="-128"/>
                          <a:cs typeface="+mn-cs"/>
                        </a:rPr>
                        <a:t>1,350,000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4038489280"/>
                  </a:ext>
                </a:extLst>
              </a:tr>
            </a:tbl>
          </a:graphicData>
        </a:graphic>
      </p:graphicFrame>
      <p:sp>
        <p:nvSpPr>
          <p:cNvPr id="6" name="テキスト ボックス 5">
            <a:extLst>
              <a:ext uri="{FF2B5EF4-FFF2-40B4-BE49-F238E27FC236}">
                <a16:creationId xmlns:a16="http://schemas.microsoft.com/office/drawing/2014/main" id="{C570E7FA-5C65-0065-18D4-01C1EB4D89AD}"/>
              </a:ext>
            </a:extLst>
          </p:cNvPr>
          <p:cNvSpPr txBox="1"/>
          <p:nvPr/>
        </p:nvSpPr>
        <p:spPr>
          <a:xfrm>
            <a:off x="126056" y="4518756"/>
            <a:ext cx="9523548" cy="983474"/>
          </a:xfrm>
          <a:prstGeom prst="rect">
            <a:avLst/>
          </a:prstGeom>
          <a:noFill/>
        </p:spPr>
        <p:txBody>
          <a:bodyPr wrap="square" rtlCol="0">
            <a:spAutoFit/>
          </a:bodyPr>
          <a:lstStyle/>
          <a:p>
            <a:r>
              <a:rPr lang="ja-JP" altLang="en-US" sz="1374" u="sng" dirty="0">
                <a:solidFill>
                  <a:schemeClr val="tx2">
                    <a:lumMod val="60000"/>
                    <a:lumOff val="40000"/>
                  </a:schemeClr>
                </a:solidFill>
                <a:latin typeface="ＤＦ特太ゴシック体" panose="020B0509000000000000" pitchFamily="49" charset="-128"/>
                <a:ea typeface="ＤＦ特太ゴシック体" panose="020B0509000000000000" pitchFamily="49" charset="-128"/>
              </a:rPr>
              <a:t>２．「アウトカム配分枠」の配分について</a:t>
            </a:r>
            <a:endParaRPr lang="en-US" altLang="ja-JP" sz="1374" u="sng" dirty="0">
              <a:solidFill>
                <a:schemeClr val="tx2">
                  <a:lumMod val="60000"/>
                  <a:lumOff val="40000"/>
                </a:schemeClr>
              </a:solidFill>
              <a:latin typeface="ＤＦ特太ゴシック体" panose="020B0509000000000000" pitchFamily="49" charset="-128"/>
              <a:ea typeface="ＤＦ特太ゴシック体" panose="020B0509000000000000" pitchFamily="49" charset="-128"/>
            </a:endParaRPr>
          </a:p>
          <a:p>
            <a:pPr marL="177591" indent="-177591"/>
            <a:r>
              <a:rPr lang="ja-JP" altLang="en-US" sz="1374" dirty="0"/>
              <a:t>　　　</a:t>
            </a:r>
            <a:r>
              <a:rPr lang="ja-JP" altLang="en-US" sz="1276" dirty="0"/>
              <a:t>「</a:t>
            </a:r>
            <a:r>
              <a:rPr lang="ja-JP" altLang="en-US" sz="1276" dirty="0">
                <a:latin typeface="メイリオ" panose="020B0604030504040204" pitchFamily="50" charset="-128"/>
                <a:ea typeface="メイリオ" panose="020B0604030504040204" pitchFamily="50" charset="-128"/>
              </a:rPr>
              <a:t>アウトカム配分枠」については、上記により配分した予算額につき、アウトカム指標に係る得点が平均点を超える自治体（約</a:t>
            </a:r>
            <a:r>
              <a:rPr lang="en-US" altLang="ja-JP" sz="1276" dirty="0">
                <a:latin typeface="メイリオ" panose="020B0604030504040204" pitchFamily="50" charset="-128"/>
                <a:ea typeface="メイリオ" panose="020B0604030504040204" pitchFamily="50" charset="-128"/>
              </a:rPr>
              <a:t>840</a:t>
            </a:r>
            <a:r>
              <a:rPr lang="ja-JP" altLang="en-US" sz="1276">
                <a:latin typeface="メイリオ" panose="020B0604030504040204" pitchFamily="50" charset="-128"/>
                <a:ea typeface="メイリオ" panose="020B0604030504040204" pitchFamily="50" charset="-128"/>
              </a:rPr>
              <a:t>市町村）</a:t>
            </a:r>
            <a:r>
              <a:rPr lang="ja-JP" altLang="en-US" sz="1276" dirty="0">
                <a:latin typeface="メイリオ" panose="020B0604030504040204" pitchFamily="50" charset="-128"/>
                <a:ea typeface="メイリオ" panose="020B0604030504040204" pitchFamily="50" charset="-128"/>
              </a:rPr>
              <a:t>を対象に、次の計算式に基づいて算定された金額を配分する。</a:t>
            </a:r>
            <a:endParaRPr lang="en-US" altLang="ja-JP" sz="1276" dirty="0">
              <a:latin typeface="メイリオ" panose="020B0604030504040204" pitchFamily="50" charset="-128"/>
              <a:ea typeface="メイリオ" panose="020B0604030504040204" pitchFamily="50" charset="-128"/>
            </a:endParaRPr>
          </a:p>
          <a:p>
            <a:pPr marL="88796" indent="-88796"/>
            <a:endParaRPr lang="en-US" altLang="ja-JP" sz="491" dirty="0">
              <a:latin typeface="メイリオ" panose="020B0604030504040204" pitchFamily="50" charset="-128"/>
              <a:ea typeface="メイリオ" panose="020B0604030504040204" pitchFamily="50" charset="-128"/>
            </a:endParaRPr>
          </a:p>
          <a:p>
            <a:pPr marL="355182" indent="-355182"/>
            <a:r>
              <a:rPr lang="ja-JP" altLang="en-US" sz="1276" dirty="0">
                <a:latin typeface="ＭＳ Ｐ明朝" panose="02020600040205080304" pitchFamily="18" charset="-128"/>
                <a:ea typeface="ＭＳ Ｐ明朝" panose="02020600040205080304" pitchFamily="18" charset="-128"/>
              </a:rPr>
              <a:t>　　◎　予算額　</a:t>
            </a:r>
            <a:r>
              <a:rPr lang="en-US" altLang="ja-JP" sz="1276" dirty="0">
                <a:latin typeface="ＭＳ Ｐ明朝" panose="02020600040205080304" pitchFamily="18" charset="-128"/>
                <a:ea typeface="ＭＳ Ｐ明朝" panose="02020600040205080304" pitchFamily="18" charset="-128"/>
              </a:rPr>
              <a:t>×</a:t>
            </a:r>
            <a:r>
              <a:rPr lang="ja-JP" altLang="en-US" sz="1276" dirty="0">
                <a:latin typeface="ＭＳ Ｐ明朝" panose="02020600040205080304" pitchFamily="18" charset="-128"/>
                <a:ea typeface="ＭＳ Ｐ明朝" panose="02020600040205080304" pitchFamily="18" charset="-128"/>
              </a:rPr>
              <a:t>　（　当該自治体におけるアウトカムに係る得点数　</a:t>
            </a:r>
            <a:r>
              <a:rPr lang="en-US" altLang="ja-JP" sz="1276" dirty="0">
                <a:latin typeface="ＭＳ Ｐ明朝" panose="02020600040205080304" pitchFamily="18" charset="-128"/>
                <a:ea typeface="ＭＳ Ｐ明朝" panose="02020600040205080304" pitchFamily="18" charset="-128"/>
              </a:rPr>
              <a:t>÷</a:t>
            </a:r>
            <a:r>
              <a:rPr lang="ja-JP" altLang="en-US" sz="1276" dirty="0">
                <a:latin typeface="ＭＳ Ｐ明朝" panose="02020600040205080304" pitchFamily="18" charset="-128"/>
                <a:ea typeface="ＭＳ Ｐ明朝" panose="02020600040205080304" pitchFamily="18" charset="-128"/>
              </a:rPr>
              <a:t>　平均点を超える自治体におけるアウトカムに係る得点の合計　）</a:t>
            </a:r>
            <a:endParaRPr lang="en-US" altLang="ja-JP" sz="1276" dirty="0">
              <a:latin typeface="ＭＳ Ｐ明朝" panose="02020600040205080304" pitchFamily="18" charset="-128"/>
              <a:ea typeface="ＭＳ Ｐ明朝" panose="02020600040205080304" pitchFamily="18" charset="-128"/>
            </a:endParaRPr>
          </a:p>
        </p:txBody>
      </p:sp>
      <p:sp>
        <p:nvSpPr>
          <p:cNvPr id="7" name="テキスト ボックス 6">
            <a:extLst>
              <a:ext uri="{FF2B5EF4-FFF2-40B4-BE49-F238E27FC236}">
                <a16:creationId xmlns:a16="http://schemas.microsoft.com/office/drawing/2014/main" id="{16697B06-CCDC-4A6A-65EC-120DBBE34942}"/>
              </a:ext>
            </a:extLst>
          </p:cNvPr>
          <p:cNvSpPr txBox="1"/>
          <p:nvPr/>
        </p:nvSpPr>
        <p:spPr>
          <a:xfrm>
            <a:off x="126055" y="5666144"/>
            <a:ext cx="9523548" cy="1300612"/>
          </a:xfrm>
          <a:prstGeom prst="rect">
            <a:avLst/>
          </a:prstGeom>
          <a:noFill/>
        </p:spPr>
        <p:txBody>
          <a:bodyPr wrap="square" rtlCol="0">
            <a:spAutoFit/>
          </a:bodyPr>
          <a:lstStyle/>
          <a:p>
            <a:r>
              <a:rPr lang="ja-JP" altLang="en-US" sz="1374" u="sng" dirty="0">
                <a:solidFill>
                  <a:schemeClr val="tx2">
                    <a:lumMod val="60000"/>
                    <a:lumOff val="40000"/>
                  </a:schemeClr>
                </a:solidFill>
                <a:latin typeface="ＤＦ特太ゴシック体" panose="020B0509000000000000" pitchFamily="49" charset="-128"/>
                <a:ea typeface="ＤＦ特太ゴシック体" panose="020B0509000000000000" pitchFamily="49" charset="-128"/>
              </a:rPr>
              <a:t>３．「保険者機能強化推進枠」の配分について</a:t>
            </a:r>
            <a:endParaRPr lang="en-US" altLang="ja-JP" sz="1374" u="sng" dirty="0">
              <a:solidFill>
                <a:schemeClr val="tx2">
                  <a:lumMod val="60000"/>
                  <a:lumOff val="40000"/>
                </a:schemeClr>
              </a:solidFill>
              <a:latin typeface="ＤＦ特太ゴシック体" panose="020B0509000000000000" pitchFamily="49" charset="-128"/>
              <a:ea typeface="ＤＦ特太ゴシック体" panose="020B0509000000000000" pitchFamily="49" charset="-128"/>
            </a:endParaRPr>
          </a:p>
          <a:p>
            <a:pPr marL="177591" indent="-177591"/>
            <a:r>
              <a:rPr lang="ja-JP" altLang="en-US" sz="1374" dirty="0">
                <a:latin typeface="メイリオ" panose="020B0604030504040204" pitchFamily="50" charset="-128"/>
                <a:ea typeface="メイリオ" panose="020B0604030504040204" pitchFamily="50" charset="-128"/>
              </a:rPr>
              <a:t>　　</a:t>
            </a:r>
            <a:r>
              <a:rPr lang="ja-JP" altLang="en-US" sz="1276" dirty="0">
                <a:latin typeface="メイリオ" panose="020B0604030504040204" pitchFamily="50" charset="-128"/>
                <a:ea typeface="メイリオ" panose="020B0604030504040204" pitchFamily="50" charset="-128"/>
              </a:rPr>
              <a:t>「保険者機能強化推進枠」については、上記により配分した予算額につき、次の要件に該当する自治体数で除して得た額を均等に配分する（最大３要件に該当する場合は、基本配分枠に加え、約</a:t>
            </a:r>
            <a:r>
              <a:rPr lang="en-US" altLang="ja-JP" sz="1276" dirty="0">
                <a:latin typeface="メイリオ" panose="020B0604030504040204" pitchFamily="50" charset="-128"/>
                <a:ea typeface="メイリオ" panose="020B0604030504040204" pitchFamily="50" charset="-128"/>
              </a:rPr>
              <a:t>110</a:t>
            </a:r>
            <a:r>
              <a:rPr lang="ja-JP" altLang="en-US" sz="1276" dirty="0">
                <a:latin typeface="メイリオ" panose="020B0604030504040204" pitchFamily="50" charset="-128"/>
                <a:ea typeface="メイリオ" panose="020B0604030504040204" pitchFamily="50" charset="-128"/>
              </a:rPr>
              <a:t>万円</a:t>
            </a:r>
            <a:r>
              <a:rPr lang="en-US" altLang="ja-JP" sz="1276" dirty="0">
                <a:latin typeface="メイリオ" panose="020B0604030504040204" pitchFamily="50" charset="-128"/>
                <a:ea typeface="メイリオ" panose="020B0604030504040204" pitchFamily="50" charset="-128"/>
              </a:rPr>
              <a:t>×</a:t>
            </a:r>
            <a:r>
              <a:rPr lang="ja-JP" altLang="en-US" sz="1276" dirty="0">
                <a:latin typeface="メイリオ" panose="020B0604030504040204" pitchFamily="50" charset="-128"/>
                <a:ea typeface="メイリオ" panose="020B0604030504040204" pitchFamily="50" charset="-128"/>
              </a:rPr>
              <a:t>３＝約</a:t>
            </a:r>
            <a:r>
              <a:rPr lang="en-US" altLang="ja-JP" sz="1276" dirty="0">
                <a:latin typeface="メイリオ" panose="020B0604030504040204" pitchFamily="50" charset="-128"/>
                <a:ea typeface="メイリオ" panose="020B0604030504040204" pitchFamily="50" charset="-128"/>
              </a:rPr>
              <a:t>330</a:t>
            </a:r>
            <a:r>
              <a:rPr lang="ja-JP" altLang="en-US" sz="1276" dirty="0">
                <a:latin typeface="メイリオ" panose="020B0604030504040204" pitchFamily="50" charset="-128"/>
                <a:ea typeface="メイリオ" panose="020B0604030504040204" pitchFamily="50" charset="-128"/>
              </a:rPr>
              <a:t>万円程度が追加配分される計算）。</a:t>
            </a:r>
            <a:endParaRPr lang="en-US" altLang="ja-JP" sz="1276" dirty="0">
              <a:latin typeface="メイリオ" panose="020B0604030504040204" pitchFamily="50" charset="-128"/>
              <a:ea typeface="メイリオ" panose="020B0604030504040204" pitchFamily="50" charset="-128"/>
            </a:endParaRPr>
          </a:p>
          <a:p>
            <a:pPr marL="177591" indent="-177591"/>
            <a:r>
              <a:rPr lang="ja-JP" altLang="en-US" sz="1276" dirty="0">
                <a:latin typeface="ＭＳ Ｐ明朝" panose="02020600040205080304" pitchFamily="18" charset="-128"/>
                <a:ea typeface="ＭＳ Ｐ明朝" panose="02020600040205080304" pitchFamily="18" charset="-128"/>
              </a:rPr>
              <a:t>　　①　前年度に続き上位１割に該当する得点を獲得した自治体（</a:t>
            </a:r>
            <a:r>
              <a:rPr lang="en-US" altLang="ja-JP" sz="1276" dirty="0">
                <a:latin typeface="ＭＳ Ｐ明朝" panose="02020600040205080304" pitchFamily="18" charset="-128"/>
                <a:ea typeface="ＭＳ Ｐ明朝" panose="02020600040205080304" pitchFamily="18" charset="-128"/>
              </a:rPr>
              <a:t>80</a:t>
            </a:r>
            <a:r>
              <a:rPr lang="ja-JP" altLang="en-US" sz="1276" dirty="0">
                <a:latin typeface="ＭＳ Ｐ明朝" panose="02020600040205080304" pitchFamily="18" charset="-128"/>
                <a:ea typeface="ＭＳ Ｐ明朝" panose="02020600040205080304" pitchFamily="18" charset="-128"/>
              </a:rPr>
              <a:t>自治体）</a:t>
            </a:r>
            <a:endParaRPr lang="ja-JP" altLang="en-US" sz="883" dirty="0">
              <a:latin typeface="ＭＳ Ｐ明朝" panose="02020600040205080304" pitchFamily="18" charset="-128"/>
              <a:ea typeface="ＭＳ Ｐ明朝" panose="02020600040205080304" pitchFamily="18" charset="-128"/>
            </a:endParaRPr>
          </a:p>
          <a:p>
            <a:pPr marL="177591" indent="-177591"/>
            <a:r>
              <a:rPr lang="ja-JP" altLang="en-US" sz="1276" dirty="0">
                <a:latin typeface="ＭＳ Ｐ明朝" panose="02020600040205080304" pitchFamily="18" charset="-128"/>
                <a:ea typeface="ＭＳ Ｐ明朝" panose="02020600040205080304" pitchFamily="18" charset="-128"/>
              </a:rPr>
              <a:t>　　②　過疎地域に該当する自治体のうち、上位３割に該当する得点を獲得した自治体（約</a:t>
            </a:r>
            <a:r>
              <a:rPr lang="en-US" altLang="ja-JP" sz="1276" dirty="0">
                <a:latin typeface="ＭＳ Ｐ明朝" panose="02020600040205080304" pitchFamily="18" charset="-128"/>
                <a:ea typeface="ＭＳ Ｐ明朝" panose="02020600040205080304" pitchFamily="18" charset="-128"/>
              </a:rPr>
              <a:t>270</a:t>
            </a:r>
            <a:r>
              <a:rPr lang="ja-JP" altLang="en-US" sz="1276" dirty="0">
                <a:latin typeface="ＭＳ Ｐ明朝" panose="02020600040205080304" pitchFamily="18" charset="-128"/>
                <a:ea typeface="ＭＳ Ｐ明朝" panose="02020600040205080304" pitchFamily="18" charset="-128"/>
              </a:rPr>
              <a:t>自治体）</a:t>
            </a:r>
          </a:p>
          <a:p>
            <a:pPr marL="177591" indent="-177591"/>
            <a:r>
              <a:rPr lang="ja-JP" altLang="en-US" sz="1276" dirty="0">
                <a:latin typeface="ＭＳ Ｐ明朝" panose="02020600040205080304" pitchFamily="18" charset="-128"/>
                <a:ea typeface="ＭＳ Ｐ明朝" panose="02020600040205080304" pitchFamily="18" charset="-128"/>
              </a:rPr>
              <a:t>　　③　前年度から５割順位が改善した自治体（約</a:t>
            </a:r>
            <a:r>
              <a:rPr lang="en-US" altLang="ja-JP" sz="1276" dirty="0">
                <a:latin typeface="ＭＳ Ｐ明朝" panose="02020600040205080304" pitchFamily="18" charset="-128"/>
                <a:ea typeface="ＭＳ Ｐ明朝" panose="02020600040205080304" pitchFamily="18" charset="-128"/>
              </a:rPr>
              <a:t>230</a:t>
            </a:r>
            <a:r>
              <a:rPr lang="ja-JP" altLang="en-US" sz="1276" dirty="0">
                <a:latin typeface="ＭＳ Ｐ明朝" panose="02020600040205080304" pitchFamily="18" charset="-128"/>
                <a:ea typeface="ＭＳ Ｐ明朝" panose="02020600040205080304" pitchFamily="18" charset="-128"/>
              </a:rPr>
              <a:t>自治体）</a:t>
            </a:r>
            <a:endParaRPr lang="en-US" altLang="ja-JP" sz="1276" dirty="0">
              <a:latin typeface="ＭＳ Ｐ明朝" panose="02020600040205080304" pitchFamily="18" charset="-128"/>
              <a:ea typeface="ＭＳ Ｐ明朝" panose="02020600040205080304" pitchFamily="18" charset="-128"/>
            </a:endParaRPr>
          </a:p>
        </p:txBody>
      </p:sp>
      <p:sp>
        <p:nvSpPr>
          <p:cNvPr id="2" name="テキスト ボックス 1">
            <a:extLst>
              <a:ext uri="{FF2B5EF4-FFF2-40B4-BE49-F238E27FC236}">
                <a16:creationId xmlns:a16="http://schemas.microsoft.com/office/drawing/2014/main" id="{4A642283-287C-6284-B76C-2660D4618313}"/>
              </a:ext>
            </a:extLst>
          </p:cNvPr>
          <p:cNvSpPr txBox="1"/>
          <p:nvPr/>
        </p:nvSpPr>
        <p:spPr>
          <a:xfrm>
            <a:off x="396131" y="4239992"/>
            <a:ext cx="9216000" cy="246221"/>
          </a:xfrm>
          <a:prstGeom prst="rect">
            <a:avLst/>
          </a:prstGeom>
          <a:noFill/>
        </p:spPr>
        <p:txBody>
          <a:bodyPr wrap="square" rtlCol="0">
            <a:spAutoFit/>
          </a:bodyPr>
          <a:lstStyle/>
          <a:p>
            <a:r>
              <a:rPr kumimoji="1" lang="en-US" altLang="ja-JP" sz="1000" dirty="0">
                <a:latin typeface="ＭＳ Ｐ明朝" panose="02020600040205080304" pitchFamily="18" charset="-128"/>
                <a:ea typeface="ＭＳ Ｐ明朝" panose="02020600040205080304" pitchFamily="18" charset="-128"/>
              </a:rPr>
              <a:t>※</a:t>
            </a:r>
            <a:r>
              <a:rPr kumimoji="1" lang="ja-JP" altLang="en-US" sz="1000" dirty="0">
                <a:latin typeface="ＭＳ Ｐ明朝" panose="02020600040205080304" pitchFamily="18" charset="-128"/>
                <a:ea typeface="ＭＳ Ｐ明朝" panose="02020600040205080304" pitchFamily="18" charset="-128"/>
              </a:rPr>
              <a:t>　予算案については、激変緩和措置に係る額</a:t>
            </a:r>
            <a:r>
              <a:rPr kumimoji="1" lang="ja-JP" altLang="en-US" sz="1000">
                <a:latin typeface="ＭＳ Ｐ明朝" panose="02020600040205080304" pitchFamily="18" charset="-128"/>
                <a:ea typeface="ＭＳ Ｐ明朝" panose="02020600040205080304" pitchFamily="18" charset="-128"/>
              </a:rPr>
              <a:t>（予算案</a:t>
            </a:r>
            <a:r>
              <a:rPr kumimoji="1" lang="ja-JP" altLang="en-US" sz="1000" dirty="0">
                <a:latin typeface="ＭＳ Ｐ明朝" panose="02020600040205080304" pitchFamily="18" charset="-128"/>
                <a:ea typeface="ＭＳ Ｐ明朝" panose="02020600040205080304" pitchFamily="18" charset="-128"/>
              </a:rPr>
              <a:t>の</a:t>
            </a:r>
            <a:r>
              <a:rPr kumimoji="1" lang="en-US" altLang="ja-JP" sz="1000" dirty="0">
                <a:latin typeface="ＭＳ Ｐ明朝" panose="02020600040205080304" pitchFamily="18" charset="-128"/>
                <a:ea typeface="ＭＳ Ｐ明朝" panose="02020600040205080304" pitchFamily="18" charset="-128"/>
              </a:rPr>
              <a:t>10</a:t>
            </a:r>
            <a:r>
              <a:rPr kumimoji="1" lang="ja-JP" altLang="en-US" sz="1000" dirty="0">
                <a:latin typeface="ＭＳ Ｐ明朝" panose="02020600040205080304" pitchFamily="18" charset="-128"/>
                <a:ea typeface="ＭＳ Ｐ明朝" panose="02020600040205080304" pitchFamily="18" charset="-128"/>
              </a:rPr>
              <a:t>％）を除く。</a:t>
            </a:r>
          </a:p>
        </p:txBody>
      </p:sp>
    </p:spTree>
    <p:extLst>
      <p:ext uri="{BB962C8B-B14F-4D97-AF65-F5344CB8AC3E}">
        <p14:creationId xmlns:p14="http://schemas.microsoft.com/office/powerpoint/2010/main" val="2287315109"/>
      </p:ext>
    </p:extLst>
  </p:cSld>
  <p:clrMapOvr>
    <a:masterClrMapping/>
  </p:clrMapOvr>
</p:sld>
</file>

<file path=ppt/theme/theme1.xml><?xml version="1.0" encoding="utf-8"?>
<a:theme xmlns:a="http://schemas.openxmlformats.org/drawingml/2006/main" name="6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6_標準デザイン">
      <a:majorFont>
        <a:latin typeface="メイリオ"/>
        <a:ea typeface="メイリオ"/>
        <a:cs typeface="ＭＳ Ｐゴシック"/>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40000"/>
          </a:lnSpc>
          <a:spcBef>
            <a:spcPct val="10000"/>
          </a:spcBef>
          <a:spcAft>
            <a:spcPct val="0"/>
          </a:spcAft>
          <a:buClrTx/>
          <a:buSzTx/>
          <a:buFontTx/>
          <a:buNone/>
          <a:tabLst/>
          <a:defRPr kumimoji="1" lang="ja-JP" altLang="en-US" sz="2200" b="0" i="0" u="none" strike="noStrike" cap="none" normalizeH="0" baseline="0" smtClean="0">
            <a:ln>
              <a:noFill/>
            </a:ln>
            <a:solidFill>
              <a:srgbClr val="4D4D4D"/>
            </a:solidFill>
            <a:effectLst/>
            <a:latin typeface="Arial" charset="0"/>
            <a:ea typeface="メイリオ" pitchFamily="50" charset="-128"/>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40000"/>
          </a:lnSpc>
          <a:spcBef>
            <a:spcPct val="10000"/>
          </a:spcBef>
          <a:spcAft>
            <a:spcPct val="0"/>
          </a:spcAft>
          <a:buClrTx/>
          <a:buSzTx/>
          <a:buFontTx/>
          <a:buNone/>
          <a:tabLst/>
          <a:defRPr kumimoji="1" lang="ja-JP" altLang="en-US" sz="2200" b="0" i="0" u="none" strike="noStrike" cap="none" normalizeH="0" baseline="0" smtClean="0">
            <a:ln>
              <a:noFill/>
            </a:ln>
            <a:solidFill>
              <a:srgbClr val="4D4D4D"/>
            </a:solidFill>
            <a:effectLst/>
            <a:latin typeface="Arial" charset="0"/>
            <a:ea typeface="メイリオ" pitchFamily="50" charset="-128"/>
          </a:defRPr>
        </a:defPPr>
      </a:lstStyle>
    </a:lnDef>
  </a:objectDefaults>
  <a:extraClrSchemeLst>
    <a:extraClrScheme>
      <a:clrScheme name="6_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6_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6_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6_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6_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6_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6_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6_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6_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6_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6_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6_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765FE0DA-D247-486C-BF42-DBB9705F90D8}" vid="{BD63521F-5098-41E8-9264-55C75258C882}"/>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2DA299AC048A4B8EA9C1D19079C1A32200D4BA6E4072147443AA2C1B34B3717A1B" ma:contentTypeVersion="11" ma:contentTypeDescription="" ma:contentTypeScope="" ma:versionID="762a6e4a9a4153f9796459f9c794b8d7">
  <xsd:schema xmlns:xsd="http://www.w3.org/2001/XMLSchema" xmlns:p="http://schemas.microsoft.com/office/2006/metadata/properties" xmlns:ns2="8B97BE19-CDDD-400E-817A-CFDD13F7EC12" xmlns:ns3="0ef2a5cc-7d16-4df6-bf14-9981dc03bc23" targetNamespace="http://schemas.microsoft.com/office/2006/metadata/properties" ma:root="true" ma:fieldsID="07fb1622a88bacec97282dff94a6d9c4" ns2:_="" ns3:_="">
    <xsd:import namespace="8B97BE19-CDDD-400E-817A-CFDD13F7EC12"/>
    <xsd:import namespace="0ef2a5cc-7d16-4df6-bf14-9981dc03bc23"/>
    <xsd:element name="properties">
      <xsd:complexType>
        <xsd:sequence>
          <xsd:element name="documentManagement">
            <xsd:complexType>
              <xsd:all>
                <xsd:element ref="ns2:ClassLarge" minOccurs="0"/>
                <xsd:element ref="ns2:ClassMedium" minOccurs="0"/>
                <xsd:element ref="ns2:ClassSmall" minOccurs="0"/>
                <xsd:element ref="ns2:GyoseiFile" minOccurs="0"/>
                <xsd:element ref="ns2:CreatedBy" minOccurs="0"/>
                <xsd:element ref="ns2:PreservationPeriod" minOccurs="0"/>
                <xsd:element ref="ns2:PreservationPeriodExpire" minOccurs="0"/>
                <xsd:element ref="ns2:CreatedDate" minOccurs="0"/>
                <xsd:element ref="ns2:FixationStatus" minOccurs="0"/>
                <xsd:element ref="ns2:EditorWithSpace" minOccurs="0"/>
                <xsd:element ref="ns3:DaibunruiID" minOccurs="0"/>
                <xsd:element ref="ns3:ChuubunruiID" minOccurs="0"/>
                <xsd:element ref="ns3:SyoubunruiID" minOccurs="0"/>
                <xsd:element ref="ns3:GyouseibunsyoID" minOccurs="0"/>
                <xsd:element ref="ns3:Renkei" minOccurs="0"/>
                <xsd:element ref="ns3:Flag01" minOccurs="0"/>
                <xsd:element ref="ns3:Yobi01" minOccurs="0"/>
                <xsd:element ref="ns3:Yobi02" minOccurs="0"/>
                <xsd:element ref="ns3:Yobi03" minOccurs="0"/>
              </xsd:all>
            </xsd:complexType>
          </xsd:element>
        </xsd:sequence>
      </xsd:complexType>
    </xsd:element>
  </xsd:schema>
  <xsd:schema xmlns:xsd="http://www.w3.org/2001/XMLSchema" xmlns:dms="http://schemas.microsoft.com/office/2006/documentManagement/types" targetNamespace="8B97BE19-CDDD-400E-817A-CFDD13F7EC12" elementFormDefault="qualified">
    <xsd:import namespace="http://schemas.microsoft.com/office/2006/documentManagement/types"/>
    <xsd:element name="ClassLarge" ma:index="8" nillable="true" ma:displayName="大分類" ma:hidden="true" ma:internalName="ClassLarge" ma:readOnly="true">
      <xsd:simpleType>
        <xsd:restriction base="dms:Unknown"/>
      </xsd:simpleType>
    </xsd:element>
    <xsd:element name="ClassMedium" ma:index="9" nillable="true" ma:displayName="中分類" ma:hidden="true" ma:internalName="ClassMedium" ma:readOnly="true">
      <xsd:simpleType>
        <xsd:restriction base="dms:Unknown"/>
      </xsd:simpleType>
    </xsd:element>
    <xsd:element name="ClassSmall" ma:index="10" nillable="true" ma:displayName="小分類" ma:hidden="true" ma:internalName="ClassSmall" ma:readOnly="true">
      <xsd:simpleType>
        <xsd:restriction base="dms:Unknown"/>
      </xsd:simpleType>
    </xsd:element>
    <xsd:element name="GyoseiFile" ma:index="11" nillable="true" ma:displayName="行政文書ファイル名" ma:hidden="true" ma:internalName="GyoseiFile" ma:readOnly="true">
      <xsd:simpleType>
        <xsd:restriction base="dms:Unknown"/>
      </xsd:simpleType>
    </xsd:element>
    <xsd:element name="CreatedBy" ma:index="12" nillable="true" ma:displayName="作成課/係・作成者" ma:hidden="true" ma:internalName="CreatedBy" ma:readOnly="true">
      <xsd:simpleType>
        <xsd:restriction base="dms:Unknown"/>
      </xsd:simpleType>
    </xsd:element>
    <xsd:element name="PreservationPeriod" ma:index="13" nillable="true" ma:displayName="保存期間" ma:hidden="true" ma:internalName="PreservationPeriod" ma:readOnly="true">
      <xsd:simpleType>
        <xsd:restriction base="dms:Unknown"/>
      </xsd:simpleType>
    </xsd:element>
    <xsd:element name="PreservationPeriodExpire" ma:index="14" nillable="true" ma:displayName="保存期間満了時期" ma:format="DateOnly" ma:hidden="true" ma:internalName="PreservationPeriodExpire" ma:readOnly="true">
      <xsd:simpleType>
        <xsd:restriction base="dms:Unknown"/>
      </xsd:simpleType>
    </xsd:element>
    <xsd:element name="CreatedDate" ma:index="15" nillable="true" ma:displayName="作成年月日" ma:hidden="true" ma:internalName="CreatedDate" ma:readOnly="true">
      <xsd:simpleType>
        <xsd:restriction base="dms:Unknown"/>
      </xsd:simpleType>
    </xsd:element>
    <xsd:element name="FixationStatus" ma:index="16" nillable="true" ma:displayName="確定状況" ma:hidden="true" ma:internalName="FixationStatus" ma:readOnly="true">
      <xsd:simpleType>
        <xsd:restriction base="dms:Unknown"/>
      </xsd:simpleType>
    </xsd:element>
    <xsd:element name="EditorWithSpace" ma:index="18" nillable="true" ma:displayName="更新者　　　　　　" ma:hidden="true" ma:internalName="EditorWithSpace"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dms="http://schemas.microsoft.com/office/2006/documentManagement/types" targetNamespace="0ef2a5cc-7d16-4df6-bf14-9981dc03bc23" elementFormDefault="qualified">
    <xsd:import namespace="http://schemas.microsoft.com/office/2006/documentManagement/types"/>
    <xsd:element name="DaibunruiID" ma:index="19" nillable="true" ma:displayName="大分類ID" ma:description="" ma:hidden="true" ma:internalName="DaibunruiID" ma:readOnly="true">
      <xsd:simpleType>
        <xsd:restriction base="dms:Text"/>
      </xsd:simpleType>
    </xsd:element>
    <xsd:element name="ChuubunruiID" ma:index="20" nillable="true" ma:displayName="中分類ID" ma:description="" ma:hidden="true" ma:internalName="ChuubunruiID" ma:readOnly="true">
      <xsd:simpleType>
        <xsd:restriction base="dms:Text"/>
      </xsd:simpleType>
    </xsd:element>
    <xsd:element name="SyoubunruiID" ma:index="21" nillable="true" ma:displayName="小分類ID" ma:description="" ma:hidden="true" ma:internalName="SyoubunruiID" ma:readOnly="true">
      <xsd:simpleType>
        <xsd:restriction base="dms:Text"/>
      </xsd:simpleType>
    </xsd:element>
    <xsd:element name="GyouseibunsyoID" ma:index="22" nillable="true" ma:displayName="行政文書ファイル名ID" ma:description="" ma:hidden="true" ma:internalName="GyouseibunsyoID" ma:readOnly="true">
      <xsd:simpleType>
        <xsd:restriction base="dms:Text"/>
      </xsd:simpleType>
    </xsd:element>
    <xsd:element name="Renkei" ma:index="23" nillable="true" ma:displayName="行政文書連携フラグ" ma:description="" ma:hidden="true" ma:internalName="Renkei" ma:readOnly="true">
      <xsd:simpleType>
        <xsd:restriction base="dms:Text"/>
      </xsd:simpleType>
    </xsd:element>
    <xsd:element name="Flag01" ma:index="24" nillable="true" ma:displayName="予備フラグ" ma:description="" ma:hidden="true" ma:internalName="Flag01" ma:readOnly="true">
      <xsd:simpleType>
        <xsd:restriction base="dms:Text"/>
      </xsd:simpleType>
    </xsd:element>
    <xsd:element name="Yobi01" ma:index="25" nillable="true" ma:displayName="予備列01" ma:description="" ma:hidden="true" ma:internalName="Yobi01" ma:readOnly="true">
      <xsd:simpleType>
        <xsd:restriction base="dms:Text"/>
      </xsd:simpleType>
    </xsd:element>
    <xsd:element name="Yobi02" ma:index="26" nillable="true" ma:displayName="予備列02" ma:description="" ma:hidden="true" ma:internalName="Yobi02" ma:readOnly="true">
      <xsd:simpleType>
        <xsd:restriction base="dms:Text"/>
      </xsd:simpleType>
    </xsd:element>
    <xsd:element name="Yobi03" ma:index="27" nillable="true" ma:displayName="予備列03" ma:description="" ma:hidden="true" ma:internalName="Yobi03"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ma:readOnly="true"/>
        <xsd:element ref="dc:title" minOccurs="0" maxOccurs="1" ma:index="17" ma:displayName="タイトル" ma:readOnly="tru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5222D843-2CD8-465F-A615-3B281B3213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97BE19-CDDD-400E-817A-CFDD13F7EC12"/>
    <ds:schemaRef ds:uri="0ef2a5cc-7d16-4df6-bf14-9981dc03bc23"/>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5667B8BB-0558-4E9C-85AB-E9D88A9B512B}">
  <ds:schemaRefs>
    <ds:schemaRef ds:uri="http://schemas.microsoft.com/sharepoint/v3/contenttype/forms"/>
  </ds:schemaRefs>
</ds:datastoreItem>
</file>

<file path=customXml/itemProps3.xml><?xml version="1.0" encoding="utf-8"?>
<ds:datastoreItem xmlns:ds="http://schemas.openxmlformats.org/officeDocument/2006/customXml" ds:itemID="{E7C59075-9183-416C-86FD-365AA21CC7E6}">
  <ds:schemaRefs>
    <ds:schemaRef ds:uri="http://www.w3.org/XML/1998/namespace"/>
    <ds:schemaRef ds:uri="http://schemas.microsoft.com/office/2006/metadata/properties"/>
    <ds:schemaRef ds:uri="http://schemas.microsoft.com/office/2006/documentManagement/types"/>
    <ds:schemaRef ds:uri="8B97BE19-CDDD-400E-817A-CFDD13F7EC12"/>
    <ds:schemaRef ds:uri="http://purl.org/dc/dcmitype/"/>
    <ds:schemaRef ds:uri="http://schemas.openxmlformats.org/package/2006/metadata/core-properties"/>
    <ds:schemaRef ds:uri="0ef2a5cc-7d16-4df6-bf14-9981dc03bc23"/>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26837</TotalTime>
  <Words>6883</Words>
  <Application>Microsoft Office PowerPoint</Application>
  <PresentationFormat>ユーザー設定</PresentationFormat>
  <Paragraphs>776</Paragraphs>
  <Slides>36</Slides>
  <Notes>35</Notes>
  <HiddenSlides>0</HiddenSlides>
  <MMClips>0</MMClips>
  <ScaleCrop>false</ScaleCrop>
  <HeadingPairs>
    <vt:vector size="6" baseType="variant">
      <vt:variant>
        <vt:lpstr>使用されているフォント</vt:lpstr>
      </vt:variant>
      <vt:variant>
        <vt:i4>12</vt:i4>
      </vt:variant>
      <vt:variant>
        <vt:lpstr>テーマ</vt:lpstr>
      </vt:variant>
      <vt:variant>
        <vt:i4>3</vt:i4>
      </vt:variant>
      <vt:variant>
        <vt:lpstr>スライド タイトル</vt:lpstr>
      </vt:variant>
      <vt:variant>
        <vt:i4>36</vt:i4>
      </vt:variant>
    </vt:vector>
  </HeadingPairs>
  <TitlesOfParts>
    <vt:vector size="51" baseType="lpstr">
      <vt:lpstr>BIZ UDPゴシック</vt:lpstr>
      <vt:lpstr>ＤＦ特太ゴシック体</vt:lpstr>
      <vt:lpstr>HGｺﾞｼｯｸM</vt:lpstr>
      <vt:lpstr>Meiryo UI</vt:lpstr>
      <vt:lpstr>ＭＳ Ｐ明朝</vt:lpstr>
      <vt:lpstr>ＭＳ 明朝</vt:lpstr>
      <vt:lpstr>メイリオ</vt:lpstr>
      <vt:lpstr>メイリオ</vt:lpstr>
      <vt:lpstr>游ゴシック</vt:lpstr>
      <vt:lpstr>Arial</vt:lpstr>
      <vt:lpstr>Calibri</vt:lpstr>
      <vt:lpstr>Segoe UI</vt:lpstr>
      <vt:lpstr>6_標準デザイン</vt:lpstr>
      <vt:lpstr>2_Office ​​テーマ</vt:lpstr>
      <vt:lpstr>3_Office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06_参考資料</dc:title>
  <dc:subject/>
  <dc:creator/>
  <cp:keywords/>
  <dc:description/>
  <cp:lastModifiedBy>大久保 美佳(ookubo-mika.rw2)</cp:lastModifiedBy>
  <cp:revision>1685</cp:revision>
  <cp:lastPrinted>2023-12-22T06:57:31Z</cp:lastPrinted>
  <dcterms:created xsi:type="dcterms:W3CDTF">2012-06-14T05:51:29Z</dcterms:created>
  <dcterms:modified xsi:type="dcterms:W3CDTF">2023-12-26T02:02:36Z</dcterms:modified>
  <cp:category/>
  <cp:contentStatus/>
  <dc:language>加藤 昭宏</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0x0101002DA299AC048A4B8EA9C1D19079C1A32200D4BA6E4072147443AA2C1B34B3717A1B</vt:lpwstr>
  </property>
</Properties>
</file>