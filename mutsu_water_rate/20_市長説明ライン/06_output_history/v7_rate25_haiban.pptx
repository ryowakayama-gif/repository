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</p:presentation>
</file>

<file path=ppt/presProps.xml><?xml version="1.0" encoding="utf-8"?>
<p:presentationPr xmlns:ns1="http://schemas.microsoft.com/office/powerpoint/2010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本資料の狙い</a:t>
            </a:r>
            <a:br/>
            <a:r>
              <a:rPr>
                <a:latin typeface="BIZ UDPゴシック"/>
              </a:rPr>
              <a:t>・決算上の黒字と営業赤字の違いを明確化</a:t>
            </a:r>
            <a:br/>
            <a:r>
              <a:rPr>
                <a:latin typeface="BIZ UDPゴシック"/>
              </a:rPr>
              <a:t>・資金残高の低下と投資財源リスクを説明</a:t>
            </a:r>
            <a:br/>
            <a:r>
              <a:rPr>
                <a:latin typeface="BIZ UDPゴシック"/>
              </a:rPr>
              <a:t>・R9水道ビジョン改定・R10料金審議へ接続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打合せ内容と工程表の整合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令和8年度の作業範囲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3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417320"/>
          <ns1:ext cx="11155680" cy="42976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645920"/>
                <ns1:gridCol w="3017520"/>
                <ns1:gridCol w="2834640"/>
                <ns1:gridCol w="3657600"/>
              </ns1:tblGrid>
              <ns1:tr h="716280"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論点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打合せでの確認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工程表での扱い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今年度の作業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6月下旬〜7月第1週を目途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7月に理事者へ現状説明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R3〜R7実績・初期試算を資料化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投資計画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実態ベースを反映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現状シミュレーションで整理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R7決算、R8予算、R9以降予定を整理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資産維持費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1％・2％・3％を比較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料金改定支援へ接続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0〜3％の感度分析を提示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審議会条例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市長選を考慮しR9.6想定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R9.6条例改正提出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委員構成・審議順序を設計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審議ではなく説明中心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R9に水道ビジョン改定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今年度は接続論点を整理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02920" y="5897880"/>
            <ns1:ext cx="110642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000" b="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出典：業務工程表（案R9.6条例改正版）、2026/5/27打合せ議事録</ns1:t>
            </ns1:r>
          </ns1:p>
        </ns0:txBody>
      </ns0:sp>
    </ns0:spTree>
  </ns0:cSld>
  <ns0:clrMapOvr>
    <ns1:masterClrMapping/>
  </ns0:clrMapOvr>
</ns0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説明上のポイント</a:t>
            </a:r>
            <a:br/>
            <a:r>
              <a:rPr>
                <a:latin typeface="BIZ UDPゴシック"/>
              </a:rPr>
              <a:t>・純利益は黒字でも、給水収益で営業費用を賄えていない。</a:t>
            </a:r>
            <a:br/>
            <a:r>
              <a:rPr>
                <a:latin typeface="BIZ UDPゴシック"/>
              </a:rPr>
              <a:t>・R7は料金回収率92.98％で、給水原価が供給単価を上回る。</a:t>
            </a:r>
            <a:br/>
            <a:r>
              <a:rPr>
                <a:latin typeface="BIZ UDPゴシック"/>
              </a:rP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読み取り</a:t>
            </a:r>
            <a:br/>
            <a:r>
              <a:rPr>
                <a:latin typeface="BIZ UDPゴシック"/>
              </a:rPr>
              <a:t>・R7は3条基準外が増加。</a:t>
            </a:r>
            <a:br/>
            <a:r>
              <a:rPr>
                <a:latin typeface="BIZ UDPゴシック"/>
              </a:rPr>
              <a:t>・4条基準外は概ね80〜90百万円台で継続。</a:t>
            </a:r>
            <a:br/>
            <a:r>
              <a:rPr>
                <a:latin typeface="BIZ UDPゴシック"/>
              </a:rP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R7決算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R8予算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1,217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1,651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経常収支比率は特別損益を除いた経常収益÷経常費用（表中の水道事業収益÷水道事業費用は特別損益を含むため一致しない場合がある）。料金回収率は給水収益÷給水原価対象費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89967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1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10698480" cy="15544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旧水道ビジョン数値との増減比較は、次年度の水道ビジョン改定で再整理するため市長説明からは外す。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本資料では、予定工事を実施する場合に、企業債・補助金・負担金・補填財源で予算が組めるかを示す。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05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15568"/>
          <a:ext cx="120929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△82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232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418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594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873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83480"/>
            <a:ext cx="11064240" cy="82296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市長説明では「現金が一時的に減る」ではなく、「補填財源が不足し、予定工事の予算化が難しくなる」流れで説明する。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88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単位：百万円。補填財源残高はR7末183百万円を起点とした簡便推計。R11以降はスライド10の資産維持費0％ケース（必要改定率7.1％）を反映。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2,896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49.7%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・現行料金のままでは補填財源がR9〜R10に不足（R9末△25・R10末△82百万円、現預金もR10末△23百万円）し、R11改定で回復する。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※R7は決算確定値（累計4条不足に反映）。現預金は百万円。企業債充当率100%（建設改良費−国庫−工事負担金、利率2.5%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R9水道ビジョン改定、R10料金審議、R11施行までの段階説明を設計する。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R8決算・AM結果反映／水道ビジョン説明／審議会条例改正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工程管理上の要点：R8で必要性を共有し、R9で水道ビジョンへ反映、R10で料金体系を具体化する。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・資産維持費の採用水準を政治判断の論点として整理。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・R7→R8繰越工事182百万円（別途確認中）、償還条件確定、需要弾力性の反映を審議会資料化までに実施。</a:t>
            </a:r>
          </a:p>
        </p:txBody>
      </p:sp>
    </p:spTree>
  </p:cSld>
  <p:clrMapOvr>
    <a:masterClrMapping/>
  </p:clrMapOvr>
</p:sld>
</file>

<file path=ppt/slides/slide1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直近の作業方針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市長説明資料に反映する内容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14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325880"/>
          <ns1:ext cx="10972800" cy="38862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011680"/>
                <ns1:gridCol w="6217920"/>
                <ns1:gridCol w="2743200"/>
              </ns1:tblGrid>
              <ns1:tr h="647700"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内容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成果物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1. 数値固定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R3〜R7の5か年で、損益・料金回収率・繰入金・資金残高を統一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現状分析表／グラフ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2. 原価計算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R11開始5年、資産維持費0〜3％で比較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総括原価試算表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3. 投資財政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R8予算収入・将来年次投資・元金償還・財源を反映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資金残高推計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4. 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料金改定の必要性、R9〜R11工程、判断事項を整理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説明用PPT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5. 審議会設計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委員構成、条例改正、審議順序、水道ビジョン説明の扱いを整理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設計メモ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94360" y="5623560"/>
            <ns1:ext cx="10972800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400" b="1">
                <ns1:solidFill>
                  <ns1:srgbClr val="2563EB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次工程：市長説明用PPTを、R3〜R7固定・R8予算反映・投資財政SIM整合の内容で再構成する。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