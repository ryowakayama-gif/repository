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>
        <a:latin typeface="BIZ UDPゴシック"/>
        <a:ea typeface="BIZ UDPゴシック"/>
        <a:cs typeface="BIZ UDPゴシック"/>
      </a:defRPr>
    </a:defPPr>
    <a:lvl1pPr marL="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9pPr>
  </p:defaultTextStyle>
</p:presentation>
</file>

<file path=ppt/presProps.xml><?xml version="1.0" encoding="utf-8"?>
<p:presentationPr xmlns:ns1="http://schemas.microsoft.com/office/powerpoint/2010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ns2="http://schemas.microsoft.com/office/powerpoint/2010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9pPr>
          </a:lstStyle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subtitle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ns2="http://schemas.microsoft.com/office/powerpoint/2010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ns2="http://schemas.microsoft.com/office/powerpoint/2010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ns2="http://schemas.microsoft.com/office/powerpoint/2010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BIZ UDPゴシック"/>
                <a:ea typeface="BIZ UDPゴシック"/>
                <a:cs typeface="BIZ UDPゴシック"/>
              </a:defRPr>
            </a:lvl1pPr>
            <a:lvl2pPr>
              <a:defRPr sz="2400">
                <a:latin typeface="BIZ UDPゴシック"/>
                <a:ea typeface="BIZ UDPゴシック"/>
                <a:cs typeface="BIZ UDPゴシック"/>
              </a:defRPr>
            </a:lvl2pPr>
            <a:lvl3pPr>
              <a:defRPr sz="2000">
                <a:latin typeface="BIZ UDPゴシック"/>
                <a:ea typeface="BIZ UDPゴシック"/>
                <a:cs typeface="BIZ UDPゴシック"/>
              </a:defRPr>
            </a:lvl3pPr>
            <a:lvl4pPr>
              <a:defRPr sz="1800">
                <a:latin typeface="BIZ UDPゴシック"/>
                <a:ea typeface="BIZ UDPゴシック"/>
                <a:cs typeface="BIZ UDPゴシック"/>
              </a:defRPr>
            </a:lvl4pPr>
            <a:lvl5pPr>
              <a:defRPr sz="1800">
                <a:latin typeface="BIZ UDPゴシック"/>
                <a:ea typeface="BIZ UDPゴシック"/>
                <a:cs typeface="BIZ UDPゴシック"/>
              </a:defRPr>
            </a:lvl5pPr>
            <a:lvl6pPr>
              <a:defRPr sz="1800">
                <a:latin typeface="BIZ UDPゴシック"/>
                <a:ea typeface="BIZ UDPゴシック"/>
                <a:cs typeface="BIZ UDPゴシック"/>
              </a:defRPr>
            </a:lvl6pPr>
            <a:lvl7pPr>
              <a:defRPr sz="1800">
                <a:latin typeface="BIZ UDPゴシック"/>
                <a:ea typeface="BIZ UDPゴシック"/>
                <a:cs typeface="BIZ UDPゴシック"/>
              </a:defRPr>
            </a:lvl7pPr>
            <a:lvl8pPr>
              <a:defRPr sz="1800">
                <a:latin typeface="BIZ UDPゴシック"/>
                <a:ea typeface="BIZ UDPゴシック"/>
                <a:cs typeface="BIZ UDPゴシック"/>
              </a:defRPr>
            </a:lvl8pPr>
            <a:lvl9pPr>
              <a:defRPr sz="18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BIZ UDPゴシック"/>
                <a:ea typeface="BIZ UDPゴシック"/>
                <a:cs typeface="BIZ UDPゴシック"/>
              </a:defRPr>
            </a:lvl1pPr>
            <a:lvl2pPr>
              <a:defRPr sz="2400">
                <a:latin typeface="BIZ UDPゴシック"/>
                <a:ea typeface="BIZ UDPゴシック"/>
                <a:cs typeface="BIZ UDPゴシック"/>
              </a:defRPr>
            </a:lvl2pPr>
            <a:lvl3pPr>
              <a:defRPr sz="2000">
                <a:latin typeface="BIZ UDPゴシック"/>
                <a:ea typeface="BIZ UDPゴシック"/>
                <a:cs typeface="BIZ UDPゴシック"/>
              </a:defRPr>
            </a:lvl3pPr>
            <a:lvl4pPr>
              <a:defRPr sz="1800">
                <a:latin typeface="BIZ UDPゴシック"/>
                <a:ea typeface="BIZ UDPゴシック"/>
                <a:cs typeface="BIZ UDPゴシック"/>
              </a:defRPr>
            </a:lvl4pPr>
            <a:lvl5pPr>
              <a:defRPr sz="1800">
                <a:latin typeface="BIZ UDPゴシック"/>
                <a:ea typeface="BIZ UDPゴシック"/>
                <a:cs typeface="BIZ UDPゴシック"/>
              </a:defRPr>
            </a:lvl5pPr>
            <a:lvl6pPr>
              <a:defRPr sz="1800">
                <a:latin typeface="BIZ UDPゴシック"/>
                <a:ea typeface="BIZ UDPゴシック"/>
                <a:cs typeface="BIZ UDPゴシック"/>
              </a:defRPr>
            </a:lvl6pPr>
            <a:lvl7pPr>
              <a:defRPr sz="1800">
                <a:latin typeface="BIZ UDPゴシック"/>
                <a:ea typeface="BIZ UDPゴシック"/>
                <a:cs typeface="BIZ UDPゴシック"/>
              </a:defRPr>
            </a:lvl7pPr>
            <a:lvl8pPr>
              <a:defRPr sz="1800">
                <a:latin typeface="BIZ UDPゴシック"/>
                <a:ea typeface="BIZ UDPゴシック"/>
                <a:cs typeface="BIZ UDPゴシック"/>
              </a:defRPr>
            </a:lvl8pPr>
            <a:lvl9pPr>
              <a:defRPr sz="18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ns2="http://schemas.microsoft.com/office/powerpoint/2010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000" b="1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800" b="1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BIZ UDPゴシック"/>
                <a:ea typeface="BIZ UDPゴシック"/>
                <a:cs typeface="BIZ UDPゴシック"/>
              </a:defRPr>
            </a:lvl1pPr>
            <a:lvl2pPr>
              <a:defRPr sz="2000">
                <a:latin typeface="BIZ UDPゴシック"/>
                <a:ea typeface="BIZ UDPゴシック"/>
                <a:cs typeface="BIZ UDPゴシック"/>
              </a:defRPr>
            </a:lvl2pPr>
            <a:lvl3pPr>
              <a:defRPr sz="1800">
                <a:latin typeface="BIZ UDPゴシック"/>
                <a:ea typeface="BIZ UDPゴシック"/>
                <a:cs typeface="BIZ UDPゴシック"/>
              </a:defRPr>
            </a:lvl3pPr>
            <a:lvl4pPr>
              <a:defRPr sz="1600">
                <a:latin typeface="BIZ UDPゴシック"/>
                <a:ea typeface="BIZ UDPゴシック"/>
                <a:cs typeface="BIZ UDPゴシック"/>
              </a:defRPr>
            </a:lvl4pPr>
            <a:lvl5pPr>
              <a:defRPr sz="1600">
                <a:latin typeface="BIZ UDPゴシック"/>
                <a:ea typeface="BIZ UDPゴシック"/>
                <a:cs typeface="BIZ UDPゴシック"/>
              </a:defRPr>
            </a:lvl5pPr>
            <a:lvl6pPr>
              <a:defRPr sz="1600">
                <a:latin typeface="BIZ UDPゴシック"/>
                <a:ea typeface="BIZ UDPゴシック"/>
                <a:cs typeface="BIZ UDPゴシック"/>
              </a:defRPr>
            </a:lvl6pPr>
            <a:lvl7pPr>
              <a:defRPr sz="1600">
                <a:latin typeface="BIZ UDPゴシック"/>
                <a:ea typeface="BIZ UDPゴシック"/>
                <a:cs typeface="BIZ UDPゴシック"/>
              </a:defRPr>
            </a:lvl7pPr>
            <a:lvl8pPr>
              <a:defRPr sz="1600">
                <a:latin typeface="BIZ UDPゴシック"/>
                <a:ea typeface="BIZ UDPゴシック"/>
                <a:cs typeface="BIZ UDPゴシック"/>
              </a:defRPr>
            </a:lvl8pPr>
            <a:lvl9pPr>
              <a:defRPr sz="16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000" b="1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800" b="1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BIZ UDPゴシック"/>
                <a:ea typeface="BIZ UDPゴシック"/>
                <a:cs typeface="BIZ UDPゴシック"/>
              </a:defRPr>
            </a:lvl1pPr>
            <a:lvl2pPr>
              <a:defRPr sz="2000">
                <a:latin typeface="BIZ UDPゴシック"/>
                <a:ea typeface="BIZ UDPゴシック"/>
                <a:cs typeface="BIZ UDPゴシック"/>
              </a:defRPr>
            </a:lvl2pPr>
            <a:lvl3pPr>
              <a:defRPr sz="1800">
                <a:latin typeface="BIZ UDPゴシック"/>
                <a:ea typeface="BIZ UDPゴシック"/>
                <a:cs typeface="BIZ UDPゴシック"/>
              </a:defRPr>
            </a:lvl3pPr>
            <a:lvl4pPr>
              <a:defRPr sz="1600">
                <a:latin typeface="BIZ UDPゴシック"/>
                <a:ea typeface="BIZ UDPゴシック"/>
                <a:cs typeface="BIZ UDPゴシック"/>
              </a:defRPr>
            </a:lvl4pPr>
            <a:lvl5pPr>
              <a:defRPr sz="1600">
                <a:latin typeface="BIZ UDPゴシック"/>
                <a:ea typeface="BIZ UDPゴシック"/>
                <a:cs typeface="BIZ UDPゴシック"/>
              </a:defRPr>
            </a:lvl5pPr>
            <a:lvl6pPr>
              <a:defRPr sz="1600">
                <a:latin typeface="BIZ UDPゴシック"/>
                <a:ea typeface="BIZ UDPゴシック"/>
                <a:cs typeface="BIZ UDPゴシック"/>
              </a:defRPr>
            </a:lvl6pPr>
            <a:lvl7pPr>
              <a:defRPr sz="1600">
                <a:latin typeface="BIZ UDPゴシック"/>
                <a:ea typeface="BIZ UDPゴシック"/>
                <a:cs typeface="BIZ UDPゴシック"/>
              </a:defRPr>
            </a:lvl7pPr>
            <a:lvl8pPr>
              <a:defRPr sz="1600">
                <a:latin typeface="BIZ UDPゴシック"/>
                <a:ea typeface="BIZ UDPゴシック"/>
                <a:cs typeface="BIZ UDPゴシック"/>
              </a:defRPr>
            </a:lvl8pPr>
            <a:lvl9pPr>
              <a:defRPr sz="16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ns2="http://schemas.microsoft.com/office/powerpoint/2010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ns2="http://schemas.microsoft.com/office/powerpoint/2010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ns2="http://schemas.microsoft.com/office/powerpoint/2010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BIZ UDPゴシック"/>
                <a:ea typeface="BIZ UDPゴシック"/>
                <a:cs typeface="BIZ UDPゴシック"/>
              </a:defRPr>
            </a:lvl1pPr>
            <a:lvl2pPr>
              <a:defRPr sz="2800">
                <a:latin typeface="BIZ UDPゴシック"/>
                <a:ea typeface="BIZ UDPゴシック"/>
                <a:cs typeface="BIZ UDPゴシック"/>
              </a:defRPr>
            </a:lvl2pPr>
            <a:lvl3pPr>
              <a:defRPr sz="2400">
                <a:latin typeface="BIZ UDPゴシック"/>
                <a:ea typeface="BIZ UDPゴシック"/>
                <a:cs typeface="BIZ UDPゴシック"/>
              </a:defRPr>
            </a:lvl3pPr>
            <a:lvl4pPr>
              <a:defRPr sz="2000">
                <a:latin typeface="BIZ UDPゴシック"/>
                <a:ea typeface="BIZ UDPゴシック"/>
                <a:cs typeface="BIZ UDPゴシック"/>
              </a:defRPr>
            </a:lvl4pPr>
            <a:lvl5pPr>
              <a:defRPr sz="2000">
                <a:latin typeface="BIZ UDPゴシック"/>
                <a:ea typeface="BIZ UDPゴシック"/>
                <a:cs typeface="BIZ UDPゴシック"/>
              </a:defRPr>
            </a:lvl5pPr>
            <a:lvl6pPr>
              <a:defRPr sz="2000">
                <a:latin typeface="BIZ UDPゴシック"/>
                <a:ea typeface="BIZ UDPゴシック"/>
                <a:cs typeface="BIZ UDPゴシック"/>
              </a:defRPr>
            </a:lvl6pPr>
            <a:lvl7pPr>
              <a:defRPr sz="2000">
                <a:latin typeface="BIZ UDPゴシック"/>
                <a:ea typeface="BIZ UDPゴシック"/>
                <a:cs typeface="BIZ UDPゴシック"/>
              </a:defRPr>
            </a:lvl7pPr>
            <a:lvl8pPr>
              <a:defRPr sz="2000">
                <a:latin typeface="BIZ UDPゴシック"/>
                <a:ea typeface="BIZ UDPゴシック"/>
                <a:cs typeface="BIZ UDPゴシック"/>
              </a:defRPr>
            </a:lvl8pPr>
            <a:lvl9pPr>
              <a:defRPr sz="20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2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0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ns2="http://schemas.microsoft.com/office/powerpoint/2010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8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24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9pPr>
          </a:lstStyle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2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0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ns2="http://schemas.microsoft.com/office/powerpoint/2010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ns2="http://schemas.microsoft.com/office/powerpoint/2010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9pPr>
    </p:bodyStyle>
    <p:otherStyle>
      <a:defPPr>
        <a:defRPr lang="en-US">
          <a:latin typeface="BIZ UDPゴシック"/>
          <a:ea typeface="BIZ UDPゴシック"/>
          <a:cs typeface="BIZ UDPゴシック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むつ市水道事業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市長説明に向けた</a:t>
            </a:r>
            <a:br/>
            <a:r>
              <a:rPr>
                <a:latin typeface="BIZ UDPゴシック"/>
              </a:rPr>
              <a:t>現状分析・料金改定検討の進め方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令和8年度業務整理｜R3〜R7決算実績・R8予算・投資財政シミュレーション反映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657600"/>
            <a:ext cx="512064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本資料の狙い</a:t>
            </a:r>
            <a:br/>
            <a:r>
              <a:rPr>
                <a:latin typeface="BIZ UDPゴシック"/>
              </a:rPr>
              <a:t>・決算上の黒字と営業赤字の違いを明確化</a:t>
            </a:r>
            <a:br/>
            <a:r>
              <a:rPr>
                <a:latin typeface="BIZ UDPゴシック"/>
              </a:rPr>
              <a:t>・資金残高の低下と投資財源リスクを説明</a:t>
            </a:r>
            <a:br/>
            <a:r>
              <a:rPr>
                <a:latin typeface="BIZ UDPゴシック"/>
              </a:rPr>
              <a:t>・R9水道ビジョン改定・R10料金審議へ接続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749039"/>
            <a:ext cx="493776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4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料金改定の必要性を早期共有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今年度業務の位置づけ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令和8年度は、料金改定案を確定する年度ではなく、理事者に「検討開始の必要性」を共有する年度。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経営分析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87451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R3〜R7の決算統計・決算書から、営業赤字、料金回収率、繰入金、資金残高を整理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17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現状シミュレーション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017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現行料金を前提に、料金算定期間・資産維持費別に必要水準を試算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160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審議会運営設計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160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R9.6条例改正を想定し、委員構成・説明事項・審議順序を整理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577840"/>
            <a:ext cx="1097280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到達点：7月の理事者説明で、料金改定検討を進める必要性と次年度以降の工程を合意する。</a:t>
            </a:r>
          </a:p>
        </p:txBody>
      </p:sp>
    </p:spTree>
  </p:cSld>
  <p:clrMapOvr>
    <a:masterClrMapping/>
  </p:clrMapOvr>
</p:sld>
</file>

<file path=ppt/slides/slide3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/>
      <ns0:sp>
        <ns0:nvSpPr>
          <ns0:cNvPr id="2" name="TextBox 1"/>
          <ns0:cNvSpPr txBox="1"/>
          <ns0:nvPr/>
        </ns0:nvSpPr>
        <ns0:spPr>
          <ns1:xfrm>
            <ns1:off x="320040" y="219456"/>
            <ns1:ext cx="11521440" cy="502920"/>
          </ns1:xfrm>
          <ns1:prstGeom prst="rect">
            <ns1:avLst/>
          </ns1:prstGeom>
          <ns1:noFill/>
        </ns0:spPr>
        <ns0:txBody>
          <ns1:bodyPr wrap="none" anchor="ctr">
            <ns1:spAutoFit/>
          </ns1:bodyPr>
          <ns1:lstStyle/>
          <ns1:p>
            <ns1:pPr>
              <ns1:defRPr sz="2800" b="1">
                <ns1:solidFill>
                  <ns1:srgbClr val="123458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打合せ内容と工程表の整合</ns1:t>
            </ns1:r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347472" y="749808"/>
            <ns1:ext cx="11430000" cy="32004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1200">
                <ns1:solidFill>
                  <ns1:srgbClr val="475569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令和8年度の作業範囲</ns1:t>
            </ns1:r>
          </ns1:p>
        </ns0:txBody>
      </ns0:sp>
      <ns0:sp>
        <ns0:nvSpPr>
          <ns0:cNvPr id="4" name="Rectangle 3"/>
          <ns0:cNvSpPr/>
          <ns0:nvPr/>
        </ns0:nvSpPr>
        <ns0:spPr>
          <ns1:xfrm>
            <ns1:off x="320040" y="1078992"/>
            <ns1:ext cx="11521440" cy="27432"/>
          </ns1:xfrm>
          <ns1:prstGeom prst="rect">
            <ns1:avLst/>
          </ns1:prstGeom>
          <ns1:solidFill>
            <ns1:srgbClr val="2563EB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11384280" y="6446520"/>
            <ns1:ext cx="502920" cy="22860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 algn="r">
              <ns1:defRPr sz="1500">
                <ns1:solidFill>
                  <ns1:srgbClr val="475569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3</ns1:t>
            </ns1:r>
          </ns1:p>
        </ns0:txBody>
      </ns0:sp>
      <ns0:graphicFrame>
        <ns0:nvGraphicFramePr>
          <ns0:cNvPr id="6" name="Table 5"/>
          <ns0:cNvGraphicFramePr>
            <ns1:graphicFrameLocks noGrp="1"/>
          </ns0:cNvGraphicFramePr>
          <ns0:nvPr/>
        </ns0:nvGraphicFramePr>
        <ns0:xfrm>
          <ns1:off x="502920" y="1417320"/>
          <ns1:ext cx="11155680" cy="4297680"/>
        </ns0:xfrm>
        <ns1:graphic>
          <ns1:graphicData uri="http://schemas.openxmlformats.org/drawingml/2006/table">
            <ns1:tbl>
              <ns1:tblPr firstRow="1" bandRow="1">
                <ns1:tableStyleId>{5C22544A-7EE6-4342-B048-85BDC9FD1C3A}</ns1:tableStyleId>
              </ns1:tblPr>
              <ns1:tblGrid>
                <ns1:gridCol w="1645920"/>
                <ns1:gridCol w="3017520"/>
                <ns1:gridCol w="2834640"/>
                <ns1:gridCol w="3657600"/>
              </ns1:tblGrid>
              <ns1:tr h="716280">
                <ns1:tc>
                  <ns1:txBody>
                    <ns1:bodyPr/>
                    <ns1:lstStyle/>
                    <ns1:p>
                      <ns1:pPr algn="ctr">
                        <ns1:defRPr sz="10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論点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打合せでの確認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工程表での扱い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今年度の作業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</ns1:tr>
              <ns1:tr h="716280">
                <ns1:tc>
                  <ns1:txBody>
                    <ns1:bodyPr/>
                    <ns1:lstStyle/>
                    <ns1:p>
                      <ns1:pPr algn="l">
                        <ns1:defRPr sz="10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市長説明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6月下旬〜7月第1週を目途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7月に理事者へ現状説明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R3〜R7実績・初期試算を資料化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  <ns1:tr h="716280">
                <ns1:tc>
                  <ns1:txBody>
                    <ns1:bodyPr/>
                    <ns1:lstStyle/>
                    <ns1:p>
                      <ns1:pPr algn="l">
                        <ns1:defRPr sz="10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投資計画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実態ベースを反映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現状シミュレーションで整理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R7決算、R8予算、R9以降予定を整理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</ns1:tr>
              <ns1:tr h="716280">
                <ns1:tc>
                  <ns1:txBody>
                    <ns1:bodyPr/>
                    <ns1:lstStyle/>
                    <ns1:p>
                      <ns1:pPr algn="l">
                        <ns1:defRPr sz="10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資産維持費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1％・2％・3％を比較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料金改定支援へ接続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0〜3％の感度分析を提示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  <ns1:tr h="716280">
                <ns1:tc>
                  <ns1:txBody>
                    <ns1:bodyPr/>
                    <ns1:lstStyle/>
                    <ns1:p>
                      <ns1:pPr algn="l">
                        <ns1:defRPr sz="10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審議会条例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市長選を考慮しR9.6想定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R9.6条例改正提出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委員構成・審議順序を設計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</ns1:tr>
              <ns1:tr h="716280">
                <ns1:tc>
                  <ns1:txBody>
                    <ns1:bodyPr/>
                    <ns1:lstStyle/>
                    <ns1:p>
                      <ns1:pPr algn="l">
                        <ns1:defRPr sz="10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水道ビジョン改定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審議ではなく説明中心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R9に水道ビジョン改定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今年度は接続論点を整理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7" name="TextBox 6"/>
          <ns0:cNvSpPr txBox="1"/>
          <ns0:nvPr/>
        </ns0:nvSpPr>
        <ns0:spPr>
          <ns1:xfrm>
            <ns1:off x="502920" y="5897880"/>
            <ns1:ext cx="110642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defRPr sz="1000" b="0">
                <ns1:solidFill>
                  <ns1:srgbClr val="475569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出典：業務工程表（案R9.6条例改正版）、2026/5/27打合せ議事録</ns1:t>
            </ns1:r>
          </ns1:p>
        </ns0:txBody>
      </ns0:sp>
    </ns0:spTree>
  </ns0:cSld>
  <ns0:clrMapOvr>
    <ns1:masterClrMapping/>
  </ns0:clrMapOvr>
</ns0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R3〜R7の経営推移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決算上の黒字と営業赤字の乖離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給水収益はR3比で約97百万円減少。営業損益は毎年度赤字で、R7は△223百万円。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828800"/>
          <a:ext cx="6492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05840"/>
                <a:gridCol w="1005840"/>
                <a:gridCol w="1005840"/>
                <a:gridCol w="1005840"/>
                <a:gridCol w="1005840"/>
              </a:tblGrid>
              <a:tr h="4914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給水収益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1,314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1,150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1,269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1,217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営業損益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△210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△170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△223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当年度純利益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43800" y="1828800"/>
            <a:ext cx="402336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3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説明上のポイント</a:t>
            </a:r>
            <a:br/>
            <a:r>
              <a:rPr>
                <a:latin typeface="BIZ UDPゴシック"/>
              </a:rPr>
              <a:t>・純利益は黒字でも、給水収益で営業費用を賄えていない。</a:t>
            </a:r>
            <a:br/>
            <a:r>
              <a:rPr>
                <a:latin typeface="BIZ UDPゴシック"/>
              </a:rPr>
              <a:t>・R7は料金回収率92.98％で、給水原価が供給単価を上回る。</a:t>
            </a:r>
            <a:br/>
            <a:r>
              <a:rPr>
                <a:latin typeface="BIZ UDPゴシック"/>
              </a:rPr>
              <a:t>・現行料金のままでは財源余力が不足する。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単位：百万円。金額はR3〜R7決算書・決算統計から丸め。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料金回収率と基準外繰入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料金で回収できない不足を一般会計が補完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73152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  <a:gridCol w="1097280"/>
                <a:gridCol w="1097280"/>
                <a:gridCol w="1097280"/>
              </a:tblGrid>
              <a:tr h="62179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経常収支比率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106.54%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102.56%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101.51%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103.97%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103.20%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料金回収率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87.64%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94.73%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97.15%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92.98%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366760" y="1508760"/>
            <a:ext cx="3246120" cy="23317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3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読み取り</a:t>
            </a:r>
            <a:br/>
            <a:r>
              <a:rPr>
                <a:latin typeface="BIZ UDPゴシック"/>
              </a:rPr>
              <a:t>・R7は3条基準外が増加。</a:t>
            </a:r>
            <a:br/>
            <a:r>
              <a:rPr>
                <a:latin typeface="BIZ UDPゴシック"/>
              </a:rPr>
              <a:t>・4条基準外は概ね80〜90百万円台で継続。</a:t>
            </a:r>
            <a:br/>
            <a:r>
              <a:rPr>
                <a:latin typeface="BIZ UDPゴシック"/>
              </a:rPr>
              <a:t>・一般会計繰入が黒字維持と投資財源を支える構造。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92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単位：％、百万円。基準外繰入は決算統計40表ベース。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資金残高の推移と将来への示唆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R7末で資金余力が大きく低下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6126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914400"/>
                <a:gridCol w="914400"/>
                <a:gridCol w="914400"/>
                <a:gridCol w="914400"/>
                <a:gridCol w="9144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資金残高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1,099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798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553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559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243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0" y="1463040"/>
            <a:ext cx="4251960" cy="1417320"/>
          </a:xfrm>
          <a:prstGeom prst="roundRect">
            <a:avLst/>
          </a:prstGeom>
          <a:solidFill>
            <a:srgbClr val="FEF3C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R7末資金残高は243百万円。R3末から856百万円減少し、今後の大型投資に対する余力は限定的。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・資金残高は、損益だけではなく建設改良費・企業債償還で急減する。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・大型投資年度は、起債・繰入・補助金・料金収入増の組合せを示す必要がある。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・最低必要資金残高の目安を設定し、投資平準化と料金改定の双方で確保する。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349240"/>
            <a:ext cx="10972800" cy="457200"/>
          </a:xfrm>
          <a:prstGeom prst="roundRect">
            <a:avLst/>
          </a:prstGeom>
          <a:solidFill>
            <a:srgbClr val="FEF2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800" b="1">
                <a:solidFill>
                  <a:srgbClr val="B91C1C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現行料金維持だけでは資金確保が難しい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1" sz="2400">
                <a:solidFill>
                  <a:srgbClr val="1C3C60"/>
                </a:solidFill>
                <a:latin typeface="BIZ UDPゴシック"/>
              </a:rPr>
              <a:t>3条収支の将来推計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1350">
                <a:solidFill>
                  <a:srgbClr val="5E6572"/>
                </a:solidFill>
                <a:latin typeface="BIZ UDPゴシック"/>
              </a:rPr>
              <a:t>現行料金ベースでは、R9以降に料金回収率と経常収支が低下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492240"/>
            <a:ext cx="320040" cy="164592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r"/>
            <a:r>
              <a:rPr b="0" sz="900">
                <a:solidFill>
                  <a:srgbClr val="5E6572"/>
                </a:solidFill>
                <a:latin typeface="BIZ UDPゴシック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3908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593668"/>
                <a:gridCol w="1593668"/>
                <a:gridCol w="1593668"/>
                <a:gridCol w="1593668"/>
                <a:gridCol w="1593668"/>
                <a:gridCol w="1593672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区分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R7決算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R8予算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給水収益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1,217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1,332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1,207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1,195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1,125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水道事業収益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1,651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1,748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1,586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1,577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1,559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1,472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水道事業費用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1,710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1,603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1,608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E4141"/>
                          </a:solidFill>
                          <a:latin typeface="BIZ UDPゴシック"/>
                        </a:rPr>
                        <a:t>経常収支比率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103.2%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100.5%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99.3%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98.4%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97.0%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92.1%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E4141"/>
                          </a:solidFill>
                          <a:latin typeface="BIZ UDPゴシック"/>
                        </a:rPr>
                        <a:t>料金回収率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93.0%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93.1%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91.6%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90.7%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89.1%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83.6%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977639"/>
            <a:ext cx="10881360" cy="132588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R7は決算上黒字でも、給水収益で給水原価を回収できていない。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現行料金を前提にすると、R9以降は経常収支比率が100％を下回り、R16では料金回収率が83.6％まで低下する。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料金改定の説明は、単年度の資金ショートではなく「料金で事業を支えられない構造」を起点にする。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96128"/>
            <a:ext cx="10881360" cy="32004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919">
                <a:solidFill>
                  <a:srgbClr val="5E6572"/>
                </a:solidFill>
                <a:latin typeface="BIZ UDPゴシック"/>
              </a:rPr>
              <a:t>単位：百万円。R8は当初予算、R9以降はR8予算反映・年次計画置換後の現行料金ベース。料金回収率は給水収益÷給水原価対象費用。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1" sz="2400">
                <a:solidFill>
                  <a:srgbClr val="1C3C60"/>
                </a:solidFill>
                <a:latin typeface="BIZ UDPゴシック"/>
              </a:rPr>
              <a:t>投資財政計画の採用前提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1350">
                <a:solidFill>
                  <a:srgbClr val="5E6572"/>
                </a:solidFill>
                <a:latin typeface="BIZ UDPゴシック"/>
              </a:rPr>
              <a:t>旧水道ビジョン比較は外し、実体ベースの将来年次計画で整理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492240"/>
            <a:ext cx="320040" cy="164592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r"/>
            <a:r>
              <a:rPr b="0" sz="900">
                <a:solidFill>
                  <a:srgbClr val="5E6572"/>
                </a:solidFill>
                <a:latin typeface="BIZ UDPゴシック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234440"/>
          <a:ext cx="1189967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039090"/>
                <a:gridCol w="1039090"/>
                <a:gridCol w="1039090"/>
                <a:gridCol w="1039090"/>
                <a:gridCol w="1039090"/>
                <a:gridCol w="1039090"/>
                <a:gridCol w="1039090"/>
                <a:gridCol w="1039090"/>
                <a:gridCol w="1039090"/>
                <a:gridCol w="10391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区分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R7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1C23"/>
                          </a:solidFill>
                          <a:latin typeface="BIZ UDPゴシック"/>
                        </a:rPr>
                        <a:t>建設改良費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889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403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761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558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389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—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714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614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336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284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278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2880360"/>
            <a:ext cx="10698480" cy="155448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旧水道ビジョン数値との増減比較は、次年度の水道ビジョン改定で再整理するため市長説明からは外す。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本資料では、予定工事を実施する場合に、企業債・補助金・負担金・補填財源で予算が組めるかを示す。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企業債は、建設改良費から国庫補助金・工事負担金を控除した額に100％充当する前提で置換している。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28032"/>
            <a:ext cx="10698480" cy="59436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1050">
                <a:solidFill>
                  <a:srgbClr val="5E6572"/>
                </a:solidFill>
                <a:latin typeface="BIZ UDPゴシック"/>
              </a:rPr>
              <a:t>留意点：R7→R8繰越工事182百万円は現時点で本SIMに未反映。執行見込確定後、R8建設改良費・企業債・補填財源への影響を追加精査する。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10698480" cy="292608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919">
                <a:solidFill>
                  <a:srgbClr val="5E6572"/>
                </a:solidFill>
                <a:latin typeface="BIZ UDPゴシック"/>
              </a:rPr>
              <a:t>単位：百万円。建設改良費は将来年次計画、企業債は充当率100％方針による置換後。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1" sz="2400">
                <a:solidFill>
                  <a:srgbClr val="1C3C60"/>
                </a:solidFill>
                <a:latin typeface="BIZ UDPゴシック"/>
              </a:rPr>
              <a:t>資本的収支と補填財源の見方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1350">
                <a:solidFill>
                  <a:srgbClr val="5E6572"/>
                </a:solidFill>
                <a:latin typeface="BIZ UDPゴシック"/>
              </a:rPr>
              <a:t>収入・支出の下段で、収支不足額と補填財源残高を確認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492240"/>
            <a:ext cx="320040" cy="164592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r"/>
            <a:r>
              <a:rPr b="0" sz="900">
                <a:solidFill>
                  <a:srgbClr val="5E6572"/>
                </a:solidFill>
                <a:latin typeface="BIZ UDPゴシック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115568"/>
          <a:ext cx="120929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165860"/>
                <a:gridCol w="1165860"/>
                <a:gridCol w="1165860"/>
                <a:gridCol w="1165860"/>
                <a:gridCol w="1165860"/>
                <a:gridCol w="1165860"/>
                <a:gridCol w="1165860"/>
                <a:gridCol w="1165860"/>
                <a:gridCol w="11658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項目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資本的収入計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1,055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929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732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563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537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421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614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336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284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278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資本的支出計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1,684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1,136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1,437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1,206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977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957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927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823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775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建設改良費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889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403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761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558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389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383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企業債償還金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796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733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676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647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588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559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557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544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BE4141"/>
                          </a:solidFill>
                          <a:latin typeface="BIZ UDPゴシック"/>
                        </a:rPr>
                        <a:t>収支不足額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△629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△558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△508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△474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△405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△394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△390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△402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△409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BE4141"/>
                          </a:solidFill>
                          <a:latin typeface="BIZ UDPゴシック"/>
                        </a:rPr>
                        <a:t>補填財源残高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72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△26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46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235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423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600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752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883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983480"/>
            <a:ext cx="11064240" cy="82296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defRPr sz="115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R9・R10は補填財源残高がマイナスとなり、一般会計支援、追加起債、投資平準化、料金改定の組合せが必要となる。</a:t>
            </a:r>
          </a:p>
          <a:p>
            <a:pPr>
              <a:defRPr sz="115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市長説明では「現金が一時的に減る」ではなく、「補填財源が不足し、予定工事の予算化が難しくなる」流れで説明する。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961888"/>
            <a:ext cx="11064240" cy="32004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880">
                <a:solidFill>
                  <a:srgbClr val="5E6572"/>
                </a:solidFill>
                <a:latin typeface="BIZ UDPゴシック"/>
              </a:rPr>
              <a:t>単位：百万円。補填財源残高はR7末183百万円を起点とした簡便推計。R11以降はスライド10の改定率0％ケースを反映。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資産維持費0〜3％シミュレーション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経常収支比率・料金回収率・現預金（営業費用修正後）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325880"/>
          <a:ext cx="96012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234440"/>
                <a:gridCol w="1325880"/>
                <a:gridCol w="1325880"/>
                <a:gridCol w="2011680"/>
                <a:gridCol w="1234440"/>
                <a:gridCol w="1645920"/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必要改定率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R11経常収支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R11料金回収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R11資産維持費込料金回収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R16現預金（修正後）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R7-R16累計4条不足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7.3%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107.7%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95.6%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95.6%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942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21.5%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128.6%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108.3%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96.3%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2,907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35.7%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149.5%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120.9%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96.9%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4,872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49.9%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170.3%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133.6%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97.4%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6,836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06908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・必要改定率は、二重計上除外に加え、企業債充当率100%の支払利息と建設仮勘定供用開始（減価償却・戻入）を総括原価へ統合した水準。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・現行料金のままでは補填財源がR9〜R10に不足（R9末△26・R10末△83百万円、現預金もR10末△24百万円）し、R11改定で回復する。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・市長説明では、0％は収支均衡の比較下限、1〜2％は現実的検討、3％は感度分析の上限として整理する。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※R7は決算確定値（累計4条不足に反映）。現預金は百万円。企業債充当率100%（建設改良費−国庫−工事負担金、利率3%・40年元金均等）、過年度建設仮勘定純額12百万円のR9借入、建設仮勘定の減価償却・戻入を本体へ統合済み。補填財源はR7末183百万円（0708修正版補てん財源経過表）起点の簡便推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持続可能性確保のための具体策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料金改定だけでなく、投資・財源・説明を一体化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料金水準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総括原価を水道協会方式で整理し、資産維持費0〜3％の影響を示す。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料金体系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基本料金を残しつつ、基本水量・従量料金・大口影響を検証する。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投資平準化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R8以降の大型更新を平準化し、資金残高の急減を抑制する。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財源構成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企業債、国庫補助、一般会計繰入、料金収入の役割を明確にする。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86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説明責任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383133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R9水道ビジョン改定、R10料金審議、R11施行までの段階説明を設計する。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23560"/>
            <a:ext cx="1097280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判断を求める事項：令和8年度中に、料金改定検討を正式に次年度工程へ進める方針を確認する。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今後の工程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R8〜R11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現状分析・市長説明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経営分析／現状シミュレーション／審議会設計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水道ビジョン改定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R8決算・AM結果反映／水道ビジョン説明／審議会条例改正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料金改定審議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総括原価／料金体系／改定素案／パブコメ／答申案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59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料金改定施行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条例施行・周知・運用開始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212080"/>
            <a:ext cx="10972800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工程管理上の要点：R8で必要性を共有し、R9で水道ビジョンへ反映、R10で料金体系を具体化する。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投資財政計画Excelの構成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市長説明後の精査・審議会資料化へ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772400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シート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内容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02_R8予算_年次計画置換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R8予算収入・将来年次計画投資へ置換した投資財政計画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03_SIM比較_R8予算反映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資産維持費率0〜3％の主要指標比較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04_R8予算・投資確認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R8当初予算・作成資料・年次計画・採用値の差異確認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SIM_R8予算置換_0%〜3%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各SIMの経常収支比率、料金回収率、4条財源、現預金推計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6634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・企業債充当率、国庫補助、工事負担金、一般会計繰入の事業別前提を確認。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・最低必要現預金の目安を設定。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・資産維持費の採用水準を政治判断の論点として整理。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・R7→R8繰越工事182百万円（別途確認中）、償還条件確定、需要弾力性の反映を審議会資料化までに実施。</a:t>
            </a:r>
          </a:p>
        </p:txBody>
      </p:sp>
    </p:spTree>
  </p:cSld>
  <p:clrMapOvr>
    <a:masterClrMapping/>
  </p:clrMapOvr>
</p:sld>
</file>

<file path=ppt/slides/slide14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/>
      <ns0:sp>
        <ns0:nvSpPr>
          <ns0:cNvPr id="2" name="TextBox 1"/>
          <ns0:cNvSpPr txBox="1"/>
          <ns0:nvPr/>
        </ns0:nvSpPr>
        <ns0:spPr>
          <ns1:xfrm>
            <ns1:off x="320040" y="219456"/>
            <ns1:ext cx="11521440" cy="502920"/>
          </ns1:xfrm>
          <ns1:prstGeom prst="rect">
            <ns1:avLst/>
          </ns1:prstGeom>
          <ns1:noFill/>
        </ns0:spPr>
        <ns0:txBody>
          <ns1:bodyPr wrap="none" anchor="ctr">
            <ns1:spAutoFit/>
          </ns1:bodyPr>
          <ns1:lstStyle/>
          <ns1:p>
            <ns1:pPr>
              <ns1:defRPr sz="2800" b="1">
                <ns1:solidFill>
                  <ns1:srgbClr val="123458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直近の作業方針</ns1:t>
            </ns1:r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347472" y="749808"/>
            <ns1:ext cx="11430000" cy="32004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1200">
                <ns1:solidFill>
                  <ns1:srgbClr val="475569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市長説明資料に反映する内容</ns1:t>
            </ns1:r>
          </ns1:p>
        </ns0:txBody>
      </ns0:sp>
      <ns0:sp>
        <ns0:nvSpPr>
          <ns0:cNvPr id="4" name="Rectangle 3"/>
          <ns0:cNvSpPr/>
          <ns0:nvPr/>
        </ns0:nvSpPr>
        <ns0:spPr>
          <ns1:xfrm>
            <ns1:off x="320040" y="1078992"/>
            <ns1:ext cx="11521440" cy="27432"/>
          </ns1:xfrm>
          <ns1:prstGeom prst="rect">
            <ns1:avLst/>
          </ns1:prstGeom>
          <ns1:solidFill>
            <ns1:srgbClr val="2563EB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11384280" y="6446520"/>
            <ns1:ext cx="502920" cy="22860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 algn="r">
              <ns1:defRPr sz="1500">
                <ns1:solidFill>
                  <ns1:srgbClr val="475569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14</ns1:t>
            </ns1:r>
          </ns1:p>
        </ns0:txBody>
      </ns0:sp>
      <ns0:graphicFrame>
        <ns0:nvGraphicFramePr>
          <ns0:cNvPr id="6" name="Table 5"/>
          <ns0:cNvGraphicFramePr>
            <ns1:graphicFrameLocks noGrp="1"/>
          </ns0:cNvGraphicFramePr>
          <ns0:nvPr/>
        </ns0:nvGraphicFramePr>
        <ns0:xfrm>
          <ns1:off x="502920" y="1325880"/>
          <ns1:ext cx="10972800" cy="3886200"/>
        </ns0:xfrm>
        <ns1:graphic>
          <ns1:graphicData uri="http://schemas.openxmlformats.org/drawingml/2006/table">
            <ns1:tbl>
              <ns1:tblPr firstRow="1" bandRow="1">
                <ns1:tableStyleId>{5C22544A-7EE6-4342-B048-85BDC9FD1C3A}</ns1:tableStyleId>
              </ns1:tblPr>
              <ns1:tblGrid>
                <ns1:gridCol w="2011680"/>
                <ns1:gridCol w="6217920"/>
                <ns1:gridCol w="2743200"/>
              </ns1:tblGrid>
              <ns1:tr h="647700">
                <ns1:tc>
                  <ns1:txBody>
                    <ns1:bodyPr/>
                    <ns1:lstStyle/>
                    <ns1:p>
                      <ns1:pPr algn="ctr">
                        <ns1:defRPr sz="11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作業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内容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成果物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</ns1:tr>
              <ns1:tr h="647700">
                <ns1:tc>
                  <ns1:txBody>
                    <ns1:bodyPr/>
                    <ns1:lstStyle/>
                    <ns1:p>
                      <ns1:pPr algn="l">
                        <ns1:defRPr sz="11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1. 数値固定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R3〜R7の5か年で、損益・料金回収率・繰入金・資金残高を統一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現状分析表／グラフ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  <ns1:tr h="647700">
                <ns1:tc>
                  <ns1:txBody>
                    <ns1:bodyPr/>
                    <ns1:lstStyle/>
                    <ns1:p>
                      <ns1:pPr algn="l">
                        <ns1:defRPr sz="11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2. 原価計算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R11開始5年、資産維持費0〜3％で比較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総括原価試算表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</ns1:tr>
              <ns1:tr h="647700">
                <ns1:tc>
                  <ns1:txBody>
                    <ns1:bodyPr/>
                    <ns1:lstStyle/>
                    <ns1:p>
                      <ns1:pPr algn="l">
                        <ns1:defRPr sz="11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3. 投資財政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R8予算収入・将来年次投資・元金償還・財源を反映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資金残高推計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  <ns1:tr h="647700">
                <ns1:tc>
                  <ns1:txBody>
                    <ns1:bodyPr/>
                    <ns1:lstStyle/>
                    <ns1:p>
                      <ns1:pPr algn="l">
                        <ns1:defRPr sz="11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4. 市長説明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料金改定の必要性、R9〜R11工程、判断事項を整理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説明用PPT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</ns1:tr>
              <ns1:tr h="647700">
                <ns1:tc>
                  <ns1:txBody>
                    <ns1:bodyPr/>
                    <ns1:lstStyle/>
                    <ns1:p>
                      <ns1:pPr algn="l">
                        <ns1:defRPr sz="11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5. 審議会設計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委員構成、条例改正、審議順序、水道ビジョン説明の扱いを整理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設計メモ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7" name="TextBox 6"/>
          <ns0:cNvSpPr txBox="1"/>
          <ns0:nvPr/>
        </ns0:nvSpPr>
        <ns0:spPr>
          <ns1:xfrm>
            <ns1:off x="594360" y="5623560"/>
            <ns1:ext cx="10972800" cy="4114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defRPr sz="1400" b="1">
                <ns1:solidFill>
                  <ns1:srgbClr val="2563EB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次工程：市長説明用PPTを、R3〜R7固定・R8予算反映・投資財政SIM整合の内容で再構成する。</ns1:t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BIZ UDPゴシック"/>
        <a:font script="Jpan" typeface="BIZ UDPゴシック"/>
        <a:font script="Hang" typeface="BIZ UDPゴシック"/>
        <a:font script="Hans" typeface="BIZ UDPゴシック"/>
        <a:font script="Hant" typeface="BIZ UDPゴシック"/>
        <a:font script="Arab" typeface="BIZ UDPゴシック"/>
        <a:font script="Hebr" typeface="BIZ UDPゴシック"/>
        <a:font script="Thai" typeface="BIZ UDPゴシック"/>
        <a:font script="Ethi" typeface="BIZ UDPゴシック"/>
        <a:font script="Beng" typeface="BIZ UDPゴシック"/>
        <a:font script="Gujr" typeface="BIZ UDPゴシック"/>
        <a:font script="Khmr" typeface="BIZ UDPゴシック"/>
        <a:font script="Knda" typeface="BIZ UDPゴシック"/>
        <a:font script="Guru" typeface="BIZ UDPゴシック"/>
        <a:font script="Cans" typeface="BIZ UDPゴシック"/>
        <a:font script="Cher" typeface="BIZ UDPゴシック"/>
        <a:font script="Yiii" typeface="BIZ UDPゴシック"/>
        <a:font script="Tibt" typeface="BIZ UDPゴシック"/>
        <a:font script="Thaa" typeface="BIZ UDPゴシック"/>
        <a:font script="Deva" typeface="BIZ UDPゴシック"/>
        <a:font script="Telu" typeface="BIZ UDPゴシック"/>
        <a:font script="Taml" typeface="BIZ UDPゴシック"/>
        <a:font script="Syrc" typeface="BIZ UDPゴシック"/>
        <a:font script="Orya" typeface="BIZ UDPゴシック"/>
        <a:font script="Mlym" typeface="BIZ UDPゴシック"/>
        <a:font script="Laoo" typeface="BIZ UDPゴシック"/>
        <a:font script="Sinh" typeface="BIZ UDPゴシック"/>
        <a:font script="Mong" typeface="BIZ UDPゴシック"/>
        <a:font script="Viet" typeface="BIZ UDPゴシック"/>
        <a:font script="Uigh" typeface="BIZ UDPゴシック"/>
        <a:font script="Geor" typeface="BIZ UDPゴシック"/>
      </a:majorFont>
      <a:minorFont>
        <a:latin typeface="BIZ UDPゴシック"/>
        <a:ea typeface="BIZ UDPゴシック"/>
        <a:cs typeface="BIZ UDPゴシック"/>
        <a:font script="Jpan" typeface="BIZ UDPゴシック"/>
        <a:font script="Hang" typeface="BIZ UDPゴシック"/>
        <a:font script="Hans" typeface="BIZ UDPゴシック"/>
        <a:font script="Hant" typeface="BIZ UDPゴシック"/>
        <a:font script="Arab" typeface="BIZ UDPゴシック"/>
        <a:font script="Hebr" typeface="BIZ UDPゴシック"/>
        <a:font script="Thai" typeface="BIZ UDPゴシック"/>
        <a:font script="Ethi" typeface="BIZ UDPゴシック"/>
        <a:font script="Beng" typeface="BIZ UDPゴシック"/>
        <a:font script="Gujr" typeface="BIZ UDPゴシック"/>
        <a:font script="Khmr" typeface="BIZ UDPゴシック"/>
        <a:font script="Knda" typeface="BIZ UDPゴシック"/>
        <a:font script="Guru" typeface="BIZ UDPゴシック"/>
        <a:font script="Cans" typeface="BIZ UDPゴシック"/>
        <a:font script="Cher" typeface="BIZ UDPゴシック"/>
        <a:font script="Yiii" typeface="BIZ UDPゴシック"/>
        <a:font script="Tibt" typeface="BIZ UDPゴシック"/>
        <a:font script="Thaa" typeface="BIZ UDPゴシック"/>
        <a:font script="Deva" typeface="BIZ UDPゴシック"/>
        <a:font script="Telu" typeface="BIZ UDPゴシック"/>
        <a:font script="Taml" typeface="BIZ UDPゴシック"/>
        <a:font script="Syrc" typeface="BIZ UDPゴシック"/>
        <a:font script="Orya" typeface="BIZ UDPゴシック"/>
        <a:font script="Mlym" typeface="BIZ UDPゴシック"/>
        <a:font script="Laoo" typeface="BIZ UDPゴシック"/>
        <a:font script="Sinh" typeface="BIZ UDPゴシック"/>
        <a:font script="Mong" typeface="BIZ UDPゴシック"/>
        <a:font script="Viet" typeface="BIZ UDPゴシック"/>
        <a:font script="Uigh" typeface="BIZ UDPゴシック"/>
        <a:font script="Geor"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