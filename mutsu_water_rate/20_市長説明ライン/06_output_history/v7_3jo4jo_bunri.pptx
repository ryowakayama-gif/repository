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0" r:id="rId21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>
        <a:latin typeface="BIZ UDPゴシック"/>
        <a:ea typeface="BIZ UDPゴシック"/>
        <a:cs typeface="BIZ UDPゴシック"/>
      </a:defRPr>
    </a:defPPr>
    <a:lvl1pPr marL="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BIZ UDPゴシック"/>
        <a:ea typeface="BIZ UDPゴシック"/>
        <a:cs typeface="BIZ UDPゴシック"/>
      </a:defRPr>
    </a:lvl9pPr>
  </p:defaultTextStyle>
</p:presentation>
</file>

<file path=ppt/presProps.xml><?xml version="1.0" encoding="utf-8"?>
<p:presentationPr xmlns:ns1="http://schemas.microsoft.com/office/powerpoint/2010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powerpoint/2010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subtitle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powerpoint/2010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latin typeface="BIZ UDPゴシック"/>
                <a:ea typeface="BIZ UDPゴシック"/>
                <a:cs typeface="BIZ UDPゴシック"/>
              </a:defRPr>
            </a:lvl1pPr>
            <a:lvl2pPr>
              <a:defRPr sz="2400">
                <a:latin typeface="BIZ UDPゴシック"/>
                <a:ea typeface="BIZ UDPゴシック"/>
                <a:cs typeface="BIZ UDPゴシック"/>
              </a:defRPr>
            </a:lvl2pPr>
            <a:lvl3pPr>
              <a:defRPr sz="2000">
                <a:latin typeface="BIZ UDPゴシック"/>
                <a:ea typeface="BIZ UDPゴシック"/>
                <a:cs typeface="BIZ UDPゴシック"/>
              </a:defRPr>
            </a:lvl3pPr>
            <a:lvl4pPr>
              <a:defRPr sz="1800">
                <a:latin typeface="BIZ UDPゴシック"/>
                <a:ea typeface="BIZ UDPゴシック"/>
                <a:cs typeface="BIZ UDPゴシック"/>
              </a:defRPr>
            </a:lvl4pPr>
            <a:lvl5pPr>
              <a:defRPr sz="1800">
                <a:latin typeface="BIZ UDPゴシック"/>
                <a:ea typeface="BIZ UDPゴシック"/>
                <a:cs typeface="BIZ UDPゴシック"/>
              </a:defRPr>
            </a:lvl5pPr>
            <a:lvl6pPr>
              <a:defRPr sz="1800">
                <a:latin typeface="BIZ UDPゴシック"/>
                <a:ea typeface="BIZ UDPゴシック"/>
                <a:cs typeface="BIZ UDPゴシック"/>
              </a:defRPr>
            </a:lvl6pPr>
            <a:lvl7pPr>
              <a:defRPr sz="1800">
                <a:latin typeface="BIZ UDPゴシック"/>
                <a:ea typeface="BIZ UDPゴシック"/>
                <a:cs typeface="BIZ UDPゴシック"/>
              </a:defRPr>
            </a:lvl7pPr>
            <a:lvl8pPr>
              <a:defRPr sz="1800">
                <a:latin typeface="BIZ UDPゴシック"/>
                <a:ea typeface="BIZ UDPゴシック"/>
                <a:cs typeface="BIZ UDPゴシック"/>
              </a:defRPr>
            </a:lvl8pPr>
            <a:lvl9pPr>
              <a:defRPr sz="18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000" b="1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800" b="1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1600" b="1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BIZ UDPゴシック"/>
                <a:ea typeface="BIZ UDPゴシック"/>
                <a:cs typeface="BIZ UDPゴシック"/>
              </a:defRPr>
            </a:lvl1pPr>
            <a:lvl2pPr>
              <a:defRPr sz="2000">
                <a:latin typeface="BIZ UDPゴシック"/>
                <a:ea typeface="BIZ UDPゴシック"/>
                <a:cs typeface="BIZ UDPゴシック"/>
              </a:defRPr>
            </a:lvl2pPr>
            <a:lvl3pPr>
              <a:defRPr sz="1800">
                <a:latin typeface="BIZ UDPゴシック"/>
                <a:ea typeface="BIZ UDPゴシック"/>
                <a:cs typeface="BIZ UDPゴシック"/>
              </a:defRPr>
            </a:lvl3pPr>
            <a:lvl4pPr>
              <a:defRPr sz="1600">
                <a:latin typeface="BIZ UDPゴシック"/>
                <a:ea typeface="BIZ UDPゴシック"/>
                <a:cs typeface="BIZ UDPゴシック"/>
              </a:defRPr>
            </a:lvl4pPr>
            <a:lvl5pPr>
              <a:defRPr sz="1600">
                <a:latin typeface="BIZ UDPゴシック"/>
                <a:ea typeface="BIZ UDPゴシック"/>
                <a:cs typeface="BIZ UDPゴシック"/>
              </a:defRPr>
            </a:lvl5pPr>
            <a:lvl6pPr>
              <a:defRPr sz="1600">
                <a:latin typeface="BIZ UDPゴシック"/>
                <a:ea typeface="BIZ UDPゴシック"/>
                <a:cs typeface="BIZ UDPゴシック"/>
              </a:defRPr>
            </a:lvl6pPr>
            <a:lvl7pPr>
              <a:defRPr sz="1600">
                <a:latin typeface="BIZ UDPゴシック"/>
                <a:ea typeface="BIZ UDPゴシック"/>
                <a:cs typeface="BIZ UDPゴシック"/>
              </a:defRPr>
            </a:lvl7pPr>
            <a:lvl8pPr>
              <a:defRPr sz="1600">
                <a:latin typeface="BIZ UDPゴシック"/>
                <a:ea typeface="BIZ UDPゴシック"/>
                <a:cs typeface="BIZ UDPゴシック"/>
              </a:defRPr>
            </a:lvl8pPr>
            <a:lvl9pPr>
              <a:defRPr sz="16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BIZ UDPゴシック"/>
                <a:ea typeface="BIZ UDPゴシック"/>
                <a:cs typeface="BIZ UDPゴシック"/>
              </a:defRPr>
            </a:lvl1pPr>
            <a:lvl2pPr>
              <a:defRPr sz="2800">
                <a:latin typeface="BIZ UDPゴシック"/>
                <a:ea typeface="BIZ UDPゴシック"/>
                <a:cs typeface="BIZ UDPゴシック"/>
              </a:defRPr>
            </a:lvl2pPr>
            <a:lvl3pPr>
              <a:defRPr sz="2400">
                <a:latin typeface="BIZ UDPゴシック"/>
                <a:ea typeface="BIZ UDPゴシック"/>
                <a:cs typeface="BIZ UDPゴシック"/>
              </a:defRPr>
            </a:lvl3pPr>
            <a:lvl4pPr>
              <a:defRPr sz="2000">
                <a:latin typeface="BIZ UDPゴシック"/>
                <a:ea typeface="BIZ UDPゴシック"/>
                <a:cs typeface="BIZ UDPゴシック"/>
              </a:defRPr>
            </a:lvl4pPr>
            <a:lvl5pPr>
              <a:defRPr sz="2000">
                <a:latin typeface="BIZ UDPゴシック"/>
                <a:ea typeface="BIZ UDPゴシック"/>
                <a:cs typeface="BIZ UDPゴシック"/>
              </a:defRPr>
            </a:lvl5pPr>
            <a:lvl6pPr>
              <a:defRPr sz="2000">
                <a:latin typeface="BIZ UDPゴシック"/>
                <a:ea typeface="BIZ UDPゴシック"/>
                <a:cs typeface="BIZ UDPゴシック"/>
              </a:defRPr>
            </a:lvl6pPr>
            <a:lvl7pPr>
              <a:defRPr sz="2000">
                <a:latin typeface="BIZ UDPゴシック"/>
                <a:ea typeface="BIZ UDPゴシック"/>
                <a:cs typeface="BIZ UDPゴシック"/>
              </a:defRPr>
            </a:lvl7pPr>
            <a:lvl8pPr>
              <a:defRPr sz="2000">
                <a:latin typeface="BIZ UDPゴシック"/>
                <a:ea typeface="BIZ UDPゴシック"/>
                <a:cs typeface="BIZ UDPゴシック"/>
              </a:defRPr>
            </a:lvl8pPr>
            <a:lvl9pPr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BIZ UDPゴシック"/>
                <a:ea typeface="BIZ UDPゴシック"/>
                <a:cs typeface="BIZ UDPゴシック"/>
              </a:defRPr>
            </a:lvl1pPr>
          </a:lstStyle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28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24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2000">
                <a:latin typeface="BIZ UDPゴシック"/>
                <a:ea typeface="BIZ UDPゴシック"/>
                <a:cs typeface="BIZ UDPゴシック"/>
              </a:defRPr>
            </a:lvl9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BIZ UDPゴシック"/>
                <a:ea typeface="BIZ UDPゴシック"/>
                <a:cs typeface="BIZ UDPゴシック"/>
              </a:defRPr>
            </a:lvl1pPr>
            <a:lvl2pPr marL="457200" indent="0">
              <a:buNone/>
              <a:defRPr sz="1200">
                <a:latin typeface="BIZ UDPゴシック"/>
                <a:ea typeface="BIZ UDPゴシック"/>
                <a:cs typeface="BIZ UDPゴシック"/>
              </a:defRPr>
            </a:lvl2pPr>
            <a:lvl3pPr marL="914400" indent="0">
              <a:buNone/>
              <a:defRPr sz="1000">
                <a:latin typeface="BIZ UDPゴシック"/>
                <a:ea typeface="BIZ UDPゴシック"/>
                <a:cs typeface="BIZ UDPゴシック"/>
              </a:defRPr>
            </a:lvl3pPr>
            <a:lvl4pPr marL="1371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4pPr>
            <a:lvl5pPr marL="18288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5pPr>
            <a:lvl6pPr marL="22860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6pPr>
            <a:lvl7pPr marL="27432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7pPr>
            <a:lvl8pPr marL="32004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8pPr>
            <a:lvl9pPr marL="3657600" indent="0">
              <a:buNone/>
              <a:defRPr sz="900">
                <a:latin typeface="BIZ UDPゴシック"/>
                <a:ea typeface="BIZ UDPゴシック"/>
                <a:cs typeface="BIZ UDPゴシック"/>
              </a:defRPr>
            </a:lvl9pPr>
          </a:lstStyle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title style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Click to edit Master text styles</a:t>
            </a:r>
          </a:p>
          <a:p>
            <a:pPr lvl="1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Second level</a:t>
            </a:r>
          </a:p>
          <a:p>
            <a:pPr lvl="2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Third level</a:t>
            </a:r>
          </a:p>
          <a:p>
            <a:pPr lvl="3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Fourth level</a:t>
            </a:r>
          </a:p>
          <a:p>
            <a:pPr lvl="4"/>
            <a:r>
              <a:rPr lang="en-US" smtClean="0">
                <a:latin typeface="BIZ UDPゴシック"/>
                <a:ea typeface="BIZ UDPゴシック"/>
                <a:cs typeface="BIZ UDPゴシック"/>
              </a:rPr>
              <a:t>Fifth level</a:t>
            </a:r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5BCAD085-E8A6-8845-BD4E-CB4CCA059FC4}" type="datetimeFigureOut">
              <a:rPr lang="en-US" smtClean="0">
                <a:latin typeface="BIZ UDPゴシック"/>
                <a:ea typeface="BIZ UDPゴシック"/>
                <a:cs typeface="BIZ UDPゴシック"/>
              </a:rPr>
              <a:t>1/27/13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BIZ UDPゴシック"/>
                <a:ea typeface="BIZ UDPゴシック"/>
                <a:cs typeface="BIZ UDPゴシック"/>
              </a:defRPr>
            </a:lvl1pPr>
          </a:lstStyle>
          <a:p>
            <a:fld id="{C1FF6DA9-008F-8B48-92A6-B652298478BF}" type="slidenum">
              <a:rPr lang="en-US" smtClean="0">
                <a:latin typeface="BIZ UDPゴシック"/>
                <a:ea typeface="BIZ UDPゴシック"/>
                <a:cs typeface="BIZ UDPゴシック"/>
              </a:rPr>
              <a:t>‹#›</a:t>
            </a:fld>
            <a:endParaRPr lang="en-US">
              <a:latin typeface="BIZ UDPゴシック"/>
              <a:ea typeface="BIZ UDPゴシック"/>
              <a:cs typeface="BIZ UDPゴシック"/>
            </a:endParaRPr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bodyStyle>
    <p:otherStyle>
      <a:defPPr>
        <a:defRPr lang="en-US">
          <a:latin typeface="BIZ UDPゴシック"/>
          <a:ea typeface="BIZ UDPゴシック"/>
          <a:cs typeface="BIZ UDPゴシック"/>
        </a:defRPr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BIZ UDPゴシック"/>
          <a:ea typeface="BIZ UDPゴシック"/>
          <a:cs typeface="BIZ UDPゴシック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むつ市水道事業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2588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市長説明に向けた</a:t>
            </a:r>
            <a:br/>
            <a:r>
              <a:rPr>
                <a:latin typeface="BIZ UDPゴシック"/>
              </a:rPr>
              <a:t>現状分析・料金改定検討の進め方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令和8年度業務整理｜R3〜R7決算実績・R8予算・投資財政シミュレーション反映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657600"/>
            <a:ext cx="5120640" cy="13716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本資料の狙い</a:t>
            </a:r>
            <a:br/>
            <a:r>
              <a:rPr>
                <a:latin typeface="BIZ UDPゴシック"/>
              </a:rPr>
              <a:t>・決算上の黒字と営業赤字の違いを明確化</a:t>
            </a:r>
            <a:br/>
            <a:r>
              <a:rPr>
                <a:latin typeface="BIZ UDPゴシック"/>
              </a:rPr>
              <a:t>・資金残高の低下と投資財源リスクを説明</a:t>
            </a:r>
            <a:br/>
            <a:r>
              <a:rPr>
                <a:latin typeface="BIZ UDPゴシック"/>
              </a:rPr>
              <a:t>・R9水道ビジョン改定・R10料金審議へ接続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749039"/>
            <a:ext cx="493776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4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料金改定の必要性を早期共有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今年度業務の位置づけ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令和8年度は、料金改定案を確定する年度ではなく、理事者に「検討開始の必要性」を共有する年度。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74519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R3〜R7の決算統計・決算書から、営業赤字、料金回収率、繰入金、資金残高を整理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017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現状シミュレーション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017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現行料金を前提に、料金算定期間・資産維持費別に必要水準を試算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160520"/>
            <a:ext cx="502920" cy="50292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9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160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審議会運営設計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R9.6条例改正を想定し、委員構成・説明事項・審議順序を整理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577840"/>
            <a:ext cx="10972800" cy="5029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到達点：7月の理事者説明で、料金改定検討を進める必要性と次年度以降の工程を合意する。</a:t>
            </a:r>
          </a:p>
        </p:txBody>
      </p:sp>
    </p:spTree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打合せ内容と工程表の整合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令和8年度の作業範囲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3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417320"/>
          <ns1:ext cx="11155680" cy="429768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1645920"/>
                <ns1:gridCol w="3017520"/>
                <ns1:gridCol w="2834640"/>
                <ns1:gridCol w="3657600"/>
              </ns1:tblGrid>
              <ns1:tr h="716280"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論点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打合せでの確認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工程表での扱い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今年度の作業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6月下旬〜7月第1週を目途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7月に理事者へ現状説明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R3〜R7実績・初期試算を資料化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投資計画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実態ベースを反映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現状シミュレーションで整理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R7決算、R8予算、R9以降予定を整理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資産維持費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1％・2％・3％を比較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料金改定支援へ接続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0〜3％の感度分析を提示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審議会条例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市長選を考慮しR9.6想定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R9.6条例改正提出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委員構成・審議順序を設計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716280">
                <ns1:tc>
                  <ns1:txBody>
                    <ns1:bodyPr/>
                    <ns1:lstStyle/>
                    <ns1:p>
                      <ns1:pPr algn="l">
                        <ns1:defRPr sz="10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審議ではなく説明中心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R9に水道ビジョン改定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0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今年度は接続論点を整理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02920" y="5897880"/>
            <ns1:ext cx="11064240" cy="27432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000" b="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出典：業務工程表（案R9.6条例改正版）、2026/5/27打合せ議事録</ns1:t>
            </ns1:r>
          </ns1:p>
        </ns0:txBody>
      </ns0:sp>
    </ns0:spTree>
  </ns0:cSld>
  <ns0:clrMapOvr>
    <ns1:masterClrMapping/>
  </ns0:clrMapOvr>
</ns0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R3〜R7の経営推移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決算上の黒字と営業赤字の乖離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給水収益はR3比で約97百万円減少。営業損益は毎年度赤字で、R7は△223百万円。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828800"/>
          <a:ext cx="6492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05840"/>
                <a:gridCol w="1005840"/>
                <a:gridCol w="1005840"/>
                <a:gridCol w="1005840"/>
                <a:gridCol w="1005840"/>
              </a:tblGrid>
              <a:tr h="4914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給水収益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1,314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1,217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営業損益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△283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△210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△170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△223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当年度純利益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543800" y="1828800"/>
            <a:ext cx="4023360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説明上のポイント</a:t>
            </a:r>
            <a:br/>
            <a:r>
              <a:rPr>
                <a:latin typeface="BIZ UDPゴシック"/>
              </a:rPr>
              <a:t>・純利益は黒字でも、給水収益で営業費用を賄えていない。</a:t>
            </a:r>
            <a:br/>
            <a:r>
              <a:rPr>
                <a:latin typeface="BIZ UDPゴシック"/>
              </a:rPr>
              <a:t>・R7は料金回収率92.98％で、給水原価が供給単価を上回る。</a:t>
            </a:r>
            <a:br/>
            <a:r>
              <a:rPr>
                <a:latin typeface="BIZ UDPゴシック"/>
              </a:rPr>
              <a:t>・現行料金のままでは財源余力が不足する。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69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単位：百万円。金額はR3〜R7決算書・決算統計から丸め。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料金回収率と基準外繰入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料金で回収できない不足を一般会計が補完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73152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  <a:gridCol w="1097280"/>
              </a:tblGrid>
              <a:tr h="62179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経常収支比率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106.54%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102.56%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101.51%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103.97%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103.20%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料金回収率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103.73%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87.64%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94.73%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97.15%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92.98%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4条基準外繰入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82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85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66760" y="1508760"/>
            <a:ext cx="32461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3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読み取り</a:t>
            </a:r>
            <a:br/>
            <a:r>
              <a:rPr>
                <a:latin typeface="BIZ UDPゴシック"/>
              </a:rPr>
              <a:t>・R7は3条基準外が増加。</a:t>
            </a:r>
            <a:br/>
            <a:r>
              <a:rPr>
                <a:latin typeface="BIZ UDPゴシック"/>
              </a:rPr>
              <a:t>・4条基準外は概ね80〜90百万円台で継続。</a:t>
            </a:r>
            <a:br/>
            <a:r>
              <a:rPr>
                <a:latin typeface="BIZ UDPゴシック"/>
              </a:rPr>
              <a:t>・一般会計繰入が黒字維持と投資財源を支える構造。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892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単位：％、百万円。基準外繰入は決算統計40表ベース。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資金残高の推移と将来への示唆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R7末で資金余力が大きく低下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508760"/>
          <a:ext cx="61264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14400"/>
                <a:gridCol w="914400"/>
                <a:gridCol w="914400"/>
                <a:gridCol w="914400"/>
                <a:gridCol w="91440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区分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資金残高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0" y="1463040"/>
            <a:ext cx="4251960" cy="1417320"/>
          </a:xfrm>
          <a:prstGeom prst="roundRect">
            <a:avLst/>
          </a:prstGeom>
          <a:solidFill>
            <a:srgbClr val="FEF3C7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R7末資金残高は243百万円。R3末から856百万円減少し、今後の大型投資に対する余力は限定的。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・資金残高は、損益だけではなく建設改良費・企業債償還で急減する。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・大型投資年度は、起債・繰入・補助金・料金収入増の組合せを示す必要がある。</a:t>
            </a:r>
          </a:p>
          <a:p>
            <a:pPr>
              <a:spcAft>
                <a:spcPts val="400"/>
              </a:spcAft>
              <a:defRPr sz="14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・最低必要資金残高の目安を設定し、投資平準化と料金改定の双方で確保する。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349240"/>
            <a:ext cx="10972800" cy="457200"/>
          </a:xfrm>
          <a:prstGeom prst="roundRect">
            <a:avLst/>
          </a:prstGeom>
          <a:solidFill>
            <a:srgbClr val="FEF2F2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800" b="1">
                <a:solidFill>
                  <a:srgbClr val="B91C1C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現行料金維持だけでは資金確保が難しい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3条収支の将来推計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現行料金ベースでは、R9以降に料金回収率と経常収支が低下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39081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  <a:gridCol w="1087868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給水収益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1,332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1,195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1,171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1,148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1,125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水道事業収益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1,748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1,586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1,577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1,553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1,520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1,472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91C23"/>
                          </a:solidFill>
                          <a:latin typeface="BIZ UDPゴシック"/>
                        </a:rPr>
                        <a:t>水道事業費用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1,710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1,608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1,620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1,616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91C23"/>
                          </a:solidFill>
                          <a:latin typeface="BIZ UDPゴシック"/>
                        </a:rPr>
                        <a:t>1,599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経常収支比率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100.5%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99.3%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98.4%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97.0%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96.3%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95.2%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94.1%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93.2%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92.1%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BE4141"/>
                          </a:solidFill>
                          <a:latin typeface="BIZ UDPゴシック"/>
                        </a:rPr>
                        <a:t>料金回収率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93.1%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91.6%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90.7%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89.2%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88.0%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86.8%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85.6%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84.8%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E4141"/>
                          </a:solidFill>
                          <a:latin typeface="BIZ UDPゴシック"/>
                        </a:rPr>
                        <a:t>83.6%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977639"/>
            <a:ext cx="10881360" cy="13258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R7は決算上黒字でも、給水収益で給水原価を回収できていない。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現行料金を前提にすると、R9以降は経常収支比率が100％を下回り、R16では料金回収率が83.6％まで低下する。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料金改定の説明は、単年度の資金ショートではなく「料金で事業を支えられない構造」を起点にする。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596128"/>
            <a:ext cx="1088136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R8は当初予算、R9以降はR8予算反映・年次計画置換後の現行料金ベース。経常収支比率は特別損益を除いた経常収益÷経常費用（表中の水道事業収益÷水道事業費用は特別損益を含むため一致しない場合がある）。料金回収率は給水収益÷給水原価対象費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投資財政計画の採用前提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旧水道ビジョン比較は外し、実体ベースの将来年次計画で整理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234440"/>
          <a:ext cx="117800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  <a:gridCol w="1048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区分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R7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—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2880360"/>
            <a:ext cx="10698480" cy="155448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旧水道ビジョン数値との増減比較は、次年度の水道ビジョン改定で再整理するため市長説明からは外す。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本資料では、予定工事を実施する場合に、企業債・補助金・負担金・補填財源で予算が組めるかを示す。</a:t>
            </a:r>
          </a:p>
          <a:p>
            <a:pPr>
              <a:defRPr sz="130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企業債は、建設改良費から国庫補助金・工事負担金を控除した額に100％充当する前提で置換している。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28032"/>
            <a:ext cx="10698480" cy="59436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050">
                <a:solidFill>
                  <a:srgbClr val="5E6572"/>
                </a:solidFill>
                <a:latin typeface="BIZ UDPゴシック"/>
              </a:rPr>
              <a:t>留意点：R7→R8繰越工事182百万円は現時点で本SIMに未反映。執行見込確定後、R8建設改良費・企業債・補填財源への影響を追加精査する。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10698480" cy="292608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919">
                <a:solidFill>
                  <a:srgbClr val="5E6572"/>
                </a:solidFill>
                <a:latin typeface="BIZ UDPゴシック"/>
              </a:rPr>
              <a:t>単位：百万円。建設改良費は将来年次計画、企業債は充当率100％方針による置換後。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064240" cy="41148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1" sz="2400">
                <a:solidFill>
                  <a:srgbClr val="1C3C60"/>
                </a:solidFill>
                <a:latin typeface="BIZ UDPゴシック"/>
              </a:rPr>
              <a:t>資本的収支と補填財源の見方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13232"/>
            <a:ext cx="10972800" cy="22860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1350">
                <a:solidFill>
                  <a:srgbClr val="5E6572"/>
                </a:solidFill>
                <a:latin typeface="BIZ UDPゴシック"/>
              </a:rPr>
              <a:t>収入・支出の下段で、収支不足額と補填財源残高を確認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658600" y="6492240"/>
            <a:ext cx="320040" cy="164592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r"/>
            <a:r>
              <a:rPr b="0" sz="900">
                <a:solidFill>
                  <a:srgbClr val="5E6572"/>
                </a:solidFill>
                <a:latin typeface="BIZ UDPゴシック"/>
              </a:rPr>
              <a:t>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115568"/>
          <a:ext cx="117999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000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  <a:gridCol w="116666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項目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R8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R9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R10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R11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R12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R13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R14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R15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BIZ UDPゴシック"/>
                        </a:rPr>
                        <a:t>R16</a:t>
                      </a:r>
                    </a:p>
                  </a:txBody>
                  <a:tcPr marL="25400" marR="25400" marT="12700" marB="12700">
                    <a:solidFill>
                      <a:srgbClr val="1C3C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資本的収入計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1,055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563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421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341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614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336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284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278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資本的支出計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1,684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1,136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1,437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1,206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977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927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775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建設改良費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889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403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761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383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369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266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231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91C23"/>
                          </a:solidFill>
                          <a:latin typeface="BIZ UDPゴシック"/>
                        </a:rPr>
                        <a:t>企業債償還金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796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733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676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647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588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574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559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557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91C23"/>
                          </a:solidFill>
                          <a:latin typeface="BIZ UDPゴシック"/>
                        </a:rPr>
                        <a:t>544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収支不足額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△629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△558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△508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△474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△405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△394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△390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△402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△409</a:t>
                      </a:r>
                    </a:p>
                  </a:txBody>
                  <a:tcPr marL="25400" marR="25400" marT="12700" marB="12700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BE4141"/>
                          </a:solidFill>
                          <a:latin typeface="BIZ UDPゴシック"/>
                        </a:rPr>
                        <a:t>補填財源残高</a:t>
                      </a:r>
                    </a:p>
                  </a:txBody>
                  <a:tcPr marL="25400" marR="25400" marT="12700" marB="12700">
                    <a:solidFill>
                      <a:srgbClr val="E1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△26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△83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46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235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423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600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752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E4141"/>
                          </a:solidFill>
                          <a:latin typeface="BIZ UDPゴシック"/>
                        </a:rPr>
                        <a:t>883</a:t>
                      </a:r>
                    </a:p>
                  </a:txBody>
                  <a:tcPr marL="25400" marR="25400" marT="12700" marB="127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83480"/>
            <a:ext cx="11064240" cy="822960"/>
          </a:xfrm>
          <a:prstGeom prst="rect">
            <a:avLst/>
          </a:prstGeom>
          <a:noFill/>
        </p:spPr>
        <p:txBody>
          <a:bodyPr wrap="none" lIns="50800" rIns="50800" tIns="25400" bIns="25400">
            <a:spAutoFit/>
          </a:bodyPr>
          <a:lstStyle/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R9・R10は補填財源残高がマイナスとなり、一般会計支援、追加起債、投資平準化、料金改定の組合せが必要となる。</a:t>
            </a:r>
          </a:p>
          <a:p>
            <a:pPr>
              <a:defRPr sz="1150">
                <a:solidFill>
                  <a:srgbClr val="191C23"/>
                </a:solidFill>
                <a:latin typeface="BIZ UDPゴシック"/>
              </a:defRPr>
            </a:pPr>
            <a:r>
              <a:rPr>
                <a:latin typeface="BIZ UDPゴシック"/>
              </a:rPr>
              <a:t>市長説明では「現金が一時的に減る」ではなく、「補填財源が不足し、予定工事の予算化が難しくなる」流れで説明する。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961888"/>
            <a:ext cx="11064240" cy="320040"/>
          </a:xfrm>
          <a:prstGeom prst="rect">
            <a:avLst/>
          </a:prstGeom>
          <a:noFill/>
        </p:spPr>
        <p:txBody>
          <a:bodyPr wrap="none" lIns="25400" rIns="25400" tIns="12700" bIns="12700">
            <a:spAutoFit/>
          </a:bodyPr>
          <a:lstStyle/>
          <a:p>
            <a:pPr algn="l"/>
            <a:r>
              <a:rPr b="0" sz="880">
                <a:solidFill>
                  <a:srgbClr val="5E6572"/>
                </a:solidFill>
                <a:latin typeface="BIZ UDPゴシック"/>
              </a:rPr>
              <a:t>単位：百万円。補填財源残高はR7末183百万円を起点とした簡便推計。R11以降はスライド10の資産維持費0％ケース（必要改定率7.3％）を反映。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資産維持費0〜3％シミュレーション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経常収支比率・料金回収率・現預金（営業費用修正後）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234440"/>
                <a:gridCol w="1325880"/>
                <a:gridCol w="1325880"/>
                <a:gridCol w="2011680"/>
                <a:gridCol w="1234440"/>
                <a:gridCol w="164592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R11経常収支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R11資産維持費込料金回収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R16現預金（修正後）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R7-R16累計4条不足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107.7%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95.6%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128.6%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108.3%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2,907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149.5%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120.9%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96.9%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4,872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49.9%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170.3%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133.6%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97.4%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6,836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△4,887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・必要改定率は、二重計上除外に加え、企業債充当率100%の支払利息と建設仮勘定供用開始（減価償却・戻入）を総括原価へ統合した水準。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・現行料金のままでは補填財源がR9〜R10に不足（R9末△26・R10末△83百万円、現預金もR10末△24百万円）し、R11改定で回復する。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・市長説明では、0％は収支均衡の比較下限、1〜2％は現実的検討、3％は感度分析の上限として整理する。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※R7は決算確定値（累計4条不足に反映）。現預金は百万円。企業債充当率100%（建設改良費−国庫−工事負担金、利率3%・40年元金均等）、過年度建設仮勘定純額12百万円のR9借入、建設仮勘定の減価償却・戻入を本体へ統合済み。補填財源はR7末183百万円（0708修正版補てん財源経過表）起点の簡便推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持続可能性確保のための具体策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料金改定だけでなく、投資・財源・説明を一体化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料金水準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総括原価を水道協会方式で整理し、資産維持費0〜3％の影響を示す。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料金体系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27101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基本料金を残しつつ、基本水量・従量料金・大口影響を検証する。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投資平準化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R8以降の大型更新を平準化し、資金残高の急減を抑制する。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6060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財源構成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2551175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企業債、国庫補助、一般会計繰入、料金収入の役割を明確にする。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説明責任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4600" y="3831336"/>
            <a:ext cx="3429000" cy="5029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R9水道ビジョン改定、R10料金審議、R11施行までの段階説明を設計する。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5623560"/>
            <a:ext cx="10972800" cy="45720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5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判断を求める事項：令和8年度中に、料金改定検討を正式に次年度工程へ進める方針を確認する。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今後の工程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R8〜R11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現状分析・市長説明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経営分析／現状シミュレーション／審議会設計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水道ビジョン改定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R8決算・AM結果反映／水道ビジョン説明／審議会条例改正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料金改定審議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総括原価／料金体系／改定素案／パブコメ／答申案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600200"/>
            <a:ext cx="2286000" cy="457200"/>
          </a:xfrm>
          <a:prstGeom prst="roundRect">
            <a:avLst/>
          </a:prstGeom>
          <a:solidFill>
            <a:srgbClr val="2563E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2200" b="1">
                <a:solidFill>
                  <a:srgbClr val="FFFFFF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59" y="21488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料金改定施行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697480"/>
            <a:ext cx="2286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200" b="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条例施行・周知・運用開始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5212080"/>
            <a:ext cx="10972800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54864" bIns="54864"/>
          <a:lstStyle/>
          <a:p>
            <a:pPr algn="ctr">
              <a:defRPr sz="1600" b="1">
                <a:solidFill>
                  <a:srgbClr val="2563EB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工程管理上の要点：R8で必要性を共有し、R9で水道ビジョンへ反映、R10で料金体系を具体化する。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投資財政計画Excelの構成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市長説明後の精査・審議会資料化へ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772400"/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シート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内容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02_R8予算_年次計画置換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R8予算収入・将来年次計画投資へ置換した投資財政計画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03_SIM比較_R8予算反映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資産維持費率0〜3％の主要指標比較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04_R8予算・投資確認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R8当初予算・作成資料・年次計画・採用値の差異確認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SIM_R8予算置換_0%〜3%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各SIMの経常収支比率、料金回収率、4条財源、現預金推計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6634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・企業債充当率、国庫補助、工事負担金、一般会計繰入の事業別前提を確認。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・最低必要現預金の目安を設定。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・資産維持費の採用水準を政治判断の論点として整理。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・R7→R8繰越工事182百万円（別途確認中）、償還条件確定、需要弾力性の反映を審議会資料化までに実施。</a:t>
            </a:r>
          </a:p>
        </p:txBody>
      </p:sp>
    </p:spTree>
  </p:cSld>
  <p:clrMapOvr>
    <a:masterClrMapping/>
  </p:clrMapOvr>
</p:sld>
</file>

<file path=ppt/slides/slide14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TextBox 1"/>
          <ns0:cNvSpPr txBox="1"/>
          <ns0:nvPr/>
        </ns0:nvSpPr>
        <ns0:spPr>
          <ns1:xfrm>
            <ns1:off x="320040" y="219456"/>
            <ns1:ext cx="11521440" cy="502920"/>
          </ns1:xfrm>
          <ns1:prstGeom prst="rect">
            <ns1:avLst/>
          </ns1:prstGeom>
          <ns1:noFill/>
        </ns0:spPr>
        <ns0:txBody>
          <ns1:bodyPr wrap="none" anchor="ctr">
            <ns1:spAutoFit/>
          </ns1:bodyPr>
          <ns1:lstStyle/>
          <ns1:p>
            <ns1:pPr>
              <ns1:defRPr sz="2800" b="1">
                <ns1:solidFill>
                  <ns1:srgbClr val="123458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直近の作業方針</ns1:t>
            </ns1:r>
          </ns1:p>
        </ns0:txBody>
      </ns0:sp>
      <ns0:sp>
        <ns0:nvSpPr>
          <ns0:cNvPr id="3" name="TextBox 2"/>
          <ns0:cNvSpPr txBox="1"/>
          <ns0:nvPr/>
        </ns0:nvSpPr>
        <ns0:spPr>
          <ns1:xfrm>
            <ns1:off x="347472" y="749808"/>
            <ns1:ext cx="11430000" cy="32004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>
              <ns1:defRPr sz="12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市長説明資料に反映する内容</ns1:t>
            </ns1:r>
          </ns1:p>
        </ns0:txBody>
      </ns0:sp>
      <ns0:sp>
        <ns0:nvSpPr>
          <ns0:cNvPr id="4" name="Rectangle 3"/>
          <ns0:cNvSpPr/>
          <ns0:nvPr/>
        </ns0:nvSpPr>
        <ns0:spPr>
          <ns1:xfrm>
            <ns1:off x="320040" y="1078992"/>
            <ns1:ext cx="11521440" cy="27432"/>
          </ns1:xfrm>
          <ns1:prstGeom prst="rect">
            <ns1:avLst/>
          </ns1:prstGeom>
          <ns1:solidFill>
            <ns1:srgbClr val="2563EB"/>
          </ns1:solidFill>
          <ns1:ln>
            <ns1:noFill/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5" name="TextBox 4"/>
          <ns0:cNvSpPr txBox="1"/>
          <ns0:nvPr/>
        </ns0:nvSpPr>
        <ns0:spPr>
          <ns1:xfrm>
            <ns1:off x="11384280" y="6446520"/>
            <ns1:ext cx="502920" cy="228600"/>
          </ns1:xfrm>
          <ns1:prstGeom prst="rect">
            <ns1:avLst/>
          </ns1:prstGeom>
          <ns1:noFill/>
        </ns0:spPr>
        <ns0:txBody>
          <ns1:bodyPr wrap="none">
            <ns1:spAutoFit/>
          </ns1:bodyPr>
          <ns1:lstStyle/>
          <ns1:p>
            <ns1:pPr algn="r">
              <ns1:defRPr sz="1500">
                <ns1:solidFill>
                  <ns1:srgbClr val="475569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15</ns1:t>
            </ns1:r>
          </ns1:p>
        </ns0:txBody>
      </ns0:sp>
      <ns0:graphicFrame>
        <ns0:nvGraphicFramePr>
          <ns0:cNvPr id="6" name="Table 5"/>
          <ns0:cNvGraphicFramePr>
            <ns1:graphicFrameLocks noGrp="1"/>
          </ns0:cNvGraphicFramePr>
          <ns0:nvPr/>
        </ns0:nvGraphicFramePr>
        <ns0:xfrm>
          <ns1:off x="502920" y="1325880"/>
          <ns1:ext cx="10972800" cy="3886200"/>
        </ns0:xfrm>
        <ns1:graphic>
          <ns1:graphicData uri="http://schemas.openxmlformats.org/drawingml/2006/table">
            <ns1:tbl>
              <ns1:tblPr firstRow="1" bandRow="1">
                <ns1:tableStyleId>{5C22544A-7EE6-4342-B048-85BDC9FD1C3A}</ns1:tableStyleId>
              </ns1:tblPr>
              <ns1:tblGrid>
                <ns1:gridCol w="2011680"/>
                <ns1:gridCol w="6217920"/>
                <ns1:gridCol w="2743200"/>
              </ns1:tblGrid>
              <ns1:tr h="647700"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作業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内容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 b="1">
                          <ns1:solidFill>
                            <ns1:srgbClr val="FFFFFF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成果物</ns1:t>
                      </ns1:r>
                    </ns1:p>
                  </ns1:txBody>
                  <ns1:tcPr marL="36576" marR="36576" marT="27432" marB="27432">
                    <ns1:solidFill>
                      <ns1:srgbClr val="123458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1. 数値固定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R3〜R7の5か年で、損益・料金回収率・繰入金・資金残高を統一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現状分析表／グラフ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2. 原価計算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R11開始5年、資産維持費0〜3％で比較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総括原価試算表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3. 投資財政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R8予算収入・将来年次投資・元金償還・財源を反映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資金残高推計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4. 市長説明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料金改定の必要性、R9〜R11工程、判断事項を整理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説明用PPT</ns1:t>
                      </ns1:r>
                    </ns1:p>
                  </ns1:txBody>
                  <ns1:tcPr marL="36576" marR="36576" marT="27432" marB="27432">
                    <ns1:solidFill>
                      <ns1:srgbClr val="F8FAFC"/>
                    </ns1:solidFill>
                  </ns1:tcPr>
                </ns1:tc>
              </ns1:tr>
              <ns1:tr h="647700">
                <ns1:tc>
                  <ns1:txBody>
                    <ns1:bodyPr/>
                    <ns1:lstStyle/>
                    <ns1:p>
                      <ns1:pPr algn="l">
                        <ns1:defRPr sz="1150" b="1">
                          <ns1:solidFill>
                            <ns1:srgbClr val="123458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5. 審議会設計</ns1:t>
                      </ns1:r>
                    </ns1:p>
                  </ns1:txBody>
                  <ns1:tcPr marL="36576" marR="36576" marT="27432" marB="27432">
                    <ns1:solidFill>
                      <ns1:srgbClr val="EFF6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委員構成、条例改正、審議順序、水道ビジョン説明の扱いを整理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  <ns1:tc>
                  <ns1:txBody>
                    <ns1:bodyPr/>
                    <ns1:lstStyle/>
                    <ns1:p>
                      <ns1:pPr algn="ctr">
                        <ns1:defRPr sz="1150">
                          <ns1:solidFill>
                            <ns1:srgbClr val="0F172A"/>
                          </ns1:solidFill>
                          <ns1:latin typeface="BIZ UDPゴシック"/>
                          <ns1:ea typeface="BIZ UDPゴシック"/>
                          <ns1:cs typeface="BIZ UDPゴシック"/>
                        </ns1:defRPr>
                      </ns1:pPr>
                      <ns1:r>
                        <ns1:t>設計メモ</ns1:t>
                      </ns1:r>
                    </ns1:p>
                  </ns1:txBody>
                  <ns1:tcPr marL="36576" marR="36576" marT="27432" marB="27432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7" name="TextBox 6"/>
          <ns0:cNvSpPr txBox="1"/>
          <ns0:nvPr/>
        </ns0:nvSpPr>
        <ns0:spPr>
          <ns1:xfrm>
            <ns1:off x="594360" y="5623560"/>
            <ns1:ext cx="10972800" cy="411480"/>
          </ns1:xfrm>
          <ns1:prstGeom prst="rect">
            <ns1:avLst/>
          </ns1:prstGeom>
          <ns1:noFill/>
        </ns0:spPr>
        <ns0:txBody>
          <ns1:bodyPr wrap="square">
            <ns1:spAutoFit/>
          </ns1:bodyPr>
          <ns1:lstStyle/>
          <ns1:p>
            <ns1:pPr>
              <ns1:defRPr sz="1400" b="1">
                <ns1:solidFill>
                  <ns1:srgbClr val="2563EB"/>
                </ns1:solidFill>
                <ns1:latin typeface="BIZ UDPゴシック"/>
                <ns1:ea typeface="BIZ UDPゴシック"/>
                <ns1:cs typeface="BIZ UDPゴシック"/>
              </ns1:defRPr>
            </ns1:pPr>
            <ns1:r>
              <ns1:rPr>
                <ns1:latin typeface="BIZ UDPゴシック"/>
              </ns1:rPr>
              <ns1:t>次工程：市長説明用PPTを、R3〜R7固定・R8予算反映・投資財政SIM整合の内容で再構成する。</ns1:t>
            </ns1:r>
          </ns1:p>
        </ns0:txBody>
      </ns0:sp>
    </ns0:spTree>
  </ns0:cSld>
  <ns0:clrMapOvr>
    <ns1:masterClrMapping/>
  </ns0:clrMapOvr>
</ns0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19456"/>
            <a:ext cx="115214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2800" b="1">
                <a:solidFill>
                  <a:srgbClr val="123458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改定後の3条・4条収支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74980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R11〜R16 資産維持費別の3条純利益（4条収支不足・補填財源は下段脚注参照）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78992"/>
            <a:ext cx="1152144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384280" y="6446520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50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325880"/>
          <a:ext cx="96012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000"/>
                <a:gridCol w="1200000"/>
                <a:gridCol w="1250200"/>
                <a:gridCol w="1250200"/>
                <a:gridCol w="1250200"/>
                <a:gridCol w="1250200"/>
                <a:gridCol w="1250200"/>
                <a:gridCol w="1250200"/>
              </a:tblGrid>
              <a:tr h="484632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SIM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必要改定率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R11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R12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R13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R14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R15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R16</a:t>
                      </a:r>
                    </a:p>
                  </a:txBody>
                  <a:tcPr marL="36576" marR="36576" marT="27432" marB="27432">
                    <a:solidFill>
                      <a:srgbClr val="123458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0％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7.3%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111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21.5%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459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443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419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397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379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356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2％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35.7%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795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701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676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algn="l">
                        <a:defRPr sz="1080" b="1">
                          <a:solidFill>
                            <a:srgbClr val="123458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3％</a:t>
                      </a:r>
                    </a:p>
                  </a:txBody>
                  <a:tcPr marL="36576" marR="36576" marT="27432" marB="27432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49.8%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1,130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1,108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1,077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1,048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1,024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>
                          <a:solidFill>
                            <a:srgbClr val="0F172A"/>
                          </a:solidFill>
                          <a:latin typeface="BIZ UDPゴシック"/>
                          <a:ea typeface="BIZ UDPゴシック"/>
                          <a:cs typeface="BIZ UDPゴシック"/>
                        </a:defRPr>
                      </a:pPr>
                      <a:r>
                        <a:t>995</a:t>
                      </a:r>
                    </a:p>
                  </a:txBody>
                  <a:tcPr marL="36576" marR="36576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40690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・改定後の3条純利益は各ケースでR11以降黒字化。R11-R16累計は0%=488、1%=2,453、2%=4,418、3%=6,382百万円。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・4条収支不足は投資水準に依存し全ケース共通の△474〜△409百万円/年、R7-R16累計△4,887百万円。</a:t>
            </a:r>
          </a:p>
          <a:p>
            <a:pPr>
              <a:spcAft>
                <a:spcPts val="400"/>
              </a:spcAft>
              <a:defRPr sz="1300">
                <a:solidFill>
                  <a:srgbClr val="0F172A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・1〜2％を現実的検討帯、3％を本来的な目標として、段階改定・5年周期で調整する。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75569"/>
                </a:solidFill>
                <a:latin typeface="BIZ UDPゴシック"/>
                <a:ea typeface="BIZ UDPゴシック"/>
                <a:cs typeface="BIZ UDPゴシック"/>
              </a:defRPr>
            </a:pPr>
            <a:r>
              <a:rPr>
                <a:latin typeface="BIZ UDPゴシック"/>
              </a:rPr>
              <a:t>単位：百万円。改定後3条純利益は各シナリオSIMの純損益（r28）。4条収支不足は資本的収入−資本的支出（r54）で全ケース共通。R7-R16累計4条不足は△4,887百万円で改定率に依存しない。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ajorFont>
      <a:minorFont>
        <a:latin typeface="BIZ UDPゴシック"/>
        <a:ea typeface="BIZ UDPゴシック"/>
        <a:cs typeface="BIZ UDPゴシック"/>
        <a:font script="Jpan" typeface="BIZ UDPゴシック"/>
        <a:font script="Hang" typeface="BIZ UDPゴシック"/>
        <a:font script="Hans" typeface="BIZ UDPゴシック"/>
        <a:font script="Hant" typeface="BIZ UDPゴシック"/>
        <a:font script="Arab" typeface="BIZ UDPゴシック"/>
        <a:font script="Hebr" typeface="BIZ UDPゴシック"/>
        <a:font script="Thai" typeface="BIZ UDPゴシック"/>
        <a:font script="Ethi" typeface="BIZ UDPゴシック"/>
        <a:font script="Beng" typeface="BIZ UDPゴシック"/>
        <a:font script="Gujr" typeface="BIZ UDPゴシック"/>
        <a:font script="Khmr" typeface="BIZ UDPゴシック"/>
        <a:font script="Knda" typeface="BIZ UDPゴシック"/>
        <a:font script="Guru" typeface="BIZ UDPゴシック"/>
        <a:font script="Cans" typeface="BIZ UDPゴシック"/>
        <a:font script="Cher" typeface="BIZ UDPゴシック"/>
        <a:font script="Yiii" typeface="BIZ UDPゴシック"/>
        <a:font script="Tibt" typeface="BIZ UDPゴシック"/>
        <a:font script="Thaa" typeface="BIZ UDPゴシック"/>
        <a:font script="Deva" typeface="BIZ UDPゴシック"/>
        <a:font script="Telu" typeface="BIZ UDPゴシック"/>
        <a:font script="Taml" typeface="BIZ UDPゴシック"/>
        <a:font script="Syrc" typeface="BIZ UDPゴシック"/>
        <a:font script="Orya" typeface="BIZ UDPゴシック"/>
        <a:font script="Mlym" typeface="BIZ UDPゴシック"/>
        <a:font script="Laoo" typeface="BIZ UDPゴシック"/>
        <a:font script="Sinh" typeface="BIZ UDPゴシック"/>
        <a:font script="Mong" typeface="BIZ UDPゴシック"/>
        <a:font script="Viet" typeface="BIZ UDPゴシック"/>
        <a:font script="Uigh" typeface="BIZ UDPゴシック"/>
        <a:font script="Geor" typeface="BIZ UDP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