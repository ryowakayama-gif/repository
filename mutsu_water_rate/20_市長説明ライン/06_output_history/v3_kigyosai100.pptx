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Meiryo"/>
              </a:defRPr>
            </a:pPr>
            <a: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eiryo"/>
              </a:defRPr>
            </a:pPr>
            <a:r>
              <a:t>市長説明に向けた</a:t>
            </a:r>
            <a:br/>
            <a: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Meiryo"/>
              </a:defRPr>
            </a:pPr>
            <a: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0">
                <a:solidFill>
                  <a:srgbClr val="0F172A"/>
                </a:solidFill>
                <a:latin typeface="Meiryo"/>
              </a:defRPr>
            </a:pPr>
            <a:r>
              <a:t>本資料の狙い</a:t>
            </a:r>
            <a:br/>
            <a:r>
              <a:t>・決算上の黒字と営業赤字の違いを明確化</a:t>
            </a:r>
            <a:br/>
            <a:r>
              <a:t>・資金残高の低下と投資財源リスクを説明</a:t>
            </a:r>
            <a:br/>
            <a:r>
              <a:t>・R9ビジョン改定・R10料金審議へ接続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400" b="1">
                <a:solidFill>
                  <a:srgbClr val="2563EB"/>
                </a:solidFill>
                <a:latin typeface="Meiryo"/>
              </a:defRPr>
            </a:pPr>
            <a: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eiryo"/>
              </a:defRPr>
            </a:pPr>
            <a: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R9.6条例改正を想定し、委員構成・説明事項・審議順序を整理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Meiryo"/>
              </a:defRPr>
            </a:pPr>
            <a:r>
              <a:t>到達点：7月の理事者説明で、料金改定検討を進める必要性と次年度以降の工程を合意する。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打合せ内容と工程表の整合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令和8年度の作業範囲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2834640"/>
                <a:gridCol w="365760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打合せでの確認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工程表での扱い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今年度の作業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6月下旬〜7月第1週を目途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7月に理事者へ現状説明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R3〜R7実績・初期試算を資料化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投資計画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実態ベースを反映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現状シミュレーションで整理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R7決算、R8予算、R9以降予定を整理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資産維持費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1％・2％・3％を比較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料金改定支援へ接続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0〜3％の感度分析を提示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審議会条例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市長選を考慮しR9.6想定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R9.6条例改正提出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委員構成・審議順序を設計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ビジョン改定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審議ではなく説明中心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R9に水道ビジョン改定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今年度は接続論点を整理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出典：業務工程表（案R9.6条例改正版）、2026/5/27打合せ議事録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eiryo"/>
              </a:defRPr>
            </a:pPr>
            <a: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005840"/>
                <a:gridCol w="1005840"/>
                <a:gridCol w="100584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Meiryo"/>
              </a:defRPr>
            </a:pPr>
            <a:r>
              <a:t>説明上のポイント</a:t>
            </a:r>
            <a:br/>
            <a:r>
              <a:t>・純利益は黒字でも、給水収益で営業費用を賄えていない。</a:t>
            </a:r>
            <a:br/>
            <a:r>
              <a:t>・R7は料金回収率92.98％で、給水原価が供給単価を上回る。</a:t>
            </a:r>
            <a:br/>
            <a:r>
              <a:t>・現行料金のままでは財源余力が不足する。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料金回収率と基準外繰入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料金で回収できない不足を一般会計が補完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09728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Meiryo"/>
              </a:defRPr>
            </a:pPr>
            <a:r>
              <a:t>読み取り</a:t>
            </a:r>
            <a:br/>
            <a:r>
              <a:t>・R7は3条基準外が増加。</a:t>
            </a:r>
            <a:br/>
            <a:r>
              <a:t>・4条基準外は概ね80〜90百万円台で継続。</a:t>
            </a:r>
            <a:br/>
            <a:r>
              <a:t>・一般会計繰入が黒字維持と投資財源を支える構造。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0F172A"/>
                </a:solidFill>
                <a:latin typeface="Meiryo"/>
              </a:defRPr>
            </a:pPr>
            <a: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B91C1C"/>
                </a:solidFill>
                <a:latin typeface="Meiryo"/>
              </a:defRPr>
            </a:pPr>
            <a: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R8当初予算の確認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収入は予算ベース、投資は年次計画ベースで整理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9326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554480"/>
                <a:gridCol w="1554480"/>
                <a:gridCol w="2468880"/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R8当初予算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作成資料等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年次計画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採用方針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1,332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水道事業費用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1,710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1,597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資本的収入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861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企業債置換後1,055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435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充当率100%へ置換(714)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一般会計負担金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建設改良費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714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年次計画へ置換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企業債償還金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715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Meiryo"/>
              </a:defRPr>
            </a:pPr>
            <a:r>
              <a:t>R8は予算上の資本的収支不足648,682千円。年次計画投資への置換で建設改良費が174,510千円増加するため、企業債を充当率100%方針（建設改良費−国庫補助金−工事負担金＝714百万円）へ置換し、補正予算での増額起債を前提と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投資財政計画：ビジョン計画と将来年次計画の差異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将来年次計画へ置換した場合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R9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R10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既存計画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485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279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将来年次計画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761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差額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△289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+364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△97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+184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△13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886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・R8は既存計画比で約364百万円増。R10も約184百万円増。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・R7末現預金は243百万円であり、大型投資を現行財源だけで吸収する余力は限定的。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・料金改定だけでなく、起債・繰入・補助金・投資平準化を同時に設計する必要がある。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※金額は百万円単位で丸め。将来年次計画は「令和6～25年（2026.3.1）」調整後事業費計を採用。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置換後の投資財政計画：収入・支出の見方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収入・支出を年度別に整理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34440"/>
          <a:ext cx="1157630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477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R9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R10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資本的収入計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1,055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929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563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714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341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614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284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278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一般会計負担金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182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国庫補助金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148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222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工事負担金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建設改良費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761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企業債償還金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733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647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588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資本的支出計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1,684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1,136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1,437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1,206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927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775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715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企業債はR8以降、充当率100%（建設改良費−国庫補助金−工事負担金）へ置換し、R9に過年度建設仮勘定純額12百万円を追加借入（利率3%・40年元金均等・翌年度償還開始）。建設改良費は将来年次計画へ置換。詳細はExcel「02_R8予算_年次計画置換」等で確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234440"/>
                <a:gridCol w="1325880"/>
                <a:gridCol w="1325880"/>
                <a:gridCol w="2011680"/>
                <a:gridCol w="1234440"/>
                <a:gridCol w="164592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R11経常収支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R11資産維持費込料金回収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107.7%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△4,594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128.6%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2,907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△4,594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149.5%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4,872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△4,594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49.9%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170.3%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6,836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△4,594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・必要改定率は、二重計上除外に加え、企業債充当率100%の支払利息と建設仮勘定供用開始（減価償却・戻入）を総括原価へ統合した水準。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・現行料金のままでは補填財源がR9〜R10に不足（R9末△26・R10末△83百万円、現預金もR10末△24百万円）し、R11改定で回復する。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※現預金は百万円。企業債充当率100%（建設改良費−国庫−工事負担金、利率3%・40年元金均等）、過年度建設仮勘定純額12百万円のR9借入、建設仮勘定の減価償却・戻入を本体へ統合済み。補填財源はR7末183百万円（0708修正版補てん財源経過表）起点の簡便推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R9ビジョン改定、R10料金審議、R11施行までの段階説明を設計する。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2563EB"/>
                </a:solidFill>
                <a:latin typeface="Meiryo"/>
              </a:defRPr>
            </a:pPr>
            <a: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水道ビジョン改定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R8決算・AM結果反映／ビジョン説明／審議会条例改正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Meiryo"/>
              </a:defRPr>
            </a:pPr>
            <a:r>
              <a:t>工程管理上の要点：R8で必要性を共有し、R9でビジョンへ反映、R10で料金体系を具体化する。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資産維持費率0〜3％の主要指標比較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・企業債充当率、国庫補助、工事負担金、一般会計繰入の事業別前提を確認。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・最低必要現預金の目安を設定。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・資産維持費の採用水準を政治判断の論点として整理。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直近の作業方針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市長説明資料に反映する内容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217920"/>
                <a:gridCol w="2743200"/>
              </a:tblGrid>
              <a:tr h="6477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成果物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1. 数値固定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R3〜R7の5か年で、損益・料金回収率・繰入金・資金残高を統一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現状分析表／グラフ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2. 原価計算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R11開始5年、資産維持費0〜3％で比較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総括原価試算表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3. 投資財政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R8予算収入・将来年次投資・元金償還・財源を反映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資金残高推計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4. 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料金改定の必要性、R9〜R11工程、判断事項を整理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説明用PPT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5. 審議会設計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委員構成、条例改正、審議順序、ビジョン説明の扱いを整理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設計メモ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623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eiryo"/>
              </a:defRPr>
            </a:pPr>
            <a:r>
              <a:t>次工程：市長説明用PPTを、R3〜R7固定・R8予算反映・投資財政SIM整合の内容で再構成する。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