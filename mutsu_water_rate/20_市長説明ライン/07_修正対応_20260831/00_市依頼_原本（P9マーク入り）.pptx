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本資料の狙い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決算上の黒字と営業赤字の違いを明確化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資金残高の低下と投資財源リスクを説明</a:t>
            </a:r>
            <a:br>
              <a:rPr dirty="0"/>
            </a:br>
            <a:r>
              <a:rPr dirty="0">
                <a:latin typeface="BIZ UDPゴシック"/>
              </a:rPr>
              <a:t>・R9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R9.6</a:t>
            </a:r>
            <a:r>
              <a:rPr lang="ja-JP" altLang="en-US" dirty="0">
                <a:latin typeface="BIZ UDPゴシック"/>
              </a:rPr>
              <a:t>審議会</a:t>
            </a:r>
            <a:r>
              <a:rPr dirty="0" err="1">
                <a:latin typeface="BIZ UDPゴシック"/>
              </a:rPr>
              <a:t>条例改正を想定し、委員構成・説明事項・審議順序を整理</a:t>
            </a:r>
            <a:endParaRPr dirty="0">
              <a:latin typeface="BIZ UDPゴシック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到達点</a:t>
            </a:r>
            <a:r>
              <a:rPr dirty="0">
                <a:latin typeface="BIZ UDPゴシック"/>
              </a:rPr>
              <a:t>：</a:t>
            </a:r>
            <a:r>
              <a:rPr lang="ja-JP" altLang="en-US" dirty="0">
                <a:latin typeface="BIZ UDPゴシック"/>
              </a:rPr>
              <a:t>８</a:t>
            </a:r>
            <a:r>
              <a:rPr dirty="0" err="1">
                <a:latin typeface="BIZ UDPゴシック"/>
              </a:rPr>
              <a:t>月の理事者説明で、料金改定検討を進める必要性と次年度以降の工程を合意する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49858"/>
              </p:ext>
            </p:extLst>
          </p:nvPr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R9に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今年度は接続論点を整理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説明上のポイント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純利益は黒字でも、給水収益で営業費用を賄えていない</a:t>
            </a:r>
            <a:r>
              <a:rPr dirty="0">
                <a:latin typeface="BIZ UDPゴシック"/>
              </a:rPr>
              <a:t>。</a:t>
            </a:r>
            <a:br>
              <a:rPr dirty="0"/>
            </a:br>
            <a:r>
              <a:rPr dirty="0">
                <a:latin typeface="BIZ UDPゴシック"/>
              </a:rPr>
              <a:t>・R7は料金回収率92.98％で、給水原価が供給単価を上回る。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現行料金のままでは財源余力が不足する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説明上のポイント</a:t>
            </a:r>
            <a:endParaRPr lang="en-US" altLang="ja-JP" dirty="0">
              <a:latin typeface="BIZ UDPゴシック"/>
            </a:endParaRPr>
          </a:p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・R7は3条基準外が増加。</a:t>
            </a:r>
            <a:br>
              <a:rPr dirty="0"/>
            </a:br>
            <a:r>
              <a:rPr dirty="0">
                <a:latin typeface="BIZ UDPゴシック"/>
              </a:rPr>
              <a:t>・4条基準外は概ね80〜90百万円台で継続。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一般会計繰入が黒字維持と投資財源を支える構造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1" y="6492240"/>
            <a:ext cx="197169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1,171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1,148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1,520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1,620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96.3%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95.2%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94.1%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89.2%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88.0%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86.8%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85.6%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84.8%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9569927" cy="308546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 dirty="0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</a:t>
            </a:r>
            <a:endParaRPr lang="en-US" sz="919" b="0" dirty="0">
              <a:solidFill>
                <a:srgbClr val="5E6572"/>
              </a:solidFill>
              <a:latin typeface="BIZ UDPゴシック"/>
            </a:endParaRPr>
          </a:p>
          <a:p>
            <a:pPr algn="l"/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経常収支比率は特別損益を除いた経常収益÷経常費用（表中の水道事業収益÷水道事業費用は特別損益を含むため一致しない場合がある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）。</a:t>
            </a:r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料金回収率は給水収益÷給水原価対象費用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0" y="6492240"/>
            <a:ext cx="197170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 dirty="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287340"/>
              </p:ext>
            </p:extLst>
          </p:nvPr>
        </p:nvGraphicFramePr>
        <p:xfrm>
          <a:off x="411480" y="1234440"/>
          <a:ext cx="11677735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7817846" cy="65146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lang="ja-JP" altLang="en-US" dirty="0"/>
              <a:t>現</a:t>
            </a:r>
            <a:r>
              <a:rPr dirty="0" err="1">
                <a:latin typeface="BIZ UDPゴシック"/>
              </a:rPr>
              <a:t>水道ビジョン数値との増減比較は、</a:t>
            </a:r>
            <a:r>
              <a:rPr lang="en-US" altLang="ja-JP" dirty="0" err="1">
                <a:latin typeface="BIZ UDPゴシック"/>
              </a:rPr>
              <a:t>R</a:t>
            </a:r>
            <a:r>
              <a:rPr lang="ja-JP" altLang="en-US" dirty="0">
                <a:latin typeface="BIZ UDPゴシック"/>
              </a:rPr>
              <a:t>９の</a:t>
            </a:r>
            <a:r>
              <a:rPr dirty="0">
                <a:latin typeface="BIZ UDPゴシック"/>
              </a:rPr>
              <a:t>次</a:t>
            </a:r>
            <a:r>
              <a:rPr lang="ja-JP" altLang="en-US" dirty="0">
                <a:latin typeface="BIZ UDPゴシック"/>
              </a:rPr>
              <a:t>期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 err="1">
                <a:latin typeface="BIZ UDPゴシック"/>
              </a:rPr>
              <a:t>定で再整理するため市長説明からは外す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本資料では、予定工事を実施する場合に、企業債・補助金・負担金・補填財源で予算が組めるかを示す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050" b="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65603"/>
              </p:ext>
            </p:extLst>
          </p:nvPr>
        </p:nvGraphicFramePr>
        <p:xfrm>
          <a:off x="320040" y="1115568"/>
          <a:ext cx="11799994" cy="413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07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 dirty="0">
                          <a:solidFill>
                            <a:srgbClr val="BE4141"/>
                          </a:solidFill>
                          <a:latin typeface="BIZ UDPゴシック"/>
                        </a:rPr>
                        <a:t>補填財源残高（改定なし）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72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</a:t>
                      </a:r>
                      <a:r>
                        <a:rPr lang="en-US" altLang="ja-JP"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</a:t>
                      </a:r>
                      <a:r>
                        <a:rPr lang="en-US" altLang="ja-JP"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83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75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BE4141"/>
                          </a:solidFill>
                          <a:latin typeface="BIZ UDPゴシック"/>
                        </a:rPr>
                        <a:t>補填財源残高</a:t>
                      </a:r>
                      <a:r>
                        <a:rPr lang="ja-JP" altLang="en-US"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（改定あり）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315712"/>
            <a:ext cx="10321736" cy="405239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市長説明では「現金が一時的に減る」ではなく</a:t>
            </a:r>
            <a:r>
              <a:rPr dirty="0">
                <a:latin typeface="BIZ UDPゴシック"/>
              </a:rPr>
              <a:t>、「</a:t>
            </a:r>
            <a:r>
              <a:rPr dirty="0" err="1">
                <a:latin typeface="BIZ UDPゴシック"/>
              </a:rPr>
              <a:t>補填財源が不足し、予定工事の予算化が難しくなる</a:t>
            </a:r>
            <a:r>
              <a:rPr dirty="0">
                <a:latin typeface="BIZ UDPゴシック"/>
              </a:rPr>
              <a:t>」</a:t>
            </a:r>
            <a:r>
              <a:rPr lang="ja-JP" altLang="en-US" dirty="0">
                <a:latin typeface="BIZ UDPゴシック"/>
              </a:rPr>
              <a:t>「そもそも企業債元金償還ができなくなる」</a:t>
            </a:r>
            <a:r>
              <a:rPr dirty="0" err="1">
                <a:latin typeface="BIZ UDPゴシック"/>
              </a:rPr>
              <a:t>流れで説明する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880" b="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単位：百万円。補填財源残高はR7末183百万円を起点とした簡便推計。R11以降はスライド10の資産維持費0％ケース（必要改定率7.3％）を反映。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50278"/>
              </p:ext>
            </p:extLst>
          </p:nvPr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R11経常収支</a:t>
                      </a:r>
                      <a:r>
                        <a:rPr lang="ja-JP" altLang="en-US" dirty="0"/>
                        <a:t>比率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R11資産維持費込料金回収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・資産維持費は、水道施設を適切に維持し、安定した給水サービスを継続するために総括原価に算入される費用。</a:t>
            </a:r>
            <a:endParaRPr lang="en-US" altLang="ja-JP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/>
              <a:t>・総括原価とは、営業費用に加え、支払利息や資産維持費などを含めた、事業運営に必要な総費用を指す。</a:t>
            </a:r>
            <a:endParaRPr lang="en-US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※R7は決算確定値（累計4条不足に反映）。現預金は百万円。企業債充当率100%（建設改良費−国庫−工事負担金、利率3%・40年元</a:t>
            </a:r>
            <a:r>
              <a:rPr lang="ja-JP" altLang="en-US" dirty="0">
                <a:latin typeface="BIZ UDPゴシック"/>
              </a:rPr>
              <a:t>利</a:t>
            </a:r>
            <a:r>
              <a:rPr dirty="0" err="1">
                <a:latin typeface="BIZ UDPゴシック"/>
              </a:rPr>
              <a:t>均等</a:t>
            </a:r>
            <a:r>
              <a:rPr dirty="0">
                <a:latin typeface="BIZ UDPゴシック"/>
              </a:rPr>
              <a:t>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改定後の3条・4条収支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R11〜R16 資産維持費別の3条純利益（4条収支不足・補填財源は下段脚注参照）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459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1,130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1,108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1,077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1,024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995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・改定後の3条純利益は各ケースでR11以降黒字化。R11-R16累計は0%=488、1%=2,453、2%=4,418、3%=6,382百万円。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・4条収支不足は投資水準に依存し全ケース共通の△474〜△409百万円/年、R7-R16累計△4,887百万円。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・1〜2％を現実的検討帯、3％を上限として、段階改定・5年周期で調整する。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単位：百万円。改定後3条純利益は各シナリオSIMの純損益（r28）。4条収支不足は資本的収入−資本的支出（r54）で全ケース共通。R7-R16累計4条不足は△4,887百万円で改定率に依存しない。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7624" y="2697480"/>
            <a:ext cx="2363096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R8決算／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水道ビジョン説明／審議会条例改正</a:t>
            </a:r>
            <a:endParaRPr dirty="0">
              <a:latin typeface="BIZ UDPゴシック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工程管理上の要点：R8で必要性を共有し、R9で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>
                <a:latin typeface="BIZ UDPゴシック"/>
              </a:rPr>
              <a:t>水道ビジョンへ反映、R10で料金体系を具体化する。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51117"/>
              </p:ext>
            </p:extLst>
          </p:nvPr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資産維持費0〜3％の主要指標比較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企業債充当率、国庫補助、工事負担金、一般会計繰入の事業別前提を確認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最低必要現預金の目安を設定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資産維持費の採用水準を政治判断の論点として整理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45010"/>
              </p:ext>
            </p:extLst>
          </p:nvPr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委員構成、条例改正、審議順序</a:t>
                      </a:r>
                      <a:r>
                        <a:rPr dirty="0"/>
                        <a:t>、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水道ビジョン説明の扱いを整理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設計メモ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845EAC2CE09544585FB76C2E147A62F" ma:contentTypeVersion="7" ma:contentTypeDescription="新しいドキュメントを作成します。" ma:contentTypeScope="" ma:versionID="bd16baa7ddbcda499cb2d163fe04e311">
  <xsd:schema xmlns:xsd="http://www.w3.org/2001/XMLSchema" xmlns:xs="http://www.w3.org/2001/XMLSchema" xmlns:p="http://schemas.microsoft.com/office/2006/metadata/properties" xmlns:ns2="b5562210-ba99-4384-9cbe-4d710e47e222" targetNamespace="http://schemas.microsoft.com/office/2006/metadata/properties" ma:root="true" ma:fieldsID="9d7e717c0780e9899422ec802af3b0e8" ns2:_="">
    <xsd:import namespace="b5562210-ba99-4384-9cbe-4d710e47e2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562210-ba99-4384-9cbe-4d710e47e2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0CA741-39B6-4B82-AF9E-2DECAD61AB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562210-ba99-4384-9cbe-4d710e47e2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2B36A0-9E44-4717-8711-4E9FA5B8B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1D41B6-2D28-4A95-BB49-C9A5F75353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1461</Words>
  <Application>Microsoft Office PowerPoint</Application>
  <PresentationFormat>ワイド画面</PresentationFormat>
  <Paragraphs>490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BIZ UDPゴシック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Administrator</cp:lastModifiedBy>
  <cp:revision>12</cp:revision>
  <dcterms:modified xsi:type="dcterms:W3CDTF">2026-08-26T04:08:21Z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0x010100A845EAC2CE09544585FB76C2E147A62F</vt:lpwstr>
  </property>
</Properties>
</file>