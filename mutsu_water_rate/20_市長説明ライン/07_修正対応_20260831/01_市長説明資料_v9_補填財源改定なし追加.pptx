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1" r:id="rId24"/>
    <p:sldId id="265" r:id="rId14"/>
    <p:sldId id="270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>
        <a:latin typeface="BIZ UDPゴシック"/>
        <a:ea typeface="BIZ UDPゴシック"/>
        <a:cs typeface="BIZ UDPゴシック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BIZ UDPゴシック"/>
                <a:ea typeface="BIZ UDPゴシック"/>
                <a:cs typeface="BIZ UDPゴシック"/>
              </a:defRPr>
            </a:lvl1pPr>
            <a:lvl2pPr>
              <a:defRPr sz="2800">
                <a:latin typeface="BIZ UDPゴシック"/>
                <a:ea typeface="BIZ UDPゴシック"/>
                <a:cs typeface="BIZ UDPゴシック"/>
              </a:defRPr>
            </a:lvl2pPr>
            <a:lvl3pPr>
              <a:defRPr sz="2400">
                <a:latin typeface="BIZ UDPゴシック"/>
                <a:ea typeface="BIZ UDPゴシック"/>
                <a:cs typeface="BIZ UDPゴシック"/>
              </a:defRPr>
            </a:lvl3pPr>
            <a:lvl4pPr>
              <a:defRPr sz="2000">
                <a:latin typeface="BIZ UDPゴシック"/>
                <a:ea typeface="BIZ UDPゴシック"/>
                <a:cs typeface="BIZ UDPゴシック"/>
              </a:defRPr>
            </a:lvl4pPr>
            <a:lvl5pPr>
              <a:defRPr sz="2000">
                <a:latin typeface="BIZ UDPゴシック"/>
                <a:ea typeface="BIZ UDPゴシック"/>
                <a:cs typeface="BIZ UDPゴシック"/>
              </a:defRPr>
            </a:lvl5pPr>
            <a:lvl6pPr>
              <a:defRPr sz="2000">
                <a:latin typeface="BIZ UDPゴシック"/>
                <a:ea typeface="BIZ UDPゴシック"/>
                <a:cs typeface="BIZ UDPゴシック"/>
              </a:defRPr>
            </a:lvl6pPr>
            <a:lvl7pPr>
              <a:defRPr sz="2000">
                <a:latin typeface="BIZ UDPゴシック"/>
                <a:ea typeface="BIZ UDPゴシック"/>
                <a:cs typeface="BIZ UDPゴシック"/>
              </a:defRPr>
            </a:lvl7pPr>
            <a:lvl8pPr>
              <a:defRPr sz="2000">
                <a:latin typeface="BIZ UDPゴシック"/>
                <a:ea typeface="BIZ UDPゴシック"/>
                <a:cs typeface="BIZ UDPゴシック"/>
              </a:defRPr>
            </a:lvl8pPr>
            <a:lvl9pPr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8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24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bodyStyle>
    <p:otherStyle>
      <a:defPPr>
        <a:defRPr lang="en-US">
          <a:latin typeface="BIZ UDPゴシック"/>
          <a:ea typeface="BIZ UDPゴシック"/>
          <a:cs typeface="BIZ UDPゴシック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市長説明に向けた</a:t>
            </a:r>
            <a:br/>
            <a:r>
              <a:rPr>
                <a:latin typeface="BIZ UDPゴシック"/>
              </a:rP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5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本資料の狙い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決算上の黒字と営業赤字の違いを明確化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資金残高の低下と投資財源リスクを説明</a:t>
            </a:r>
            <a:br>
              <a:rPr dirty="0"/>
            </a:br>
            <a:r>
              <a:rPr dirty="0">
                <a:latin typeface="BIZ UDPゴシック"/>
              </a:rPr>
              <a:t>・R9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4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R9.6</a:t>
            </a:r>
            <a:r>
              <a:rPr lang="ja-JP" altLang="en-US" dirty="0">
                <a:latin typeface="BIZ UDPゴシック"/>
              </a:rPr>
              <a:t>審議会</a:t>
            </a:r>
            <a:r>
              <a:rPr dirty="0" err="1">
                <a:latin typeface="BIZ UDPゴシック"/>
              </a:rPr>
              <a:t>条例改正を想定し、委員構成・説明事項・審議順序を整理</a:t>
            </a:r>
            <a:endParaRPr dirty="0">
              <a:latin typeface="BIZ UDPゴシック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到達点</a:t>
            </a:r>
            <a:r>
              <a:rPr dirty="0">
                <a:latin typeface="BIZ UDPゴシック"/>
              </a:rPr>
              <a:t>：</a:t>
            </a:r>
            <a:r>
              <a:rPr lang="ja-JP" altLang="en-US" dirty="0">
                <a:latin typeface="BIZ UDPゴシック"/>
              </a:rPr>
              <a:t>８</a:t>
            </a:r>
            <a:r>
              <a:rPr dirty="0" err="1">
                <a:latin typeface="BIZ UDPゴシック"/>
              </a:rPr>
              <a:t>月の理事者説明で、料金改定検討を進める必要性と次年度以降の工程を合意する</a:t>
            </a:r>
            <a:r>
              <a:rPr dirty="0"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打合せ内容と工程表の整合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令和8年度の作業範囲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149858"/>
              </p:ext>
            </p:extLst>
          </p:nvPr>
        </p:nvGraphicFramePr>
        <p:xfrm>
          <a:off x="502920" y="141732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論点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打合せでの確認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工程表での扱い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今年度の作業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6月下旬〜7月第1週を目途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7月に理事者へ現状説明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R3〜R7実績・初期試算を資料化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投資計画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実態ベースを反映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現状シミュレーションで整理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R7決算、R8予算、R9以降予定を整理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資産維持費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1％・2％・3％を比較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料金改定支援へ接続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0〜3％の感度分析を提示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審議会条例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市長選を考慮しR9.6想定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R9.6条例改正提出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委員構成・審議順序を設計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</a:t>
                      </a:r>
                      <a:r>
                        <a:rPr lang="ja-JP" altLang="en-US" dirty="0"/>
                        <a:t>策</a:t>
                      </a:r>
                      <a:r>
                        <a:rPr dirty="0"/>
                        <a:t>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審議ではなく説明中心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R9に</a:t>
                      </a: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</a:t>
                      </a:r>
                      <a:r>
                        <a:rPr lang="ja-JP" altLang="en-US" dirty="0"/>
                        <a:t>策</a:t>
                      </a:r>
                      <a:r>
                        <a:rPr dirty="0"/>
                        <a:t>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今年度は接続論点を整理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97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出典：業務工程表（案R9.6条例改正版）、2026/5/27打合せ議事録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説明上のポイント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純利益は黒字でも、給水収益で営業費用を賄えていない</a:t>
            </a:r>
            <a:r>
              <a:rPr dirty="0">
                <a:latin typeface="BIZ UDPゴシック"/>
              </a:rPr>
              <a:t>。</a:t>
            </a:r>
            <a:br>
              <a:rPr dirty="0"/>
            </a:br>
            <a:r>
              <a:rPr dirty="0">
                <a:latin typeface="BIZ UDPゴシック"/>
              </a:rPr>
              <a:t>・R7は料金回収率92.98％で、給水原価が供給単価を上回る。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現行料金のままでは財源余力が不足する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料金回収率と基準外繰入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説明上のポイント</a:t>
            </a:r>
            <a:endParaRPr lang="en-US" altLang="ja-JP" dirty="0">
              <a:latin typeface="BIZ UDPゴシック"/>
            </a:endParaRPr>
          </a:p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・R7は3条基準外が増加。</a:t>
            </a:r>
            <a:br>
              <a:rPr dirty="0"/>
            </a:br>
            <a:r>
              <a:rPr dirty="0">
                <a:latin typeface="BIZ UDPゴシック"/>
              </a:rPr>
              <a:t>・4条基準外は概ね80〜90百万円台で継続。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一般会計繰入が黒字維持と投資財源を支える構造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5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800" b="1">
                <a:solidFill>
                  <a:srgbClr val="B91C1C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3条収支の将来推計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現行料金ベースでは、R9以降に料金回収率と経常収支が低下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81471" y="6492240"/>
            <a:ext cx="197169" cy="256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1500" b="0">
                <a:solidFill>
                  <a:srgbClr val="5E6572"/>
                </a:solidFill>
                <a:latin typeface="BIZ UDPゴシック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3908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給水収益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1,332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1,195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1,171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1,148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1,125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1,748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1,586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1,577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1,520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水道事業費用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1,710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1,620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経常収支比率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100.5%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99.3%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98.4%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97.0%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96.3%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95.2%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94.1%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92.1%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料金回収率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93.1%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91.6%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90.7%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89.2%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88.0%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86.8%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85.6%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84.8%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83.6%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977639"/>
            <a:ext cx="10881360" cy="1325880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R7は決算上黒字でも、給水収益で給水原価を回収できていない。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現行料金を前提にすると、R9以降は経常収支比率が100％を下回り、R16では料金回収率が83.6％まで低下する。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料金改定の説明は、単年度の資金ショートではなく「料金で事業を支えられない構造」を起点にする。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96128"/>
            <a:ext cx="9569927" cy="308546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919" b="0" dirty="0">
                <a:solidFill>
                  <a:srgbClr val="5E6572"/>
                </a:solidFill>
                <a:latin typeface="BIZ UDPゴシック"/>
              </a:rPr>
              <a:t>単位：百万円。R8は当初予算、R9以降はR8予算反映・年次計画置換後の現行料金ベース。</a:t>
            </a:r>
            <a:endParaRPr lang="en-US" sz="919" b="0" dirty="0">
              <a:solidFill>
                <a:srgbClr val="5E6572"/>
              </a:solidFill>
              <a:latin typeface="BIZ UDPゴシック"/>
            </a:endParaRPr>
          </a:p>
          <a:p>
            <a:pPr algn="l"/>
            <a:r>
              <a:rPr sz="919" b="0" dirty="0" err="1">
                <a:solidFill>
                  <a:srgbClr val="5E6572"/>
                </a:solidFill>
                <a:latin typeface="BIZ UDPゴシック"/>
              </a:rPr>
              <a:t>経常収支比率は特別損益を除いた経常収益÷経常費用（表中の水道事業収益÷水道事業費用は特別損益を含むため一致しない場合がある</a:t>
            </a:r>
            <a:r>
              <a:rPr sz="919" b="0" dirty="0">
                <a:solidFill>
                  <a:srgbClr val="5E6572"/>
                </a:solidFill>
                <a:latin typeface="BIZ UDPゴシック"/>
              </a:rPr>
              <a:t>）。</a:t>
            </a:r>
            <a:r>
              <a:rPr sz="919" b="0" dirty="0" err="1">
                <a:solidFill>
                  <a:srgbClr val="5E6572"/>
                </a:solidFill>
                <a:latin typeface="BIZ UDPゴシック"/>
              </a:rPr>
              <a:t>料金回収率は給水収益÷給水原価対象費用</a:t>
            </a:r>
            <a:r>
              <a:rPr sz="919" b="0" dirty="0">
                <a:solidFill>
                  <a:srgbClr val="5E6572"/>
                </a:solidFill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投資財政計画の採用前提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旧水道ビジョン比較は外し、実体ベースの将来年次計画で整理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81470" y="6492240"/>
            <a:ext cx="197170" cy="256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1500" b="0" dirty="0">
                <a:solidFill>
                  <a:srgbClr val="5E6572"/>
                </a:solidFill>
                <a:latin typeface="BIZ UDPゴシック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287340"/>
              </p:ext>
            </p:extLst>
          </p:nvPr>
        </p:nvGraphicFramePr>
        <p:xfrm>
          <a:off x="411480" y="1234440"/>
          <a:ext cx="11677735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R7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—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880360"/>
            <a:ext cx="7817846" cy="651460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lang="ja-JP" altLang="en-US" dirty="0"/>
              <a:t>現</a:t>
            </a:r>
            <a:r>
              <a:rPr dirty="0" err="1">
                <a:latin typeface="BIZ UDPゴシック"/>
              </a:rPr>
              <a:t>水道ビジョン数値との増減比較は、</a:t>
            </a:r>
            <a:r>
              <a:rPr lang="en-US" altLang="ja-JP" dirty="0" err="1">
                <a:latin typeface="BIZ UDPゴシック"/>
              </a:rPr>
              <a:t>R</a:t>
            </a:r>
            <a:r>
              <a:rPr lang="ja-JP" altLang="en-US" dirty="0">
                <a:latin typeface="BIZ UDPゴシック"/>
              </a:rPr>
              <a:t>９の</a:t>
            </a:r>
            <a:r>
              <a:rPr dirty="0">
                <a:latin typeface="BIZ UDPゴシック"/>
              </a:rPr>
              <a:t>次</a:t>
            </a:r>
            <a:r>
              <a:rPr lang="ja-JP" altLang="en-US" dirty="0">
                <a:latin typeface="BIZ UDPゴシック"/>
              </a:rPr>
              <a:t>期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 err="1">
                <a:latin typeface="BIZ UDPゴシック"/>
              </a:rPr>
              <a:t>定で再整理するため市長説明からは外す</a:t>
            </a:r>
            <a:r>
              <a:rPr dirty="0">
                <a:latin typeface="BIZ UDPゴシック"/>
              </a:rPr>
              <a:t>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dirty="0" err="1">
                <a:latin typeface="BIZ UDPゴシック"/>
              </a:rPr>
              <a:t>本資料では、予定工事を実施する場合に、企業債・補助金・負担金・補填財源で予算が組めるかを示す</a:t>
            </a:r>
            <a:r>
              <a:rPr dirty="0">
                <a:latin typeface="BIZ UDPゴシック"/>
              </a:rPr>
              <a:t>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dirty="0">
                <a:latin typeface="BIZ UDPゴシック"/>
              </a:rPr>
              <a:t>企業債は、建設改良費から国庫補助金・工事負担金を控除した額に100％充当する前提で置換している。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28032"/>
            <a:ext cx="10698480" cy="59436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050" b="0">
                <a:solidFill>
                  <a:srgbClr val="5E6572"/>
                </a:solidFill>
                <a:latin typeface="BIZ UDPゴシック"/>
              </a:rPr>
              <a:t>留意点：R7→R8繰越工事182百万円は現時点で本SIMに未反映。執行見込確定後、R8建設改良費・企業債・補填財源への影響を追加精査する。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698480" cy="292608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919" b="0">
                <a:solidFill>
                  <a:srgbClr val="5E6572"/>
                </a:solidFill>
                <a:latin typeface="BIZ UDPゴシック"/>
              </a:rPr>
              <a:t>単位：百万円。建設改良費は将来年次計画、企業債は充当率100％方針による置換後。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資本的収支と補填財源の見方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収入・支出の下段で、収支不足額と補填財源残高を確認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5E6572"/>
                </a:solidFill>
                <a:latin typeface="BIZ UDPゴシック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465603"/>
              </p:ext>
            </p:extLst>
          </p:nvPr>
        </p:nvGraphicFramePr>
        <p:xfrm>
          <a:off x="320040" y="1115568"/>
          <a:ext cx="11799994" cy="4132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項目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資本的収入計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1,055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421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資本的支出計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1,684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1,437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977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775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企業債償還金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796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676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647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588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557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544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07">
                <a:tc>
                  <a:txBody>
                    <a:bodyPr/>
                    <a:lstStyle/>
                    <a:p>
                      <a:pPr algn="l"/>
                      <a:r>
                        <a:rPr sz="850" b="1" dirty="0" err="1">
                          <a:solidFill>
                            <a:srgbClr val="BE4141"/>
                          </a:solidFill>
                          <a:latin typeface="BIZ UDPゴシック"/>
                        </a:rPr>
                        <a:t>収支不足額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△629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△508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△474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△405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△394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補填財源残高（改定なし）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72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△26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△83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△126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△107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△87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△77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△90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△123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75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補填財源残高（改定あり）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△26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235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423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600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752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315712"/>
            <a:ext cx="10321736" cy="405239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 dirty="0">
                <a:latin typeface="BIZ UDPゴシック"/>
              </a:rPr>
              <a:t>R9・R10は補填財源残高がマイナスとなり、一般会計支援、追加起債、投資平準化、料金改定の組合せが必要となる。</a:t>
            </a:r>
          </a:p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 dirty="0" err="1">
                <a:latin typeface="BIZ UDPゴシック"/>
              </a:rPr>
              <a:t>市長説明では「現金が一時的に減る」ではなく</a:t>
            </a:r>
            <a:r>
              <a:rPr dirty="0">
                <a:latin typeface="BIZ UDPゴシック"/>
              </a:rPr>
              <a:t>、「</a:t>
            </a:r>
            <a:r>
              <a:rPr dirty="0" err="1">
                <a:latin typeface="BIZ UDPゴシック"/>
              </a:rPr>
              <a:t>補填財源が不足し、予定工事の予算化が難しくなる</a:t>
            </a:r>
            <a:r>
              <a:rPr dirty="0">
                <a:latin typeface="BIZ UDPゴシック"/>
              </a:rPr>
              <a:t>」</a:t>
            </a:r>
            <a:r>
              <a:rPr lang="ja-JP" altLang="en-US" dirty="0">
                <a:latin typeface="BIZ UDPゴシック"/>
              </a:rPr>
              <a:t>「そもそも企業債元金償還ができなくなる」</a:t>
            </a:r>
            <a:r>
              <a:rPr dirty="0" err="1">
                <a:latin typeface="BIZ UDPゴシック"/>
              </a:rPr>
              <a:t>流れで説明する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61888"/>
            <a:ext cx="11064240" cy="32004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880" b="0">
                <a:solidFill>
                  <a:srgbClr val="5E6572"/>
                </a:solidFill>
                <a:latin typeface="BIZ UDPゴシック"/>
              </a:rPr>
              <a:t>単位：百万円。補填財源残高はR7末183百万円を起点とした簡便推計。「改定なし」は現行料金を維持した場合、「改定あり」はR11以降にスライド11の資産維持費0％ケース（必要改定率7.3％）を反映した場合。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経常収支比率・料金回収率・現預金（営業費用修正後）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750278"/>
              </p:ext>
            </p:extLst>
          </p:nvPr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R11経常収支</a:t>
                      </a:r>
                      <a:r>
                        <a:rPr lang="ja-JP" altLang="en-US" dirty="0"/>
                        <a:t>比率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R11料金回収</a:t>
                      </a:r>
                      <a:r>
                        <a:rPr lang="ja-JP" altLang="en-US" dirty="0"/>
                        <a:t>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R11資産維持費込料金回収</a:t>
                      </a:r>
                      <a:r>
                        <a:rPr lang="ja-JP" altLang="en-US" dirty="0"/>
                        <a:t>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107.7%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128.6%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108.3%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2,907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149.5%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120.9%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4,872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170.3%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133.6%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6,836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・資産維持費は、水道施設を適切に維持し、安定した給水サービスを継続するために総括原価に算入される費用。</a:t>
            </a:r>
            <a:endParaRPr lang="en-US" altLang="ja-JP" dirty="0">
              <a:latin typeface="BIZ UDPゴシック"/>
            </a:endParaR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/>
              <a:t>・総括原価とは、営業費用に加え、支払利息や資産維持費などを含めた、事業運営に必要な総費用を指す。</a:t>
            </a:r>
            <a:endParaRPr lang="en-US" dirty="0">
              <a:latin typeface="BIZ UDPゴシック"/>
            </a:endParaR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・必要改定率は、二重計上除外に加え、企業債充当率100%の支払利息と建設仮勘定供用開始（減価償却・戻入）を総括原価へ統合した水準。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・現行料金のままでは補填財源がR9〜R10に不足（R9末△26・R10末△83百万円、現預金もR10末△24百万円）し、R11改定で回復する。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・市長説明では、0％は収支均衡の比較下限、1〜2％は現実的検討、3％は感度分析の上限として整理する。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※R7は決算確定値（累計4条不足に反映）。現預金は百万円。企業債充当率100%（建設改良費−国庫−工事負担金、利率3%・40年元</a:t>
            </a:r>
            <a:r>
              <a:rPr lang="ja-JP" altLang="en-US" dirty="0">
                <a:latin typeface="BIZ UDPゴシック"/>
              </a:rPr>
              <a:t>利</a:t>
            </a:r>
            <a:r>
              <a:rPr dirty="0" err="1">
                <a:latin typeface="BIZ UDPゴシック"/>
              </a:rPr>
              <a:t>均等</a:t>
            </a:r>
            <a:r>
              <a:rPr dirty="0">
                <a:latin typeface="BIZ UDPゴシック"/>
              </a:rPr>
              <a:t>）、過年度建設仮勘定純額12百万円のR9借入、建設仮勘定の減価償却・戻入を本体へ統合済み。補填財源はR7末183百万円（0708修正版補てん財源経過表）起点の簡便推計。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改定後の3条・4条収支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R11〜R16 資産維持費別の3条純利益（4条収支不足・補填財源は下段脚注参照）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111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459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419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397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748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722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701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1,130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1,108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1,077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1,048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1,024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995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・改定後の3条純利益は各ケースでR11以降黒字化。R11-R16累計は0%=488、1%=2,453、2%=4,418、3%=6,382百万円。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・4条収支不足は投資水準に依存し全ケース共通の△474〜△409百万円/年、R7-R16累計△4,887百万円。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・1〜2％を現実的検討帯、3％を上限として、段階改定・5年周期で調整する。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単位：百万円。改定後3条純利益は各シナリオSIMの純損益（r28）。4条収支不足は資本的収入−資本的支出（r54）で全ケース共通。R7-R16累計4条不足は△4,887百万円で改定率に依存しない。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R9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7624" y="2697480"/>
            <a:ext cx="2363096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R8決算／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水道ビジョン説明／審議会条例改正</a:t>
            </a:r>
            <a:endParaRPr dirty="0">
              <a:latin typeface="BIZ UDPゴシック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工程管理上の要点：R8で必要性を共有し、R9で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>
                <a:latin typeface="BIZ UDPゴシック"/>
              </a:rPr>
              <a:t>水道ビジョンへ反映、R10で料金体系を具体化する。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251117"/>
              </p:ext>
            </p:extLst>
          </p:nvPr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資産維持費0〜3％の主要指標比較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企業債充当率、国庫補助、工事負担金、一般会計繰入の事業別前提を確認</a:t>
            </a:r>
            <a:r>
              <a:rPr dirty="0">
                <a:latin typeface="BIZ UDPゴシック"/>
              </a:rPr>
              <a:t>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最低必要現預金の目安を設定</a:t>
            </a:r>
            <a:r>
              <a:rPr dirty="0">
                <a:latin typeface="BIZ UDPゴシック"/>
              </a:rPr>
              <a:t>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資産維持費の採用水準を政治判断の論点として整理</a:t>
            </a:r>
            <a:r>
              <a:rPr dirty="0"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直近の作業方針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市長説明資料に反映する内容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945010"/>
              </p:ext>
            </p:extLst>
          </p:nvPr>
        </p:nvGraphicFramePr>
        <p:xfrm>
          <a:off x="502920" y="132588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成果物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1. 数値固定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R3〜R7の5か年で、損益・料金回収率・繰入金・資金残高を統一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現状分析表／グラフ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2. 原価計算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R11開始5年、資産維持費0〜3％で比較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総括原価試算表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3. 投資財政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R8予算収入・将来年次投資・元金償還・財源を反映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資金残高推計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4. 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料金改定の必要性、R9〜R11工程、判断事項を整理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説明用PPT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5. 審議会設計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委員構成、条例改正、審議順序</a:t>
                      </a:r>
                      <a:r>
                        <a:rPr dirty="0"/>
                        <a:t>、</a:t>
                      </a: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水道ビジョン説明の扱いを整理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設計メモ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料金改定を行わない場合の影響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現行料金のままでは、補填財源・現預金はR16まで一度も回復しない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5E6572"/>
                </a:solidFill>
                <a:latin typeface="BIZ UDPゴシック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465603"/>
              </p:ext>
            </p:extLst>
          </p:nvPr>
        </p:nvGraphicFramePr>
        <p:xfrm>
          <a:off x="320040" y="1115568"/>
          <a:ext cx="11799994" cy="4132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補填財源残高　改定なし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△26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△126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△107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△77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△90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補填財源残高　改定あり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△26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235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600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752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現預金残高　改定なし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△24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△67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△48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△28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△17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△64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現預金残高　改定あり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△24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105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294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482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660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811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942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当年度純損益　改定なし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△25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△49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△78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△96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△109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△126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07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当年度純損益　改定あり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△25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111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経常収支比率　改定なし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100.5%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99.3%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98.4%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97.0%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96.3%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95.2%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94.1%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93.2%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92.1%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75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経常収支比率　改定あり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100.5%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99.3%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98.4%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107.7%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106.9%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105.6%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104.4%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103.5%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C3C6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102.3%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315712"/>
            <a:ext cx="10321736" cy="405239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 sz="1100">
                <a:solidFill>
                  <a:srgbClr val="191C23"/>
                </a:solidFill>
                <a:latin typeface="BIZ UDPゴシック"/>
                <a:ea typeface="BIZ UDPゴシック"/>
                <a:cs typeface="BIZ UDPゴシック"/>
              </a:rPr>
              <a:t>・料金改定を行わない場合、補填財源残高はR9にマイナスへ転じた後、R16末△123百万円まで回復しない。</a:t>
            </a:r>
          </a:p>
          <a:p>
            <a:r>
              <a:rPr sz="1100">
                <a:solidFill>
                  <a:srgbClr val="191C23"/>
                </a:solidFill>
                <a:latin typeface="BIZ UDPゴシック"/>
                <a:ea typeface="BIZ UDPゴシック"/>
                <a:cs typeface="BIZ UDPゴシック"/>
              </a:rPr>
              <a:t>・現預金もR10以降マイナスで推移し、工事代金・企業債償還の支払財源を確保できない。</a:t>
            </a:r>
          </a:p>
          <a:p>
            <a:r>
              <a:rPr sz="1100">
                <a:solidFill>
                  <a:srgbClr val="191C23"/>
                </a:solidFill>
                <a:latin typeface="BIZ UDPゴシック"/>
                <a:ea typeface="BIZ UDPゴシック"/>
                <a:cs typeface="BIZ UDPゴシック"/>
              </a:rPr>
              <a:t>・純損益はR9に赤字転落し、R16には△126百万円まで拡大する。改定なしでは経常収支比率も100％を下回り続ける。</a:t>
            </a:r>
          </a:p>
          <a:p>
            <a:r>
              <a:rPr sz="1100">
                <a:solidFill>
                  <a:srgbClr val="191C23"/>
                </a:solidFill>
                <a:latin typeface="BIZ UDPゴシック"/>
                <a:ea typeface="BIZ UDPゴシック"/>
                <a:cs typeface="BIZ UDPゴシック"/>
              </a:rPr>
              <a:t>・資産維持費0％（必要改定率7.3％）で改定した場合との差は、R16末で補填財源・現預金とも約1,006百万円。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61888"/>
            <a:ext cx="11064240" cy="32004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880" b="0">
                <a:solidFill>
                  <a:srgbClr val="5E6572"/>
                </a:solidFill>
                <a:latin typeface="BIZ UDPゴシック"/>
              </a:rPr>
              <a:t>単位：百万円（経常収支比率は％）。「改定なし」は現行料金を維持した場合、「改定あり」はR11以降に必要改定率7.3％を反映した場合。投資計画・企業債条件は両ケース共通のため、資本的収支不足額は同額。補填財源はR7末183百万円を起点とした簡便推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ajorFont>
      <a:min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845EAC2CE09544585FB76C2E147A62F" ma:contentTypeVersion="7" ma:contentTypeDescription="新しいドキュメントを作成します。" ma:contentTypeScope="" ma:versionID="bd16baa7ddbcda499cb2d163fe04e311">
  <xsd:schema xmlns:xsd="http://www.w3.org/2001/XMLSchema" xmlns:xs="http://www.w3.org/2001/XMLSchema" xmlns:p="http://schemas.microsoft.com/office/2006/metadata/properties" xmlns:ns2="b5562210-ba99-4384-9cbe-4d710e47e222" targetNamespace="http://schemas.microsoft.com/office/2006/metadata/properties" ma:root="true" ma:fieldsID="9d7e717c0780e9899422ec802af3b0e8" ns2:_="">
    <xsd:import namespace="b5562210-ba99-4384-9cbe-4d710e47e2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562210-ba99-4384-9cbe-4d710e47e2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0CA741-39B6-4B82-AF9E-2DECAD61AB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562210-ba99-4384-9cbe-4d710e47e2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2B36A0-9E44-4717-8711-4E9FA5B8B2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F1D41B6-2D28-4A95-BB49-C9A5F75353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1461</Words>
  <Application>Microsoft Office PowerPoint</Application>
  <PresentationFormat>ワイド画面</PresentationFormat>
  <Paragraphs>490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BIZ UDPゴシック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Administrator</cp:lastModifiedBy>
  <cp:revision>12</cp:revision>
  <dcterms:modified xsi:type="dcterms:W3CDTF">2026-08-26T04:08:21Z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0x010100A845EAC2CE09544585FB76C2E147A62F</vt:lpwstr>
  </property>
</Properties>
</file>