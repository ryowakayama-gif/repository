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改定なし</c:v>
                </c:pt>
              </c:strCache>
            </c:strRef>
          </c:tx>
          <c:spPr>
            <a:ln w="31750">
              <a:solidFill>
                <a:srgbClr val="1C3C60"/>
              </a:solidFill>
            </a:ln>
          </c:spPr>
          <c:cat>
            <c:strRef>
              <c:f>Sheet1!$A$2:$A$10</c:f>
              <c:strCache>
                <c:ptCount val="9"/>
                <c:pt idx="0">
                  <c:v>R8</c:v>
                </c:pt>
                <c:pt idx="1">
                  <c:v>R9</c:v>
                </c:pt>
                <c:pt idx="2">
                  <c:v>R10</c:v>
                </c:pt>
                <c:pt idx="3">
                  <c:v>R11</c:v>
                </c:pt>
                <c:pt idx="4">
                  <c:v>R12</c:v>
                </c:pt>
                <c:pt idx="5">
                  <c:v>R13</c:v>
                </c:pt>
                <c:pt idx="6">
                  <c:v>R14</c:v>
                </c:pt>
                <c:pt idx="7">
                  <c:v>R15</c:v>
                </c:pt>
                <c:pt idx="8">
                  <c:v>R16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</c:v>
                </c:pt>
                <c:pt idx="1">
                  <c:v>-26</c:v>
                </c:pt>
                <c:pt idx="2">
                  <c:v>-83</c:v>
                </c:pt>
                <c:pt idx="3">
                  <c:v>-126</c:v>
                </c:pt>
                <c:pt idx="4">
                  <c:v>-107</c:v>
                </c:pt>
                <c:pt idx="5">
                  <c:v>-87</c:v>
                </c:pt>
                <c:pt idx="6">
                  <c:v>-77</c:v>
                </c:pt>
                <c:pt idx="7">
                  <c:v>-90</c:v>
                </c:pt>
                <c:pt idx="8">
                  <c:v>-123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7.3％改定あり</c:v>
                </c:pt>
              </c:strCache>
            </c:strRef>
          </c:tx>
          <c:spPr>
            <a:ln w="31750">
              <a:solidFill>
                <a:srgbClr val="BE4141"/>
              </a:solidFill>
            </a:ln>
          </c:spPr>
          <c:cat>
            <c:strRef>
              <c:f>Sheet1!$A$2:$A$10</c:f>
              <c:strCache>
                <c:ptCount val="9"/>
                <c:pt idx="0">
                  <c:v>R8</c:v>
                </c:pt>
                <c:pt idx="1">
                  <c:v>R9</c:v>
                </c:pt>
                <c:pt idx="2">
                  <c:v>R10</c:v>
                </c:pt>
                <c:pt idx="3">
                  <c:v>R11</c:v>
                </c:pt>
                <c:pt idx="4">
                  <c:v>R12</c:v>
                </c:pt>
                <c:pt idx="5">
                  <c:v>R13</c:v>
                </c:pt>
                <c:pt idx="6">
                  <c:v>R14</c:v>
                </c:pt>
                <c:pt idx="7">
                  <c:v>R15</c:v>
                </c:pt>
                <c:pt idx="8">
                  <c:v>R16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72</c:v>
                </c:pt>
                <c:pt idx="1">
                  <c:v>-26</c:v>
                </c:pt>
                <c:pt idx="2">
                  <c:v>-83</c:v>
                </c:pt>
                <c:pt idx="3">
                  <c:v>46</c:v>
                </c:pt>
                <c:pt idx="4">
                  <c:v>235</c:v>
                </c:pt>
                <c:pt idx="5">
                  <c:v>423</c:v>
                </c:pt>
                <c:pt idx="6">
                  <c:v>600</c:v>
                </c:pt>
                <c:pt idx="7">
                  <c:v>752</c:v>
                </c:pt>
                <c:pt idx="8">
                  <c:v>883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;△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BIZ UDPゴシック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BIZ UDPゴシック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経常収支比率</c:v>
                </c:pt>
              </c:strCache>
            </c:strRef>
          </c:tx>
          <c:spPr>
            <a:ln w="31750">
              <a:solidFill>
                <a:srgbClr val="1C3C60"/>
              </a:solidFill>
            </a:ln>
          </c:spPr>
          <c:cat>
            <c:strRef>
              <c:f>Sheet1!$A$2:$A$11</c:f>
              <c:strCache>
                <c:ptCount val="10"/>
                <c:pt idx="0">
                  <c:v>R7</c:v>
                </c:pt>
                <c:pt idx="1">
                  <c:v>R8</c:v>
                </c:pt>
                <c:pt idx="2">
                  <c:v>R9</c:v>
                </c:pt>
                <c:pt idx="3">
                  <c:v>R10</c:v>
                </c:pt>
                <c:pt idx="4">
                  <c:v>R11</c:v>
                </c:pt>
                <c:pt idx="5">
                  <c:v>R12</c:v>
                </c:pt>
                <c:pt idx="6">
                  <c:v>R13</c:v>
                </c:pt>
                <c:pt idx="7">
                  <c:v>R14</c:v>
                </c:pt>
                <c:pt idx="8">
                  <c:v>R15</c:v>
                </c:pt>
                <c:pt idx="9">
                  <c:v>R16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103.2</c:v>
                </c:pt>
                <c:pt idx="1">
                  <c:v>100.5</c:v>
                </c:pt>
                <c:pt idx="2">
                  <c:v>99.3</c:v>
                </c:pt>
                <c:pt idx="3">
                  <c:v>98.4</c:v>
                </c:pt>
                <c:pt idx="4">
                  <c:v>97.0</c:v>
                </c:pt>
                <c:pt idx="5">
                  <c:v>96.3</c:v>
                </c:pt>
                <c:pt idx="6">
                  <c:v>95.2</c:v>
                </c:pt>
                <c:pt idx="7">
                  <c:v>94.1</c:v>
                </c:pt>
                <c:pt idx="8">
                  <c:v>93.2</c:v>
                </c:pt>
                <c:pt idx="9">
                  <c:v>92.1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料金回収率</c:v>
                </c:pt>
              </c:strCache>
            </c:strRef>
          </c:tx>
          <c:spPr>
            <a:ln w="31750">
              <a:solidFill>
                <a:srgbClr val="BE4141"/>
              </a:solidFill>
            </a:ln>
          </c:spPr>
          <c:cat>
            <c:strRef>
              <c:f>Sheet1!$A$2:$A$11</c:f>
              <c:strCache>
                <c:ptCount val="10"/>
                <c:pt idx="0">
                  <c:v>R7</c:v>
                </c:pt>
                <c:pt idx="1">
                  <c:v>R8</c:v>
                </c:pt>
                <c:pt idx="2">
                  <c:v>R9</c:v>
                </c:pt>
                <c:pt idx="3">
                  <c:v>R10</c:v>
                </c:pt>
                <c:pt idx="4">
                  <c:v>R11</c:v>
                </c:pt>
                <c:pt idx="5">
                  <c:v>R12</c:v>
                </c:pt>
                <c:pt idx="6">
                  <c:v>R13</c:v>
                </c:pt>
                <c:pt idx="7">
                  <c:v>R14</c:v>
                </c:pt>
                <c:pt idx="8">
                  <c:v>R15</c:v>
                </c:pt>
                <c:pt idx="9">
                  <c:v>R16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93.0</c:v>
                </c:pt>
                <c:pt idx="1">
                  <c:v>93.1</c:v>
                </c:pt>
                <c:pt idx="2">
                  <c:v>91.6</c:v>
                </c:pt>
                <c:pt idx="3">
                  <c:v>90.7</c:v>
                </c:pt>
                <c:pt idx="4">
                  <c:v>89.2</c:v>
                </c:pt>
                <c:pt idx="5">
                  <c:v>88.0</c:v>
                </c:pt>
                <c:pt idx="6">
                  <c:v>86.8</c:v>
                </c:pt>
                <c:pt idx="7">
                  <c:v>85.6</c:v>
                </c:pt>
                <c:pt idx="8">
                  <c:v>84.8</c:v>
                </c:pt>
                <c:pt idx="9">
                  <c:v>83.6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BIZ UDPゴシック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BIZ UDPゴシック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改定なし</c:v>
                </c:pt>
              </c:strCache>
            </c:strRef>
          </c:tx>
          <c:spPr>
            <a:ln w="31750">
              <a:solidFill>
                <a:srgbClr val="1C3C60"/>
              </a:solidFill>
            </a:ln>
          </c:spPr>
          <c:cat>
            <c:strRef>
              <c:f>Sheet1!$A$2:$A$7</c:f>
              <c:strCache>
                <c:ptCount val="6"/>
                <c:pt idx="0">
                  <c:v>R11</c:v>
                </c:pt>
                <c:pt idx="1">
                  <c:v>R12</c:v>
                </c:pt>
                <c:pt idx="2">
                  <c:v>R13</c:v>
                </c:pt>
                <c:pt idx="3">
                  <c:v>R14</c:v>
                </c:pt>
                <c:pt idx="4">
                  <c:v>R15</c:v>
                </c:pt>
                <c:pt idx="5">
                  <c:v>R16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-49</c:v>
                </c:pt>
                <c:pt idx="1">
                  <c:v>-59</c:v>
                </c:pt>
                <c:pt idx="2">
                  <c:v>-78</c:v>
                </c:pt>
                <c:pt idx="3">
                  <c:v>-96</c:v>
                </c:pt>
                <c:pt idx="4">
                  <c:v>-109</c:v>
                </c:pt>
                <c:pt idx="5">
                  <c:v>-126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10％改定</c:v>
                </c:pt>
              </c:strCache>
            </c:strRef>
          </c:tx>
          <c:spPr>
            <a:ln w="31750">
              <a:solidFill>
                <a:srgbClr val="BE4141"/>
              </a:solidFill>
            </a:ln>
          </c:spPr>
          <c:cat>
            <c:strRef>
              <c:f>Sheet1!$A$2:$A$7</c:f>
              <c:strCache>
                <c:ptCount val="6"/>
                <c:pt idx="0">
                  <c:v>R11</c:v>
                </c:pt>
                <c:pt idx="1">
                  <c:v>R12</c:v>
                </c:pt>
                <c:pt idx="2">
                  <c:v>R13</c:v>
                </c:pt>
                <c:pt idx="3">
                  <c:v>R14</c:v>
                </c:pt>
                <c:pt idx="4">
                  <c:v>R15</c:v>
                </c:pt>
                <c:pt idx="5">
                  <c:v>R16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188</c:v>
                </c:pt>
                <c:pt idx="1">
                  <c:v>175</c:v>
                </c:pt>
                <c:pt idx="2">
                  <c:v>153</c:v>
                </c:pt>
                <c:pt idx="3">
                  <c:v>134</c:v>
                </c:pt>
                <c:pt idx="4">
                  <c:v>118</c:v>
                </c:pt>
                <c:pt idx="5">
                  <c:v>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20％改定</c:v>
                </c:pt>
              </c:strCache>
            </c:strRef>
          </c:tx>
          <c:spPr>
            <a:ln w="31750">
              <a:solidFill>
                <a:srgbClr val="2E868A"/>
              </a:solidFill>
            </a:ln>
          </c:spPr>
          <c:cat>
            <c:strRef>
              <c:f>Sheet1!$A$2:$A$7</c:f>
              <c:strCache>
                <c:ptCount val="6"/>
                <c:pt idx="0">
                  <c:v>R11</c:v>
                </c:pt>
                <c:pt idx="1">
                  <c:v>R12</c:v>
                </c:pt>
                <c:pt idx="2">
                  <c:v>R13</c:v>
                </c:pt>
                <c:pt idx="3">
                  <c:v>R14</c:v>
                </c:pt>
                <c:pt idx="4">
                  <c:v>R15</c:v>
                </c:pt>
                <c:pt idx="5">
                  <c:v>R16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424</c:v>
                </c:pt>
                <c:pt idx="1">
                  <c:v>409</c:v>
                </c:pt>
                <c:pt idx="2">
                  <c:v>385</c:v>
                </c:pt>
                <c:pt idx="3">
                  <c:v>363</c:v>
                </c:pt>
                <c:pt idx="4">
                  <c:v>345</c:v>
                </c:pt>
                <c:pt idx="5">
                  <c:v>323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30％改定</c:v>
                </c:pt>
              </c:strCache>
            </c:strRef>
          </c:tx>
          <c:spPr>
            <a:ln w="31750">
              <a:solidFill>
                <a:srgbClr val="C8852B"/>
              </a:solidFill>
            </a:ln>
          </c:spPr>
          <c:cat>
            <c:strRef>
              <c:f>Sheet1!$A$2:$A$7</c:f>
              <c:strCache>
                <c:ptCount val="6"/>
                <c:pt idx="0">
                  <c:v>R11</c:v>
                </c:pt>
                <c:pt idx="1">
                  <c:v>R12</c:v>
                </c:pt>
                <c:pt idx="2">
                  <c:v>R13</c:v>
                </c:pt>
                <c:pt idx="3">
                  <c:v>R14</c:v>
                </c:pt>
                <c:pt idx="4">
                  <c:v>R15</c:v>
                </c:pt>
                <c:pt idx="5">
                  <c:v>R16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661</c:v>
                </c:pt>
                <c:pt idx="1">
                  <c:v>643</c:v>
                </c:pt>
                <c:pt idx="2">
                  <c:v>617</c:v>
                </c:pt>
                <c:pt idx="3">
                  <c:v>593</c:v>
                </c:pt>
                <c:pt idx="4">
                  <c:v>573</c:v>
                </c:pt>
                <c:pt idx="5">
                  <c:v>548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;△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ゴシック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BIZ UDPゴシック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BIZ UDPゴシック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399" y="230400"/>
            <a:ext cx="11052000" cy="41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C60"/>
                </a:solidFill>
                <a:latin typeface="BIZ UDPゴシック"/>
                <a:ea typeface="BIZ UDPゴシック"/>
                <a:cs typeface="BIZ UDPゴシック"/>
              </a:rPr>
              <a:t>補填財源残高の推移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200" y="712800"/>
            <a:ext cx="109800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料金改定なしでは回復せず、改定後も回復はR12以降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0" y="6490800"/>
            <a:ext cx="503999" cy="16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00" y="1152000"/>
          <a:ext cx="11016000" cy="44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000" y="5760000"/>
            <a:ext cx="109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BIZ UDPゴシック"/>
                <a:ea typeface="BIZ UDPゴシック"/>
                <a:cs typeface="BIZ UDPゴシック"/>
              </a:rPr>
              <a:t>単位：百万円。R7末183百万円を起点とした簡便推計。改定ありは資産維持費0％ケース（必要改定率7.3％）をR11以降に反映。マイナスは追加財源・投資平準化・料金改定のいずれかが必要であることを示す。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399" y="230400"/>
            <a:ext cx="11052000" cy="41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C60"/>
                </a:solidFill>
                <a:latin typeface="BIZ UDPゴシック"/>
                <a:ea typeface="BIZ UDPゴシック"/>
                <a:cs typeface="BIZ UDPゴシック"/>
              </a:rPr>
              <a:t>料金回収率と経常収支比率の推移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200" y="712800"/>
            <a:ext cx="109800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現行料金では両指標が100％を下回り続ける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0" y="6490800"/>
            <a:ext cx="503999" cy="16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00" y="1152000"/>
          <a:ext cx="11016000" cy="44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000" y="5760000"/>
            <a:ext cx="109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BIZ UDPゴシック"/>
                <a:ea typeface="BIZ UDPゴシック"/>
                <a:cs typeface="BIZ UDPゴシック"/>
              </a:rPr>
              <a:t>単位：％。現行料金ベース（料金改定なし）。R8は当初予算、R9以降は年次計画置換後。100％を下回る期間は、料金収入で費用を回収できていないことを示す。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399" y="230400"/>
            <a:ext cx="11052000" cy="41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C60"/>
                </a:solidFill>
                <a:latin typeface="BIZ UDPゴシック"/>
                <a:ea typeface="BIZ UDPゴシック"/>
                <a:cs typeface="BIZ UDPゴシック"/>
              </a:rPr>
              <a:t>改定率別の当期純利益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9200" y="712800"/>
            <a:ext cx="109800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10％改定ではR16に再び赤字、20％改定で10年の黒字を維持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0" y="6490800"/>
            <a:ext cx="503999" cy="16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00" y="1152000"/>
          <a:ext cx="11016000" cy="44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000" y="5760000"/>
            <a:ext cx="109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BIZ UDPゴシック"/>
                <a:ea typeface="BIZ UDPゴシック"/>
                <a:cs typeface="BIZ UDPゴシック"/>
              </a:rPr>
              <a:t>単位：百万円。R11以降に改定率を適用した試算（現行モデル基準）。当期純利益の黒字と、企業債償還・施設更新に必要な資金の確保は別の論点。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