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改定なし</c:v>
                </c:pt>
              </c:strCache>
            </c:strRef>
          </c:tx>
          <c:spPr>
            <a:ln w="31750">
              <a:solidFill>
                <a:srgbClr val="1C3C60"/>
              </a:solidFill>
            </a:ln>
          </c:spPr>
          <c:cat>
            <c:strRef>
              <c:f>Sheet1!$A$2:$A$10</c:f>
              <c:strCache>
                <c:ptCount val="9"/>
                <c:pt idx="0">
                  <c:v>R8</c:v>
                </c:pt>
                <c:pt idx="1">
                  <c:v>R9</c:v>
                </c:pt>
                <c:pt idx="2">
                  <c:v>R10</c:v>
                </c:pt>
                <c:pt idx="3">
                  <c:v>R11</c:v>
                </c:pt>
                <c:pt idx="4">
                  <c:v>R12</c:v>
                </c:pt>
                <c:pt idx="5">
                  <c:v>R13</c:v>
                </c:pt>
                <c:pt idx="6">
                  <c:v>R14</c:v>
                </c:pt>
                <c:pt idx="7">
                  <c:v>R15</c:v>
                </c:pt>
                <c:pt idx="8">
                  <c:v>R16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72</c:v>
                </c:pt>
                <c:pt idx="1">
                  <c:v>-26</c:v>
                </c:pt>
                <c:pt idx="2">
                  <c:v>-83</c:v>
                </c:pt>
                <c:pt idx="3">
                  <c:v>-126</c:v>
                </c:pt>
                <c:pt idx="4">
                  <c:v>-107</c:v>
                </c:pt>
                <c:pt idx="5">
                  <c:v>-87</c:v>
                </c:pt>
                <c:pt idx="6">
                  <c:v>-77</c:v>
                </c:pt>
                <c:pt idx="7">
                  <c:v>-90</c:v>
                </c:pt>
                <c:pt idx="8">
                  <c:v>-123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7.3％改定あり</c:v>
                </c:pt>
              </c:strCache>
            </c:strRef>
          </c:tx>
          <c:spPr>
            <a:ln w="31750">
              <a:solidFill>
                <a:srgbClr val="BE4141"/>
              </a:solidFill>
            </a:ln>
          </c:spPr>
          <c:cat>
            <c:strRef>
              <c:f>Sheet1!$A$2:$A$10</c:f>
              <c:strCache>
                <c:ptCount val="9"/>
                <c:pt idx="0">
                  <c:v>R8</c:v>
                </c:pt>
                <c:pt idx="1">
                  <c:v>R9</c:v>
                </c:pt>
                <c:pt idx="2">
                  <c:v>R10</c:v>
                </c:pt>
                <c:pt idx="3">
                  <c:v>R11</c:v>
                </c:pt>
                <c:pt idx="4">
                  <c:v>R12</c:v>
                </c:pt>
                <c:pt idx="5">
                  <c:v>R13</c:v>
                </c:pt>
                <c:pt idx="6">
                  <c:v>R14</c:v>
                </c:pt>
                <c:pt idx="7">
                  <c:v>R15</c:v>
                </c:pt>
                <c:pt idx="8">
                  <c:v>R16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72</c:v>
                </c:pt>
                <c:pt idx="1">
                  <c:v>-26</c:v>
                </c:pt>
                <c:pt idx="2">
                  <c:v>-83</c:v>
                </c:pt>
                <c:pt idx="3">
                  <c:v>-40</c:v>
                </c:pt>
                <c:pt idx="4">
                  <c:v>64</c:v>
                </c:pt>
                <c:pt idx="5">
                  <c:v>168</c:v>
                </c:pt>
                <c:pt idx="6">
                  <c:v>262</c:v>
                </c:pt>
                <c:pt idx="7">
                  <c:v>331</c:v>
                </c:pt>
                <c:pt idx="8">
                  <c:v>380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BIZ UDPゴシック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#,##0;△#,##0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BIZ UDPゴシック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>
              <a:latin typeface="BIZ UDPゴシック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latin typeface="BIZ UDPゴシック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経常収支比率</c:v>
                </c:pt>
              </c:strCache>
            </c:strRef>
          </c:tx>
          <c:spPr>
            <a:ln w="31750">
              <a:solidFill>
                <a:srgbClr val="1C3C60"/>
              </a:solidFill>
            </a:ln>
          </c:spPr>
          <c:cat>
            <c:strRef>
              <c:f>Sheet1!$A$2:$A$11</c:f>
              <c:strCache>
                <c:ptCount val="10"/>
                <c:pt idx="0">
                  <c:v>R7</c:v>
                </c:pt>
                <c:pt idx="1">
                  <c:v>R8</c:v>
                </c:pt>
                <c:pt idx="2">
                  <c:v>R9</c:v>
                </c:pt>
                <c:pt idx="3">
                  <c:v>R10</c:v>
                </c:pt>
                <c:pt idx="4">
                  <c:v>R11</c:v>
                </c:pt>
                <c:pt idx="5">
                  <c:v>R12</c:v>
                </c:pt>
                <c:pt idx="6">
                  <c:v>R13</c:v>
                </c:pt>
                <c:pt idx="7">
                  <c:v>R14</c:v>
                </c:pt>
                <c:pt idx="8">
                  <c:v>R15</c:v>
                </c:pt>
                <c:pt idx="9">
                  <c:v>R16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103.2</c:v>
                </c:pt>
                <c:pt idx="1">
                  <c:v>100.5</c:v>
                </c:pt>
                <c:pt idx="2">
                  <c:v>99.3</c:v>
                </c:pt>
                <c:pt idx="3">
                  <c:v>98.4</c:v>
                </c:pt>
                <c:pt idx="4">
                  <c:v>97.0</c:v>
                </c:pt>
                <c:pt idx="5">
                  <c:v>96.3</c:v>
                </c:pt>
                <c:pt idx="6">
                  <c:v>95.2</c:v>
                </c:pt>
                <c:pt idx="7">
                  <c:v>94.1</c:v>
                </c:pt>
                <c:pt idx="8">
                  <c:v>93.2</c:v>
                </c:pt>
                <c:pt idx="9">
                  <c:v>92.1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料金回収率</c:v>
                </c:pt>
              </c:strCache>
            </c:strRef>
          </c:tx>
          <c:spPr>
            <a:ln w="31750">
              <a:solidFill>
                <a:srgbClr val="BE4141"/>
              </a:solidFill>
            </a:ln>
          </c:spPr>
          <c:cat>
            <c:strRef>
              <c:f>Sheet1!$A$2:$A$11</c:f>
              <c:strCache>
                <c:ptCount val="10"/>
                <c:pt idx="0">
                  <c:v>R7</c:v>
                </c:pt>
                <c:pt idx="1">
                  <c:v>R8</c:v>
                </c:pt>
                <c:pt idx="2">
                  <c:v>R9</c:v>
                </c:pt>
                <c:pt idx="3">
                  <c:v>R10</c:v>
                </c:pt>
                <c:pt idx="4">
                  <c:v>R11</c:v>
                </c:pt>
                <c:pt idx="5">
                  <c:v>R12</c:v>
                </c:pt>
                <c:pt idx="6">
                  <c:v>R13</c:v>
                </c:pt>
                <c:pt idx="7">
                  <c:v>R14</c:v>
                </c:pt>
                <c:pt idx="8">
                  <c:v>R15</c:v>
                </c:pt>
                <c:pt idx="9">
                  <c:v>R16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93.0</c:v>
                </c:pt>
                <c:pt idx="1">
                  <c:v>93.1</c:v>
                </c:pt>
                <c:pt idx="2">
                  <c:v>91.6</c:v>
                </c:pt>
                <c:pt idx="3">
                  <c:v>90.7</c:v>
                </c:pt>
                <c:pt idx="4">
                  <c:v>89.2</c:v>
                </c:pt>
                <c:pt idx="5">
                  <c:v>88.0</c:v>
                </c:pt>
                <c:pt idx="6">
                  <c:v>86.8</c:v>
                </c:pt>
                <c:pt idx="7">
                  <c:v>85.6</c:v>
                </c:pt>
                <c:pt idx="8">
                  <c:v>84.8</c:v>
                </c:pt>
                <c:pt idx="9">
                  <c:v>83.6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BIZ UDPゴシック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BIZ UDPゴシック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>
              <a:latin typeface="BIZ UDPゴシック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latin typeface="BIZ UDPゴシック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改定なし</c:v>
                </c:pt>
              </c:strCache>
            </c:strRef>
          </c:tx>
          <c:spPr>
            <a:ln w="31750">
              <a:solidFill>
                <a:srgbClr val="1C3C60"/>
              </a:solidFill>
            </a:ln>
          </c:spPr>
          <c:cat>
            <c:strRef>
              <c:f>Sheet1!$A$2:$A$7</c:f>
              <c:strCache>
                <c:ptCount val="6"/>
                <c:pt idx="0">
                  <c:v>R11</c:v>
                </c:pt>
                <c:pt idx="1">
                  <c:v>R12</c:v>
                </c:pt>
                <c:pt idx="2">
                  <c:v>R13</c:v>
                </c:pt>
                <c:pt idx="3">
                  <c:v>R14</c:v>
                </c:pt>
                <c:pt idx="4">
                  <c:v>R15</c:v>
                </c:pt>
                <c:pt idx="5">
                  <c:v>R16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-49</c:v>
                </c:pt>
                <c:pt idx="1">
                  <c:v>-59</c:v>
                </c:pt>
                <c:pt idx="2">
                  <c:v>-78</c:v>
                </c:pt>
                <c:pt idx="3">
                  <c:v>-96</c:v>
                </c:pt>
                <c:pt idx="4">
                  <c:v>-109</c:v>
                </c:pt>
                <c:pt idx="5">
                  <c:v>-126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10％改定</c:v>
                </c:pt>
              </c:strCache>
            </c:strRef>
          </c:tx>
          <c:spPr>
            <a:ln w="31750">
              <a:solidFill>
                <a:srgbClr val="BE4141"/>
              </a:solidFill>
            </a:ln>
          </c:spPr>
          <c:cat>
            <c:strRef>
              <c:f>Sheet1!$A$2:$A$7</c:f>
              <c:strCache>
                <c:ptCount val="6"/>
                <c:pt idx="0">
                  <c:v>R11</c:v>
                </c:pt>
                <c:pt idx="1">
                  <c:v>R12</c:v>
                </c:pt>
                <c:pt idx="2">
                  <c:v>R13</c:v>
                </c:pt>
                <c:pt idx="3">
                  <c:v>R14</c:v>
                </c:pt>
                <c:pt idx="4">
                  <c:v>R15</c:v>
                </c:pt>
                <c:pt idx="5">
                  <c:v>R16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70</c:v>
                </c:pt>
                <c:pt idx="1">
                  <c:v>58</c:v>
                </c:pt>
                <c:pt idx="2">
                  <c:v>38</c:v>
                </c:pt>
                <c:pt idx="3">
                  <c:v>19</c:v>
                </c:pt>
                <c:pt idx="4">
                  <c:v>5</c:v>
                </c:pt>
                <c:pt idx="5">
                  <c:v>-14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20％改定</c:v>
                </c:pt>
              </c:strCache>
            </c:strRef>
          </c:tx>
          <c:spPr>
            <a:ln w="31750">
              <a:solidFill>
                <a:srgbClr val="2E868A"/>
              </a:solidFill>
            </a:ln>
          </c:spPr>
          <c:cat>
            <c:strRef>
              <c:f>Sheet1!$A$2:$A$7</c:f>
              <c:strCache>
                <c:ptCount val="6"/>
                <c:pt idx="0">
                  <c:v>R11</c:v>
                </c:pt>
                <c:pt idx="1">
                  <c:v>R12</c:v>
                </c:pt>
                <c:pt idx="2">
                  <c:v>R13</c:v>
                </c:pt>
                <c:pt idx="3">
                  <c:v>R14</c:v>
                </c:pt>
                <c:pt idx="4">
                  <c:v>R15</c:v>
                </c:pt>
                <c:pt idx="5">
                  <c:v>R16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188</c:v>
                </c:pt>
                <c:pt idx="1">
                  <c:v>175</c:v>
                </c:pt>
                <c:pt idx="2">
                  <c:v>153</c:v>
                </c:pt>
                <c:pt idx="3">
                  <c:v>134</c:v>
                </c:pt>
                <c:pt idx="4">
                  <c:v>118</c:v>
                </c:pt>
                <c:pt idx="5">
                  <c:v>99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30％改定</c:v>
                </c:pt>
              </c:strCache>
            </c:strRef>
          </c:tx>
          <c:spPr>
            <a:ln w="31750">
              <a:solidFill>
                <a:srgbClr val="C8852B"/>
              </a:solidFill>
            </a:ln>
          </c:spPr>
          <c:cat>
            <c:strRef>
              <c:f>Sheet1!$A$2:$A$7</c:f>
              <c:strCache>
                <c:ptCount val="6"/>
                <c:pt idx="0">
                  <c:v>R11</c:v>
                </c:pt>
                <c:pt idx="1">
                  <c:v>R12</c:v>
                </c:pt>
                <c:pt idx="2">
                  <c:v>R13</c:v>
                </c:pt>
                <c:pt idx="3">
                  <c:v>R14</c:v>
                </c:pt>
                <c:pt idx="4">
                  <c:v>R15</c:v>
                </c:pt>
                <c:pt idx="5">
                  <c:v>R16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306</c:v>
                </c:pt>
                <c:pt idx="1">
                  <c:v>292</c:v>
                </c:pt>
                <c:pt idx="2">
                  <c:v>269</c:v>
                </c:pt>
                <c:pt idx="3">
                  <c:v>248</c:v>
                </c:pt>
                <c:pt idx="4">
                  <c:v>232</c:v>
                </c:pt>
                <c:pt idx="5">
                  <c:v>211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BIZ UDPゴシック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#,##0;△#,##0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BIZ UDPゴシック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>
              <a:latin typeface="BIZ UDPゴシック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latin typeface="BIZ UDPゴシック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0399" y="230400"/>
            <a:ext cx="11052000" cy="4103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C3C60"/>
                </a:solidFill>
                <a:latin typeface="BIZ UDPゴシック"/>
                <a:ea typeface="BIZ UDPゴシック"/>
                <a:cs typeface="BIZ UDPゴシック"/>
              </a:rPr>
              <a:t>補填財源残高の推移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9200" y="712800"/>
            <a:ext cx="10980000" cy="23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料金改定なしでは回復せず、改定後も回復はR12以降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0000" y="6490800"/>
            <a:ext cx="503999" cy="165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1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00" y="1152000"/>
          <a:ext cx="11016000" cy="44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000" y="5760000"/>
            <a:ext cx="1098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BIZ UDPゴシック"/>
                <a:ea typeface="BIZ UDPゴシック"/>
                <a:cs typeface="BIZ UDPゴシック"/>
              </a:rPr>
              <a:t>単位：百万円。R7末183百万円を起点とした簡便推計。改定ありは資産維持費0％ケース（必要改定率7.3％）をR11以降に反映。マイナスは追加財源・投資平準化・料金改定のいずれかが必要であることを示す。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0399" y="230400"/>
            <a:ext cx="11052000" cy="4103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C3C60"/>
                </a:solidFill>
                <a:latin typeface="BIZ UDPゴシック"/>
                <a:ea typeface="BIZ UDPゴシック"/>
                <a:cs typeface="BIZ UDPゴシック"/>
              </a:rPr>
              <a:t>料金回収率と経常収支比率の推移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9200" y="712800"/>
            <a:ext cx="10980000" cy="23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現行料金では両指標が100％を下回り続ける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0000" y="6490800"/>
            <a:ext cx="503999" cy="165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2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00" y="1152000"/>
          <a:ext cx="11016000" cy="44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000" y="5760000"/>
            <a:ext cx="1098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BIZ UDPゴシック"/>
                <a:ea typeface="BIZ UDPゴシック"/>
                <a:cs typeface="BIZ UDPゴシック"/>
              </a:rPr>
              <a:t>単位：％。現行料金ベース（料金改定なし）。R8は当初予算、R9以降は年次計画置換後。100％を下回る期間は、料金収入で費用を回収できていないことを示す。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0399" y="230400"/>
            <a:ext cx="11052000" cy="4103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C3C60"/>
                </a:solidFill>
                <a:latin typeface="BIZ UDPゴシック"/>
                <a:ea typeface="BIZ UDPゴシック"/>
                <a:cs typeface="BIZ UDPゴシック"/>
              </a:rPr>
              <a:t>改定率別の当期純利益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9200" y="712800"/>
            <a:ext cx="10980000" cy="23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10％改定ではR16に再び赤字、20％改定で10年の黒字を維持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0000" y="6490800"/>
            <a:ext cx="503999" cy="165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3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00" y="1152000"/>
          <a:ext cx="11016000" cy="44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000" y="5760000"/>
            <a:ext cx="1098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BIZ UDPゴシック"/>
                <a:ea typeface="BIZ UDPゴシック"/>
                <a:cs typeface="BIZ UDPゴシック"/>
              </a:rPr>
              <a:t>単位：百万円。R11以降に改定率を適用した試算（営業収益の二重計上を是正した基準）。当期純利益の黒字と、企業債償還・施設更新に必要な資金の確保は別の論点。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0399" y="230400"/>
            <a:ext cx="11052000" cy="410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3C60"/>
                </a:solidFill>
                <a:latin typeface="BIZ UDPゴシック"/>
                <a:ea typeface="BIZ UDPゴシック"/>
                <a:cs typeface="BIZ UDPゴシック"/>
              </a:rPr>
              <a:t>料金改定による使用者負担の影響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9200" y="712800"/>
            <a:ext cx="10980000" cy="23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一般家庭（月20㎥）では10％改定で月462円、30％改定で月1,397円の増加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0000" y="6490800"/>
            <a:ext cx="503999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00" y="1188000"/>
          <a:ext cx="11016000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000"/>
                <a:gridCol w="1296000"/>
                <a:gridCol w="1296000"/>
                <a:gridCol w="1296000"/>
                <a:gridCol w="1296000"/>
                <a:gridCol w="1440000"/>
                <a:gridCol w="1440000"/>
                <a:gridCol w="1440000"/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口径</a:t>
                      </a:r>
                    </a:p>
                  </a:txBody>
                  <a:tcPr>
                    <a:solidFill>
                      <a:srgbClr val="1C3C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区分</a:t>
                      </a:r>
                    </a:p>
                  </a:txBody>
                  <a:tcPr>
                    <a:solidFill>
                      <a:srgbClr val="1C3C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基本料金</a:t>
                      </a:r>
                    </a:p>
                  </a:txBody>
                  <a:tcPr>
                    <a:solidFill>
                      <a:srgbClr val="1C3C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従量単価/㎥</a:t>
                      </a:r>
                    </a:p>
                  </a:txBody>
                  <a:tcPr>
                    <a:solidFill>
                      <a:srgbClr val="1C3C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月10㎥</a:t>
                      </a:r>
                    </a:p>
                  </a:txBody>
                  <a:tcPr>
                    <a:solidFill>
                      <a:srgbClr val="1C3C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月20㎥</a:t>
                      </a:r>
                    </a:p>
                  </a:txBody>
                  <a:tcPr>
                    <a:solidFill>
                      <a:srgbClr val="1C3C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月30㎥</a:t>
                      </a:r>
                    </a:p>
                  </a:txBody>
                  <a:tcPr>
                    <a:solidFill>
                      <a:srgbClr val="1C3C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月20㎥の増加額</a:t>
                      </a:r>
                    </a:p>
                  </a:txBody>
                  <a:tcPr>
                    <a:solidFill>
                      <a:srgbClr val="1C3C60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13mm・20mm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現行料金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1,826円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284円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1,826円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4,666円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7,506円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/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10％改定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2,008円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312円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2,008円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5,128円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8,248円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BE414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+462円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/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20％改定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2,191円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340円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2,191円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5,591円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8,991円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BE414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+925円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/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30％改定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2,373円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369円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2,373円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6,063円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9,753円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BE414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+1,397円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25mm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現行料金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3,289円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284円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3,289円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6,129円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8,969円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/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10％改定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3,617円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312円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3,617円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6,737円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9,857円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BE414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+608円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/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20％改定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3,946円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340円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3,946円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7,346円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10,746円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BE414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+1,217円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/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30％改定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4,275円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369円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4,275円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7,965円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11,655円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BE414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+1,836円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000" y="4608000"/>
            <a:ext cx="1098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・基本料金には基本水量10㎥が含まれ、従量料金は10㎥超過分に課される。</a:t>
            </a:r>
          </a:p>
          <a:p>
            <a:r>
              <a:rPr sz="11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・改定率は基本料金・従量料金に一律適用。月10㎥以下の世帯は基本料金の増加のみとなる。</a:t>
            </a:r>
          </a:p>
          <a:p>
            <a:r>
              <a:rPr sz="11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・参考：口径100mm・月1,000㎥の大口利用者では、10％改定で月35,315円、30％改定で月106,945円の増加。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000" y="5868000"/>
            <a:ext cx="109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BIZ UDPゴシック"/>
                <a:ea typeface="BIZ UDPゴシック"/>
                <a:cs typeface="BIZ UDPゴシック"/>
              </a:rPr>
              <a:t>出典：むつ市上下水道局 水道料金表（令和8年7月使用分〜）。税込。下水道使用料は含まない。令和8年7〜9月使用分は物価高騰対策として口径13〜25mmの基本料金が1か月1,650円減額されているが、上表は減額前の料金表による。口径40mm以上は料金表に基本水量の記載がないため、大口の例は全量を従量計算した仮置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