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給水収益</c:v>
                </c:pt>
              </c:strCache>
            </c:strRef>
          </c:tx>
          <c:spPr>
            <a:solidFill>
              <a:srgbClr val="2B7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R2</c:v>
                </c:pt>
                <c:pt idx="1">
                  <c:v>R3</c:v>
                </c:pt>
                <c:pt idx="2">
                  <c:v>R4</c:v>
                </c:pt>
                <c:pt idx="3">
                  <c:v>R5</c:v>
                </c:pt>
                <c:pt idx="4">
                  <c:v>R6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1249</c:v>
                </c:pt>
                <c:pt idx="1">
                  <c:v>1314</c:v>
                </c:pt>
                <c:pt idx="2">
                  <c:v>1150</c:v>
                </c:pt>
                <c:pt idx="3">
                  <c:v>1269</c:v>
                </c:pt>
                <c:pt idx="4">
                  <c:v>1244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5A-4D08-BC68-CAF932A49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営業損益</c:v>
                </c:pt>
              </c:strCache>
            </c:strRef>
          </c:tx>
          <c:spPr>
            <a:ln w="25400" cap="flat">
              <a:solidFill>
                <a:srgbClr val="C94C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4C4C"/>
              </a:solidFill>
              <a:ln w="9525" cap="flat">
                <a:solidFill>
                  <a:srgbClr val="C94C4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R2</c:v>
                </c:pt>
                <c:pt idx="1">
                  <c:v>R3</c:v>
                </c:pt>
                <c:pt idx="2">
                  <c:v>R4</c:v>
                </c:pt>
                <c:pt idx="3">
                  <c:v>R5</c:v>
                </c:pt>
                <c:pt idx="4">
                  <c:v>R6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-81</c:v>
                </c:pt>
                <c:pt idx="1">
                  <c:v>-26</c:v>
                </c:pt>
                <c:pt idx="2">
                  <c:v>-283</c:v>
                </c:pt>
                <c:pt idx="3">
                  <c:v>-210</c:v>
                </c:pt>
                <c:pt idx="4">
                  <c:v>-170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C4-417E-8E4B-1746BD4EAD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当年度純利益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R2</c:v>
                </c:pt>
                <c:pt idx="1">
                  <c:v>R3</c:v>
                </c:pt>
                <c:pt idx="2">
                  <c:v>R4</c:v>
                </c:pt>
                <c:pt idx="3">
                  <c:v>R5</c:v>
                </c:pt>
                <c:pt idx="4">
                  <c:v>R6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</c:v>
                </c:pt>
                <c:pt idx="1">
                  <c:v>103</c:v>
                </c:pt>
                <c:pt idx="2">
                  <c:v>44</c:v>
                </c:pt>
                <c:pt idx="3">
                  <c:v>27</c:v>
                </c:pt>
                <c:pt idx="4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C4-417E-8E4B-1746BD4EA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"/>
          <c:min val="-32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3条 基準外</c:v>
                </c:pt>
              </c:strCache>
            </c:strRef>
          </c:tx>
          <c:spPr>
            <a:solidFill>
              <a:srgbClr val="E46C2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R2</c:v>
                </c:pt>
                <c:pt idx="1">
                  <c:v>R3</c:v>
                </c:pt>
                <c:pt idx="2">
                  <c:v>R4</c:v>
                </c:pt>
                <c:pt idx="3">
                  <c:v>R5</c:v>
                </c:pt>
                <c:pt idx="4">
                  <c:v>R6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23</c:v>
                </c:pt>
                <c:pt idx="2">
                  <c:v>21</c:v>
                </c:pt>
                <c:pt idx="3">
                  <c:v>57</c:v>
                </c:pt>
                <c:pt idx="4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7-480C-BEC6-2E0BEA1DBA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4条 基準外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R2</c:v>
                </c:pt>
                <c:pt idx="1">
                  <c:v>R3</c:v>
                </c:pt>
                <c:pt idx="2">
                  <c:v>R4</c:v>
                </c:pt>
                <c:pt idx="3">
                  <c:v>R5</c:v>
                </c:pt>
                <c:pt idx="4">
                  <c:v>R6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380</c:v>
                </c:pt>
                <c:pt idx="1">
                  <c:v>263</c:v>
                </c:pt>
                <c:pt idx="2">
                  <c:v>89</c:v>
                </c:pt>
                <c:pt idx="3">
                  <c:v>82</c:v>
                </c:pt>
                <c:pt idx="4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07-480C-BEC6-2E0BEA1DB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建設改良費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R6実績</c:v>
                </c:pt>
                <c:pt idx="1">
                  <c:v>R7見込</c:v>
                </c:pt>
                <c:pt idx="2">
                  <c:v>R8見込</c:v>
                </c:pt>
                <c:pt idx="3">
                  <c:v>R9見込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382</c:v>
                </c:pt>
                <c:pt idx="1">
                  <c:v>342</c:v>
                </c:pt>
                <c:pt idx="2">
                  <c:v>347</c:v>
                </c:pt>
                <c:pt idx="3">
                  <c:v>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07-4A76-98B4-919CAAFFF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46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7406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F3A5F"/>
                </a:solidFill>
              </a:rPr>
              <a:t>むつ市水道事業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F3A5F"/>
                </a:solidFill>
              </a:rPr>
              <a:t>経営分析・料金検討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F3A5F"/>
                </a:solidFill>
              </a:rPr>
              <a:t>現状整理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98094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3"/>
                </a:solidFill>
              </a:rPr>
              <a:t>決算実績、決算統計40表、ビジョン上の料金改定方針を踏まえた初期整理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95360" y="1051560"/>
            <a:ext cx="2651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851392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</a:rPr>
              <a:t>整理対象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51392" y="1874520"/>
            <a:ext cx="21031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R2〜R6決算実績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R6決算統計40表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水道ビジョン2018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中間年度改訂版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資産維持費3％論点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51392" y="4800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73"/>
                </a:solidFill>
              </a:rPr>
              <a:t>2026年5月</a:t>
            </a:r>
            <a:endParaRPr lang="en-US" sz="1000" dirty="0"/>
          </a:p>
        </p:txBody>
      </p:sp>
      <p:sp>
        <p:nvSpPr>
          <p:cNvPr id="10" name="PageNumber_15pt_1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現状整理の要点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結論先出し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04088" y="12527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R6給水収益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4B8"/>
                </a:solidFill>
              </a:rPr>
              <a:t>1,244百万円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R5比では小幅減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834640" y="114300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944368" y="12527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R6営業損益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44368" y="149047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C4C"/>
                </a:solidFill>
              </a:rPr>
              <a:t>△170百万円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44368" y="176479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営業赤字は継続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74920" y="114300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184648" y="12527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R6当年度純利益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84648" y="149047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</a:rPr>
              <a:t>65百万円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84648" y="176479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表面上は黒字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315200" y="114300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424928" y="12527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R6基準外繰入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24928" y="149047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6C2C"/>
                </a:solidFill>
              </a:rPr>
              <a:t>143百万円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24928" y="176479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3条57・4条86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555480" y="114300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665208" y="12527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資産維持費3%概算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65208" y="149047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約500百万円/年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65208" y="176479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給水収益の約40%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94360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判断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285292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むつ市は、水道ビジョンに経営戦略を包括しており、今回業務は「ビジョン兼経営戦略」の実績検証・財政見通し更新・料金原価検討の位置づけ。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94360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深掘りが必要な論点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187952"/>
            <a:ext cx="10607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3条：赤字補填的な基準外繰入46百万円を除いた実質収支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4条：建設改良・企業債償還を支える基準外繰入86百万円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利益剰余金・補填財源・今後投資の整合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資産維持費3％をそのまま算入するか、段階導入するか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経営分析整理｜2</a:t>
            </a:r>
            <a:endParaRPr lang="en-US" sz="650" dirty="0"/>
          </a:p>
        </p:txBody>
      </p:sp>
      <p:sp>
        <p:nvSpPr>
          <p:cNvPr id="30" name="PageNumber_15pt_2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今年度業務の位置づけ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仕様書 × ビジョン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148840" cy="3474720"/>
          </a:xfrm>
          <a:prstGeom prst="rect">
            <a:avLst/>
          </a:prstGeom>
          <a:solidFill>
            <a:srgbClr val="EAF4FB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84048" cy="384048"/>
          </a:xfrm>
          <a:prstGeom prst="rect">
            <a:avLst/>
          </a:prstGeom>
          <a:solidFill>
            <a:srgbClr val="2B74B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決算実績整理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1783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R2〜R6決算書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決算統計・40表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経営比較分析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148840" cy="3474720"/>
          </a:xfrm>
          <a:prstGeom prst="rect">
            <a:avLst/>
          </a:prstGeom>
          <a:solidFill>
            <a:srgbClr val="F2FAF7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566160" y="1600200"/>
            <a:ext cx="384048" cy="384048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ビジョン検証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1783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現行ビジョン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中間年度改訂版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施策・収支計画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148840" cy="3474720"/>
          </a:xfrm>
          <a:prstGeom prst="rect">
            <a:avLst/>
          </a:prstGeom>
          <a:solidFill>
            <a:srgbClr val="EAF4FB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384048" cy="384048"/>
          </a:xfrm>
          <a:prstGeom prst="rect">
            <a:avLst/>
          </a:prstGeom>
          <a:solidFill>
            <a:srgbClr val="F4A6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将来予測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1783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水需要・料金収入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投資・企業債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繰入金・資金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32520" y="1417320"/>
            <a:ext cx="2148840" cy="3474720"/>
          </a:xfrm>
          <a:prstGeom prst="rect">
            <a:avLst/>
          </a:prstGeom>
          <a:solidFill>
            <a:srgbClr val="F2FAF7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869680" y="1600200"/>
            <a:ext cx="384048" cy="384048"/>
          </a:xfrm>
          <a:prstGeom prst="rect">
            <a:avLst/>
          </a:prstGeom>
          <a:solidFill>
            <a:srgbClr val="E46C2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料金・原価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5400" y="2743200"/>
            <a:ext cx="1783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原価計算表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料金回収率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資産維持費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成果品は「経営分析報告書」「概要版」。ただし中身は、次期ビジョン・料金改定・投資財政計画に接続する基礎資料として整理する。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経営分析整理｜3</a:t>
            </a:r>
            <a:endParaRPr lang="en-US" sz="650" dirty="0"/>
          </a:p>
        </p:txBody>
      </p:sp>
      <p:sp>
        <p:nvSpPr>
          <p:cNvPr id="23" name="PageNumber_15pt_3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むつ市は「水道ビジョン」に経営戦略を包括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既存計画の前提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1143000"/>
            <a:ext cx="9966960" cy="658368"/>
          </a:xfrm>
          <a:prstGeom prst="rect">
            <a:avLst/>
          </a:prstGeom>
          <a:solidFill>
            <a:srgbClr val="F4F8FB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むつ市総合経営計画（上位計画）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847088"/>
            <a:ext cx="0" cy="457200"/>
          </a:xfrm>
          <a:prstGeom prst="line">
            <a:avLst/>
          </a:prstGeom>
          <a:noFill/>
          <a:ln w="12700">
            <a:solidFill>
              <a:srgbClr val="5E6A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828800" y="2423160"/>
            <a:ext cx="8321040" cy="822960"/>
          </a:xfrm>
          <a:prstGeom prst="rect">
            <a:avLst/>
          </a:prstGeom>
          <a:solidFill>
            <a:srgbClr val="E8F3FA"/>
          </a:solidFill>
          <a:ln w="12700">
            <a:solidFill>
              <a:srgbClr val="2B7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011680" y="2615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むつ市水道ビジョン2018 中間年度改訂版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88036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A73"/>
                </a:solidFill>
              </a:rPr>
              <a:t>計画期間：平成30年度〜令和9年度（2018〜2027）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3840480"/>
            <a:ext cx="4389120" cy="685800"/>
          </a:xfrm>
          <a:prstGeom prst="rect">
            <a:avLst/>
          </a:prstGeom>
          <a:solidFill>
            <a:srgbClr val="EAF7F4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06908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B8D"/>
                </a:solidFill>
              </a:rPr>
              <a:t>水道事業経営戦略を取込み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5166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整理上の意味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553212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本件は「経営戦略を別冊で新規策定」ではなく、ビジョンに内包された経営戦略要素（投資・財政・料金・進行管理）をR6実績ベースで検証・補強する業務。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経営分析整理｜4</a:t>
            </a:r>
            <a:endParaRPr lang="en-US" sz="650" dirty="0"/>
          </a:p>
        </p:txBody>
      </p:sp>
      <p:sp>
        <p:nvSpPr>
          <p:cNvPr id="16" name="PageNumber_15pt_4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R2〜R6決算：営業赤字は継続、純利益は繰入込みで黒字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単位：百万円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143000"/>
          <a:ext cx="52120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303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4B8"/>
                </a:solidFill>
              </a:rPr>
              <a:t>給水収益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400800" y="1143000"/>
          <a:ext cx="51663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492240" y="5303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</a:rPr>
              <a:t>損益推移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2960" y="5806440"/>
            <a:ext cx="106070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R4に給水収益が大きく落ち込み、営業赤字が拡大。R6は営業赤字が縮小したものの、営業ベースでは引き続き赤字構造。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経営分析整理｜5</a:t>
            </a:r>
            <a:endParaRPr lang="en-US" sz="650" dirty="0"/>
          </a:p>
        </p:txBody>
      </p:sp>
      <p:sp>
        <p:nvSpPr>
          <p:cNvPr id="11" name="PageNumber_15pt_5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R6実績：表面黒字と実質収支の見方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3条基準外の影響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41248" y="12070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R6当年度純利益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144475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</a:rPr>
              <a:t>65百万円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71907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決算書上の黒字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310128" y="12070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赤字補填的基準外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10128" y="144475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6C2C"/>
                </a:solidFill>
              </a:rPr>
              <a:t>46百万円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0128" y="171907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40表 その他欄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779008" y="12070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除外後の利益余力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79008" y="144475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約19百万円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9008" y="171907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65 − 46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8138160" y="109728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47888" y="12070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3条基準外全体除外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47888" y="1444752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C4C"/>
                </a:solidFill>
              </a:rPr>
              <a:t>約8百万円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7888" y="171907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65 − 57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7724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読み方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090672"/>
            <a:ext cx="10607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R6は当年度純利益65百万円だが、3条側に基準外繰入57百万円がある。うち46百万円は赤字補填的な性格が強く、料金改定・原価計算では「収支不足を繰入で補っている構造」として示す必要がある。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説明上のポイント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・「黒字だから料金改定不要」ではなく、基準外繰入を控除した実力値を併記する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・基準外繰入を継続する政策判断と、料金で回収する判断を比較する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・料金回収率・資金残高・企業債残高と合わせて説明する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経営分析整理｜6</a:t>
            </a:r>
            <a:endParaRPr lang="en-US" sz="650" dirty="0"/>
          </a:p>
        </p:txBody>
      </p:sp>
      <p:sp>
        <p:nvSpPr>
          <p:cNvPr id="26" name="PageNumber_15pt_6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決算統計40表：基準外繰入の構造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単位：百万円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097280"/>
          <a:ext cx="6492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3258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7973568" y="143560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R6基準外合計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73568" y="167335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6C2C"/>
                </a:solidFill>
              </a:rPr>
              <a:t>143百万円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73568" y="1947672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3条57＋4条86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863840" y="24231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7973568" y="25328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 3条のうち赤字補填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73568" y="277063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C4C"/>
                </a:solidFill>
              </a:rPr>
              <a:t>46百万円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73568" y="3044952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その他欄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7863840" y="35204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7973568" y="363016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 4条基準外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973568" y="386791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8B8D"/>
                </a:solidFill>
              </a:rPr>
              <a:t>86百万円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73568" y="4142232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投資・償還財源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R2・R3は4条側の政策的繰入が大きい。R5・R6は3条側の赤字補填的繰入が目立つため、料金原価と一般会計負担の境界整理が必要。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経営分析整理｜7</a:t>
            </a:r>
            <a:endParaRPr lang="en-US" sz="650" dirty="0"/>
          </a:p>
        </p:txBody>
      </p:sp>
      <p:sp>
        <p:nvSpPr>
          <p:cNvPr id="20" name="PageNumber_15pt_7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3条・4条予算の組み立て：論点を分けて整理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予算構造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983480" cy="4389120"/>
          </a:xfrm>
          <a:prstGeom prst="rect">
            <a:avLst/>
          </a:prstGeom>
          <a:solidFill>
            <a:srgbClr val="FCEFEA"/>
          </a:solidFill>
          <a:ln w="12700">
            <a:solidFill>
              <a:srgbClr val="F2C8B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6C2C"/>
                </a:solidFill>
              </a:rPr>
              <a:t>3条：収益的収支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44805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料金収入・負担金・長期前受金戻入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人件費・維持管理費・減価償却費・支払利息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営業赤字を営業外収益・繰入で補う構造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794760"/>
            <a:ext cx="0" cy="640080"/>
          </a:xfrm>
          <a:prstGeom prst="line">
            <a:avLst/>
          </a:prstGeom>
          <a:noFill/>
          <a:ln w="12700">
            <a:solidFill>
              <a:srgbClr val="E46C2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60120" y="4663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基準外46百万円をどう扱うか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4983480" cy="4389120"/>
          </a:xfrm>
          <a:prstGeom prst="rect">
            <a:avLst/>
          </a:prstGeom>
          <a:solidFill>
            <a:srgbClr val="EAF7F4"/>
          </a:solidFill>
          <a:ln w="12700">
            <a:solidFill>
              <a:srgbClr val="BFE1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72084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8B8D"/>
                </a:solidFill>
              </a:rPr>
              <a:t>4条：資本的収支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1965960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企業債・一般会計負担金・補助金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建設改良費・企業債償還金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不足額を損益勘定留保資金等で補填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3657600"/>
            <a:ext cx="0" cy="731520"/>
          </a:xfrm>
          <a:prstGeom prst="line">
            <a:avLst/>
          </a:prstGeom>
          <a:noFill/>
          <a:ln w="12700">
            <a:solidFill>
              <a:srgbClr val="0F8B8D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720840" y="4663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8B8D"/>
                </a:solidFill>
              </a:rPr>
              <a:t>基準外86百万円をどう縮減するか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3条は「収支不足」、4条は「投資・償還財源」として分け、料金改定・繰入維持・投資抑制のどれで均衡させるかを比較する。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経営分析整理｜8</a:t>
            </a:r>
            <a:endParaRPr lang="en-US" sz="650" dirty="0"/>
          </a:p>
        </p:txBody>
      </p:sp>
      <p:sp>
        <p:nvSpPr>
          <p:cNvPr id="17" name="PageNumber_15pt_8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現行料金体系とビジョン上の料金改定の考え方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料金体系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41248" y="12070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基本水量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1444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4B8"/>
                </a:solidFill>
              </a:rPr>
              <a:t>10㎥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719072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13〜25mm等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971800" y="1097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081528" y="12070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従量料金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81528" y="1444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4B8"/>
                </a:solidFill>
              </a:rPr>
              <a:t>259円/㎥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81528" y="1719072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単一従量制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212080" y="1097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321808" y="12070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13・20mm基本料金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21808" y="1444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4B8"/>
                </a:solidFill>
              </a:rPr>
              <a:t>1,660円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21808" y="1719072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税抜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452360" y="1097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62088" y="12070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家庭用中心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62088" y="1444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8B8D"/>
                </a:solidFill>
              </a:rPr>
              <a:t>戸数98%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62088" y="1719072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13〜20mm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92640" y="109728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802368" y="12070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料金収入構成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802368" y="1444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8B8D"/>
                </a:solidFill>
              </a:rPr>
              <a:t>72%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02368" y="1719072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13〜20mm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77240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ビジョン上の方向性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200400"/>
            <a:ext cx="10241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・現行料金据置では、短期的には黒字でも中長期で単年度赤字化リスク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・料金体系・水準の検討を後期期間で位置づけ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・基本水量、少量利用者配慮、資産維持費、公平性を含めて検討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今回の検討視点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25780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単純な一律改定だけでなく、①基準外繰入をどこまで料金で置換するか、②資産維持費をどの程度入れるか、③家庭用への影響をどう緩和するか、を複数ケース化する。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経営分析整理｜9</a:t>
            </a:r>
            <a:endParaRPr lang="en-US" sz="650" dirty="0"/>
          </a:p>
        </p:txBody>
      </p:sp>
      <p:sp>
        <p:nvSpPr>
          <p:cNvPr id="30" name="PageNumber_15pt_9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 投資財政計画：補填財源と利益剰余金の整合が必要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R6決算ベース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41248" y="120700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R6建設改良費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144475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8B8D"/>
                </a:solidFill>
              </a:rPr>
              <a:t>382百万円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71907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決算額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971800" y="109728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081528" y="120700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R6企業債償還金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81528" y="144475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8B8D"/>
                </a:solidFill>
              </a:rPr>
              <a:t>888百万円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81528" y="171907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元金償還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212080" y="109728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321808" y="120700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資本的収支不足額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21808" y="144475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6C2C"/>
                </a:solidFill>
              </a:rPr>
              <a:t>761百万円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21808" y="171907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補填財源で対応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452360" y="109728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62088" y="120700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R6末現金預金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62088" y="144475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4B8"/>
                </a:solidFill>
              </a:rPr>
              <a:t>559百万円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62088" y="171907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資金余力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92640" y="109728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802368" y="120700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A73"/>
                </a:solidFill>
              </a:rPr>
              <a:t>R6末利益剰余金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802368" y="144475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232百万円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02368" y="1719072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E6A73"/>
                </a:solidFill>
              </a:rPr>
              <a:t>未処分93</a:t>
            </a:r>
            <a:endParaRPr lang="en-US" sz="6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868680" y="2788920"/>
          <a:ext cx="51206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6400800" y="2788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解釈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0" y="3154680"/>
            <a:ext cx="4937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R9で投資増が見込まれるため、R7〜R8で資金残高・補填財源をどこまで確保できるかが重要。利益剰余金だけで資本的収支不足を支える余力は限定的。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00800" y="4434840"/>
            <a:ext cx="4937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分析では、建設改良費、企業債借入、企業債償還、損益勘定留保資金、基準外繰入、資金残高を連動させる。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経営分析整理｜10</a:t>
            </a:r>
            <a:endParaRPr lang="en-US" sz="650" dirty="0"/>
          </a:p>
        </p:txBody>
      </p:sp>
      <p:sp>
        <p:nvSpPr>
          <p:cNvPr id="30" name="PageNumber_15pt_10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 資産維持費3％：理論値と現実案を分ける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水道料金算定要領論点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3657600" cy="4160520"/>
          </a:xfrm>
          <a:prstGeom prst="rect">
            <a:avLst/>
          </a:prstGeom>
          <a:solidFill>
            <a:srgbClr val="F4F8FB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標準的な考え方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3200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資産維持費 ＝ 対象資産 × 資産維持率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水道協会の料金算定上、資産維持率3％が標準的な目安として示される。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2926080" cy="4160520"/>
          </a:xfrm>
          <a:prstGeom prst="rect">
            <a:avLst/>
          </a:prstGeom>
          <a:solidFill>
            <a:srgbClr val="FEF6E8"/>
          </a:solidFill>
          <a:ln w="12700">
            <a:solidFill>
              <a:srgbClr val="E9D8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C2C"/>
                </a:solidFill>
              </a:rPr>
              <a:t>むつ市での影響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6C2C"/>
                </a:solidFill>
              </a:rPr>
              <a:t>約500百万円/年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</a:rPr>
              <a:t>R6給水収益の約40％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6C2C"/>
                </a:solidFill>
              </a:rPr>
              <a:t>3％算入時の料金影響は極めて大きい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3886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</a:rPr>
              <a:t>→ 実務では段階設定が必要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3337560" cy="4160520"/>
          </a:xfrm>
          <a:prstGeom prst="rect">
            <a:avLst/>
          </a:prstGeom>
          <a:solidFill>
            <a:srgbClr val="EAF7F4"/>
          </a:solidFill>
          <a:ln w="12700">
            <a:solidFill>
              <a:srgbClr val="BFE1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</a:rPr>
              <a:t>対応案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28346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A：3％全額算入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理論上の必要額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B：1〜2％段階導入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利用者負担との均衡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C：投資財政計画から逆算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説明可能性重視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結論：3％は上限感の提示として有効。ただし、実務上は段階設定または投資財政計画からの逆算が現実的。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経営分析整理｜11</a:t>
            </a:r>
            <a:endParaRPr lang="en-US" sz="650" dirty="0"/>
          </a:p>
        </p:txBody>
      </p:sp>
      <p:sp>
        <p:nvSpPr>
          <p:cNvPr id="19" name="PageNumber_15pt_11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 </a:t>
            </a:r>
            <a:r>
              <a:rPr lang="en-US" sz="1900" b="1" dirty="0" err="1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現時点の主要論点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見落とし防止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965960" cy="594360"/>
          </a:xfrm>
          <a:prstGeom prst="rect">
            <a:avLst/>
          </a:prstGeom>
          <a:solidFill>
            <a:srgbClr val="E8F3FA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96112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4B8"/>
                </a:solidFill>
              </a:rPr>
              <a:t>基準外繰入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325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R6の3条46百万円を除くと利益余力が小さい。黒字説明だけでは不十分。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1965960" cy="594360"/>
          </a:xfrm>
          <a:prstGeom prst="rect">
            <a:avLst/>
          </a:prstGeom>
          <a:solidFill>
            <a:srgbClr val="EAF7F4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96112" y="2203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</a:rPr>
              <a:t>4条財源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1305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建設改良・企業債償還を支える基準外86百万円の継続可能性を確認。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43784"/>
            <a:ext cx="1965960" cy="594360"/>
          </a:xfrm>
          <a:prstGeom prst="rect">
            <a:avLst/>
          </a:prstGeom>
          <a:solidFill>
            <a:srgbClr val="E8F3FA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96112" y="30083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4B8"/>
                </a:solidFill>
              </a:rPr>
              <a:t>補填財源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93522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利益剰余金、現金預金、損益勘定留保資金の将来整合が必要。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48456"/>
            <a:ext cx="1965960" cy="594360"/>
          </a:xfrm>
          <a:prstGeom prst="rect">
            <a:avLst/>
          </a:prstGeom>
          <a:solidFill>
            <a:srgbClr val="EAF7F4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96112" y="3813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</a:rPr>
              <a:t>料金体系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73989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基本水量10㎥、家庭用配慮、少量利用者、公平性を同時に検討。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453128"/>
            <a:ext cx="1965960" cy="594360"/>
          </a:xfrm>
          <a:prstGeom prst="rect">
            <a:avLst/>
          </a:prstGeom>
          <a:solidFill>
            <a:srgbClr val="E8F3FA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96112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4B8"/>
                </a:solidFill>
              </a:rPr>
              <a:t>資産維持費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544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3％全額は負担が重い。段階導入・逆算方式を比較。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次工程では、上記5点を料金改定ケース・繰入維持ケース・投資抑制ケースに落とし込み、説明可能な比較表にする。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経営分析整理｜12</a:t>
            </a:r>
            <a:endParaRPr lang="en-US" sz="650" dirty="0"/>
          </a:p>
        </p:txBody>
      </p:sp>
      <p:sp>
        <p:nvSpPr>
          <p:cNvPr id="22" name="PageNumber_15pt_12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 シミュレーションケース案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比較軸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0789920" cy="713232"/>
          </a:xfrm>
          <a:prstGeom prst="rect">
            <a:avLst/>
          </a:prstGeom>
          <a:solidFill>
            <a:srgbClr val="F7FBFD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50392" y="13624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6A73"/>
                </a:solidFill>
              </a:rPr>
              <a:t>Case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現行料金・現行繰入維持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32120" y="134416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基準線。ビジョン試算との差分を確認。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10789920" cy="713232"/>
          </a:xfrm>
          <a:prstGeom prst="rect">
            <a:avLst/>
          </a:prstGeom>
          <a:solidFill>
            <a:srgbClr val="F6FAF8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50392" y="22128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</a:rPr>
              <a:t>Case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基準外繰入維持＋投資予定反映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219456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一般会計支援を前提に資金残高を確認。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89504"/>
            <a:ext cx="10789920" cy="713232"/>
          </a:xfrm>
          <a:prstGeom prst="rect">
            <a:avLst/>
          </a:prstGeom>
          <a:solidFill>
            <a:srgbClr val="F7FBFD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50392" y="3063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2C"/>
                </a:solidFill>
              </a:rPr>
              <a:t>Case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3044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3条基準外を料金で置換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304495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赤字補填46〜57百万円の回収を目標。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739896"/>
            <a:ext cx="10789920" cy="713232"/>
          </a:xfrm>
          <a:prstGeom prst="rect">
            <a:avLst/>
          </a:prstGeom>
          <a:solidFill>
            <a:srgbClr val="F6FAF8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50392" y="3913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4B8"/>
                </a:solidFill>
              </a:rPr>
              <a:t>Case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資産維持費1〜2％を段階導入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895344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投資財源の一部を料金原価へ反映。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590288"/>
            <a:ext cx="10789920" cy="713232"/>
          </a:xfrm>
          <a:prstGeom prst="rect">
            <a:avLst/>
          </a:prstGeom>
          <a:solidFill>
            <a:srgbClr val="F7FBFD"/>
          </a:solidFill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50392" y="47640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C4C"/>
                </a:solidFill>
              </a:rPr>
              <a:t>Case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48840" y="4745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資産維持費3％参考ケース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474573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理論上の上限感・必要額を提示。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532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評価指標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5513832"/>
            <a:ext cx="9098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料金回収率／経常収支／資金残高／企業債残高／基準外繰入額／利用者負担影響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経営分析整理｜13</a:t>
            </a:r>
            <a:endParaRPr lang="en-US" sz="650" dirty="0"/>
          </a:p>
        </p:txBody>
      </p:sp>
      <p:sp>
        <p:nvSpPr>
          <p:cNvPr id="28" name="PageNumber_15pt_13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 今後の作業ステップ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成果物化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252728"/>
            <a:ext cx="438912" cy="438912"/>
          </a:xfrm>
          <a:prstGeom prst="ellipse">
            <a:avLst/>
          </a:prstGeom>
          <a:solidFill>
            <a:srgbClr val="2B74B8"/>
          </a:solidFill>
          <a:ln w="12700">
            <a:solidFill>
              <a:srgbClr val="2B7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3624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40表精査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28016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R2〜R6の3条・4条別、基準内・基準外を確定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42416" y="1728216"/>
            <a:ext cx="0" cy="41148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" y="2075688"/>
            <a:ext cx="438912" cy="43891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103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ビジョン差分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10312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収支計画・投資計画と実績差を整理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42416" y="2551176"/>
            <a:ext cx="0" cy="41148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2898648"/>
            <a:ext cx="438912" cy="438912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0083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投資財政計画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92608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建設改良、企業債、補填財源、資金残高を連動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42416" y="3374136"/>
            <a:ext cx="0" cy="41148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3721608"/>
            <a:ext cx="438912" cy="438912"/>
          </a:xfrm>
          <a:prstGeom prst="ellipse">
            <a:avLst/>
          </a:prstGeom>
          <a:solidFill>
            <a:srgbClr val="E46C2C"/>
          </a:solidFill>
          <a:ln w="12700">
            <a:solidFill>
              <a:srgbClr val="E46C2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2960" y="38313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料金原価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374904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資産維持費、料金対象経費、料金回収率を算定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42416" y="4197096"/>
            <a:ext cx="0" cy="41148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22960" y="4544568"/>
            <a:ext cx="438912" cy="43891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22960" y="4654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4572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説明資料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457200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市長・議会・審議会向けに論点を可視化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まずは決算統計40表の精査を確定し、基準外繰入を「維持するケース」と「料金で置換するケース」に分ける。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経営分析整理｜14</a:t>
            </a:r>
            <a:endParaRPr lang="en-US" sz="650" dirty="0"/>
          </a:p>
        </p:txBody>
      </p:sp>
      <p:sp>
        <p:nvSpPr>
          <p:cNvPr id="31" name="PageNumber_15pt_14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14. 次回確認事項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47120" cy="0"/>
          </a:xfrm>
          <a:prstGeom prst="line">
            <a:avLst/>
          </a:prstGeom>
          <a:noFill/>
          <a:ln w="12700">
            <a:solidFill>
              <a:srgbClr val="CB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412480" y="384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A73"/>
                </a:solidFill>
              </a:rPr>
              <a:t>先方確認・内部検討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411480" cy="320040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基準外繰入の方針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18872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R6赤字補填46百万円を今後も一般会計で支えるか、料金で置換するか。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11480" cy="320040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4条繰入の方針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05740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投資・企業債償還に対する基準外86百万円の継続可能性。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411480" cy="320040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投資計画の確度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92608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R7〜R9以降の建設改良予定、延期・平準化可能性。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411480" cy="320040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料金体系の見直し幅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379476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一律改定、基本水量見直し、基本・従量配分、少量利用者配慮。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411480" cy="320040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資産維持費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466344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0％、1％、2％、3％のどれを説明用・実務用に採用するか。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5669280"/>
            <a:ext cx="10698480" cy="594360"/>
          </a:xfrm>
          <a:prstGeom prst="rect">
            <a:avLst/>
          </a:prstGeom>
          <a:solidFill>
            <a:srgbClr val="E8F3FA"/>
          </a:solidFill>
          <a:ln w="12700">
            <a:solidFill>
              <a:srgbClr val="BFD4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60120" y="58613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</a:rPr>
              <a:t>整理の軸：基準外繰入依存をどの程度許容するか、施設更新財源をどこまで料金で確保するか。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9939C"/>
                </a:solidFill>
              </a:rPr>
              <a:t>むつ市水道事業 経営分析整理｜15</a:t>
            </a:r>
            <a:endParaRPr lang="en-US" sz="650" dirty="0"/>
          </a:p>
        </p:txBody>
      </p:sp>
      <p:sp>
        <p:nvSpPr>
          <p:cNvPr id="23" name="PageNumber_15pt_15"/>
          <p:cNvSpPr txBox="1"/>
          <p:nvPr/>
        </p:nvSpPr>
        <p:spPr>
          <a:xfrm>
            <a:off x="11231575" y="6400800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>
                <a:solidFill>
                  <a:srgbClr val="50505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970</Words>
  <Application>Microsoft Office PowerPoint</Application>
  <PresentationFormat>ワイド画面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むつ市水道事業 現状整理</dc:title>
  <dc:subject>むつ市水道事業 経営分析・料金検討</dc:subject>
  <dc:creator>OpenAI</dc:creator>
  <cp:lastModifiedBy>諒太 若山</cp:lastModifiedBy>
  <cp:revision>2</cp:revision>
  <dcterms:created xsi:type="dcterms:W3CDTF">2026-05-25T03:27:16Z</dcterms:created>
  <dcterms:modified xsi:type="dcterms:W3CDTF">2026-05-25T04:30:10Z</dcterms:modified>
</cp:coreProperties>
</file>