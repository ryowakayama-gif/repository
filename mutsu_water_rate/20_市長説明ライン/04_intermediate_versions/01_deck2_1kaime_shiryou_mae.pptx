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Meiryo"/>
              </a:defRPr>
            </a:pPr>
            <a: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eiryo"/>
              </a:defRPr>
            </a:pPr>
            <a:r>
              <a:t>市長説明に向けた</a:t>
            </a:r>
            <a:br/>
            <a: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Meiryo"/>
              </a:defRPr>
            </a:pPr>
            <a: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Meiryo"/>
              </a:defRPr>
            </a:pPr>
            <a:r>
              <a:t>本資料の狙い</a:t>
            </a:r>
            <a:br/>
            <a:r>
              <a:t>・決算上の黒字と営業赤字の違いを明確化</a:t>
            </a:r>
            <a:br/>
            <a:r>
              <a:t>・資金残高の低下と投資財源リスクを説明</a:t>
            </a:r>
            <a:br/>
            <a:r>
              <a:t>・R9ビジョン改定・R10料金審議へ接続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Meiryo"/>
              </a:defRPr>
            </a:pPr>
            <a: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Meiryo"/>
              </a:defRPr>
            </a:pPr>
            <a: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Meiryo"/>
              </a:defRPr>
            </a:pPr>
            <a: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Meiryo"/>
              </a:defRPr>
            </a:pPr>
            <a: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打合せ内容と工程表の整合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令和8年度の作業範囲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2834640"/>
                <a:gridCol w="3657600"/>
              </a:tblGrid>
              <a:tr h="71628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論点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打合せでの確認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工程表での扱い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今年度の作業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6月下旬〜7月第1週を目途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7月に理事者へ現状説明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R3〜R7実績・初期試算を資料化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投資計画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実態ベースを反映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現状シミュレーションで整理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R7決算、R8予算、R9以降予定を整理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資産維持費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1％・2％・3％を比較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料金改定支援へ接続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0〜3％の感度分析を提示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審議会条例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市長選を考慮しR9.6想定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R9.6条例改正提出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委員構成・審議順序を設計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ビジョン改定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審議ではなく説明中心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R9に水道ビジョン改定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今年度は接続論点を整理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出典：業務工程表（案R9.6条例改正版）、2026/5/27打合せ議事録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eiryo"/>
              </a:defRPr>
            </a:pPr>
            <a: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説明上のポイント</a:t>
            </a:r>
            <a:br/>
            <a:r>
              <a:t>・純利益は黒字でも、給水収益で営業費用を賄えていない。</a:t>
            </a:r>
            <a:br/>
            <a:r>
              <a:t>・R7は料金回収率92.98％で、給水原価が供給単価を上回る。</a:t>
            </a:r>
            <a:br/>
            <a: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Meiryo"/>
              </a:defRPr>
            </a:pPr>
            <a:r>
              <a:t>読み取り</a:t>
            </a:r>
            <a:br/>
            <a:r>
              <a:t>・R7は3条基準外が増加。</a:t>
            </a:r>
            <a:br/>
            <a:r>
              <a:t>・4条基準外は概ね80〜90百万円台で継続。</a:t>
            </a:r>
            <a:br/>
            <a: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Meiryo"/>
              </a:defRPr>
            </a:pPr>
            <a: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Meiryo"/>
              </a:defRPr>
            </a:pPr>
            <a: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Meiryo"/>
              </a:defRPr>
            </a:pPr>
            <a: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R8当初予算の確認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収入は予算ベース、投資は年次計画ベースで整理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9326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  <a:gridCol w="1554480"/>
                <a:gridCol w="246888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R8当初予算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作成資料等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年次計画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採用方針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1,332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1,219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水道事業費用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1,710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2,109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435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年次計画へ置換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—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予算ベース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Meiryo"/>
              </a:defRPr>
            </a:pPr>
            <a:r>
              <a:t>R8は予算上の資本的収支不足648,682千円。一方、年次計画投資へ置換すると建設改良費が174,510千円増加するため、4条財源の再精査が必要。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投資財政計画：ビジョン計画と将来年次計画の差異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将来年次計画へ置換した場合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32588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既存計画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485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279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将来年次計画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差額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△289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+364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+184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+73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△13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886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・R8は既存計画比で約364百万円増。R10も約184百万円増。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・R7末現預金は243百万円であり、大型投資を現行財源だけで吸収する余力は限定的。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・料金改定だけでなく、起債・繰入・補助金・投資平準化を同時に設計する必要がある。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15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※金額は百万円単位で丸め。将来年次計画は「令和6～25年（2026.3.1）」調整後事業費計を採用。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置換後の投資財政計画：収入・支出の見方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収入・支出を年度別に整理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34440"/>
          <a:ext cx="11576304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項目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R8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R9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R10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資本的収入計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861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520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399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251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一般会計負担金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国庫補助金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222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工事負担金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建設改良費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403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558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369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企業債償還金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796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563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546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533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資本的支出計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1,684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1,131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1,434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1,197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966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946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916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812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763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715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Meiryo"/>
              </a:defRPr>
            </a:pPr>
            <a:r>
              <a:t>R8は資本的収入を予算ベースへ修正し、建設改良費は将来年次計画へ置換。詳細はExcel「02_R8予算_年次計画置換」「SIM_R8予算置換_0%〜3%」で確認。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経常収支比率・料金回収率・現預金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R16現預金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50.3%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130.5%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2,560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64.5%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146.5%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106.5%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97.7%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4,525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78.6%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162.5%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115.7%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98.0%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6,490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92.8%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178.5%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124.9%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98.3%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8,454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△4,983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・必要改定率は、R11〜R15の料金算定期間で総括原価を回収する水準。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・資産維持費を高く置くほど、通常の料金回収率は改善するが、資産維持費込料金回収率は100％前後で推移する。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・市長説明では、0％は収支均衡の比較下限、1〜2％は現実的検討、3％は理論上限として整理する。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Meiryo"/>
              </a:defRPr>
            </a:pPr>
            <a:r>
              <a:t>※現預金は百万円。マイナスは資金不足相当額。試算はR11から料金改定効果を反映。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R9ビジョン改定、R10料金審議、R11施行までの段階説明を設計する。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Meiryo"/>
              </a:defRPr>
            </a:pPr>
            <a: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R8決算・AM結果反映／ビジョン説明／審議会条例改正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Meiryo"/>
              </a:defRPr>
            </a:pPr>
            <a: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Meiryo"/>
              </a:defRPr>
            </a:pPr>
            <a: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Meiryo"/>
              </a:defRPr>
            </a:pPr>
            <a: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Meiryo"/>
              </a:defRPr>
            </a:pPr>
            <a:r>
              <a:t>工程管理上の要点：R8で必要性を共有し、R9でビジョンへ反映、R10で料金体系を具体化する。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Meiryo"/>
              </a:defRPr>
            </a:pPr>
            <a:r>
              <a:t>・資産維持費の採用水準を政治判断の論点として整理。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Meiryo"/>
              </a:defRPr>
            </a:pPr>
            <a:r>
              <a:t>直近の作業方針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Meiryo"/>
              </a:defRPr>
            </a:pPr>
            <a:r>
              <a:t>市長説明資料に反映する内容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Meiryo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  <a:gridCol w="2743200"/>
              </a:tblGrid>
              <a:tr h="64770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作業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成果物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1. 数値固定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R3〜R7の5か年で、損益・料金回収率・繰入金・資金残高を統一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現状分析表／グラフ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2. 原価計算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R11開始5年、資産維持費0〜3％で比較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総括原価試算表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3. 投資財政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R8予算収入・将来年次投資・元金償還・財源を反映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資金残高推計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4. 市長説明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料金改定の必要性、R9〜R11工程、判断事項を整理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説明用PPT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23458"/>
                          </a:solidFill>
                          <a:latin typeface="Meiryo"/>
                        </a:defRPr>
                      </a:pPr>
                      <a:r>
                        <a:t>5. 審議会設計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委員構成、条例改正、審議順序、ビジョン説明の扱いを整理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0F172A"/>
                          </a:solidFill>
                          <a:latin typeface="Meiryo"/>
                        </a:defRPr>
                      </a:pPr>
                      <a:r>
                        <a:t>設計メモ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eiryo"/>
              </a:defRPr>
            </a:pPr>
            <a:r>
              <a:t>次工程：市長説明用PPTを、R3〜R7固定・R8予算反映・投資財政SIM整合の内容で再構成する。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