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5"/>
    <p:sldId id="275" r:id="rId26"/>
    <p:sldId id="276" r:id="rId27"/>
    <p:sldId id="277" r:id="rId28"/>
  </p:sldIdLst>
  <p:sldSz cx="12192000" cy="6858000"/>
  <p:notesSz cx="6858000" cy="12192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92" y="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1"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24" Type="http://schemas.openxmlformats.org/officeDocument/2006/relationships/tableStyles" Target="tableStyles.xml"/><Relationship Id="rId23" Type="http://schemas.openxmlformats.org/officeDocument/2006/relationships/theme" Target="theme/theme1.xml"/><Relationship Id="rId22" Type="http://schemas.openxmlformats.org/officeDocument/2006/relationships/viewProps" Target="viewProps.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Master1-Office-Them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1-Layout1-cust-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2556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2556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left_bar"/>
          <p:cNvSpPr/>
          <p:nvPr/>
        </p:nvSpPr>
        <p:spPr>
          <a:xfrm>
            <a:off x="9000" y="9000"/>
            <a:ext cx="228600" cy="68389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bottom_bar"/>
          <p:cNvSpPr/>
          <p:nvPr/>
        </p:nvSpPr>
        <p:spPr>
          <a:xfrm>
            <a:off x="9000" y="6734520"/>
            <a:ext cx="12173400" cy="11448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2" name="deco_circle"/>
          <p:cNvSpPr/>
          <p:nvPr/>
        </p:nvSpPr>
        <p:spPr>
          <a:xfrm>
            <a:off x="8848800" y="4466880"/>
            <a:ext cx="1904760" cy="190476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3" name="div_line"/>
          <p:cNvSpPr/>
          <p:nvPr/>
        </p:nvSpPr>
        <p:spPr>
          <a:xfrm>
            <a:off x="1152000" y="3696840"/>
            <a:ext cx="62481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org_name"/>
          <p:cNvSpPr/>
          <p:nvPr/>
        </p:nvSpPr>
        <p:spPr>
          <a:xfrm>
            <a:off x="1152000" y="1459440"/>
            <a:ext cx="30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100" b="0" dirty="0">
                <a:solidFill>
                  <a:srgbClr val="64748B"/>
                </a:solidFill>
                <a:latin typeface="Noto Sans CJK JP"/>
                <a:cs typeface="Noto Sans CJK JP"/>
              </a:rPr>
              <a:t>六戸町</a:t>
            </a:r>
          </a:p>
        </p:txBody>
      </p:sp>
      <p:sp>
        <p:nvSpPr>
          <p:cNvPr id="25" name="title1"/>
          <p:cNvSpPr/>
          <p:nvPr/>
        </p:nvSpPr>
        <p:spPr>
          <a:xfrm>
            <a:off x="1152000" y="1774080"/>
            <a:ext cx="4000000" cy="87696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1" dirty="0">
                <a:solidFill>
                  <a:srgbClr val="1E293B"/>
                </a:solidFill>
                <a:latin typeface="Arial"/>
                <a:cs typeface="Noto Sans CJK JP"/>
              </a:rPr>
              <a:t>第２回</a:t>
            </a:r>
          </a:p>
        </p:txBody>
      </p:sp>
      <p:sp>
        <p:nvSpPr>
          <p:cNvPr id="26" name="title2"/>
          <p:cNvSpPr/>
          <p:nvPr/>
        </p:nvSpPr>
        <p:spPr>
          <a:xfrm>
            <a:off x="1152000" y="2650000"/>
            <a:ext cx="7000000" cy="87696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1" dirty="0">
                <a:solidFill>
                  <a:srgbClr val="1E293B"/>
                </a:solidFill>
                <a:latin typeface="Arial"/>
                <a:cs typeface="Noto Sans CJK JP"/>
              </a:rPr>
              <a:t>審議会 資料</a:t>
            </a:r>
          </a:p>
        </p:txBody>
      </p:sp>
      <p:sp>
        <p:nvSpPr>
          <p:cNvPr id="27" name="date_icon"/>
          <p:cNvSpPr/>
          <p:nvPr/>
        </p:nvSpPr>
        <p:spPr>
          <a:xfrm>
            <a:off x="1152000" y="3900000"/>
            <a:ext cx="457200" cy="4572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8" name="date_txt"/>
          <p:cNvSpPr/>
          <p:nvPr/>
        </p:nvSpPr>
        <p:spPr>
          <a:xfrm>
            <a:off x="1837800" y="3930000"/>
            <a:ext cx="430668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100" b="0" dirty="0">
                <a:solidFill>
                  <a:srgbClr val="475569"/>
                </a:solidFill>
                <a:latin typeface="Noto Sans CJK JP"/>
                <a:cs typeface="Noto Sans CJK JP"/>
              </a:rPr>
              <a:t>令和○年○月○日（木）　19:00〜</a:t>
            </a:r>
          </a:p>
        </p:txBody>
      </p:sp>
      <p:sp>
        <p:nvSpPr>
          <p:cNvPr id="29" name="loc_icon"/>
          <p:cNvSpPr/>
          <p:nvPr/>
        </p:nvSpPr>
        <p:spPr>
          <a:xfrm>
            <a:off x="1152000" y="4550000"/>
            <a:ext cx="457200" cy="4572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30" name="loc_txt"/>
          <p:cNvSpPr/>
          <p:nvPr/>
        </p:nvSpPr>
        <p:spPr>
          <a:xfrm>
            <a:off x="1837800" y="4570000"/>
            <a:ext cx="28008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100" b="0" dirty="0">
                <a:solidFill>
                  <a:srgbClr val="475569"/>
                </a:solidFill>
                <a:latin typeface="Noto Sans CJK JP"/>
                <a:cs typeface="Noto Sans CJK JP"/>
              </a:rPr>
              <a:t>六戸町役場 会議室○</a:t>
            </a:r>
          </a:p>
        </p:txBody>
      </p:sp>
      <p:sp>
        <p:nvSpPr>
          <p:cNvPr id="40"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hdr_bar"/>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hdr_line"/>
          <p:cNvSpPr/>
          <p:nvPr/>
        </p:nvSpPr>
        <p:spPr>
          <a:xfrm>
            <a:off x="0" y="72432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2" name="hdr_title"/>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5400" b="0" dirty="0">
                <a:solidFill>
                  <a:srgbClr val="FFFFFF"/>
                </a:solidFill>
                <a:latin typeface="Arial"/>
                <a:cs typeface="Noto Sans CJK JP"/>
              </a:rPr>
              <a:t>目次</a:t>
            </a:r>
          </a:p>
        </p:txBody>
      </p:sp>
      <p:sp>
        <p:nvSpPr>
          <p:cNvPr id="23" name="agenda_lbl"/>
          <p:cNvSpPr/>
          <p:nvPr/>
        </p:nvSpPr>
        <p:spPr>
          <a:xfrm>
            <a:off x="571680" y="780000"/>
            <a:ext cx="2000000" cy="32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1500" b="0" dirty="0">
                <a:solidFill>
                  <a:srgbClr val="FFFFFF"/>
                </a:solidFill>
                <a:latin typeface="Noto Sans CJK JP"/>
                <a:cs typeface="Noto Sans CJK JP"/>
              </a:rPr>
              <a:t>AGENDA</a:t>
            </a:r>
          </a:p>
        </p:txBody>
      </p:sp>
      <p:sp>
        <p:nvSpPr>
          <p:cNvPr id="30" name="num_bg"/>
          <p:cNvSpPr/>
          <p:nvPr/>
        </p:nvSpPr>
        <p:spPr>
          <a:xfrm>
            <a:off x="571680" y="110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31" name="num_txt"/>
          <p:cNvSpPr/>
          <p:nvPr/>
        </p:nvSpPr>
        <p:spPr>
          <a:xfrm>
            <a:off x="571680" y="110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en-US" altLang="ja-JP" sz="4800" b="0" dirty="0">
                <a:solidFill>
                  <a:srgbClr val="CBD5E1"/>
                </a:solidFill>
                <a:latin typeface="Arial"/>
                <a:cs typeface="Noto Sans CJK JP"/>
              </a:rPr>
              <a:t>0</a:t>
            </a:r>
            <a:endParaRPr lang="ja-JP" sz="4800" b="0" dirty="0">
              <a:solidFill>
                <a:srgbClr val="CBD5E1"/>
              </a:solidFill>
              <a:latin typeface="Arial"/>
              <a:cs typeface="Noto Sans CJK JP"/>
            </a:endParaRPr>
          </a:p>
        </p:txBody>
      </p:sp>
      <p:sp>
        <p:nvSpPr>
          <p:cNvPr id="32" name="item_lbl"/>
          <p:cNvSpPr/>
          <p:nvPr/>
        </p:nvSpPr>
        <p:spPr>
          <a:xfrm>
            <a:off x="1524000" y="110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000" b="0" dirty="0">
                <a:solidFill>
                  <a:srgbClr val="64748B"/>
                </a:solidFill>
                <a:latin typeface="Noto Sans CJK JP"/>
                <a:cs typeface="Noto Sans CJK JP"/>
              </a:rPr>
              <a:t>前回審議の振り返り</a:t>
            </a:r>
          </a:p>
        </p:txBody>
      </p:sp>
      <p:sp>
        <p:nvSpPr>
          <p:cNvPr id="33" name="item_desc"/>
          <p:cNvSpPr/>
          <p:nvPr/>
        </p:nvSpPr>
        <p:spPr>
          <a:xfrm>
            <a:off x="4924000" y="110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第1回審議内容のまとめ・委員意見への対応方針</a:t>
            </a:r>
          </a:p>
        </p:txBody>
      </p:sp>
      <p:sp>
        <p:nvSpPr>
          <p:cNvPr id="34" name="num_bg"/>
          <p:cNvSpPr/>
          <p:nvPr/>
        </p:nvSpPr>
        <p:spPr>
          <a:xfrm>
            <a:off x="571680" y="201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35" name="num_txt"/>
          <p:cNvSpPr/>
          <p:nvPr/>
        </p:nvSpPr>
        <p:spPr>
          <a:xfrm>
            <a:off x="571680" y="201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4000" b="0" dirty="0">
                <a:solidFill>
                  <a:srgbClr val="CBD5E1"/>
                </a:solidFill>
                <a:latin typeface="Arial"/>
                <a:cs typeface="Noto Sans CJK JP"/>
              </a:rPr>
              <a:t>01</a:t>
            </a:r>
          </a:p>
        </p:txBody>
      </p:sp>
      <p:sp>
        <p:nvSpPr>
          <p:cNvPr id="36" name="item_lbl"/>
          <p:cNvSpPr/>
          <p:nvPr/>
        </p:nvSpPr>
        <p:spPr>
          <a:xfrm>
            <a:off x="1524000" y="201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400" b="0" dirty="0">
                <a:solidFill>
                  <a:srgbClr val="1E293B"/>
                </a:solidFill>
                <a:latin typeface="Noto Sans CJK JP"/>
                <a:cs typeface="Noto Sans CJK JP"/>
              </a:rPr>
              <a:t>SECTION 01</a:t>
            </a:r>
          </a:p>
        </p:txBody>
      </p:sp>
      <p:sp>
        <p:nvSpPr>
          <p:cNvPr id="37" name="item_desc"/>
          <p:cNvSpPr/>
          <p:nvPr/>
        </p:nvSpPr>
        <p:spPr>
          <a:xfrm>
            <a:off x="4924000" y="201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使用料改定案の検討（推奨パターン絞り込み・収支SIM・妥当性評価）</a:t>
            </a:r>
          </a:p>
        </p:txBody>
      </p:sp>
      <p:sp>
        <p:nvSpPr>
          <p:cNvPr id="38" name="num_bg"/>
          <p:cNvSpPr/>
          <p:nvPr/>
        </p:nvSpPr>
        <p:spPr>
          <a:xfrm>
            <a:off x="571680" y="292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39" name="num_txt"/>
          <p:cNvSpPr/>
          <p:nvPr/>
        </p:nvSpPr>
        <p:spPr>
          <a:xfrm>
            <a:off x="571680" y="292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4000" b="0" dirty="0">
                <a:solidFill>
                  <a:srgbClr val="CBD5E1"/>
                </a:solidFill>
                <a:latin typeface="Arial"/>
                <a:cs typeface="Noto Sans CJK JP"/>
              </a:rPr>
              <a:t>02</a:t>
            </a:r>
          </a:p>
        </p:txBody>
      </p:sp>
      <p:sp>
        <p:nvSpPr>
          <p:cNvPr id="40" name="item_lbl"/>
          <p:cNvSpPr/>
          <p:nvPr/>
        </p:nvSpPr>
        <p:spPr>
          <a:xfrm>
            <a:off x="1524000" y="292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400" b="0" dirty="0">
                <a:solidFill>
                  <a:srgbClr val="1E293B"/>
                </a:solidFill>
                <a:latin typeface="Noto Sans CJK JP"/>
                <a:cs typeface="Noto Sans CJK JP"/>
              </a:rPr>
              <a:t>SECTION 02</a:t>
            </a:r>
          </a:p>
        </p:txBody>
      </p:sp>
      <p:sp>
        <p:nvSpPr>
          <p:cNvPr id="41" name="item_desc"/>
          <p:cNvSpPr/>
          <p:nvPr/>
        </p:nvSpPr>
        <p:spPr>
          <a:xfrm>
            <a:off x="4924000" y="292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段階的値上げの検討（2か年vs3か年・段階単価一覧・ロードマップ）</a:t>
            </a:r>
          </a:p>
        </p:txBody>
      </p:sp>
      <p:sp>
        <p:nvSpPr>
          <p:cNvPr id="42" name="num_bg"/>
          <p:cNvSpPr/>
          <p:nvPr/>
        </p:nvSpPr>
        <p:spPr>
          <a:xfrm>
            <a:off x="571680" y="383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43" name="num_txt"/>
          <p:cNvSpPr/>
          <p:nvPr/>
        </p:nvSpPr>
        <p:spPr>
          <a:xfrm>
            <a:off x="571680" y="383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4000" b="0" dirty="0">
                <a:solidFill>
                  <a:srgbClr val="CBD5E1"/>
                </a:solidFill>
                <a:latin typeface="Arial"/>
                <a:cs typeface="Noto Sans CJK JP"/>
              </a:rPr>
              <a:t>03</a:t>
            </a:r>
          </a:p>
        </p:txBody>
      </p:sp>
      <p:sp>
        <p:nvSpPr>
          <p:cNvPr id="44" name="item_lbl"/>
          <p:cNvSpPr/>
          <p:nvPr/>
        </p:nvSpPr>
        <p:spPr>
          <a:xfrm>
            <a:off x="1524000" y="383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400" b="0" dirty="0">
                <a:solidFill>
                  <a:srgbClr val="1E293B"/>
                </a:solidFill>
                <a:latin typeface="Noto Sans CJK JP"/>
                <a:cs typeface="Noto Sans CJK JP"/>
              </a:rPr>
              <a:t>SECTION 03</a:t>
            </a:r>
          </a:p>
        </p:txBody>
      </p:sp>
      <p:sp>
        <p:nvSpPr>
          <p:cNvPr id="45" name="item_desc"/>
          <p:cNvSpPr/>
          <p:nvPr/>
        </p:nvSpPr>
        <p:spPr>
          <a:xfrm>
            <a:off x="4924000" y="383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財政健全化目標との整合性（経常収支比率・経費回収率・目標値設定）</a:t>
            </a:r>
          </a:p>
        </p:txBody>
      </p:sp>
      <p:sp>
        <p:nvSpPr>
          <p:cNvPr id="46" name="num_bg"/>
          <p:cNvSpPr/>
          <p:nvPr/>
        </p:nvSpPr>
        <p:spPr>
          <a:xfrm>
            <a:off x="571680" y="474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47" name="num_txt"/>
          <p:cNvSpPr/>
          <p:nvPr/>
        </p:nvSpPr>
        <p:spPr>
          <a:xfrm>
            <a:off x="571680" y="474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4000" b="0" dirty="0">
                <a:solidFill>
                  <a:srgbClr val="CBD5E1"/>
                </a:solidFill>
                <a:latin typeface="Arial"/>
                <a:cs typeface="Noto Sans CJK JP"/>
              </a:rPr>
              <a:t>04</a:t>
            </a:r>
          </a:p>
        </p:txBody>
      </p:sp>
      <p:sp>
        <p:nvSpPr>
          <p:cNvPr id="48" name="item_lbl"/>
          <p:cNvSpPr/>
          <p:nvPr/>
        </p:nvSpPr>
        <p:spPr>
          <a:xfrm>
            <a:off x="1524000" y="474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400" b="0" dirty="0">
                <a:solidFill>
                  <a:srgbClr val="1E293B"/>
                </a:solidFill>
                <a:latin typeface="Noto Sans CJK JP"/>
                <a:cs typeface="Noto Sans CJK JP"/>
              </a:rPr>
              <a:t>SECTION 04</a:t>
            </a:r>
          </a:p>
        </p:txBody>
      </p:sp>
      <p:sp>
        <p:nvSpPr>
          <p:cNvPr id="49" name="item_desc"/>
          <p:cNvSpPr/>
          <p:nvPr/>
        </p:nvSpPr>
        <p:spPr>
          <a:xfrm>
            <a:off x="4924000" y="474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住民への影響・説明対応（家庭・事業所別影響額・説明会計画）</a:t>
            </a:r>
          </a:p>
        </p:txBody>
      </p:sp>
      <p:sp>
        <p:nvSpPr>
          <p:cNvPr id="50" name="num_bg"/>
          <p:cNvSpPr/>
          <p:nvPr/>
        </p:nvSpPr>
        <p:spPr>
          <a:xfrm>
            <a:off x="571680" y="565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51" name="num_txt"/>
          <p:cNvSpPr/>
          <p:nvPr/>
        </p:nvSpPr>
        <p:spPr>
          <a:xfrm>
            <a:off x="571680" y="565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en-US" altLang="ja-JP" sz="4800" b="0" dirty="0">
                <a:solidFill>
                  <a:srgbClr val="CBD5E1"/>
                </a:solidFill>
                <a:latin typeface="Arial"/>
                <a:cs typeface="Noto Sans CJK JP"/>
              </a:rPr>
              <a:t>5</a:t>
            </a:r>
            <a:endParaRPr lang="ja-JP" sz="4800" b="0" dirty="0">
              <a:solidFill>
                <a:srgbClr val="CBD5E1"/>
              </a:solidFill>
              <a:latin typeface="Arial"/>
              <a:cs typeface="Noto Sans CJK JP"/>
            </a:endParaRPr>
          </a:p>
        </p:txBody>
      </p:sp>
      <p:sp>
        <p:nvSpPr>
          <p:cNvPr id="52" name="item_lbl"/>
          <p:cNvSpPr/>
          <p:nvPr/>
        </p:nvSpPr>
        <p:spPr>
          <a:xfrm>
            <a:off x="1524000" y="565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000" b="0" dirty="0">
                <a:solidFill>
                  <a:srgbClr val="64748B"/>
                </a:solidFill>
                <a:latin typeface="Noto Sans CJK JP"/>
                <a:cs typeface="Noto Sans CJK JP"/>
              </a:rPr>
              <a:t>次回（第3回）予定</a:t>
            </a:r>
          </a:p>
        </p:txBody>
      </p:sp>
      <p:sp>
        <p:nvSpPr>
          <p:cNvPr id="53" name="item_desc"/>
          <p:cNvSpPr/>
          <p:nvPr/>
        </p:nvSpPr>
        <p:spPr>
          <a:xfrm>
            <a:off x="4924000" y="565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料金体系見直し・答申案策定・意見集約</a:t>
            </a:r>
          </a:p>
        </p:txBody>
      </p:sp>
      <p:sp>
        <p:nvSpPr>
          <p:cNvPr id="100"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前回審議の振り返り（第1回）</a:t>
            </a:r>
          </a:p>
        </p:txBody>
      </p:sp>
      <p:sp>
        <p:nvSpPr>
          <p:cNvPr id="16" name="ttl"/>
          <p:cNvSpPr/>
          <p:nvPr/>
        </p:nvSpPr>
        <p:spPr>
          <a:xfrm>
            <a:off x="819360" y="870000"/>
            <a:ext cx="8000000" cy="94356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第1回審議内容のまとめ</a:t>
            </a:r>
          </a:p>
        </p:txBody>
      </p:sp>
      <p:sp>
        <p:nvSpPr>
          <p:cNvPr id="17" name="pi"/>
          <p:cNvSpPr/>
          <p:nvPr/>
        </p:nvSpPr>
        <p:spPr>
          <a:xfrm>
            <a:off x="571680" y="1950000"/>
            <a:ext cx="400680" cy="7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8" name="pt"/>
          <p:cNvSpPr/>
          <p:nvPr/>
        </p:nvSpPr>
        <p:spPr>
          <a:xfrm>
            <a:off x="1100000" y="1950000"/>
            <a:ext cx="30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1E3A8A"/>
                </a:solidFill>
                <a:latin typeface="Noto Sans CJK JP"/>
                <a:cs typeface="Noto Sans CJK JP"/>
              </a:rPr>
              <a:t>現状の経営状況</a:t>
            </a:r>
          </a:p>
        </p:txBody>
      </p:sp>
      <p:sp>
        <p:nvSpPr>
          <p:cNvPr id="19" name="pb"/>
          <p:cNvSpPr/>
          <p:nvPr/>
        </p:nvSpPr>
        <p:spPr>
          <a:xfrm>
            <a:off x="4200000" y="1950000"/>
            <a:ext cx="74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公共の経費回収率47%・農集35%と低水準。使用料改定が必要。経営持続のための抜本的対策を確認した。</a:t>
            </a:r>
          </a:p>
        </p:txBody>
      </p:sp>
      <p:sp>
        <p:nvSpPr>
          <p:cNvPr id="20" name="pi"/>
          <p:cNvSpPr/>
          <p:nvPr/>
        </p:nvSpPr>
        <p:spPr>
          <a:xfrm>
            <a:off x="571680" y="2770000"/>
            <a:ext cx="400680" cy="78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pt"/>
          <p:cNvSpPr/>
          <p:nvPr/>
        </p:nvSpPr>
        <p:spPr>
          <a:xfrm>
            <a:off x="1100000" y="2770000"/>
            <a:ext cx="3000000" cy="78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1E3A8A"/>
                </a:solidFill>
                <a:latin typeface="Noto Sans CJK JP"/>
                <a:cs typeface="Noto Sans CJK JP"/>
              </a:rPr>
              <a:t>財政目標の確認</a:t>
            </a:r>
          </a:p>
        </p:txBody>
      </p:sp>
      <p:sp>
        <p:nvSpPr>
          <p:cNvPr id="22" name="pb"/>
          <p:cNvSpPr/>
          <p:nvPr/>
        </p:nvSpPr>
        <p:spPr>
          <a:xfrm>
            <a:off x="4200000" y="2770000"/>
            <a:ext cx="7400000" cy="78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目標①経常収支比率100%以上、目標②経費回収率47%以上（段階的向上）を目標として設定した。</a:t>
            </a:r>
          </a:p>
        </p:txBody>
      </p:sp>
      <p:sp>
        <p:nvSpPr>
          <p:cNvPr id="23" name="pi"/>
          <p:cNvSpPr/>
          <p:nvPr/>
        </p:nvSpPr>
        <p:spPr>
          <a:xfrm>
            <a:off x="571680" y="3590000"/>
            <a:ext cx="400680" cy="7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pt"/>
          <p:cNvSpPr/>
          <p:nvPr/>
        </p:nvSpPr>
        <p:spPr>
          <a:xfrm>
            <a:off x="1100000" y="3590000"/>
            <a:ext cx="30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1E3A8A"/>
                </a:solidFill>
                <a:latin typeface="Noto Sans CJK JP"/>
                <a:cs typeface="Noto Sans CJK JP"/>
              </a:rPr>
              <a:t>シミュレーション結果</a:t>
            </a:r>
          </a:p>
        </p:txBody>
      </p:sp>
      <p:sp>
        <p:nvSpPr>
          <p:cNvPr id="25" name="pb"/>
          <p:cNvSpPr/>
          <p:nvPr/>
        </p:nvSpPr>
        <p:spPr>
          <a:xfrm>
            <a:off x="4200000" y="3590000"/>
            <a:ext cx="74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パターン①②④を提示。20㎥で税抜3,000円・税込3,300円を達成。当町はパターン②を軸に検討する方針。</a:t>
            </a:r>
          </a:p>
        </p:txBody>
      </p:sp>
      <p:sp>
        <p:nvSpPr>
          <p:cNvPr id="26" name="pi"/>
          <p:cNvSpPr/>
          <p:nvPr/>
        </p:nvSpPr>
        <p:spPr>
          <a:xfrm>
            <a:off x="571680" y="4410000"/>
            <a:ext cx="400680" cy="78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7" name="pt"/>
          <p:cNvSpPr/>
          <p:nvPr/>
        </p:nvSpPr>
        <p:spPr>
          <a:xfrm>
            <a:off x="1100000" y="4410000"/>
            <a:ext cx="3000000" cy="78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1E3A8A"/>
                </a:solidFill>
                <a:latin typeface="Noto Sans CJK JP"/>
                <a:cs typeface="Noto Sans CJK JP"/>
              </a:rPr>
              <a:t>社会資本整備交付金要件</a:t>
            </a:r>
          </a:p>
        </p:txBody>
      </p:sp>
      <p:sp>
        <p:nvSpPr>
          <p:cNvPr id="28" name="pb"/>
          <p:cNvSpPr/>
          <p:nvPr/>
        </p:nvSpPr>
        <p:spPr>
          <a:xfrm>
            <a:off x="4200000" y="4410000"/>
            <a:ext cx="7400000" cy="78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5年に1回の使用料改定検証が交付要件。未達成の場合は社会資本整備総合交付金の対象外となる。</a:t>
            </a:r>
          </a:p>
        </p:txBody>
      </p:sp>
      <p:sp>
        <p:nvSpPr>
          <p:cNvPr id="29" name="pi"/>
          <p:cNvSpPr/>
          <p:nvPr/>
        </p:nvSpPr>
        <p:spPr>
          <a:xfrm>
            <a:off x="571680" y="5230000"/>
            <a:ext cx="400680" cy="7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30" name="pt"/>
          <p:cNvSpPr/>
          <p:nvPr/>
        </p:nvSpPr>
        <p:spPr>
          <a:xfrm>
            <a:off x="1100000" y="5230000"/>
            <a:ext cx="30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1E3A8A"/>
                </a:solidFill>
                <a:latin typeface="Noto Sans CJK JP"/>
                <a:cs typeface="Noto Sans CJK JP"/>
              </a:rPr>
              <a:t>段階的改定単価</a:t>
            </a:r>
          </a:p>
        </p:txBody>
      </p:sp>
      <p:sp>
        <p:nvSpPr>
          <p:cNvPr id="31" name="pb"/>
          <p:cNvSpPr/>
          <p:nvPr/>
        </p:nvSpPr>
        <p:spPr>
          <a:xfrm>
            <a:off x="4200000" y="5230000"/>
            <a:ext cx="74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2か年（R8中間→R9最終）および3か年（R8第1段→R9第2段→R10最終）の段階単価を提示・確認した。</a:t>
            </a:r>
          </a:p>
        </p:txBody>
      </p:sp>
      <p:sp>
        <p:nvSpPr>
          <p:cNvPr id="32"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sec_panel"/>
          <p:cNvSpPr/>
          <p:nvPr/>
        </p:nvSpPr>
        <p:spPr>
          <a:xfrm>
            <a:off x="0" y="0"/>
            <a:ext cx="3200000" cy="6858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sec_num"/>
          <p:cNvSpPr/>
          <p:nvPr/>
        </p:nvSpPr>
        <p:spPr>
          <a:xfrm>
            <a:off x="200000" y="2000000"/>
            <a:ext cx="2800000" cy="18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0" b="0" dirty="0">
                <a:solidFill>
                  <a:srgbClr val="FFFFFF"/>
                </a:solidFill>
                <a:latin typeface="Arial"/>
                <a:cs typeface="Noto Sans CJK JP"/>
              </a:rPr>
              <a:t>01</a:t>
            </a:r>
          </a:p>
        </p:txBody>
      </p:sp>
      <p:sp>
        <p:nvSpPr>
          <p:cNvPr id="22" name="sec_lbl"/>
          <p:cNvSpPr/>
          <p:nvPr/>
        </p:nvSpPr>
        <p:spPr>
          <a:xfrm>
            <a:off x="200000" y="3850000"/>
            <a:ext cx="28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800" b="0" dirty="0">
                <a:solidFill>
                  <a:srgbClr val="FFFFFF"/>
                </a:solidFill>
                <a:latin typeface="Noto Sans CJK JP"/>
                <a:cs typeface="Noto Sans CJK JP"/>
              </a:rPr>
              <a:t>SECTION</a:t>
            </a:r>
          </a:p>
        </p:txBody>
      </p:sp>
      <p:sp>
        <p:nvSpPr>
          <p:cNvPr id="23" name="right_bg"/>
          <p:cNvSpPr/>
          <p:nvPr/>
        </p:nvSpPr>
        <p:spPr>
          <a:xfrm>
            <a:off x="3200000" y="0"/>
            <a:ext cx="8991760" cy="6858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sub_lbl"/>
          <p:cNvSpPr/>
          <p:nvPr/>
        </p:nvSpPr>
        <p:spPr>
          <a:xfrm>
            <a:off x="3600000" y="1200000"/>
            <a:ext cx="3000000" cy="3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1600" b="0" dirty="0">
                <a:solidFill>
                  <a:srgbClr val="1E3A8A"/>
                </a:solidFill>
                <a:latin typeface="Noto Sans CJK JP"/>
                <a:cs typeface="Noto Sans CJK JP"/>
              </a:rPr>
              <a:t>下水道事業</a:t>
            </a:r>
          </a:p>
        </p:txBody>
      </p:sp>
      <p:sp>
        <p:nvSpPr>
          <p:cNvPr id="25" name="main_ttl"/>
          <p:cNvSpPr/>
          <p:nvPr/>
        </p:nvSpPr>
        <p:spPr>
          <a:xfrm>
            <a:off x="3600000" y="1640000"/>
            <a:ext cx="8400000" cy="12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0" dirty="0">
                <a:solidFill>
                  <a:srgbClr val="1E293B"/>
                </a:solidFill>
                <a:latin typeface="Arial"/>
                <a:cs typeface="Noto Sans CJK JP"/>
              </a:rPr>
              <a:t>使用料改定案の検討</a:t>
            </a:r>
          </a:p>
        </p:txBody>
      </p:sp>
      <p:sp>
        <p:nvSpPr>
          <p:cNvPr id="26" name="acc_line"/>
          <p:cNvSpPr/>
          <p:nvPr/>
        </p:nvSpPr>
        <p:spPr>
          <a:xfrm>
            <a:off x="3600000" y="2880000"/>
            <a:ext cx="600000" cy="38520"/>
          </a:xfrm>
          <a:custGeom>
            <a:avLst/>
            <a:gdLst/>
            <a:ahLst/>
            <a:cxnLst/>
            <a:rect l="l" t="t" r="r" b="b"/>
            <a:pathLst>
              <a:path w="21600" h="21600">
                <a:moveTo>
                  <a:pt x="0" y="0"/>
                </a:moveTo>
                <a:lnTo>
                  <a:pt x="21600" y="0"/>
                </a:lnTo>
                <a:lnTo>
                  <a:pt x="21600" y="21600"/>
                </a:lnTo>
                <a:lnTo>
                  <a:pt x="0" y="21600"/>
                </a:lnTo>
                <a:close/>
              </a:path>
            </a:pathLst>
          </a:custGeom>
          <a:solidFill>
            <a:srgbClr val="3B82F6"/>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7" name="desc"/>
          <p:cNvSpPr/>
          <p:nvPr/>
        </p:nvSpPr>
        <p:spPr>
          <a:xfrm>
            <a:off x="3600000" y="3080000"/>
            <a:ext cx="8200000" cy="24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45720" anchor="ctr">
            <a:noAutofit/>
          </a:bodyPr>
          <a:lstStyle/>
          <a:p>
            <a:pPr algn="l"/>
            <a:r>
              <a:rPr lang="ja-JP" sz="2200" b="0" dirty="0">
                <a:solidFill>
                  <a:srgbClr val="475569"/>
                </a:solidFill>
                <a:latin typeface="Noto Sans CJK JP"/>
                <a:cs typeface="Noto Sans CJK JP"/>
              </a:rPr>
              <a:t>本章では、シミュレーションパターンの絞り込み・推奨案の選定理由・収支シミュレーション結果・改定率の妥当性評価を整理します。</a:t>
            </a:r>
          </a:p>
        </p:txBody>
      </p:sp>
      <p:sp>
        <p:nvSpPr>
          <p:cNvPr id="28" name="pgnum"/>
          <p:cNvSpPr/>
          <p:nvPr/>
        </p:nvSpPr>
        <p:spPr>
          <a:xfrm>
            <a:off x="11200000" y="657000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lIns="0" tIns="0" rIns="0" bIns="0" anchor="ctr">
            <a:noAutofit/>
          </a:bodyPr>
          <a:lstStyle/>
          <a:p>
            <a:pPr algn="ctr"/>
            <a:r>
              <a:rPr lang="ja-JP" sz="900" b="1" dirty="0">
                <a:solidFill>
                  <a:srgbClr val="FFFFFF"/>
                </a:solidFill>
                <a:latin typeface="Arial"/>
                <a:cs typeface="Noto Sans CJK JP"/>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使用料改定案の検討　01-1　推奨パターンの絞り込み</a:t>
            </a:r>
          </a:p>
        </p:txBody>
      </p:sp>
      <p:sp>
        <p:nvSpPr>
          <p:cNvPr id="16" name="ttl"/>
          <p:cNvSpPr/>
          <p:nvPr/>
        </p:nvSpPr>
        <p:spPr>
          <a:xfrm>
            <a:off x="571680" y="850000"/>
            <a:ext cx="7000000" cy="94356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推奨パターンの絞り込み　評価軸による比較</a:t>
            </a:r>
          </a:p>
        </p:txBody>
      </p:sp>
      <p:sp>
        <p:nvSpPr>
          <p:cNvPr id="17" name="th0"/>
          <p:cNvSpPr/>
          <p:nvPr/>
        </p:nvSpPr>
        <p:spPr>
          <a:xfrm>
            <a:off x="571680" y="1900000"/>
            <a:ext cx="25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100" b="0" dirty="0">
                <a:solidFill>
                  <a:srgbClr val="FFFFFF"/>
                </a:solidFill>
                <a:latin typeface="Noto Sans CJK JP"/>
                <a:cs typeface="Noto Sans CJK JP"/>
              </a:rPr>
              <a:t>評価軸</a:t>
            </a:r>
          </a:p>
        </p:txBody>
      </p:sp>
      <p:sp>
        <p:nvSpPr>
          <p:cNvPr id="18" name="th1"/>
          <p:cNvSpPr/>
          <p:nvPr/>
        </p:nvSpPr>
        <p:spPr>
          <a:xfrm>
            <a:off x="3271680" y="1900000"/>
            <a:ext cx="26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100" b="0" dirty="0">
                <a:solidFill>
                  <a:srgbClr val="FFFFFF"/>
                </a:solidFill>
                <a:latin typeface="Noto Sans CJK JP"/>
                <a:cs typeface="Noto Sans CJK JP"/>
              </a:rPr>
              <a:t>パターン①
標準型</a:t>
            </a:r>
          </a:p>
        </p:txBody>
      </p:sp>
      <p:sp>
        <p:nvSpPr>
          <p:cNvPr id="19" name="th2"/>
          <p:cNvSpPr/>
          <p:nvPr/>
        </p:nvSpPr>
        <p:spPr>
          <a:xfrm>
            <a:off x="6071680" y="1900000"/>
            <a:ext cx="28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100" b="0" dirty="0">
                <a:solidFill>
                  <a:srgbClr val="FFFFFF"/>
                </a:solidFill>
                <a:latin typeface="Noto Sans CJK JP"/>
                <a:cs typeface="Noto Sans CJK JP"/>
              </a:rPr>
              <a:t>パターン②
家庭軽減型</a:t>
            </a:r>
          </a:p>
        </p:txBody>
      </p:sp>
      <p:sp>
        <p:nvSpPr>
          <p:cNvPr id="20" name="th3"/>
          <p:cNvSpPr/>
          <p:nvPr/>
        </p:nvSpPr>
        <p:spPr>
          <a:xfrm>
            <a:off x="9071680" y="1900000"/>
            <a:ext cx="257832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100" b="0" dirty="0">
                <a:solidFill>
                  <a:srgbClr val="FFFFFF"/>
                </a:solidFill>
                <a:latin typeface="Noto Sans CJK JP"/>
                <a:cs typeface="Noto Sans CJK JP"/>
              </a:rPr>
              <a:t>パターン④
段階累進型</a:t>
            </a:r>
          </a:p>
        </p:txBody>
      </p:sp>
      <p:sp>
        <p:nvSpPr>
          <p:cNvPr id="21" name="r00"/>
          <p:cNvSpPr/>
          <p:nvPr/>
        </p:nvSpPr>
        <p:spPr>
          <a:xfrm>
            <a:off x="571680" y="2360000"/>
            <a:ext cx="250000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0" dirty="0">
                <a:solidFill>
                  <a:srgbClr val="1E293B"/>
                </a:solidFill>
                <a:latin typeface="Noto Sans CJK JP"/>
                <a:cs typeface="Noto Sans CJK JP"/>
              </a:rPr>
              <a:t>目標達成（20㎥・税抜3,000円）</a:t>
            </a:r>
          </a:p>
        </p:txBody>
      </p:sp>
      <p:sp>
        <p:nvSpPr>
          <p:cNvPr id="22" name="r01"/>
          <p:cNvSpPr/>
          <p:nvPr/>
        </p:nvSpPr>
        <p:spPr>
          <a:xfrm>
            <a:off x="3271680" y="2360000"/>
            <a:ext cx="260000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達成</a:t>
            </a:r>
          </a:p>
        </p:txBody>
      </p:sp>
      <p:sp>
        <p:nvSpPr>
          <p:cNvPr id="23" name="r02"/>
          <p:cNvSpPr/>
          <p:nvPr/>
        </p:nvSpPr>
        <p:spPr>
          <a:xfrm>
            <a:off x="6071680" y="2360000"/>
            <a:ext cx="280000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達成</a:t>
            </a:r>
          </a:p>
        </p:txBody>
      </p:sp>
      <p:sp>
        <p:nvSpPr>
          <p:cNvPr id="24" name="r03"/>
          <p:cNvSpPr/>
          <p:nvPr/>
        </p:nvSpPr>
        <p:spPr>
          <a:xfrm>
            <a:off x="9071680" y="2360000"/>
            <a:ext cx="257832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達成</a:t>
            </a:r>
          </a:p>
        </p:txBody>
      </p:sp>
      <p:sp>
        <p:nvSpPr>
          <p:cNvPr id="25" name="r10"/>
          <p:cNvSpPr/>
          <p:nvPr/>
        </p:nvSpPr>
        <p:spPr>
          <a:xfrm>
            <a:off x="571680" y="2940000"/>
            <a:ext cx="2500000" cy="5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0" dirty="0">
                <a:solidFill>
                  <a:srgbClr val="1E293B"/>
                </a:solidFill>
                <a:latin typeface="Noto Sans CJK JP"/>
                <a:cs typeface="Noto Sans CJK JP"/>
              </a:rPr>
              <a:t>少量使用者（10㎥以下）への配慮</a:t>
            </a:r>
          </a:p>
        </p:txBody>
      </p:sp>
      <p:sp>
        <p:nvSpPr>
          <p:cNvPr id="26" name="r11"/>
          <p:cNvSpPr/>
          <p:nvPr/>
        </p:nvSpPr>
        <p:spPr>
          <a:xfrm>
            <a:off x="3271680" y="2940000"/>
            <a:ext cx="2600000" cy="5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B45309"/>
                </a:solidFill>
                <a:latin typeface="Noto Sans CJK JP"/>
                <a:cs typeface="Noto Sans CJK JP"/>
              </a:rPr>
              <a:t>△ 基本料+50%</a:t>
            </a:r>
          </a:p>
        </p:txBody>
      </p:sp>
      <p:sp>
        <p:nvSpPr>
          <p:cNvPr id="27" name="r12"/>
          <p:cNvSpPr/>
          <p:nvPr/>
        </p:nvSpPr>
        <p:spPr>
          <a:xfrm>
            <a:off x="6071680" y="2940000"/>
            <a:ext cx="2800000" cy="5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66534"/>
                </a:solidFill>
                <a:latin typeface="Noto Sans CJK JP"/>
                <a:cs typeface="Noto Sans CJK JP"/>
              </a:rPr>
              <a:t>◎ 基本料+20%</a:t>
            </a:r>
          </a:p>
        </p:txBody>
      </p:sp>
      <p:sp>
        <p:nvSpPr>
          <p:cNvPr id="28" name="r13"/>
          <p:cNvSpPr/>
          <p:nvPr/>
        </p:nvSpPr>
        <p:spPr>
          <a:xfrm>
            <a:off x="9071680" y="2940000"/>
            <a:ext cx="2578320" cy="5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B45309"/>
                </a:solidFill>
                <a:latin typeface="Noto Sans CJK JP"/>
                <a:cs typeface="Noto Sans CJK JP"/>
              </a:rPr>
              <a:t>○ 基本料+40%</a:t>
            </a:r>
          </a:p>
        </p:txBody>
      </p:sp>
      <p:sp>
        <p:nvSpPr>
          <p:cNvPr id="29" name="r20"/>
          <p:cNvSpPr/>
          <p:nvPr/>
        </p:nvSpPr>
        <p:spPr>
          <a:xfrm>
            <a:off x="571680" y="3520000"/>
            <a:ext cx="250000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0" dirty="0">
                <a:solidFill>
                  <a:srgbClr val="1E293B"/>
                </a:solidFill>
                <a:latin typeface="Noto Sans CJK JP"/>
                <a:cs typeface="Noto Sans CJK JP"/>
              </a:rPr>
              <a:t>中量使用者（20〜30㎥）の負担</a:t>
            </a:r>
          </a:p>
        </p:txBody>
      </p:sp>
      <p:sp>
        <p:nvSpPr>
          <p:cNvPr id="30" name="r21"/>
          <p:cNvSpPr/>
          <p:nvPr/>
        </p:nvSpPr>
        <p:spPr>
          <a:xfrm>
            <a:off x="3271680" y="3520000"/>
            <a:ext cx="260000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標準</a:t>
            </a:r>
          </a:p>
        </p:txBody>
      </p:sp>
      <p:sp>
        <p:nvSpPr>
          <p:cNvPr id="31" name="r22"/>
          <p:cNvSpPr/>
          <p:nvPr/>
        </p:nvSpPr>
        <p:spPr>
          <a:xfrm>
            <a:off x="6071680" y="3520000"/>
            <a:ext cx="280000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標準</a:t>
            </a:r>
          </a:p>
        </p:txBody>
      </p:sp>
      <p:sp>
        <p:nvSpPr>
          <p:cNvPr id="32" name="r23"/>
          <p:cNvSpPr/>
          <p:nvPr/>
        </p:nvSpPr>
        <p:spPr>
          <a:xfrm>
            <a:off x="9071680" y="3520000"/>
            <a:ext cx="257832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66534"/>
                </a:solidFill>
                <a:latin typeface="Noto Sans CJK JP"/>
                <a:cs typeface="Noto Sans CJK JP"/>
              </a:rPr>
              <a:t>◎ 緩やか</a:t>
            </a:r>
          </a:p>
        </p:txBody>
      </p:sp>
      <p:sp>
        <p:nvSpPr>
          <p:cNvPr id="33" name="r30"/>
          <p:cNvSpPr/>
          <p:nvPr/>
        </p:nvSpPr>
        <p:spPr>
          <a:xfrm>
            <a:off x="571680" y="4100000"/>
            <a:ext cx="2500000" cy="5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0" dirty="0">
                <a:solidFill>
                  <a:srgbClr val="1E293B"/>
                </a:solidFill>
                <a:latin typeface="Noto Sans CJK JP"/>
                <a:cs typeface="Noto Sans CJK JP"/>
              </a:rPr>
              <a:t>大口使用者への累進性</a:t>
            </a:r>
          </a:p>
        </p:txBody>
      </p:sp>
      <p:sp>
        <p:nvSpPr>
          <p:cNvPr id="34" name="r31"/>
          <p:cNvSpPr/>
          <p:nvPr/>
        </p:nvSpPr>
        <p:spPr>
          <a:xfrm>
            <a:off x="3271680" y="4100000"/>
            <a:ext cx="2600000" cy="5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中程度</a:t>
            </a:r>
          </a:p>
        </p:txBody>
      </p:sp>
      <p:sp>
        <p:nvSpPr>
          <p:cNvPr id="35" name="r32"/>
          <p:cNvSpPr/>
          <p:nvPr/>
        </p:nvSpPr>
        <p:spPr>
          <a:xfrm>
            <a:off x="6071680" y="4100000"/>
            <a:ext cx="2800000" cy="5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66534"/>
                </a:solidFill>
                <a:latin typeface="Noto Sans CJK JP"/>
                <a:cs typeface="Noto Sans CJK JP"/>
              </a:rPr>
              <a:t>◎ 強い</a:t>
            </a:r>
          </a:p>
        </p:txBody>
      </p:sp>
      <p:sp>
        <p:nvSpPr>
          <p:cNvPr id="36" name="r33"/>
          <p:cNvSpPr/>
          <p:nvPr/>
        </p:nvSpPr>
        <p:spPr>
          <a:xfrm>
            <a:off x="9071680" y="4100000"/>
            <a:ext cx="2578320" cy="5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中程度</a:t>
            </a:r>
          </a:p>
        </p:txBody>
      </p:sp>
      <p:sp>
        <p:nvSpPr>
          <p:cNvPr id="37" name="r40"/>
          <p:cNvSpPr/>
          <p:nvPr/>
        </p:nvSpPr>
        <p:spPr>
          <a:xfrm>
            <a:off x="571680" y="4680000"/>
            <a:ext cx="250000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0" dirty="0">
                <a:solidFill>
                  <a:srgbClr val="1E293B"/>
                </a:solidFill>
                <a:latin typeface="Noto Sans CJK JP"/>
                <a:cs typeface="Noto Sans CJK JP"/>
              </a:rPr>
              <a:t>財政健全化への貢献度</a:t>
            </a:r>
          </a:p>
        </p:txBody>
      </p:sp>
      <p:sp>
        <p:nvSpPr>
          <p:cNvPr id="38" name="r41"/>
          <p:cNvSpPr/>
          <p:nvPr/>
        </p:nvSpPr>
        <p:spPr>
          <a:xfrm>
            <a:off x="3271680" y="4680000"/>
            <a:ext cx="260000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66534"/>
                </a:solidFill>
                <a:latin typeface="Noto Sans CJK JP"/>
                <a:cs typeface="Noto Sans CJK JP"/>
              </a:rPr>
              <a:t>◎ 高い</a:t>
            </a:r>
          </a:p>
        </p:txBody>
      </p:sp>
      <p:sp>
        <p:nvSpPr>
          <p:cNvPr id="39" name="r42"/>
          <p:cNvSpPr/>
          <p:nvPr/>
        </p:nvSpPr>
        <p:spPr>
          <a:xfrm>
            <a:off x="6071680" y="4680000"/>
            <a:ext cx="280000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中程度</a:t>
            </a:r>
          </a:p>
        </p:txBody>
      </p:sp>
      <p:sp>
        <p:nvSpPr>
          <p:cNvPr id="40" name="r43"/>
          <p:cNvSpPr/>
          <p:nvPr/>
        </p:nvSpPr>
        <p:spPr>
          <a:xfrm>
            <a:off x="9071680" y="4680000"/>
            <a:ext cx="2578320" cy="5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66534"/>
                </a:solidFill>
                <a:latin typeface="Noto Sans CJK JP"/>
                <a:cs typeface="Noto Sans CJK JP"/>
              </a:rPr>
              <a:t>◎ 高い</a:t>
            </a:r>
          </a:p>
        </p:txBody>
      </p:sp>
      <p:sp>
        <p:nvSpPr>
          <p:cNvPr id="41" name="r50"/>
          <p:cNvSpPr/>
          <p:nvPr/>
        </p:nvSpPr>
        <p:spPr>
          <a:xfrm>
            <a:off x="571680" y="5260000"/>
            <a:ext cx="2500000" cy="5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1" dirty="0">
                <a:solidFill>
                  <a:srgbClr val="EF4444"/>
                </a:solidFill>
                <a:latin typeface="Noto Sans CJK JP"/>
                <a:cs typeface="Noto Sans CJK JP"/>
              </a:rPr>
              <a:t>総合評価</a:t>
            </a:r>
          </a:p>
        </p:txBody>
      </p:sp>
      <p:sp>
        <p:nvSpPr>
          <p:cNvPr id="42" name="r51"/>
          <p:cNvSpPr/>
          <p:nvPr/>
        </p:nvSpPr>
        <p:spPr>
          <a:xfrm>
            <a:off x="3271680" y="5260000"/>
            <a:ext cx="2600000" cy="5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1" dirty="0">
                <a:solidFill>
                  <a:srgbClr val="475569"/>
                </a:solidFill>
                <a:latin typeface="Noto Sans CJK JP"/>
                <a:cs typeface="Noto Sans CJK JP"/>
              </a:rPr>
              <a:t>○</a:t>
            </a:r>
          </a:p>
        </p:txBody>
      </p:sp>
      <p:sp>
        <p:nvSpPr>
          <p:cNvPr id="43" name="r52"/>
          <p:cNvSpPr/>
          <p:nvPr/>
        </p:nvSpPr>
        <p:spPr>
          <a:xfrm>
            <a:off x="6071680" y="5260000"/>
            <a:ext cx="2800000" cy="5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1" dirty="0">
                <a:solidFill>
                  <a:srgbClr val="EF4444"/>
                </a:solidFill>
                <a:latin typeface="Noto Sans CJK JP"/>
                <a:cs typeface="Noto Sans CJK JP"/>
              </a:rPr>
              <a:t>◎ 推奨</a:t>
            </a:r>
          </a:p>
        </p:txBody>
      </p:sp>
      <p:sp>
        <p:nvSpPr>
          <p:cNvPr id="44" name="r53"/>
          <p:cNvSpPr/>
          <p:nvPr/>
        </p:nvSpPr>
        <p:spPr>
          <a:xfrm>
            <a:off x="9071680" y="5260000"/>
            <a:ext cx="2578320" cy="5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1" dirty="0">
                <a:solidFill>
                  <a:srgbClr val="475569"/>
                </a:solidFill>
                <a:latin typeface="Noto Sans CJK JP"/>
                <a:cs typeface="Noto Sans CJK JP"/>
              </a:rPr>
              <a:t>○</a:t>
            </a:r>
          </a:p>
        </p:txBody>
      </p:sp>
      <p:sp>
        <p:nvSpPr>
          <p:cNvPr id="45" name="concl"/>
          <p:cNvSpPr/>
          <p:nvPr/>
        </p:nvSpPr>
        <p:spPr>
          <a:xfrm>
            <a:off x="571680" y="5700000"/>
            <a:ext cx="11048400" cy="4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19050">
            <a:solidFill>
              <a:srgbClr val="EF444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300" b="0" dirty="0">
                <a:solidFill>
                  <a:srgbClr val="EF4444"/>
                </a:solidFill>
                <a:latin typeface="Noto Sans CJK JP"/>
                <a:cs typeface="Noto Sans CJK JP"/>
              </a:rPr>
              <a:t>▶ 推奨案：パターン②（家庭軽減型）　少量使用者への配慮と財政健全化目標の両立を重視。基本料金を抑え大口使用者の累進性を強化。</a:t>
            </a:r>
          </a:p>
        </p:txBody>
      </p:sp>
      <p:sp>
        <p:nvSpPr>
          <p:cNvPr id="46"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使用料改定案の検討　01-2　収支シミュレーション（パターン②採用時）</a:t>
            </a:r>
          </a:p>
        </p:txBody>
      </p:sp>
      <p:sp>
        <p:nvSpPr>
          <p:cNvPr id="16" name="ttl"/>
          <p:cNvSpPr/>
          <p:nvPr/>
        </p:nvSpPr>
        <p:spPr>
          <a:xfrm>
            <a:off x="819360" y="850000"/>
            <a:ext cx="8000000"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パターン②採用時の財政収支見込み</a:t>
            </a:r>
          </a:p>
        </p:txBody>
      </p:sp>
      <p:sp>
        <p:nvSpPr>
          <p:cNvPr id="17" name="lh0"/>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公共下水道</a:t>
            </a:r>
          </a:p>
        </p:txBody>
      </p:sp>
      <p:sp>
        <p:nvSpPr>
          <p:cNvPr id="18" name="g1h0"/>
          <p:cNvSpPr/>
          <p:nvPr/>
        </p:nvSpPr>
        <p:spPr>
          <a:xfrm>
            <a:off x="571680" y="19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3A8A"/>
                </a:solidFill>
                <a:latin typeface="Noto Sans CJK JP"/>
                <a:cs typeface="Noto Sans CJK JP"/>
              </a:rPr>
              <a:t>目標① 経常収支比率（100%以上）</a:t>
            </a:r>
          </a:p>
        </p:txBody>
      </p:sp>
      <p:sp>
        <p:nvSpPr>
          <p:cNvPr id="19" name="cr00"/>
          <p:cNvSpPr/>
          <p:nvPr/>
        </p:nvSpPr>
        <p:spPr>
          <a:xfrm>
            <a:off x="571680" y="22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R7現行：90〜95%</a:t>
            </a:r>
          </a:p>
        </p:txBody>
      </p:sp>
      <p:sp>
        <p:nvSpPr>
          <p:cNvPr id="20" name="cr01"/>
          <p:cNvSpPr/>
          <p:nvPr/>
        </p:nvSpPr>
        <p:spPr>
          <a:xfrm>
            <a:off x="571680" y="25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R8改定開始：100%前後</a:t>
            </a:r>
          </a:p>
        </p:txBody>
      </p:sp>
      <p:sp>
        <p:nvSpPr>
          <p:cNvPr id="21" name="cr02"/>
          <p:cNvSpPr/>
          <p:nvPr/>
        </p:nvSpPr>
        <p:spPr>
          <a:xfrm>
            <a:off x="571680" y="29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R9最終：103〜105%</a:t>
            </a:r>
          </a:p>
        </p:txBody>
      </p:sp>
      <p:sp>
        <p:nvSpPr>
          <p:cNvPr id="22" name="g2h0"/>
          <p:cNvSpPr/>
          <p:nvPr/>
        </p:nvSpPr>
        <p:spPr>
          <a:xfrm>
            <a:off x="571680" y="32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64748B"/>
                </a:solidFill>
                <a:latin typeface="Noto Sans CJK JP"/>
                <a:cs typeface="Noto Sans CJK JP"/>
              </a:rPr>
              <a:t>目標② 経費回収率（47%以上）</a:t>
            </a:r>
          </a:p>
        </p:txBody>
      </p:sp>
      <p:sp>
        <p:nvSpPr>
          <p:cNvPr id="23" name="er00"/>
          <p:cNvSpPr/>
          <p:nvPr/>
        </p:nvSpPr>
        <p:spPr>
          <a:xfrm>
            <a:off x="571680" y="35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R7現行：47%</a:t>
            </a:r>
          </a:p>
        </p:txBody>
      </p:sp>
      <p:sp>
        <p:nvSpPr>
          <p:cNvPr id="24" name="er01"/>
          <p:cNvSpPr/>
          <p:nvPr/>
        </p:nvSpPr>
        <p:spPr>
          <a:xfrm>
            <a:off x="571680" y="38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R8改定開始：55%</a:t>
            </a:r>
          </a:p>
        </p:txBody>
      </p:sp>
      <p:sp>
        <p:nvSpPr>
          <p:cNvPr id="25" name="er02"/>
          <p:cNvSpPr/>
          <p:nvPr/>
        </p:nvSpPr>
        <p:spPr>
          <a:xfrm>
            <a:off x="571680" y="42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R9最終：60%以上</a:t>
            </a:r>
          </a:p>
        </p:txBody>
      </p:sp>
      <p:sp>
        <p:nvSpPr>
          <p:cNvPr id="26" name="lh1"/>
          <p:cNvSpPr/>
          <p:nvPr/>
        </p:nvSpPr>
        <p:spPr>
          <a:xfrm>
            <a:off x="62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農業集落排水</a:t>
            </a:r>
          </a:p>
        </p:txBody>
      </p:sp>
      <p:sp>
        <p:nvSpPr>
          <p:cNvPr id="27" name="g1h1"/>
          <p:cNvSpPr/>
          <p:nvPr/>
        </p:nvSpPr>
        <p:spPr>
          <a:xfrm>
            <a:off x="6271680" y="19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3A8A"/>
                </a:solidFill>
                <a:latin typeface="Noto Sans CJK JP"/>
                <a:cs typeface="Noto Sans CJK JP"/>
              </a:rPr>
              <a:t>目標① 経常収支比率（100%以上）</a:t>
            </a:r>
          </a:p>
        </p:txBody>
      </p:sp>
      <p:sp>
        <p:nvSpPr>
          <p:cNvPr id="28" name="cr10"/>
          <p:cNvSpPr/>
          <p:nvPr/>
        </p:nvSpPr>
        <p:spPr>
          <a:xfrm>
            <a:off x="6271680" y="22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R7現行：92〜95%</a:t>
            </a:r>
          </a:p>
        </p:txBody>
      </p:sp>
      <p:sp>
        <p:nvSpPr>
          <p:cNvPr id="29" name="cr11"/>
          <p:cNvSpPr/>
          <p:nvPr/>
        </p:nvSpPr>
        <p:spPr>
          <a:xfrm>
            <a:off x="6271680" y="25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R8改定開始：100%前後</a:t>
            </a:r>
          </a:p>
        </p:txBody>
      </p:sp>
      <p:sp>
        <p:nvSpPr>
          <p:cNvPr id="30" name="cr12"/>
          <p:cNvSpPr/>
          <p:nvPr/>
        </p:nvSpPr>
        <p:spPr>
          <a:xfrm>
            <a:off x="6271680" y="29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R9最終：101〜103%</a:t>
            </a:r>
          </a:p>
        </p:txBody>
      </p:sp>
      <p:sp>
        <p:nvSpPr>
          <p:cNvPr id="31" name="g2h1"/>
          <p:cNvSpPr/>
          <p:nvPr/>
        </p:nvSpPr>
        <p:spPr>
          <a:xfrm>
            <a:off x="6271680" y="32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64748B"/>
                </a:solidFill>
                <a:latin typeface="Noto Sans CJK JP"/>
                <a:cs typeface="Noto Sans CJK JP"/>
              </a:rPr>
              <a:t>目標② 経費回収率（47%以上）</a:t>
            </a:r>
          </a:p>
        </p:txBody>
      </p:sp>
      <p:sp>
        <p:nvSpPr>
          <p:cNvPr id="32" name="er10"/>
          <p:cNvSpPr/>
          <p:nvPr/>
        </p:nvSpPr>
        <p:spPr>
          <a:xfrm>
            <a:off x="6271680" y="35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R7現行：35%</a:t>
            </a:r>
          </a:p>
        </p:txBody>
      </p:sp>
      <p:sp>
        <p:nvSpPr>
          <p:cNvPr id="33" name="er11"/>
          <p:cNvSpPr/>
          <p:nvPr/>
        </p:nvSpPr>
        <p:spPr>
          <a:xfrm>
            <a:off x="6271680" y="38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R8改定開始：44%</a:t>
            </a:r>
          </a:p>
        </p:txBody>
      </p:sp>
      <p:sp>
        <p:nvSpPr>
          <p:cNvPr id="34" name="er12"/>
          <p:cNvSpPr/>
          <p:nvPr/>
        </p:nvSpPr>
        <p:spPr>
          <a:xfrm>
            <a:off x="6271680" y="42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R9最終：47%以上</a:t>
            </a:r>
          </a:p>
        </p:txBody>
      </p:sp>
      <p:sp>
        <p:nvSpPr>
          <p:cNvPr id="35" name="concl6"/>
          <p:cNvSpPr/>
          <p:nvPr/>
        </p:nvSpPr>
        <p:spPr>
          <a:xfrm>
            <a:off x="571680" y="4680000"/>
            <a:ext cx="11048400" cy="170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16653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66534"/>
                </a:solidFill>
                <a:latin typeface="Noto Sans CJK JP"/>
                <a:cs typeface="Noto Sans CJK JP"/>
              </a:rPr>
              <a:t>パターン②（家庭軽減型）を採用した場合、公共・農集ともにR9年度には経常収支比率100%超（単年度黒字）を達成できる見込みです。経費回収率も段階的に向上し、社会資本整備総合交付金の交付要件を満たす水準へ改善します。住民への影響を抑えながら財政健全化目標を達成できる最適なパターンです。</a:t>
            </a:r>
          </a:p>
        </p:txBody>
      </p:sp>
      <p:sp>
        <p:nvSpPr>
          <p:cNvPr id="36"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0" name="hb"/>
          <p:cNvSpPr/>
          <p:nvPr/>
        </p:nvSpPr>
        <p:spPr>
          <a:xfrm>
            <a:off x="0" y="0"/>
            <a:ext cx="12191760" cy="570000"/>
          </a:xfrm>
          <a:custGeom>
            <a:avLst/>
            <a:gdLst/>
            <a:ahLst/>
            <a:rect l="l" t="t" r="r" b="b"/>
            <a:pathLst>
              <a:path w="21600" h="21600">
                <a:moveTo>
                  <a:pt x="0" y="0"/>
                </a:moveTo>
                <a:lnTo>
                  <a:pt x="21600" y="0"/>
                </a:lnTo>
                <a:lnTo>
                  <a:pt x="21600" y="21600"/>
                </a:lnTo>
                <a:lnTo>
                  <a:pt x="0" y="21600"/>
                </a:lnTo>
                <a:close/>
              </a:path>
            </a:pathLst>
          </a:custGeom>
          <a:solidFill>
            <a:srgbClr val="1E293B"/>
          </a:solidFill>
          <a:ln w="0">
            <a:noFill/>
          </a:ln>
        </p:spPr>
        <p:style>
          <a:lnRef idx="0"/>
          <a:fillRef idx="0"/>
          <a:effectRef idx="0"/>
          <a:fontRef idx="minor"/>
        </p:style>
        <p:txBody>
          <a:bodyPr tIns="91440" bIns="91440" lIns="182880" rIns="91440" anchor="ctr">
            <a:noAutofit/>
          </a:bodyPr>
          <a:p>
            <a:pPr algn="l"/>
            <a:r>
              <a:rPr lang="ja-JP" sz="1700" b="0" dirty="0">
                <a:solidFill>
                  <a:srgbClr val="FFFFFF"/>
                </a:solidFill>
                <a:latin typeface="Arial"/>
                <a:cs typeface="Noto Sans CJK JP"/>
              </a:rPr>
              <a:t>  使用料改定案の検討　01-2補　収支見込み比較（パターン①②④）</a:t>
            </a:r>
          </a:p>
        </p:txBody>
      </p:sp>
      <p:sp>
        <p:nvSpPr>
          <p:cNvPr id="11" name="hl"/>
          <p:cNvSpPr/>
          <p:nvPr/>
        </p:nvSpPr>
        <p:spPr>
          <a:xfrm>
            <a:off x="0" y="570000"/>
            <a:ext cx="12191760" cy="19080"/>
          </a:xfrm>
          <a:custGeom>
            <a:avLst/>
            <a:gdLst/>
            <a:ahLst/>
            <a:rect l="l" t="t" r="r" b="b"/>
            <a:pathLst>
              <a:path w="21600" h="21600">
                <a:moveTo>
                  <a:pt x="0" y="0"/>
                </a:moveTo>
                <a:lnTo>
                  <a:pt x="21600" y="0"/>
                </a:lnTo>
                <a:lnTo>
                  <a:pt x="21600" y="21600"/>
                </a:lnTo>
                <a:lnTo>
                  <a:pt x="0" y="21600"/>
                </a:lnTo>
                <a:close/>
              </a:path>
            </a:pathLst>
          </a:custGeom>
          <a:solidFill>
            <a:srgbClr val="3B82F6"/>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570000"/>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0000"/>
            <a:ext cx="10800000" cy="53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2100" b="0" dirty="0">
                <a:solidFill>
                  <a:srgbClr val="1E293B"/>
                </a:solidFill>
                <a:latin typeface="Arial"/>
                <a:cs typeface="Noto Sans CJK JP"/>
              </a:rPr>
              <a:t>パターン別　財政収支見込み比較（公共下水道・農業集落排水）</a:t>
            </a:r>
          </a:p>
        </p:txBody>
      </p:sp>
      <p:sp>
        <p:nvSpPr>
          <p:cNvPr id="14" name="ph0"/>
          <p:cNvSpPr/>
          <p:nvPr/>
        </p:nvSpPr>
        <p:spPr>
          <a:xfrm>
            <a:off x="380000" y="1430000"/>
            <a:ext cx="3696960" cy="30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1100" b="0" dirty="0">
                <a:solidFill>
                  <a:srgbClr val="FFFFFF"/>
                </a:solidFill>
                <a:latin typeface="Arial"/>
                <a:cs typeface="Noto Sans CJK JP"/>
              </a:rPr>
              <a:t>パターン①（標準型）</a:t>
            </a:r>
          </a:p>
        </p:txBody>
      </p:sp>
      <p:sp>
        <p:nvSpPr>
          <p:cNvPr id="15" name="pub0"/>
          <p:cNvSpPr/>
          <p:nvPr/>
        </p:nvSpPr>
        <p:spPr>
          <a:xfrm>
            <a:off x="380000" y="1760000"/>
            <a:ext cx="3696960" cy="24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16" name="ch0"/>
          <p:cNvSpPr/>
          <p:nvPr/>
        </p:nvSpPr>
        <p:spPr>
          <a:xfrm>
            <a:off x="380000" y="2030000"/>
            <a:ext cx="3696960" cy="230000"/>
          </a:xfrm>
          <a:custGeom>
            <a:avLst/>
            <a:gdLst/>
            <a:ahLst/>
            <a:rect l="l" t="t" r="r" b="b"/>
            <a:pathLst>
              <a:path w="21600" h="21600">
                <a:moveTo>
                  <a:pt x="0" y="0"/>
                </a:moveTo>
                <a:lnTo>
                  <a:pt x="21600" y="0"/>
                </a:lnTo>
                <a:lnTo>
                  <a:pt x="21600" y="21600"/>
                </a:lnTo>
                <a:lnTo>
                  <a:pt x="0" y="21600"/>
                </a:lnTo>
                <a:close/>
              </a:path>
            </a:pathLst>
          </a:custGeom>
          <a:solidFill>
            <a:srgbClr val="EFF6FF"/>
          </a:solidFill>
          <a:ln w="9525">
            <a:solidFill>
              <a:srgbClr val="BFDBFE"/>
            </a:solidFill>
          </a:ln>
        </p:spPr>
        <p:style>
          <a:lnRef idx="0"/>
          <a:fillRef idx="0"/>
          <a:effectRef idx="0"/>
          <a:fontRef idx="minor"/>
        </p:style>
        <p:txBody>
          <a:bodyPr tIns="45720" bIns="45720" lIns="60000" rIns="91440" anchor="ctr">
            <a:noAutofit/>
          </a:bodyPr>
          <a:p>
            <a:pPr algn="l"/>
            <a:r>
              <a:rPr lang="ja-JP" sz="870" b="0" dirty="0">
                <a:solidFill>
                  <a:srgbClr val="1E40AF"/>
                </a:solidFill>
                <a:latin typeface="Arial"/>
                <a:cs typeface="Noto Sans CJK JP"/>
              </a:rPr>
              <a:t>経常収支比率（目標100%以上）</a:t>
            </a:r>
          </a:p>
        </p:txBody>
      </p:sp>
      <p:sp>
        <p:nvSpPr>
          <p:cNvPr id="17" name="cpr00"/>
          <p:cNvSpPr/>
          <p:nvPr/>
        </p:nvSpPr>
        <p:spPr>
          <a:xfrm>
            <a:off x="380000" y="2290000"/>
            <a:ext cx="3696960" cy="255000"/>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R7：90〜95%</a:t>
            </a:r>
          </a:p>
        </p:txBody>
      </p:sp>
      <p:sp>
        <p:nvSpPr>
          <p:cNvPr id="18" name="cpr01"/>
          <p:cNvSpPr/>
          <p:nvPr/>
        </p:nvSpPr>
        <p:spPr>
          <a:xfrm>
            <a:off x="380000" y="2565000"/>
            <a:ext cx="3696960" cy="255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R8：101〜103%</a:t>
            </a:r>
          </a:p>
        </p:txBody>
      </p:sp>
      <p:sp>
        <p:nvSpPr>
          <p:cNvPr id="19" name="cpr02"/>
          <p:cNvSpPr/>
          <p:nvPr/>
        </p:nvSpPr>
        <p:spPr>
          <a:xfrm>
            <a:off x="380000" y="2840000"/>
            <a:ext cx="3696960" cy="255000"/>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R9：105〜108%</a:t>
            </a:r>
          </a:p>
        </p:txBody>
      </p:sp>
      <p:sp>
        <p:nvSpPr>
          <p:cNvPr id="20" name="eh0"/>
          <p:cNvSpPr/>
          <p:nvPr/>
        </p:nvSpPr>
        <p:spPr>
          <a:xfrm>
            <a:off x="380000" y="3130000"/>
            <a:ext cx="3696960" cy="230000"/>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経費回収率（目標47%以上）</a:t>
            </a:r>
          </a:p>
        </p:txBody>
      </p:sp>
      <p:sp>
        <p:nvSpPr>
          <p:cNvPr id="21" name="epr00"/>
          <p:cNvSpPr/>
          <p:nvPr/>
        </p:nvSpPr>
        <p:spPr>
          <a:xfrm>
            <a:off x="380000" y="3390000"/>
            <a:ext cx="3696960" cy="255000"/>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R7：47%</a:t>
            </a:r>
          </a:p>
        </p:txBody>
      </p:sp>
      <p:sp>
        <p:nvSpPr>
          <p:cNvPr id="22" name="epr01"/>
          <p:cNvSpPr/>
          <p:nvPr/>
        </p:nvSpPr>
        <p:spPr>
          <a:xfrm>
            <a:off x="380000" y="3665000"/>
            <a:ext cx="3696960" cy="255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R8：58%</a:t>
            </a:r>
          </a:p>
        </p:txBody>
      </p:sp>
      <p:sp>
        <p:nvSpPr>
          <p:cNvPr id="23" name="epr02"/>
          <p:cNvSpPr/>
          <p:nvPr/>
        </p:nvSpPr>
        <p:spPr>
          <a:xfrm>
            <a:off x="380000" y="3940000"/>
            <a:ext cx="3696960" cy="255000"/>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R9：63%以上</a:t>
            </a:r>
          </a:p>
        </p:txBody>
      </p:sp>
      <p:sp>
        <p:nvSpPr>
          <p:cNvPr id="24" name="agr0"/>
          <p:cNvSpPr/>
          <p:nvPr/>
        </p:nvSpPr>
        <p:spPr>
          <a:xfrm>
            <a:off x="380000" y="4230000"/>
            <a:ext cx="3696960" cy="24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25" name="ach0"/>
          <p:cNvSpPr/>
          <p:nvPr/>
        </p:nvSpPr>
        <p:spPr>
          <a:xfrm>
            <a:off x="380000" y="4500000"/>
            <a:ext cx="3696960" cy="230000"/>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経費回収率（目標47%以上）</a:t>
            </a:r>
          </a:p>
        </p:txBody>
      </p:sp>
      <p:sp>
        <p:nvSpPr>
          <p:cNvPr id="26" name="ar00"/>
          <p:cNvSpPr/>
          <p:nvPr/>
        </p:nvSpPr>
        <p:spPr>
          <a:xfrm>
            <a:off x="380000" y="4760000"/>
            <a:ext cx="3696960" cy="255000"/>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R7：35%</a:t>
            </a:r>
          </a:p>
        </p:txBody>
      </p:sp>
      <p:sp>
        <p:nvSpPr>
          <p:cNvPr id="27" name="ar01"/>
          <p:cNvSpPr/>
          <p:nvPr/>
        </p:nvSpPr>
        <p:spPr>
          <a:xfrm>
            <a:off x="380000" y="5035000"/>
            <a:ext cx="3696960" cy="255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R8：47%</a:t>
            </a:r>
          </a:p>
        </p:txBody>
      </p:sp>
      <p:sp>
        <p:nvSpPr>
          <p:cNvPr id="28" name="ar02"/>
          <p:cNvSpPr/>
          <p:nvPr/>
        </p:nvSpPr>
        <p:spPr>
          <a:xfrm>
            <a:off x="380000" y="5310000"/>
            <a:ext cx="3696960" cy="255000"/>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R9：52%以上</a:t>
            </a:r>
          </a:p>
        </p:txBody>
      </p:sp>
      <p:sp>
        <p:nvSpPr>
          <p:cNvPr id="29" name="ph1"/>
          <p:cNvSpPr/>
          <p:nvPr/>
        </p:nvSpPr>
        <p:spPr>
          <a:xfrm>
            <a:off x="4146960" y="1430000"/>
            <a:ext cx="369696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1100" b="0" dirty="0">
                <a:solidFill>
                  <a:srgbClr val="FFFFFF"/>
                </a:solidFill>
                <a:latin typeface="Arial"/>
                <a:cs typeface="Noto Sans CJK JP"/>
              </a:rPr>
              <a:t>パターン②（家庭軽減型）</a:t>
            </a:r>
          </a:p>
        </p:txBody>
      </p:sp>
      <p:sp>
        <p:nvSpPr>
          <p:cNvPr id="30" name="pub1"/>
          <p:cNvSpPr/>
          <p:nvPr/>
        </p:nvSpPr>
        <p:spPr>
          <a:xfrm>
            <a:off x="4146960" y="1760000"/>
            <a:ext cx="3696960" cy="24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31" name="ch1"/>
          <p:cNvSpPr/>
          <p:nvPr/>
        </p:nvSpPr>
        <p:spPr>
          <a:xfrm>
            <a:off x="4146960" y="2030000"/>
            <a:ext cx="3696960" cy="230000"/>
          </a:xfrm>
          <a:custGeom>
            <a:avLst/>
            <a:gdLst/>
            <a:ahLst/>
            <a:rect l="l" t="t" r="r" b="b"/>
            <a:pathLst>
              <a:path w="21600" h="21600">
                <a:moveTo>
                  <a:pt x="0" y="0"/>
                </a:moveTo>
                <a:lnTo>
                  <a:pt x="21600" y="0"/>
                </a:lnTo>
                <a:lnTo>
                  <a:pt x="21600" y="21600"/>
                </a:lnTo>
                <a:lnTo>
                  <a:pt x="0" y="21600"/>
                </a:lnTo>
                <a:close/>
              </a:path>
            </a:pathLst>
          </a:custGeom>
          <a:solidFill>
            <a:srgbClr val="EFF6FF"/>
          </a:solidFill>
          <a:ln w="9525">
            <a:solidFill>
              <a:srgbClr val="BFDBFE"/>
            </a:solidFill>
          </a:ln>
        </p:spPr>
        <p:style>
          <a:lnRef idx="0"/>
          <a:fillRef idx="0"/>
          <a:effectRef idx="0"/>
          <a:fontRef idx="minor"/>
        </p:style>
        <p:txBody>
          <a:bodyPr tIns="45720" bIns="45720" lIns="60000" rIns="91440" anchor="ctr">
            <a:noAutofit/>
          </a:bodyPr>
          <a:p>
            <a:pPr algn="l"/>
            <a:r>
              <a:rPr lang="ja-JP" sz="870" b="0" dirty="0">
                <a:solidFill>
                  <a:srgbClr val="1E40AF"/>
                </a:solidFill>
                <a:latin typeface="Arial"/>
                <a:cs typeface="Noto Sans CJK JP"/>
              </a:rPr>
              <a:t>経常収支比率（目標100%以上）</a:t>
            </a:r>
          </a:p>
        </p:txBody>
      </p:sp>
      <p:sp>
        <p:nvSpPr>
          <p:cNvPr id="32" name="cpr10"/>
          <p:cNvSpPr/>
          <p:nvPr/>
        </p:nvSpPr>
        <p:spPr>
          <a:xfrm>
            <a:off x="4146960" y="2290000"/>
            <a:ext cx="3696960" cy="255000"/>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R7：90〜95%</a:t>
            </a:r>
          </a:p>
        </p:txBody>
      </p:sp>
      <p:sp>
        <p:nvSpPr>
          <p:cNvPr id="33" name="cpr11"/>
          <p:cNvSpPr/>
          <p:nvPr/>
        </p:nvSpPr>
        <p:spPr>
          <a:xfrm>
            <a:off x="4146960" y="2565000"/>
            <a:ext cx="3696960" cy="255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R8：100%前後</a:t>
            </a:r>
          </a:p>
        </p:txBody>
      </p:sp>
      <p:sp>
        <p:nvSpPr>
          <p:cNvPr id="34" name="cpr12"/>
          <p:cNvSpPr/>
          <p:nvPr/>
        </p:nvSpPr>
        <p:spPr>
          <a:xfrm>
            <a:off x="4146960" y="2840000"/>
            <a:ext cx="3696960" cy="255000"/>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R9：103〜105%</a:t>
            </a:r>
          </a:p>
        </p:txBody>
      </p:sp>
      <p:sp>
        <p:nvSpPr>
          <p:cNvPr id="35" name="eh1"/>
          <p:cNvSpPr/>
          <p:nvPr/>
        </p:nvSpPr>
        <p:spPr>
          <a:xfrm>
            <a:off x="4146960" y="3130000"/>
            <a:ext cx="3696960" cy="230000"/>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経費回収率（目標47%以上）</a:t>
            </a:r>
          </a:p>
        </p:txBody>
      </p:sp>
      <p:sp>
        <p:nvSpPr>
          <p:cNvPr id="36" name="epr10"/>
          <p:cNvSpPr/>
          <p:nvPr/>
        </p:nvSpPr>
        <p:spPr>
          <a:xfrm>
            <a:off x="4146960" y="3390000"/>
            <a:ext cx="3696960" cy="255000"/>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R7：47%</a:t>
            </a:r>
          </a:p>
        </p:txBody>
      </p:sp>
      <p:sp>
        <p:nvSpPr>
          <p:cNvPr id="37" name="epr11"/>
          <p:cNvSpPr/>
          <p:nvPr/>
        </p:nvSpPr>
        <p:spPr>
          <a:xfrm>
            <a:off x="4146960" y="3665000"/>
            <a:ext cx="3696960" cy="255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R8：55%</a:t>
            </a:r>
          </a:p>
        </p:txBody>
      </p:sp>
      <p:sp>
        <p:nvSpPr>
          <p:cNvPr id="38" name="epr12"/>
          <p:cNvSpPr/>
          <p:nvPr/>
        </p:nvSpPr>
        <p:spPr>
          <a:xfrm>
            <a:off x="4146960" y="3940000"/>
            <a:ext cx="3696960" cy="255000"/>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R9：60%以上</a:t>
            </a:r>
          </a:p>
        </p:txBody>
      </p:sp>
      <p:sp>
        <p:nvSpPr>
          <p:cNvPr id="39" name="agr1"/>
          <p:cNvSpPr/>
          <p:nvPr/>
        </p:nvSpPr>
        <p:spPr>
          <a:xfrm>
            <a:off x="4146960" y="4230000"/>
            <a:ext cx="3696960" cy="24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40" name="ach1"/>
          <p:cNvSpPr/>
          <p:nvPr/>
        </p:nvSpPr>
        <p:spPr>
          <a:xfrm>
            <a:off x="4146960" y="4500000"/>
            <a:ext cx="3696960" cy="230000"/>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経費回収率（目標47%以上）</a:t>
            </a:r>
          </a:p>
        </p:txBody>
      </p:sp>
      <p:sp>
        <p:nvSpPr>
          <p:cNvPr id="41" name="ar10"/>
          <p:cNvSpPr/>
          <p:nvPr/>
        </p:nvSpPr>
        <p:spPr>
          <a:xfrm>
            <a:off x="4146960" y="4760000"/>
            <a:ext cx="3696960" cy="255000"/>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R7：35%</a:t>
            </a:r>
          </a:p>
        </p:txBody>
      </p:sp>
      <p:sp>
        <p:nvSpPr>
          <p:cNvPr id="42" name="ar11"/>
          <p:cNvSpPr/>
          <p:nvPr/>
        </p:nvSpPr>
        <p:spPr>
          <a:xfrm>
            <a:off x="4146960" y="5035000"/>
            <a:ext cx="3696960" cy="255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R8：44%</a:t>
            </a:r>
          </a:p>
        </p:txBody>
      </p:sp>
      <p:sp>
        <p:nvSpPr>
          <p:cNvPr id="43" name="ar12"/>
          <p:cNvSpPr/>
          <p:nvPr/>
        </p:nvSpPr>
        <p:spPr>
          <a:xfrm>
            <a:off x="4146960" y="5310000"/>
            <a:ext cx="3696960" cy="255000"/>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R9：47%以上</a:t>
            </a:r>
          </a:p>
        </p:txBody>
      </p:sp>
      <p:sp>
        <p:nvSpPr>
          <p:cNvPr id="44" name="ph2"/>
          <p:cNvSpPr/>
          <p:nvPr/>
        </p:nvSpPr>
        <p:spPr>
          <a:xfrm>
            <a:off x="7913920" y="1430000"/>
            <a:ext cx="3696960" cy="30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45720" bIns="45720" lIns="91440" rIns="91440" anchor="ctr">
            <a:noAutofit/>
          </a:bodyPr>
          <a:p>
            <a:pPr algn="ctr"/>
            <a:r>
              <a:rPr lang="ja-JP" sz="1100" b="0" dirty="0">
                <a:solidFill>
                  <a:srgbClr val="FFFFFF"/>
                </a:solidFill>
                <a:latin typeface="Arial"/>
                <a:cs typeface="Noto Sans CJK JP"/>
              </a:rPr>
              <a:t>パターン④（段階累進型）</a:t>
            </a:r>
          </a:p>
        </p:txBody>
      </p:sp>
      <p:sp>
        <p:nvSpPr>
          <p:cNvPr id="45" name="pub2"/>
          <p:cNvSpPr/>
          <p:nvPr/>
        </p:nvSpPr>
        <p:spPr>
          <a:xfrm>
            <a:off x="7913920" y="1760000"/>
            <a:ext cx="3696960" cy="24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46" name="ch2"/>
          <p:cNvSpPr/>
          <p:nvPr/>
        </p:nvSpPr>
        <p:spPr>
          <a:xfrm>
            <a:off x="7913920" y="2030000"/>
            <a:ext cx="3696960" cy="230000"/>
          </a:xfrm>
          <a:custGeom>
            <a:avLst/>
            <a:gdLst/>
            <a:ahLst/>
            <a:rect l="l" t="t" r="r" b="b"/>
            <a:pathLst>
              <a:path w="21600" h="21600">
                <a:moveTo>
                  <a:pt x="0" y="0"/>
                </a:moveTo>
                <a:lnTo>
                  <a:pt x="21600" y="0"/>
                </a:lnTo>
                <a:lnTo>
                  <a:pt x="21600" y="21600"/>
                </a:lnTo>
                <a:lnTo>
                  <a:pt x="0" y="21600"/>
                </a:lnTo>
                <a:close/>
              </a:path>
            </a:pathLst>
          </a:custGeom>
          <a:solidFill>
            <a:srgbClr val="EFF6FF"/>
          </a:solidFill>
          <a:ln w="9525">
            <a:solidFill>
              <a:srgbClr val="BFDBFE"/>
            </a:solidFill>
          </a:ln>
        </p:spPr>
        <p:style>
          <a:lnRef idx="0"/>
          <a:fillRef idx="0"/>
          <a:effectRef idx="0"/>
          <a:fontRef idx="minor"/>
        </p:style>
        <p:txBody>
          <a:bodyPr tIns="45720" bIns="45720" lIns="60000" rIns="91440" anchor="ctr">
            <a:noAutofit/>
          </a:bodyPr>
          <a:p>
            <a:pPr algn="l"/>
            <a:r>
              <a:rPr lang="ja-JP" sz="870" b="0" dirty="0">
                <a:solidFill>
                  <a:srgbClr val="1E40AF"/>
                </a:solidFill>
                <a:latin typeface="Arial"/>
                <a:cs typeface="Noto Sans CJK JP"/>
              </a:rPr>
              <a:t>経常収支比率（目標100%以上）</a:t>
            </a:r>
          </a:p>
        </p:txBody>
      </p:sp>
      <p:sp>
        <p:nvSpPr>
          <p:cNvPr id="47" name="cpr20"/>
          <p:cNvSpPr/>
          <p:nvPr/>
        </p:nvSpPr>
        <p:spPr>
          <a:xfrm>
            <a:off x="7913920" y="2290000"/>
            <a:ext cx="3696960" cy="255000"/>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R7：90〜95%</a:t>
            </a:r>
          </a:p>
        </p:txBody>
      </p:sp>
      <p:sp>
        <p:nvSpPr>
          <p:cNvPr id="48" name="cpr21"/>
          <p:cNvSpPr/>
          <p:nvPr/>
        </p:nvSpPr>
        <p:spPr>
          <a:xfrm>
            <a:off x="7913920" y="2565000"/>
            <a:ext cx="3696960" cy="255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R8：100〜102%</a:t>
            </a:r>
          </a:p>
        </p:txBody>
      </p:sp>
      <p:sp>
        <p:nvSpPr>
          <p:cNvPr id="49" name="cpr22"/>
          <p:cNvSpPr/>
          <p:nvPr/>
        </p:nvSpPr>
        <p:spPr>
          <a:xfrm>
            <a:off x="7913920" y="2840000"/>
            <a:ext cx="3696960" cy="255000"/>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R9：104〜106%</a:t>
            </a:r>
          </a:p>
        </p:txBody>
      </p:sp>
      <p:sp>
        <p:nvSpPr>
          <p:cNvPr id="50" name="eh2"/>
          <p:cNvSpPr/>
          <p:nvPr/>
        </p:nvSpPr>
        <p:spPr>
          <a:xfrm>
            <a:off x="7913920" y="3130000"/>
            <a:ext cx="3696960" cy="230000"/>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経費回収率（目標47%以上）</a:t>
            </a:r>
          </a:p>
        </p:txBody>
      </p:sp>
      <p:sp>
        <p:nvSpPr>
          <p:cNvPr id="51" name="epr20"/>
          <p:cNvSpPr/>
          <p:nvPr/>
        </p:nvSpPr>
        <p:spPr>
          <a:xfrm>
            <a:off x="7913920" y="3390000"/>
            <a:ext cx="3696960" cy="255000"/>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R7：47%</a:t>
            </a:r>
          </a:p>
        </p:txBody>
      </p:sp>
      <p:sp>
        <p:nvSpPr>
          <p:cNvPr id="52" name="epr21"/>
          <p:cNvSpPr/>
          <p:nvPr/>
        </p:nvSpPr>
        <p:spPr>
          <a:xfrm>
            <a:off x="7913920" y="3665000"/>
            <a:ext cx="3696960" cy="255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R8：56%</a:t>
            </a:r>
          </a:p>
        </p:txBody>
      </p:sp>
      <p:sp>
        <p:nvSpPr>
          <p:cNvPr id="53" name="epr22"/>
          <p:cNvSpPr/>
          <p:nvPr/>
        </p:nvSpPr>
        <p:spPr>
          <a:xfrm>
            <a:off x="7913920" y="3940000"/>
            <a:ext cx="3696960" cy="255000"/>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R9：61%以上</a:t>
            </a:r>
          </a:p>
        </p:txBody>
      </p:sp>
      <p:sp>
        <p:nvSpPr>
          <p:cNvPr id="54" name="agr2"/>
          <p:cNvSpPr/>
          <p:nvPr/>
        </p:nvSpPr>
        <p:spPr>
          <a:xfrm>
            <a:off x="7913920" y="4230000"/>
            <a:ext cx="3696960" cy="24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55" name="ach2"/>
          <p:cNvSpPr/>
          <p:nvPr/>
        </p:nvSpPr>
        <p:spPr>
          <a:xfrm>
            <a:off x="7913920" y="4500000"/>
            <a:ext cx="3696960" cy="230000"/>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経費回収率（目標47%以上）</a:t>
            </a:r>
          </a:p>
        </p:txBody>
      </p:sp>
      <p:sp>
        <p:nvSpPr>
          <p:cNvPr id="56" name="ar20"/>
          <p:cNvSpPr/>
          <p:nvPr/>
        </p:nvSpPr>
        <p:spPr>
          <a:xfrm>
            <a:off x="7913920" y="4760000"/>
            <a:ext cx="3696960" cy="255000"/>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R7：35%</a:t>
            </a:r>
          </a:p>
        </p:txBody>
      </p:sp>
      <p:sp>
        <p:nvSpPr>
          <p:cNvPr id="57" name="ar21"/>
          <p:cNvSpPr/>
          <p:nvPr/>
        </p:nvSpPr>
        <p:spPr>
          <a:xfrm>
            <a:off x="7913920" y="5035000"/>
            <a:ext cx="3696960" cy="255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R8：45%</a:t>
            </a:r>
          </a:p>
        </p:txBody>
      </p:sp>
      <p:sp>
        <p:nvSpPr>
          <p:cNvPr id="58" name="ar22"/>
          <p:cNvSpPr/>
          <p:nvPr/>
        </p:nvSpPr>
        <p:spPr>
          <a:xfrm>
            <a:off x="7913920" y="5310000"/>
            <a:ext cx="3696960" cy="255000"/>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R9：48%以上</a:t>
            </a:r>
          </a:p>
        </p:txBody>
      </p:sp>
      <p:sp>
        <p:nvSpPr>
          <p:cNvPr id="59" name="note"/>
          <p:cNvSpPr/>
          <p:nvPr/>
        </p:nvSpPr>
        <p:spPr>
          <a:xfrm>
            <a:off x="380000" y="6090000"/>
            <a:ext cx="11431760" cy="420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fillRef idx="0"/>
          <a:effectRef idx="0"/>
          <a:fontRef idx="minor"/>
        </p:style>
        <p:txBody>
          <a:bodyPr tIns="45720" bIns="45720" lIns="182880" rIns="91440" anchor="ctr">
            <a:noAutofit/>
          </a:bodyPr>
          <a:p>
            <a:pPr algn="l"/>
            <a:r>
              <a:rPr lang="ja-JP" sz="1100" b="0" dirty="0">
                <a:solidFill>
                  <a:srgbClr val="78350F"/>
                </a:solidFill>
                <a:latin typeface="Arial"/>
                <a:cs typeface="Noto Sans CJK JP"/>
              </a:rPr>
              <a:t>▶ ①は早期目標達成・④はバランス型・②は少量世帯への配慮重視。いずれもR9には経常収支比率100%以上を達成できる見込みです。</a:t>
            </a:r>
          </a:p>
        </p:txBody>
      </p:sp>
      <p:sp>
        <p:nvSpPr>
          <p:cNvPr id="60" name="pgnum"/>
          <p:cNvSpPr/>
          <p:nvPr/>
        </p:nvSpPr>
        <p:spPr>
          <a:xfrm>
            <a:off x="286200" y="654336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使用料改定案の検討　01-3　改定率の妥当性評価</a:t>
            </a:r>
          </a:p>
        </p:txBody>
      </p:sp>
      <p:sp>
        <p:nvSpPr>
          <p:cNvPr id="16" name="ttl"/>
          <p:cNvSpPr/>
          <p:nvPr/>
        </p:nvSpPr>
        <p:spPr>
          <a:xfrm>
            <a:off x="819360" y="850000"/>
            <a:ext cx="8000000"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改定率の妥当性評価</a:t>
            </a:r>
          </a:p>
        </p:txBody>
      </p:sp>
      <p:sp>
        <p:nvSpPr>
          <p:cNvPr id="17" name="lh7"/>
          <p:cNvSpPr/>
          <p:nvPr/>
        </p:nvSpPr>
        <p:spPr>
          <a:xfrm>
            <a:off x="571680" y="1620000"/>
            <a:ext cx="54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青森県内自治体との比較（20㎥・税抜）</a:t>
            </a:r>
          </a:p>
        </p:txBody>
      </p:sp>
      <p:sp>
        <p:nvSpPr>
          <p:cNvPr id="18" name="cn0"/>
          <p:cNvSpPr/>
          <p:nvPr/>
        </p:nvSpPr>
        <p:spPr>
          <a:xfrm>
            <a:off x="571680" y="1970000"/>
            <a:ext cx="25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293B"/>
                </a:solidFill>
                <a:latin typeface="Noto Sans CJK JP"/>
                <a:cs typeface="Noto Sans CJK JP"/>
              </a:rPr>
              <a:t>六戸町（改定前）</a:t>
            </a:r>
          </a:p>
        </p:txBody>
      </p:sp>
      <p:sp>
        <p:nvSpPr>
          <p:cNvPr id="19" name="cp0"/>
          <p:cNvSpPr/>
          <p:nvPr/>
        </p:nvSpPr>
        <p:spPr>
          <a:xfrm>
            <a:off x="3171680" y="1970000"/>
            <a:ext cx="14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293B"/>
                </a:solidFill>
                <a:latin typeface="Arial"/>
                <a:cs typeface="Noto Sans CJK JP"/>
              </a:rPr>
              <a:t>2,200円</a:t>
            </a:r>
          </a:p>
        </p:txBody>
      </p:sp>
      <p:sp>
        <p:nvSpPr>
          <p:cNvPr id="20" name="cr0"/>
          <p:cNvSpPr/>
          <p:nvPr/>
        </p:nvSpPr>
        <p:spPr>
          <a:xfrm>
            <a:off x="4671680" y="1970000"/>
            <a:ext cx="7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293B"/>
                </a:solidFill>
                <a:latin typeface="Arial"/>
                <a:cs typeface="Noto Sans CJK JP"/>
              </a:rPr>
              <a:t>—</a:t>
            </a:r>
          </a:p>
        </p:txBody>
      </p:sp>
      <p:sp>
        <p:nvSpPr>
          <p:cNvPr id="21" name="cn1"/>
          <p:cNvSpPr/>
          <p:nvPr/>
        </p:nvSpPr>
        <p:spPr>
          <a:xfrm>
            <a:off x="571680" y="2430000"/>
            <a:ext cx="2500000" cy="43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1" dirty="0">
                <a:solidFill>
                  <a:srgbClr val="EF4444"/>
                </a:solidFill>
                <a:latin typeface="Noto Sans CJK JP"/>
                <a:cs typeface="Noto Sans CJK JP"/>
              </a:rPr>
              <a:t>六戸町（改定後・②）</a:t>
            </a:r>
          </a:p>
        </p:txBody>
      </p:sp>
      <p:sp>
        <p:nvSpPr>
          <p:cNvPr id="22" name="cp1"/>
          <p:cNvSpPr/>
          <p:nvPr/>
        </p:nvSpPr>
        <p:spPr>
          <a:xfrm>
            <a:off x="3171680" y="2430000"/>
            <a:ext cx="1400000" cy="43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EF4444"/>
                </a:solidFill>
                <a:latin typeface="Arial"/>
                <a:cs typeface="Noto Sans CJK JP"/>
              </a:rPr>
              <a:t>3,000円</a:t>
            </a:r>
          </a:p>
        </p:txBody>
      </p:sp>
      <p:sp>
        <p:nvSpPr>
          <p:cNvPr id="23" name="cr1"/>
          <p:cNvSpPr/>
          <p:nvPr/>
        </p:nvSpPr>
        <p:spPr>
          <a:xfrm>
            <a:off x="4671680" y="2430000"/>
            <a:ext cx="700000" cy="43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EF4444"/>
                </a:solidFill>
                <a:latin typeface="Arial"/>
                <a:cs typeface="Noto Sans CJK JP"/>
              </a:rPr>
              <a:t>＋36%</a:t>
            </a:r>
          </a:p>
        </p:txBody>
      </p:sp>
      <p:sp>
        <p:nvSpPr>
          <p:cNvPr id="24" name="cn2"/>
          <p:cNvSpPr/>
          <p:nvPr/>
        </p:nvSpPr>
        <p:spPr>
          <a:xfrm>
            <a:off x="571680" y="2890000"/>
            <a:ext cx="25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40AF"/>
                </a:solidFill>
                <a:latin typeface="Noto Sans CJK JP"/>
                <a:cs typeface="Noto Sans CJK JP"/>
              </a:rPr>
              <a:t>青森市</a:t>
            </a:r>
          </a:p>
        </p:txBody>
      </p:sp>
      <p:sp>
        <p:nvSpPr>
          <p:cNvPr id="25" name="cp2"/>
          <p:cNvSpPr/>
          <p:nvPr/>
        </p:nvSpPr>
        <p:spPr>
          <a:xfrm>
            <a:off x="3171680" y="2890000"/>
            <a:ext cx="14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40AF"/>
                </a:solidFill>
                <a:latin typeface="Arial"/>
                <a:cs typeface="Noto Sans CJK JP"/>
              </a:rPr>
              <a:t>3,050円</a:t>
            </a:r>
          </a:p>
        </p:txBody>
      </p:sp>
      <p:sp>
        <p:nvSpPr>
          <p:cNvPr id="26" name="cr2"/>
          <p:cNvSpPr/>
          <p:nvPr/>
        </p:nvSpPr>
        <p:spPr>
          <a:xfrm>
            <a:off x="4671680" y="2890000"/>
            <a:ext cx="7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40AF"/>
                </a:solidFill>
                <a:latin typeface="Arial"/>
                <a:cs typeface="Noto Sans CJK JP"/>
              </a:rPr>
              <a:t>—</a:t>
            </a:r>
          </a:p>
        </p:txBody>
      </p:sp>
      <p:sp>
        <p:nvSpPr>
          <p:cNvPr id="27" name="cn3"/>
          <p:cNvSpPr/>
          <p:nvPr/>
        </p:nvSpPr>
        <p:spPr>
          <a:xfrm>
            <a:off x="571680" y="3350000"/>
            <a:ext cx="2500000" cy="43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40AF"/>
                </a:solidFill>
                <a:latin typeface="Noto Sans CJK JP"/>
                <a:cs typeface="Noto Sans CJK JP"/>
              </a:rPr>
              <a:t>弘前市</a:t>
            </a:r>
          </a:p>
        </p:txBody>
      </p:sp>
      <p:sp>
        <p:nvSpPr>
          <p:cNvPr id="28" name="cp3"/>
          <p:cNvSpPr/>
          <p:nvPr/>
        </p:nvSpPr>
        <p:spPr>
          <a:xfrm>
            <a:off x="3171680" y="3350000"/>
            <a:ext cx="1400000" cy="43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40AF"/>
                </a:solidFill>
                <a:latin typeface="Arial"/>
                <a:cs typeface="Noto Sans CJK JP"/>
              </a:rPr>
              <a:t>2,900円</a:t>
            </a:r>
          </a:p>
        </p:txBody>
      </p:sp>
      <p:sp>
        <p:nvSpPr>
          <p:cNvPr id="29" name="cr3"/>
          <p:cNvSpPr/>
          <p:nvPr/>
        </p:nvSpPr>
        <p:spPr>
          <a:xfrm>
            <a:off x="4671680" y="3350000"/>
            <a:ext cx="700000" cy="43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40AF"/>
                </a:solidFill>
                <a:latin typeface="Arial"/>
                <a:cs typeface="Noto Sans CJK JP"/>
              </a:rPr>
              <a:t>—</a:t>
            </a:r>
          </a:p>
        </p:txBody>
      </p:sp>
      <p:sp>
        <p:nvSpPr>
          <p:cNvPr id="30" name="cn4"/>
          <p:cNvSpPr/>
          <p:nvPr/>
        </p:nvSpPr>
        <p:spPr>
          <a:xfrm>
            <a:off x="571680" y="3810000"/>
            <a:ext cx="25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64748B"/>
                </a:solidFill>
                <a:latin typeface="Noto Sans CJK JP"/>
                <a:cs typeface="Noto Sans CJK JP"/>
              </a:rPr>
              <a:t>県内平均</a:t>
            </a:r>
          </a:p>
        </p:txBody>
      </p:sp>
      <p:sp>
        <p:nvSpPr>
          <p:cNvPr id="31" name="cp4"/>
          <p:cNvSpPr/>
          <p:nvPr/>
        </p:nvSpPr>
        <p:spPr>
          <a:xfrm>
            <a:off x="3171680" y="3810000"/>
            <a:ext cx="14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64748B"/>
                </a:solidFill>
                <a:latin typeface="Arial"/>
                <a:cs typeface="Noto Sans CJK JP"/>
              </a:rPr>
              <a:t>2,950円</a:t>
            </a:r>
          </a:p>
        </p:txBody>
      </p:sp>
      <p:sp>
        <p:nvSpPr>
          <p:cNvPr id="32" name="cr4"/>
          <p:cNvSpPr/>
          <p:nvPr/>
        </p:nvSpPr>
        <p:spPr>
          <a:xfrm>
            <a:off x="4671680" y="3810000"/>
            <a:ext cx="7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64748B"/>
                </a:solidFill>
                <a:latin typeface="Arial"/>
                <a:cs typeface="Noto Sans CJK JP"/>
              </a:rPr>
              <a:t>—</a:t>
            </a:r>
          </a:p>
        </p:txBody>
      </p:sp>
      <p:sp>
        <p:nvSpPr>
          <p:cNvPr id="33" name="rh7"/>
          <p:cNvSpPr/>
          <p:nvPr/>
        </p:nvSpPr>
        <p:spPr>
          <a:xfrm>
            <a:off x="6471680" y="1620000"/>
            <a:ext cx="514932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住民負担指標</a:t>
            </a:r>
          </a:p>
        </p:txBody>
      </p:sp>
      <p:sp>
        <p:nvSpPr>
          <p:cNvPr id="34" name="bi0"/>
          <p:cNvSpPr/>
          <p:nvPr/>
        </p:nvSpPr>
        <p:spPr>
          <a:xfrm>
            <a:off x="6471680" y="1970000"/>
            <a:ext cx="3800000"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1" dirty="0">
                <a:solidFill>
                  <a:srgbClr val="1E293B"/>
                </a:solidFill>
                <a:latin typeface="Noto Sans CJK JP"/>
                <a:cs typeface="Noto Sans CJK JP"/>
              </a:rPr>
              <a:t>改定後月額（20㎥・税込）</a:t>
            </a:r>
          </a:p>
        </p:txBody>
      </p:sp>
      <p:sp>
        <p:nvSpPr>
          <p:cNvPr id="35" name="bv0"/>
          <p:cNvSpPr/>
          <p:nvPr/>
        </p:nvSpPr>
        <p:spPr>
          <a:xfrm>
            <a:off x="10371680" y="1970000"/>
            <a:ext cx="1849320"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C2410C"/>
                </a:solidFill>
                <a:latin typeface="Arial"/>
                <a:cs typeface="Noto Sans CJK JP"/>
              </a:rPr>
              <a:t>3,300円</a:t>
            </a:r>
          </a:p>
        </p:txBody>
      </p:sp>
      <p:sp>
        <p:nvSpPr>
          <p:cNvPr id="36" name="bi1"/>
          <p:cNvSpPr/>
          <p:nvPr/>
        </p:nvSpPr>
        <p:spPr>
          <a:xfrm>
            <a:off x="6471680" y="2430000"/>
            <a:ext cx="3800000"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1" dirty="0">
                <a:solidFill>
                  <a:srgbClr val="1E293B"/>
                </a:solidFill>
                <a:latin typeface="Noto Sans CJK JP"/>
                <a:cs typeface="Noto Sans CJK JP"/>
              </a:rPr>
              <a:t>年間負担増加額</a:t>
            </a:r>
          </a:p>
        </p:txBody>
      </p:sp>
      <p:sp>
        <p:nvSpPr>
          <p:cNvPr id="37" name="bv1"/>
          <p:cNvSpPr/>
          <p:nvPr/>
        </p:nvSpPr>
        <p:spPr>
          <a:xfrm>
            <a:off x="10371680" y="2430000"/>
            <a:ext cx="1849320"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EF4444"/>
                </a:solidFill>
                <a:latin typeface="Arial"/>
                <a:cs typeface="Noto Sans CJK JP"/>
              </a:rPr>
              <a:t>＋10,560円/年</a:t>
            </a:r>
          </a:p>
        </p:txBody>
      </p:sp>
      <p:sp>
        <p:nvSpPr>
          <p:cNvPr id="38" name="bi2"/>
          <p:cNvSpPr/>
          <p:nvPr/>
        </p:nvSpPr>
        <p:spPr>
          <a:xfrm>
            <a:off x="6471680" y="2890000"/>
            <a:ext cx="38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293B"/>
                </a:solidFill>
                <a:latin typeface="Noto Sans CJK JP"/>
                <a:cs typeface="Noto Sans CJK JP"/>
              </a:rPr>
              <a:t>1日あたり負担増</a:t>
            </a:r>
          </a:p>
        </p:txBody>
      </p:sp>
      <p:sp>
        <p:nvSpPr>
          <p:cNvPr id="39" name="bv2"/>
          <p:cNvSpPr/>
          <p:nvPr/>
        </p:nvSpPr>
        <p:spPr>
          <a:xfrm>
            <a:off x="10371680" y="2890000"/>
            <a:ext cx="184932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293B"/>
                </a:solidFill>
                <a:latin typeface="Arial"/>
                <a:cs typeface="Noto Sans CJK JP"/>
              </a:rPr>
              <a:t>約29円</a:t>
            </a:r>
          </a:p>
        </p:txBody>
      </p:sp>
      <p:sp>
        <p:nvSpPr>
          <p:cNvPr id="40" name="bi3"/>
          <p:cNvSpPr/>
          <p:nvPr/>
        </p:nvSpPr>
        <p:spPr>
          <a:xfrm>
            <a:off x="6471680" y="3350000"/>
            <a:ext cx="38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293B"/>
                </a:solidFill>
                <a:latin typeface="Noto Sans CJK JP"/>
                <a:cs typeface="Noto Sans CJK JP"/>
              </a:rPr>
              <a:t>六戸町平均月収比</a:t>
            </a:r>
          </a:p>
        </p:txBody>
      </p:sp>
      <p:sp>
        <p:nvSpPr>
          <p:cNvPr id="41" name="bv3"/>
          <p:cNvSpPr/>
          <p:nvPr/>
        </p:nvSpPr>
        <p:spPr>
          <a:xfrm>
            <a:off x="10371680" y="3350000"/>
            <a:ext cx="184932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66534"/>
                </a:solidFill>
                <a:latin typeface="Arial"/>
                <a:cs typeface="Noto Sans CJK JP"/>
              </a:rPr>
              <a:t>約0.08%の増加</a:t>
            </a:r>
          </a:p>
        </p:txBody>
      </p:sp>
      <p:sp>
        <p:nvSpPr>
          <p:cNvPr id="42" name="bi4"/>
          <p:cNvSpPr/>
          <p:nvPr/>
        </p:nvSpPr>
        <p:spPr>
          <a:xfrm>
            <a:off x="6471680" y="3810000"/>
            <a:ext cx="38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293B"/>
                </a:solidFill>
                <a:latin typeface="Noto Sans CJK JP"/>
                <a:cs typeface="Noto Sans CJK JP"/>
              </a:rPr>
              <a:t>類似自治体との比較</a:t>
            </a:r>
          </a:p>
        </p:txBody>
      </p:sp>
      <p:sp>
        <p:nvSpPr>
          <p:cNvPr id="43" name="bv4"/>
          <p:cNvSpPr/>
          <p:nvPr/>
        </p:nvSpPr>
        <p:spPr>
          <a:xfrm>
            <a:off x="10371680" y="3810000"/>
            <a:ext cx="184932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40AF"/>
                </a:solidFill>
                <a:latin typeface="Arial"/>
                <a:cs typeface="Noto Sans CJK JP"/>
              </a:rPr>
              <a:t>ほぼ同水準</a:t>
            </a:r>
          </a:p>
        </p:txBody>
      </p:sp>
      <p:sp>
        <p:nvSpPr>
          <p:cNvPr id="44" name="eval7"/>
          <p:cNvSpPr/>
          <p:nvPr/>
        </p:nvSpPr>
        <p:spPr>
          <a:xfrm>
            <a:off x="571680" y="4680000"/>
            <a:ext cx="11048400" cy="43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300" b="0" dirty="0">
                <a:solidFill>
                  <a:srgbClr val="78350F"/>
                </a:solidFill>
                <a:latin typeface="Noto Sans CJK JP"/>
                <a:cs typeface="Noto Sans CJK JP"/>
              </a:rPr>
              <a:t>▶ 改定後の水準は青森県内平均と同水準。1日あたりの負担増は約29円で住民への影響は許容範囲内と評価されます。</a:t>
            </a:r>
          </a:p>
        </p:txBody>
      </p:sp>
      <p:sp>
        <p:nvSpPr>
          <p:cNvPr id="45"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sec_panel"/>
          <p:cNvSpPr/>
          <p:nvPr/>
        </p:nvSpPr>
        <p:spPr>
          <a:xfrm>
            <a:off x="0" y="0"/>
            <a:ext cx="3200000" cy="6858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sec_num"/>
          <p:cNvSpPr/>
          <p:nvPr/>
        </p:nvSpPr>
        <p:spPr>
          <a:xfrm>
            <a:off x="200000" y="2000000"/>
            <a:ext cx="2800000" cy="18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0" b="0" dirty="0">
                <a:solidFill>
                  <a:srgbClr val="FFFFFF"/>
                </a:solidFill>
                <a:latin typeface="Arial"/>
                <a:cs typeface="Noto Sans CJK JP"/>
              </a:rPr>
              <a:t>02</a:t>
            </a:r>
          </a:p>
        </p:txBody>
      </p:sp>
      <p:sp>
        <p:nvSpPr>
          <p:cNvPr id="22" name="sec_lbl"/>
          <p:cNvSpPr/>
          <p:nvPr/>
        </p:nvSpPr>
        <p:spPr>
          <a:xfrm>
            <a:off x="200000" y="3850000"/>
            <a:ext cx="28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800" b="0" dirty="0">
                <a:solidFill>
                  <a:srgbClr val="FFFFFF"/>
                </a:solidFill>
                <a:latin typeface="Noto Sans CJK JP"/>
                <a:cs typeface="Noto Sans CJK JP"/>
              </a:rPr>
              <a:t>SECTION</a:t>
            </a:r>
          </a:p>
        </p:txBody>
      </p:sp>
      <p:sp>
        <p:nvSpPr>
          <p:cNvPr id="23" name="right_bg"/>
          <p:cNvSpPr/>
          <p:nvPr/>
        </p:nvSpPr>
        <p:spPr>
          <a:xfrm>
            <a:off x="3200000" y="0"/>
            <a:ext cx="8991760" cy="6858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sub_lbl"/>
          <p:cNvSpPr/>
          <p:nvPr/>
        </p:nvSpPr>
        <p:spPr>
          <a:xfrm>
            <a:off x="3600000" y="1200000"/>
            <a:ext cx="3000000" cy="3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1600" b="0" dirty="0">
                <a:solidFill>
                  <a:srgbClr val="1E3A8A"/>
                </a:solidFill>
                <a:latin typeface="Noto Sans CJK JP"/>
                <a:cs typeface="Noto Sans CJK JP"/>
              </a:rPr>
              <a:t>下水道事業</a:t>
            </a:r>
          </a:p>
        </p:txBody>
      </p:sp>
      <p:sp>
        <p:nvSpPr>
          <p:cNvPr id="25" name="main_ttl"/>
          <p:cNvSpPr/>
          <p:nvPr/>
        </p:nvSpPr>
        <p:spPr>
          <a:xfrm>
            <a:off x="3600000" y="1640000"/>
            <a:ext cx="8400000" cy="12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0" dirty="0">
                <a:solidFill>
                  <a:srgbClr val="1E293B"/>
                </a:solidFill>
                <a:latin typeface="Arial"/>
                <a:cs typeface="Noto Sans CJK JP"/>
              </a:rPr>
              <a:t>段階的値上げの検討</a:t>
            </a:r>
          </a:p>
        </p:txBody>
      </p:sp>
      <p:sp>
        <p:nvSpPr>
          <p:cNvPr id="26" name="acc_line"/>
          <p:cNvSpPr/>
          <p:nvPr/>
        </p:nvSpPr>
        <p:spPr>
          <a:xfrm>
            <a:off x="3600000" y="2880000"/>
            <a:ext cx="600000" cy="38520"/>
          </a:xfrm>
          <a:custGeom>
            <a:avLst/>
            <a:gdLst/>
            <a:ahLst/>
            <a:cxnLst/>
            <a:rect l="l" t="t" r="r" b="b"/>
            <a:pathLst>
              <a:path w="21600" h="21600">
                <a:moveTo>
                  <a:pt x="0" y="0"/>
                </a:moveTo>
                <a:lnTo>
                  <a:pt x="21600" y="0"/>
                </a:lnTo>
                <a:lnTo>
                  <a:pt x="21600" y="21600"/>
                </a:lnTo>
                <a:lnTo>
                  <a:pt x="0" y="21600"/>
                </a:lnTo>
                <a:close/>
              </a:path>
            </a:pathLst>
          </a:custGeom>
          <a:solidFill>
            <a:srgbClr val="3B82F6"/>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7" name="desc"/>
          <p:cNvSpPr/>
          <p:nvPr/>
        </p:nvSpPr>
        <p:spPr>
          <a:xfrm>
            <a:off x="3600000" y="3080000"/>
            <a:ext cx="8200000" cy="24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45720" anchor="ctr">
            <a:noAutofit/>
          </a:bodyPr>
          <a:lstStyle/>
          <a:p>
            <a:pPr algn="l"/>
            <a:r>
              <a:rPr lang="ja-JP" sz="2200" b="0" dirty="0">
                <a:solidFill>
                  <a:srgbClr val="475569"/>
                </a:solidFill>
                <a:latin typeface="Noto Sans CJK JP"/>
                <a:cs typeface="Noto Sans CJK JP"/>
              </a:rPr>
              <a:t>本章では、2か年・3か年の改定方式の比較、段階単価一覧の確認、および推奨ロードマップ案を整理します。</a:t>
            </a:r>
          </a:p>
        </p:txBody>
      </p:sp>
      <p:sp>
        <p:nvSpPr>
          <p:cNvPr id="28" name="pgnum"/>
          <p:cNvSpPr/>
          <p:nvPr/>
        </p:nvSpPr>
        <p:spPr>
          <a:xfrm>
            <a:off x="11200000" y="657000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lIns="0" tIns="0" rIns="0" bIns="0" anchor="ctr">
            <a:noAutofit/>
          </a:bodyPr>
          <a:lstStyle/>
          <a:p>
            <a:pPr algn="ctr"/>
            <a:r>
              <a:rPr lang="ja-JP" sz="900" b="1" dirty="0">
                <a:solidFill>
                  <a:srgbClr val="FFFFFF"/>
                </a:solidFill>
                <a:latin typeface="Arial"/>
                <a:cs typeface="Noto Sans CJK JP"/>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段階的値上げの検討　02-1　改定年数の選択（論点整理）</a:t>
            </a:r>
          </a:p>
        </p:txBody>
      </p:sp>
      <p:sp>
        <p:nvSpPr>
          <p:cNvPr id="16" name="ttl"/>
          <p:cNvSpPr/>
          <p:nvPr/>
        </p:nvSpPr>
        <p:spPr>
          <a:xfrm>
            <a:off x="819360" y="850000"/>
            <a:ext cx="8000000"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2か年改定 vs 3か年改定　論点整理</a:t>
            </a:r>
          </a:p>
        </p:txBody>
      </p:sp>
      <p:sp>
        <p:nvSpPr>
          <p:cNvPr id="17" name="ch0"/>
          <p:cNvSpPr/>
          <p:nvPr/>
        </p:nvSpPr>
        <p:spPr>
          <a:xfrm>
            <a:off x="571680" y="16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500" b="0" dirty="0">
                <a:solidFill>
                  <a:srgbClr val="FFFFFF"/>
                </a:solidFill>
                <a:latin typeface="Noto Sans CJK JP"/>
                <a:cs typeface="Noto Sans CJK JP"/>
              </a:rPr>
              <a:t>2か年改定</a:t>
            </a:r>
          </a:p>
        </p:txBody>
      </p:sp>
      <p:sp>
        <p:nvSpPr>
          <p:cNvPr id="18" name="cs0"/>
          <p:cNvSpPr/>
          <p:nvPr/>
        </p:nvSpPr>
        <p:spPr>
          <a:xfrm>
            <a:off x="571680" y="2000000"/>
            <a:ext cx="5500000" cy="24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000" b="0" dirty="0">
                <a:solidFill>
                  <a:srgbClr val="1D4ED8"/>
                </a:solidFill>
                <a:latin typeface="Noto Sans CJK JP"/>
                <a:cs typeface="Noto Sans CJK JP"/>
              </a:rPr>
              <a:t>改定スケジュール：R8：中間単価 → R9：最終単価</a:t>
            </a:r>
          </a:p>
        </p:txBody>
      </p:sp>
      <p:sp>
        <p:nvSpPr>
          <p:cNvPr id="19" name="ph0"/>
          <p:cNvSpPr/>
          <p:nvPr/>
        </p:nvSpPr>
        <p:spPr>
          <a:xfrm>
            <a:off x="571680" y="229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メリット</a:t>
            </a:r>
          </a:p>
        </p:txBody>
      </p:sp>
      <p:sp>
        <p:nvSpPr>
          <p:cNvPr id="20" name="p00"/>
          <p:cNvSpPr/>
          <p:nvPr/>
        </p:nvSpPr>
        <p:spPr>
          <a:xfrm>
            <a:off x="571680" y="260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早期に財政健全化目標を達成</a:t>
            </a:r>
          </a:p>
        </p:txBody>
      </p:sp>
      <p:sp>
        <p:nvSpPr>
          <p:cNvPr id="21" name="p01"/>
          <p:cNvSpPr/>
          <p:nvPr/>
        </p:nvSpPr>
        <p:spPr>
          <a:xfrm>
            <a:off x="571680" y="296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収入確保の確実性が高い</a:t>
            </a:r>
          </a:p>
        </p:txBody>
      </p:sp>
      <p:sp>
        <p:nvSpPr>
          <p:cNvPr id="22" name="p02"/>
          <p:cNvSpPr/>
          <p:nvPr/>
        </p:nvSpPr>
        <p:spPr>
          <a:xfrm>
            <a:off x="571680" y="33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行政手続きがシンプル</a:t>
            </a:r>
          </a:p>
        </p:txBody>
      </p:sp>
      <p:sp>
        <p:nvSpPr>
          <p:cNvPr id="23" name="mh0"/>
          <p:cNvSpPr/>
          <p:nvPr/>
        </p:nvSpPr>
        <p:spPr>
          <a:xfrm>
            <a:off x="571680" y="370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デメリット</a:t>
            </a:r>
          </a:p>
        </p:txBody>
      </p:sp>
      <p:sp>
        <p:nvSpPr>
          <p:cNvPr id="24" name="m00"/>
          <p:cNvSpPr/>
          <p:nvPr/>
        </p:nvSpPr>
        <p:spPr>
          <a:xfrm>
            <a:off x="571680" y="401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1回の値上げ幅が大きい（基本料+200円）</a:t>
            </a:r>
          </a:p>
        </p:txBody>
      </p:sp>
      <p:sp>
        <p:nvSpPr>
          <p:cNvPr id="25" name="m01"/>
          <p:cNvSpPr/>
          <p:nvPr/>
        </p:nvSpPr>
        <p:spPr>
          <a:xfrm>
            <a:off x="571680" y="437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住民への急激な負担増加</a:t>
            </a:r>
          </a:p>
        </p:txBody>
      </p:sp>
      <p:sp>
        <p:nvSpPr>
          <p:cNvPr id="26" name="ch1"/>
          <p:cNvSpPr/>
          <p:nvPr/>
        </p:nvSpPr>
        <p:spPr>
          <a:xfrm>
            <a:off x="6271680" y="16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EA580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500" b="0" dirty="0">
                <a:solidFill>
                  <a:srgbClr val="FFFFFF"/>
                </a:solidFill>
                <a:latin typeface="Noto Sans CJK JP"/>
                <a:cs typeface="Noto Sans CJK JP"/>
              </a:rPr>
              <a:t>3か年改定</a:t>
            </a:r>
          </a:p>
        </p:txBody>
      </p:sp>
      <p:sp>
        <p:nvSpPr>
          <p:cNvPr id="27" name="cs1"/>
          <p:cNvSpPr/>
          <p:nvPr/>
        </p:nvSpPr>
        <p:spPr>
          <a:xfrm>
            <a:off x="6271680" y="2000000"/>
            <a:ext cx="5500000" cy="24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000" b="0" dirty="0">
                <a:solidFill>
                  <a:srgbClr val="EA580C"/>
                </a:solidFill>
                <a:latin typeface="Noto Sans CJK JP"/>
                <a:cs typeface="Noto Sans CJK JP"/>
              </a:rPr>
              <a:t>改定スケジュール：R8：第1段 → R9：第2段 → R10：最終</a:t>
            </a:r>
          </a:p>
        </p:txBody>
      </p:sp>
      <p:sp>
        <p:nvSpPr>
          <p:cNvPr id="28" name="ph1"/>
          <p:cNvSpPr/>
          <p:nvPr/>
        </p:nvSpPr>
        <p:spPr>
          <a:xfrm>
            <a:off x="6271680" y="229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メリット</a:t>
            </a:r>
          </a:p>
        </p:txBody>
      </p:sp>
      <p:sp>
        <p:nvSpPr>
          <p:cNvPr id="29" name="p10"/>
          <p:cNvSpPr/>
          <p:nvPr/>
        </p:nvSpPr>
        <p:spPr>
          <a:xfrm>
            <a:off x="6271680" y="260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住民負担を3段階に平準化</a:t>
            </a:r>
          </a:p>
        </p:txBody>
      </p:sp>
      <p:sp>
        <p:nvSpPr>
          <p:cNvPr id="30" name="p11"/>
          <p:cNvSpPr/>
          <p:nvPr/>
        </p:nvSpPr>
        <p:spPr>
          <a:xfrm>
            <a:off x="6271680" y="296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各段階の値上げ幅が小さく説明容易</a:t>
            </a:r>
          </a:p>
        </p:txBody>
      </p:sp>
      <p:sp>
        <p:nvSpPr>
          <p:cNvPr id="31" name="p12"/>
          <p:cNvSpPr/>
          <p:nvPr/>
        </p:nvSpPr>
        <p:spPr>
          <a:xfrm>
            <a:off x="6271680" y="33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柔軟な段階適正化が可能</a:t>
            </a:r>
          </a:p>
        </p:txBody>
      </p:sp>
      <p:sp>
        <p:nvSpPr>
          <p:cNvPr id="32" name="mh1"/>
          <p:cNvSpPr/>
          <p:nvPr/>
        </p:nvSpPr>
        <p:spPr>
          <a:xfrm>
            <a:off x="6271680" y="370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デメリット</a:t>
            </a:r>
          </a:p>
        </p:txBody>
      </p:sp>
      <p:sp>
        <p:nvSpPr>
          <p:cNvPr id="33" name="m10"/>
          <p:cNvSpPr/>
          <p:nvPr/>
        </p:nvSpPr>
        <p:spPr>
          <a:xfrm>
            <a:off x="6271680" y="401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目標達成がR10まで遅延</a:t>
            </a:r>
          </a:p>
        </p:txBody>
      </p:sp>
      <p:sp>
        <p:nvSpPr>
          <p:cNvPr id="34" name="m11"/>
          <p:cNvSpPr/>
          <p:nvPr/>
        </p:nvSpPr>
        <p:spPr>
          <a:xfrm>
            <a:off x="6271680" y="437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改定・告示作業が複数回必要</a:t>
            </a:r>
          </a:p>
        </p:txBody>
      </p:sp>
      <p:sp>
        <p:nvSpPr>
          <p:cNvPr id="35" name="rec9"/>
          <p:cNvSpPr/>
          <p:nvPr/>
        </p:nvSpPr>
        <p:spPr>
          <a:xfrm>
            <a:off x="571680" y="4930000"/>
            <a:ext cx="11048400" cy="4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300" b="0" dirty="0">
                <a:solidFill>
                  <a:srgbClr val="78350F"/>
                </a:solidFill>
                <a:latin typeface="Noto Sans CJK JP"/>
                <a:cs typeface="Noto Sans CJK JP"/>
              </a:rPr>
              <a:t>▶ 審議ポイント：住民負担の平準化と財政健全化の早期達成のバランスについて審議をお願いします。</a:t>
            </a:r>
          </a:p>
        </p:txBody>
      </p:sp>
      <p:sp>
        <p:nvSpPr>
          <p:cNvPr id="36"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段階的値上げの検討　02-2　段階単価一覧（パターン②・税抜き・円）</a:t>
            </a:r>
          </a:p>
        </p:txBody>
      </p:sp>
      <p:sp>
        <p:nvSpPr>
          <p:cNvPr id="16" name="ttl"/>
          <p:cNvSpPr/>
          <p:nvPr/>
        </p:nvSpPr>
        <p:spPr>
          <a:xfrm>
            <a:off x="819360" y="850000"/>
            <a:ext cx="8000000"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推奨案（パターン②）の段階単価一覧</a:t>
            </a:r>
          </a:p>
        </p:txBody>
      </p:sp>
      <p:sp>
        <p:nvSpPr>
          <p:cNvPr id="17" name="g2yr"/>
          <p:cNvSpPr/>
          <p:nvPr/>
        </p:nvSpPr>
        <p:spPr>
          <a:xfrm>
            <a:off x="4221680" y="1620000"/>
            <a:ext cx="2800000" cy="230000"/>
          </a:xfrm>
          <a:custGeom>
            <a:avLst/>
            <a:gdLst/>
            <a:ahLst/>
            <a:cxnLst/>
            <a:rect l="l" t="t" r="r" b="b"/>
            <a:pathLst>
              <a:path w="21600" h="21600">
                <a:moveTo>
                  <a:pt x="0" y="0"/>
                </a:moveTo>
                <a:lnTo>
                  <a:pt x="21600" y="0"/>
                </a:lnTo>
                <a:lnTo>
                  <a:pt x="21600" y="21600"/>
                </a:lnTo>
                <a:lnTo>
                  <a:pt x="0" y="21600"/>
                </a:lnTo>
                <a:close/>
              </a:path>
            </a:pathLst>
          </a:custGeom>
          <a:solidFill>
            <a:srgbClr val="2563EB"/>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 2か年改定</a:t>
            </a:r>
          </a:p>
        </p:txBody>
      </p:sp>
      <p:sp>
        <p:nvSpPr>
          <p:cNvPr id="18" name="g3yr"/>
          <p:cNvSpPr/>
          <p:nvPr/>
        </p:nvSpPr>
        <p:spPr>
          <a:xfrm>
            <a:off x="7621680" y="1620000"/>
            <a:ext cx="4369320" cy="230000"/>
          </a:xfrm>
          <a:custGeom>
            <a:avLst/>
            <a:gdLst/>
            <a:ahLst/>
            <a:cxnLst/>
            <a:rect l="l" t="t" r="r" b="b"/>
            <a:pathLst>
              <a:path w="21600" h="21600">
                <a:moveTo>
                  <a:pt x="0" y="0"/>
                </a:moveTo>
                <a:lnTo>
                  <a:pt x="21600" y="0"/>
                </a:lnTo>
                <a:lnTo>
                  <a:pt x="21600" y="21600"/>
                </a:lnTo>
                <a:lnTo>
                  <a:pt x="0" y="21600"/>
                </a:lnTo>
                <a:close/>
              </a:path>
            </a:pathLst>
          </a:custGeom>
          <a:solidFill>
            <a:srgbClr val="EA580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 3か年改定</a:t>
            </a:r>
          </a:p>
        </p:txBody>
      </p:sp>
      <p:sp>
        <p:nvSpPr>
          <p:cNvPr id="19" name="th"/>
          <p:cNvSpPr/>
          <p:nvPr/>
        </p:nvSpPr>
        <p:spPr>
          <a:xfrm>
            <a:off x="571680" y="1880000"/>
            <a:ext cx="20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水量区分</a:t>
            </a:r>
          </a:p>
        </p:txBody>
      </p:sp>
      <p:sp>
        <p:nvSpPr>
          <p:cNvPr id="20" name="th"/>
          <p:cNvSpPr/>
          <p:nvPr/>
        </p:nvSpPr>
        <p:spPr>
          <a:xfrm>
            <a:off x="2771680" y="1880000"/>
            <a:ext cx="1250000" cy="290000"/>
          </a:xfrm>
          <a:custGeom>
            <a:avLst/>
            <a:gdLst/>
            <a:ahLst/>
            <a:cxnLst/>
            <a:rect l="l" t="t" r="r" b="b"/>
            <a:pathLst>
              <a:path w="21600" h="21600">
                <a:moveTo>
                  <a:pt x="0" y="0"/>
                </a:moveTo>
                <a:lnTo>
                  <a:pt x="21600" y="0"/>
                </a:lnTo>
                <a:lnTo>
                  <a:pt x="21600" y="21600"/>
                </a:lnTo>
                <a:lnTo>
                  <a:pt x="0" y="21600"/>
                </a:lnTo>
                <a:close/>
              </a:path>
            </a:pathLst>
          </a:custGeom>
          <a:solidFill>
            <a:srgbClr val="47556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現行</a:t>
            </a:r>
          </a:p>
        </p:txBody>
      </p:sp>
      <p:sp>
        <p:nvSpPr>
          <p:cNvPr id="21" name="th"/>
          <p:cNvSpPr/>
          <p:nvPr/>
        </p:nvSpPr>
        <p:spPr>
          <a:xfrm>
            <a:off x="4221680" y="1880000"/>
            <a:ext cx="1450000" cy="29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R8 中間</a:t>
            </a:r>
          </a:p>
        </p:txBody>
      </p:sp>
      <p:sp>
        <p:nvSpPr>
          <p:cNvPr id="22" name="th"/>
          <p:cNvSpPr/>
          <p:nvPr/>
        </p:nvSpPr>
        <p:spPr>
          <a:xfrm>
            <a:off x="5871680" y="1880000"/>
            <a:ext cx="1550000" cy="29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R9 最終
（2か年）</a:t>
            </a:r>
          </a:p>
        </p:txBody>
      </p:sp>
      <p:sp>
        <p:nvSpPr>
          <p:cNvPr id="23" name="th"/>
          <p:cNvSpPr/>
          <p:nvPr/>
        </p:nvSpPr>
        <p:spPr>
          <a:xfrm>
            <a:off x="7621680" y="1880000"/>
            <a:ext cx="1450000" cy="290000"/>
          </a:xfrm>
          <a:custGeom>
            <a:avLst/>
            <a:gdLst/>
            <a:ahLst/>
            <a:cxnLst/>
            <a:rect l="l" t="t" r="r" b="b"/>
            <a:pathLst>
              <a:path w="21600" h="21600">
                <a:moveTo>
                  <a:pt x="0" y="0"/>
                </a:moveTo>
                <a:lnTo>
                  <a:pt x="21600" y="0"/>
                </a:lnTo>
                <a:lnTo>
                  <a:pt x="21600" y="21600"/>
                </a:lnTo>
                <a:lnTo>
                  <a:pt x="0" y="21600"/>
                </a:lnTo>
                <a:close/>
              </a:path>
            </a:pathLst>
          </a:custGeom>
          <a:solidFill>
            <a:srgbClr val="B4530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R8 第1段</a:t>
            </a:r>
          </a:p>
        </p:txBody>
      </p:sp>
      <p:sp>
        <p:nvSpPr>
          <p:cNvPr id="24" name="th"/>
          <p:cNvSpPr/>
          <p:nvPr/>
        </p:nvSpPr>
        <p:spPr>
          <a:xfrm>
            <a:off x="9271680" y="1880000"/>
            <a:ext cx="1450000" cy="290000"/>
          </a:xfrm>
          <a:custGeom>
            <a:avLst/>
            <a:gdLst/>
            <a:ahLst/>
            <a:cxnLst/>
            <a:rect l="l" t="t" r="r" b="b"/>
            <a:pathLst>
              <a:path w="21600" h="21600">
                <a:moveTo>
                  <a:pt x="0" y="0"/>
                </a:moveTo>
                <a:lnTo>
                  <a:pt x="21600" y="0"/>
                </a:lnTo>
                <a:lnTo>
                  <a:pt x="21600" y="21600"/>
                </a:lnTo>
                <a:lnTo>
                  <a:pt x="0" y="21600"/>
                </a:lnTo>
                <a:close/>
              </a:path>
            </a:pathLst>
          </a:custGeom>
          <a:solidFill>
            <a:srgbClr val="B4530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R9 第2段</a:t>
            </a:r>
          </a:p>
        </p:txBody>
      </p:sp>
      <p:sp>
        <p:nvSpPr>
          <p:cNvPr id="25" name="th"/>
          <p:cNvSpPr/>
          <p:nvPr/>
        </p:nvSpPr>
        <p:spPr>
          <a:xfrm>
            <a:off x="10921680" y="1880000"/>
            <a:ext cx="1069320" cy="290000"/>
          </a:xfrm>
          <a:custGeom>
            <a:avLst/>
            <a:gdLst/>
            <a:ahLst/>
            <a:cxnLst/>
            <a:rect l="l" t="t" r="r" b="b"/>
            <a:pathLst>
              <a:path w="21600" h="21600">
                <a:moveTo>
                  <a:pt x="0" y="0"/>
                </a:moveTo>
                <a:lnTo>
                  <a:pt x="21600" y="0"/>
                </a:lnTo>
                <a:lnTo>
                  <a:pt x="21600" y="21600"/>
                </a:lnTo>
                <a:lnTo>
                  <a:pt x="0" y="21600"/>
                </a:lnTo>
                <a:close/>
              </a:path>
            </a:pathLst>
          </a:custGeom>
          <a:solidFill>
            <a:srgbClr val="92400E"/>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R10 最終
（3か年）</a:t>
            </a:r>
          </a:p>
        </p:txBody>
      </p:sp>
      <p:sp>
        <p:nvSpPr>
          <p:cNvPr id="26" name="d00"/>
          <p:cNvSpPr/>
          <p:nvPr/>
        </p:nvSpPr>
        <p:spPr>
          <a:xfrm>
            <a:off x="571680" y="221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基本(0〜10㎥)</a:t>
            </a:r>
          </a:p>
        </p:txBody>
      </p:sp>
      <p:sp>
        <p:nvSpPr>
          <p:cNvPr id="27" name="d01"/>
          <p:cNvSpPr/>
          <p:nvPr/>
        </p:nvSpPr>
        <p:spPr>
          <a:xfrm>
            <a:off x="2771680" y="221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1,000</a:t>
            </a:r>
          </a:p>
        </p:txBody>
      </p:sp>
      <p:sp>
        <p:nvSpPr>
          <p:cNvPr id="28" name="d02"/>
          <p:cNvSpPr/>
          <p:nvPr/>
        </p:nvSpPr>
        <p:spPr>
          <a:xfrm>
            <a:off x="422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1,100</a:t>
            </a:r>
          </a:p>
        </p:txBody>
      </p:sp>
      <p:sp>
        <p:nvSpPr>
          <p:cNvPr id="29" name="d03"/>
          <p:cNvSpPr/>
          <p:nvPr/>
        </p:nvSpPr>
        <p:spPr>
          <a:xfrm>
            <a:off x="5871680" y="221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1,200</a:t>
            </a:r>
          </a:p>
        </p:txBody>
      </p:sp>
      <p:sp>
        <p:nvSpPr>
          <p:cNvPr id="30" name="d04"/>
          <p:cNvSpPr/>
          <p:nvPr/>
        </p:nvSpPr>
        <p:spPr>
          <a:xfrm>
            <a:off x="762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1,050</a:t>
            </a:r>
          </a:p>
        </p:txBody>
      </p:sp>
      <p:sp>
        <p:nvSpPr>
          <p:cNvPr id="31" name="d05"/>
          <p:cNvSpPr/>
          <p:nvPr/>
        </p:nvSpPr>
        <p:spPr>
          <a:xfrm>
            <a:off x="927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1,100</a:t>
            </a:r>
          </a:p>
        </p:txBody>
      </p:sp>
      <p:sp>
        <p:nvSpPr>
          <p:cNvPr id="32" name="d06"/>
          <p:cNvSpPr/>
          <p:nvPr/>
        </p:nvSpPr>
        <p:spPr>
          <a:xfrm>
            <a:off x="10921680" y="221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1,200</a:t>
            </a:r>
          </a:p>
        </p:txBody>
      </p:sp>
      <p:sp>
        <p:nvSpPr>
          <p:cNvPr id="33" name="d10"/>
          <p:cNvSpPr/>
          <p:nvPr/>
        </p:nvSpPr>
        <p:spPr>
          <a:xfrm>
            <a:off x="571680" y="269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11〜20㎥</a:t>
            </a:r>
          </a:p>
        </p:txBody>
      </p:sp>
      <p:sp>
        <p:nvSpPr>
          <p:cNvPr id="34" name="d11"/>
          <p:cNvSpPr/>
          <p:nvPr/>
        </p:nvSpPr>
        <p:spPr>
          <a:xfrm>
            <a:off x="2771680" y="269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120</a:t>
            </a:r>
          </a:p>
        </p:txBody>
      </p:sp>
      <p:sp>
        <p:nvSpPr>
          <p:cNvPr id="35" name="d12"/>
          <p:cNvSpPr/>
          <p:nvPr/>
        </p:nvSpPr>
        <p:spPr>
          <a:xfrm>
            <a:off x="422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150</a:t>
            </a:r>
          </a:p>
        </p:txBody>
      </p:sp>
      <p:sp>
        <p:nvSpPr>
          <p:cNvPr id="36" name="d13"/>
          <p:cNvSpPr/>
          <p:nvPr/>
        </p:nvSpPr>
        <p:spPr>
          <a:xfrm>
            <a:off x="5871680" y="269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180</a:t>
            </a:r>
          </a:p>
        </p:txBody>
      </p:sp>
      <p:sp>
        <p:nvSpPr>
          <p:cNvPr id="37" name="d14"/>
          <p:cNvSpPr/>
          <p:nvPr/>
        </p:nvSpPr>
        <p:spPr>
          <a:xfrm>
            <a:off x="762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140</a:t>
            </a:r>
          </a:p>
        </p:txBody>
      </p:sp>
      <p:sp>
        <p:nvSpPr>
          <p:cNvPr id="38" name="d15"/>
          <p:cNvSpPr/>
          <p:nvPr/>
        </p:nvSpPr>
        <p:spPr>
          <a:xfrm>
            <a:off x="927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160</a:t>
            </a:r>
          </a:p>
        </p:txBody>
      </p:sp>
      <p:sp>
        <p:nvSpPr>
          <p:cNvPr id="39" name="d16"/>
          <p:cNvSpPr/>
          <p:nvPr/>
        </p:nvSpPr>
        <p:spPr>
          <a:xfrm>
            <a:off x="10921680" y="269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180</a:t>
            </a:r>
          </a:p>
        </p:txBody>
      </p:sp>
      <p:sp>
        <p:nvSpPr>
          <p:cNvPr id="40" name="d20"/>
          <p:cNvSpPr/>
          <p:nvPr/>
        </p:nvSpPr>
        <p:spPr>
          <a:xfrm>
            <a:off x="571680" y="317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21〜30㎥</a:t>
            </a:r>
          </a:p>
        </p:txBody>
      </p:sp>
      <p:sp>
        <p:nvSpPr>
          <p:cNvPr id="41" name="d21"/>
          <p:cNvSpPr/>
          <p:nvPr/>
        </p:nvSpPr>
        <p:spPr>
          <a:xfrm>
            <a:off x="2771680" y="317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120</a:t>
            </a:r>
          </a:p>
        </p:txBody>
      </p:sp>
      <p:sp>
        <p:nvSpPr>
          <p:cNvPr id="42" name="d22"/>
          <p:cNvSpPr/>
          <p:nvPr/>
        </p:nvSpPr>
        <p:spPr>
          <a:xfrm>
            <a:off x="422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152</a:t>
            </a:r>
          </a:p>
        </p:txBody>
      </p:sp>
      <p:sp>
        <p:nvSpPr>
          <p:cNvPr id="43" name="d23"/>
          <p:cNvSpPr/>
          <p:nvPr/>
        </p:nvSpPr>
        <p:spPr>
          <a:xfrm>
            <a:off x="5871680" y="317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185</a:t>
            </a:r>
          </a:p>
        </p:txBody>
      </p:sp>
      <p:sp>
        <p:nvSpPr>
          <p:cNvPr id="44" name="d24"/>
          <p:cNvSpPr/>
          <p:nvPr/>
        </p:nvSpPr>
        <p:spPr>
          <a:xfrm>
            <a:off x="762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140</a:t>
            </a:r>
          </a:p>
        </p:txBody>
      </p:sp>
      <p:sp>
        <p:nvSpPr>
          <p:cNvPr id="45" name="d25"/>
          <p:cNvSpPr/>
          <p:nvPr/>
        </p:nvSpPr>
        <p:spPr>
          <a:xfrm>
            <a:off x="927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160</a:t>
            </a:r>
          </a:p>
        </p:txBody>
      </p:sp>
      <p:sp>
        <p:nvSpPr>
          <p:cNvPr id="46" name="d26"/>
          <p:cNvSpPr/>
          <p:nvPr/>
        </p:nvSpPr>
        <p:spPr>
          <a:xfrm>
            <a:off x="10921680" y="317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185</a:t>
            </a:r>
          </a:p>
        </p:txBody>
      </p:sp>
      <p:sp>
        <p:nvSpPr>
          <p:cNvPr id="47" name="d30"/>
          <p:cNvSpPr/>
          <p:nvPr/>
        </p:nvSpPr>
        <p:spPr>
          <a:xfrm>
            <a:off x="571680" y="365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31〜40㎥</a:t>
            </a:r>
          </a:p>
        </p:txBody>
      </p:sp>
      <p:sp>
        <p:nvSpPr>
          <p:cNvPr id="48" name="d31"/>
          <p:cNvSpPr/>
          <p:nvPr/>
        </p:nvSpPr>
        <p:spPr>
          <a:xfrm>
            <a:off x="2771680" y="365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130</a:t>
            </a:r>
          </a:p>
        </p:txBody>
      </p:sp>
      <p:sp>
        <p:nvSpPr>
          <p:cNvPr id="49" name="d32"/>
          <p:cNvSpPr/>
          <p:nvPr/>
        </p:nvSpPr>
        <p:spPr>
          <a:xfrm>
            <a:off x="422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160</a:t>
            </a:r>
          </a:p>
        </p:txBody>
      </p:sp>
      <p:sp>
        <p:nvSpPr>
          <p:cNvPr id="50" name="d33"/>
          <p:cNvSpPr/>
          <p:nvPr/>
        </p:nvSpPr>
        <p:spPr>
          <a:xfrm>
            <a:off x="5871680" y="365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190</a:t>
            </a:r>
          </a:p>
        </p:txBody>
      </p:sp>
      <p:sp>
        <p:nvSpPr>
          <p:cNvPr id="51" name="d34"/>
          <p:cNvSpPr/>
          <p:nvPr/>
        </p:nvSpPr>
        <p:spPr>
          <a:xfrm>
            <a:off x="762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150</a:t>
            </a:r>
          </a:p>
        </p:txBody>
      </p:sp>
      <p:sp>
        <p:nvSpPr>
          <p:cNvPr id="52" name="d35"/>
          <p:cNvSpPr/>
          <p:nvPr/>
        </p:nvSpPr>
        <p:spPr>
          <a:xfrm>
            <a:off x="927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170</a:t>
            </a:r>
          </a:p>
        </p:txBody>
      </p:sp>
      <p:sp>
        <p:nvSpPr>
          <p:cNvPr id="53" name="d36"/>
          <p:cNvSpPr/>
          <p:nvPr/>
        </p:nvSpPr>
        <p:spPr>
          <a:xfrm>
            <a:off x="10921680" y="365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190</a:t>
            </a:r>
          </a:p>
        </p:txBody>
      </p:sp>
      <p:sp>
        <p:nvSpPr>
          <p:cNvPr id="54" name="d40"/>
          <p:cNvSpPr/>
          <p:nvPr/>
        </p:nvSpPr>
        <p:spPr>
          <a:xfrm>
            <a:off x="571680" y="413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41〜50㎥</a:t>
            </a:r>
          </a:p>
        </p:txBody>
      </p:sp>
      <p:sp>
        <p:nvSpPr>
          <p:cNvPr id="55" name="d41"/>
          <p:cNvSpPr/>
          <p:nvPr/>
        </p:nvSpPr>
        <p:spPr>
          <a:xfrm>
            <a:off x="2771680" y="413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130</a:t>
            </a:r>
          </a:p>
        </p:txBody>
      </p:sp>
      <p:sp>
        <p:nvSpPr>
          <p:cNvPr id="56" name="d42"/>
          <p:cNvSpPr/>
          <p:nvPr/>
        </p:nvSpPr>
        <p:spPr>
          <a:xfrm>
            <a:off x="422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162</a:t>
            </a:r>
          </a:p>
        </p:txBody>
      </p:sp>
      <p:sp>
        <p:nvSpPr>
          <p:cNvPr id="57" name="d43"/>
          <p:cNvSpPr/>
          <p:nvPr/>
        </p:nvSpPr>
        <p:spPr>
          <a:xfrm>
            <a:off x="5871680" y="413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195</a:t>
            </a:r>
          </a:p>
        </p:txBody>
      </p:sp>
      <p:sp>
        <p:nvSpPr>
          <p:cNvPr id="58" name="d44"/>
          <p:cNvSpPr/>
          <p:nvPr/>
        </p:nvSpPr>
        <p:spPr>
          <a:xfrm>
            <a:off x="762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150</a:t>
            </a:r>
          </a:p>
        </p:txBody>
      </p:sp>
      <p:sp>
        <p:nvSpPr>
          <p:cNvPr id="59" name="d45"/>
          <p:cNvSpPr/>
          <p:nvPr/>
        </p:nvSpPr>
        <p:spPr>
          <a:xfrm>
            <a:off x="927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170</a:t>
            </a:r>
          </a:p>
        </p:txBody>
      </p:sp>
      <p:sp>
        <p:nvSpPr>
          <p:cNvPr id="60" name="d46"/>
          <p:cNvSpPr/>
          <p:nvPr/>
        </p:nvSpPr>
        <p:spPr>
          <a:xfrm>
            <a:off x="10921680" y="413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195</a:t>
            </a:r>
          </a:p>
        </p:txBody>
      </p:sp>
      <p:sp>
        <p:nvSpPr>
          <p:cNvPr id="61" name="d50"/>
          <p:cNvSpPr/>
          <p:nvPr/>
        </p:nvSpPr>
        <p:spPr>
          <a:xfrm>
            <a:off x="571680" y="461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51〜70㎥</a:t>
            </a:r>
          </a:p>
        </p:txBody>
      </p:sp>
      <p:sp>
        <p:nvSpPr>
          <p:cNvPr id="62" name="d51"/>
          <p:cNvSpPr/>
          <p:nvPr/>
        </p:nvSpPr>
        <p:spPr>
          <a:xfrm>
            <a:off x="2771680" y="461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63" name="d52"/>
          <p:cNvSpPr/>
          <p:nvPr/>
        </p:nvSpPr>
        <p:spPr>
          <a:xfrm>
            <a:off x="422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172</a:t>
            </a:r>
          </a:p>
        </p:txBody>
      </p:sp>
      <p:sp>
        <p:nvSpPr>
          <p:cNvPr id="64" name="d53"/>
          <p:cNvSpPr/>
          <p:nvPr/>
        </p:nvSpPr>
        <p:spPr>
          <a:xfrm>
            <a:off x="5871680" y="461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205</a:t>
            </a:r>
          </a:p>
        </p:txBody>
      </p:sp>
      <p:sp>
        <p:nvSpPr>
          <p:cNvPr id="65" name="d54"/>
          <p:cNvSpPr/>
          <p:nvPr/>
        </p:nvSpPr>
        <p:spPr>
          <a:xfrm>
            <a:off x="762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160</a:t>
            </a:r>
          </a:p>
        </p:txBody>
      </p:sp>
      <p:sp>
        <p:nvSpPr>
          <p:cNvPr id="66" name="d55"/>
          <p:cNvSpPr/>
          <p:nvPr/>
        </p:nvSpPr>
        <p:spPr>
          <a:xfrm>
            <a:off x="927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180</a:t>
            </a:r>
          </a:p>
        </p:txBody>
      </p:sp>
      <p:sp>
        <p:nvSpPr>
          <p:cNvPr id="67" name="d56"/>
          <p:cNvSpPr/>
          <p:nvPr/>
        </p:nvSpPr>
        <p:spPr>
          <a:xfrm>
            <a:off x="10921680" y="461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205</a:t>
            </a:r>
          </a:p>
        </p:txBody>
      </p:sp>
      <p:sp>
        <p:nvSpPr>
          <p:cNvPr id="68" name="d60"/>
          <p:cNvSpPr/>
          <p:nvPr/>
        </p:nvSpPr>
        <p:spPr>
          <a:xfrm>
            <a:off x="571680" y="509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71〜100㎥</a:t>
            </a:r>
          </a:p>
        </p:txBody>
      </p:sp>
      <p:sp>
        <p:nvSpPr>
          <p:cNvPr id="69" name="d61"/>
          <p:cNvSpPr/>
          <p:nvPr/>
        </p:nvSpPr>
        <p:spPr>
          <a:xfrm>
            <a:off x="2771680" y="509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70" name="d62"/>
          <p:cNvSpPr/>
          <p:nvPr/>
        </p:nvSpPr>
        <p:spPr>
          <a:xfrm>
            <a:off x="422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178</a:t>
            </a:r>
          </a:p>
        </p:txBody>
      </p:sp>
      <p:sp>
        <p:nvSpPr>
          <p:cNvPr id="71" name="d63"/>
          <p:cNvSpPr/>
          <p:nvPr/>
        </p:nvSpPr>
        <p:spPr>
          <a:xfrm>
            <a:off x="5871680" y="509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215</a:t>
            </a:r>
          </a:p>
        </p:txBody>
      </p:sp>
      <p:sp>
        <p:nvSpPr>
          <p:cNvPr id="72" name="d64"/>
          <p:cNvSpPr/>
          <p:nvPr/>
        </p:nvSpPr>
        <p:spPr>
          <a:xfrm>
            <a:off x="762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165</a:t>
            </a:r>
          </a:p>
        </p:txBody>
      </p:sp>
      <p:sp>
        <p:nvSpPr>
          <p:cNvPr id="73" name="d65"/>
          <p:cNvSpPr/>
          <p:nvPr/>
        </p:nvSpPr>
        <p:spPr>
          <a:xfrm>
            <a:off x="927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190</a:t>
            </a:r>
          </a:p>
        </p:txBody>
      </p:sp>
      <p:sp>
        <p:nvSpPr>
          <p:cNvPr id="74" name="d66"/>
          <p:cNvSpPr/>
          <p:nvPr/>
        </p:nvSpPr>
        <p:spPr>
          <a:xfrm>
            <a:off x="10921680" y="509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215</a:t>
            </a:r>
          </a:p>
        </p:txBody>
      </p:sp>
      <p:sp>
        <p:nvSpPr>
          <p:cNvPr id="75" name="d70"/>
          <p:cNvSpPr/>
          <p:nvPr/>
        </p:nvSpPr>
        <p:spPr>
          <a:xfrm>
            <a:off x="571680" y="557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101〜150㎥</a:t>
            </a:r>
          </a:p>
        </p:txBody>
      </p:sp>
      <p:sp>
        <p:nvSpPr>
          <p:cNvPr id="76" name="d71"/>
          <p:cNvSpPr/>
          <p:nvPr/>
        </p:nvSpPr>
        <p:spPr>
          <a:xfrm>
            <a:off x="2771680" y="557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77" name="d72"/>
          <p:cNvSpPr/>
          <p:nvPr/>
        </p:nvSpPr>
        <p:spPr>
          <a:xfrm>
            <a:off x="422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188</a:t>
            </a:r>
          </a:p>
        </p:txBody>
      </p:sp>
      <p:sp>
        <p:nvSpPr>
          <p:cNvPr id="78" name="d73"/>
          <p:cNvSpPr/>
          <p:nvPr/>
        </p:nvSpPr>
        <p:spPr>
          <a:xfrm>
            <a:off x="5871680" y="557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235</a:t>
            </a:r>
          </a:p>
        </p:txBody>
      </p:sp>
      <p:sp>
        <p:nvSpPr>
          <p:cNvPr id="79" name="d74"/>
          <p:cNvSpPr/>
          <p:nvPr/>
        </p:nvSpPr>
        <p:spPr>
          <a:xfrm>
            <a:off x="762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170</a:t>
            </a:r>
          </a:p>
        </p:txBody>
      </p:sp>
      <p:sp>
        <p:nvSpPr>
          <p:cNvPr id="80" name="d75"/>
          <p:cNvSpPr/>
          <p:nvPr/>
        </p:nvSpPr>
        <p:spPr>
          <a:xfrm>
            <a:off x="927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200</a:t>
            </a:r>
          </a:p>
        </p:txBody>
      </p:sp>
      <p:sp>
        <p:nvSpPr>
          <p:cNvPr id="81" name="d76"/>
          <p:cNvSpPr/>
          <p:nvPr/>
        </p:nvSpPr>
        <p:spPr>
          <a:xfrm>
            <a:off x="10921680" y="557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235</a:t>
            </a:r>
          </a:p>
        </p:txBody>
      </p:sp>
      <p:sp>
        <p:nvSpPr>
          <p:cNvPr id="82" name="d80"/>
          <p:cNvSpPr/>
          <p:nvPr/>
        </p:nvSpPr>
        <p:spPr>
          <a:xfrm>
            <a:off x="571680" y="605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151㎥〜</a:t>
            </a:r>
          </a:p>
        </p:txBody>
      </p:sp>
      <p:sp>
        <p:nvSpPr>
          <p:cNvPr id="83" name="d81"/>
          <p:cNvSpPr/>
          <p:nvPr/>
        </p:nvSpPr>
        <p:spPr>
          <a:xfrm>
            <a:off x="2771680" y="605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160</a:t>
            </a:r>
          </a:p>
        </p:txBody>
      </p:sp>
      <p:sp>
        <p:nvSpPr>
          <p:cNvPr id="84" name="d82"/>
          <p:cNvSpPr/>
          <p:nvPr/>
        </p:nvSpPr>
        <p:spPr>
          <a:xfrm>
            <a:off x="422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208</a:t>
            </a:r>
          </a:p>
        </p:txBody>
      </p:sp>
      <p:sp>
        <p:nvSpPr>
          <p:cNvPr id="85" name="d83"/>
          <p:cNvSpPr/>
          <p:nvPr/>
        </p:nvSpPr>
        <p:spPr>
          <a:xfrm>
            <a:off x="5871680" y="605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255</a:t>
            </a:r>
          </a:p>
        </p:txBody>
      </p:sp>
      <p:sp>
        <p:nvSpPr>
          <p:cNvPr id="86" name="d84"/>
          <p:cNvSpPr/>
          <p:nvPr/>
        </p:nvSpPr>
        <p:spPr>
          <a:xfrm>
            <a:off x="762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190</a:t>
            </a:r>
          </a:p>
        </p:txBody>
      </p:sp>
      <p:sp>
        <p:nvSpPr>
          <p:cNvPr id="87" name="d85"/>
          <p:cNvSpPr/>
          <p:nvPr/>
        </p:nvSpPr>
        <p:spPr>
          <a:xfrm>
            <a:off x="927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220</a:t>
            </a:r>
          </a:p>
        </p:txBody>
      </p:sp>
      <p:sp>
        <p:nvSpPr>
          <p:cNvPr id="88" name="d86"/>
          <p:cNvSpPr/>
          <p:nvPr/>
        </p:nvSpPr>
        <p:spPr>
          <a:xfrm>
            <a:off x="10921680" y="605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255</a:t>
            </a:r>
          </a:p>
        </p:txBody>
      </p:sp>
      <p:sp>
        <p:nvSpPr>
          <p:cNvPr id="89"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0" name="hb"/>
          <p:cNvSpPr/>
          <p:nvPr/>
        </p:nvSpPr>
        <p:spPr>
          <a:xfrm>
            <a:off x="0" y="0"/>
            <a:ext cx="12191760" cy="570000"/>
          </a:xfrm>
          <a:custGeom>
            <a:avLst/>
            <a:gdLst/>
            <a:ahLst/>
            <a:rect l="l" t="t" r="r" b="b"/>
            <a:pathLst>
              <a:path w="21600" h="21600">
                <a:moveTo>
                  <a:pt x="0" y="0"/>
                </a:moveTo>
                <a:lnTo>
                  <a:pt x="21600" y="0"/>
                </a:lnTo>
                <a:lnTo>
                  <a:pt x="21600" y="21600"/>
                </a:lnTo>
                <a:lnTo>
                  <a:pt x="0" y="21600"/>
                </a:lnTo>
                <a:close/>
              </a:path>
            </a:pathLst>
          </a:custGeom>
          <a:solidFill>
            <a:srgbClr val="1E293B"/>
          </a:solidFill>
          <a:ln w="0">
            <a:noFill/>
          </a:ln>
        </p:spPr>
        <p:style>
          <a:lnRef idx="0"/>
          <a:fillRef idx="0"/>
          <a:effectRef idx="0"/>
          <a:fontRef idx="minor"/>
        </p:style>
        <p:txBody>
          <a:bodyPr tIns="91440" bIns="91440" lIns="182880" rIns="91440" anchor="ctr">
            <a:noAutofit/>
          </a:bodyPr>
          <a:p>
            <a:pPr algn="l"/>
            <a:r>
              <a:rPr lang="ja-JP" sz="1700" b="0" dirty="0">
                <a:solidFill>
                  <a:srgbClr val="FFFFFF"/>
                </a:solidFill>
                <a:latin typeface="Arial"/>
                <a:cs typeface="Noto Sans CJK JP"/>
              </a:rPr>
              <a:t>  段階的値上げの検討　02-2補　段階単価比較（パターン①②④・2か年）</a:t>
            </a:r>
          </a:p>
        </p:txBody>
      </p:sp>
      <p:sp>
        <p:nvSpPr>
          <p:cNvPr id="11" name="hl"/>
          <p:cNvSpPr/>
          <p:nvPr/>
        </p:nvSpPr>
        <p:spPr>
          <a:xfrm>
            <a:off x="0" y="570000"/>
            <a:ext cx="12191760" cy="19080"/>
          </a:xfrm>
          <a:custGeom>
            <a:avLst/>
            <a:gdLst/>
            <a:ahLst/>
            <a:rect l="l" t="t" r="r" b="b"/>
            <a:pathLst>
              <a:path w="21600" h="21600">
                <a:moveTo>
                  <a:pt x="0" y="0"/>
                </a:moveTo>
                <a:lnTo>
                  <a:pt x="21600" y="0"/>
                </a:lnTo>
                <a:lnTo>
                  <a:pt x="21600" y="21600"/>
                </a:lnTo>
                <a:lnTo>
                  <a:pt x="0" y="21600"/>
                </a:lnTo>
                <a:close/>
              </a:path>
            </a:pathLst>
          </a:custGeom>
          <a:solidFill>
            <a:srgbClr val="3B82F6"/>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570000"/>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0000"/>
            <a:ext cx="10800000" cy="52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1900" b="0" dirty="0">
                <a:solidFill>
                  <a:srgbClr val="1E293B"/>
                </a:solidFill>
                <a:latin typeface="Arial"/>
                <a:cs typeface="Noto Sans CJK JP"/>
              </a:rPr>
              <a:t>段階単価　パターン別比較（税抜き・円）　2か年改定：R8中間→R9最終</a:t>
            </a:r>
          </a:p>
        </p:txBody>
      </p:sp>
      <p:sp>
        <p:nvSpPr>
          <p:cNvPr id="14" name="gl2"/>
          <p:cNvSpPr/>
          <p:nvPr/>
        </p:nvSpPr>
        <p:spPr>
          <a:xfrm>
            <a:off x="3100000" y="1390000"/>
            <a:ext cx="1740000" cy="22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45720" bIns="45720" lIns="91440" rIns="91440" anchor="ctr">
            <a:noAutofit/>
          </a:bodyPr>
          <a:p>
            <a:pPr algn="ctr"/>
            <a:r>
              <a:rPr lang="ja-JP" sz="850" b="0" dirty="0">
                <a:solidFill>
                  <a:srgbClr val="FFFFFF"/>
                </a:solidFill>
                <a:latin typeface="Arial"/>
                <a:cs typeface="Noto Sans CJK JP"/>
              </a:rPr>
              <a:t>← ①標準型 2か年</a:t>
            </a:r>
          </a:p>
        </p:txBody>
      </p:sp>
      <p:sp>
        <p:nvSpPr>
          <p:cNvPr id="15" name="gl4"/>
          <p:cNvSpPr/>
          <p:nvPr/>
        </p:nvSpPr>
        <p:spPr>
          <a:xfrm>
            <a:off x="4840000" y="1390000"/>
            <a:ext cx="1740000" cy="22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850" b="0" dirty="0">
                <a:solidFill>
                  <a:srgbClr val="FFFFFF"/>
                </a:solidFill>
                <a:latin typeface="Arial"/>
                <a:cs typeface="Noto Sans CJK JP"/>
              </a:rPr>
              <a:t>← ②家庭軽減型 2か年</a:t>
            </a:r>
          </a:p>
        </p:txBody>
      </p:sp>
      <p:sp>
        <p:nvSpPr>
          <p:cNvPr id="16" name="gl6"/>
          <p:cNvSpPr/>
          <p:nvPr/>
        </p:nvSpPr>
        <p:spPr>
          <a:xfrm>
            <a:off x="6580000" y="1390000"/>
            <a:ext cx="1740000" cy="22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45720" bIns="45720" lIns="91440" rIns="91440" anchor="ctr">
            <a:noAutofit/>
          </a:bodyPr>
          <a:p>
            <a:pPr algn="ctr"/>
            <a:r>
              <a:rPr lang="ja-JP" sz="850" b="0" dirty="0">
                <a:solidFill>
                  <a:srgbClr val="FFFFFF"/>
                </a:solidFill>
                <a:latin typeface="Arial"/>
                <a:cs typeface="Noto Sans CJK JP"/>
              </a:rPr>
              <a:t>← ④段階累進型 2か年</a:t>
            </a:r>
          </a:p>
        </p:txBody>
      </p:sp>
      <p:sp>
        <p:nvSpPr>
          <p:cNvPr id="17" name="th0"/>
          <p:cNvSpPr/>
          <p:nvPr/>
        </p:nvSpPr>
        <p:spPr>
          <a:xfrm>
            <a:off x="380000" y="1610000"/>
            <a:ext cx="1900000" cy="30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水量区分</a:t>
            </a:r>
          </a:p>
        </p:txBody>
      </p:sp>
      <p:sp>
        <p:nvSpPr>
          <p:cNvPr id="18" name="th1"/>
          <p:cNvSpPr/>
          <p:nvPr/>
        </p:nvSpPr>
        <p:spPr>
          <a:xfrm>
            <a:off x="2280000" y="1610000"/>
            <a:ext cx="820000" cy="300000"/>
          </a:xfrm>
          <a:custGeom>
            <a:avLst/>
            <a:gdLst/>
            <a:ahLst/>
            <a:rect l="l" t="t" r="r" b="b"/>
            <a:pathLst>
              <a:path w="21600" h="21600">
                <a:moveTo>
                  <a:pt x="0" y="0"/>
                </a:moveTo>
                <a:lnTo>
                  <a:pt x="21600" y="0"/>
                </a:lnTo>
                <a:lnTo>
                  <a:pt x="21600" y="21600"/>
                </a:lnTo>
                <a:lnTo>
                  <a:pt x="0" y="21600"/>
                </a:lnTo>
                <a:close/>
              </a:path>
            </a:pathLst>
          </a:custGeom>
          <a:solidFill>
            <a:srgbClr val="475569"/>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現行</a:t>
            </a:r>
          </a:p>
        </p:txBody>
      </p:sp>
      <p:sp>
        <p:nvSpPr>
          <p:cNvPr id="19" name="th2"/>
          <p:cNvSpPr/>
          <p:nvPr/>
        </p:nvSpPr>
        <p:spPr>
          <a:xfrm>
            <a:off x="310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①R8中間</a:t>
            </a:r>
          </a:p>
        </p:txBody>
      </p:sp>
      <p:sp>
        <p:nvSpPr>
          <p:cNvPr id="20" name="th3"/>
          <p:cNvSpPr/>
          <p:nvPr/>
        </p:nvSpPr>
        <p:spPr>
          <a:xfrm>
            <a:off x="397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①R9最終</a:t>
            </a:r>
          </a:p>
        </p:txBody>
      </p:sp>
      <p:sp>
        <p:nvSpPr>
          <p:cNvPr id="21" name="th4"/>
          <p:cNvSpPr/>
          <p:nvPr/>
        </p:nvSpPr>
        <p:spPr>
          <a:xfrm>
            <a:off x="484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②R8中間</a:t>
            </a:r>
          </a:p>
        </p:txBody>
      </p:sp>
      <p:sp>
        <p:nvSpPr>
          <p:cNvPr id="22" name="th5"/>
          <p:cNvSpPr/>
          <p:nvPr/>
        </p:nvSpPr>
        <p:spPr>
          <a:xfrm>
            <a:off x="571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②R9最終</a:t>
            </a:r>
          </a:p>
        </p:txBody>
      </p:sp>
      <p:sp>
        <p:nvSpPr>
          <p:cNvPr id="23" name="th6"/>
          <p:cNvSpPr/>
          <p:nvPr/>
        </p:nvSpPr>
        <p:spPr>
          <a:xfrm>
            <a:off x="658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④R8中間</a:t>
            </a:r>
          </a:p>
        </p:txBody>
      </p:sp>
      <p:sp>
        <p:nvSpPr>
          <p:cNvPr id="24" name="th7"/>
          <p:cNvSpPr/>
          <p:nvPr/>
        </p:nvSpPr>
        <p:spPr>
          <a:xfrm>
            <a:off x="745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92400E"/>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④R9最終</a:t>
            </a:r>
          </a:p>
        </p:txBody>
      </p:sp>
      <p:sp>
        <p:nvSpPr>
          <p:cNvPr id="25" name="d00"/>
          <p:cNvSpPr/>
          <p:nvPr/>
        </p:nvSpPr>
        <p:spPr>
          <a:xfrm>
            <a:off x="380000" y="1950000"/>
            <a:ext cx="190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基本(0〜10㎥)</a:t>
            </a:r>
          </a:p>
        </p:txBody>
      </p:sp>
      <p:sp>
        <p:nvSpPr>
          <p:cNvPr id="26" name="d01"/>
          <p:cNvSpPr/>
          <p:nvPr/>
        </p:nvSpPr>
        <p:spPr>
          <a:xfrm>
            <a:off x="2280000" y="1950000"/>
            <a:ext cx="82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1,000</a:t>
            </a:r>
          </a:p>
        </p:txBody>
      </p:sp>
      <p:sp>
        <p:nvSpPr>
          <p:cNvPr id="27" name="d02"/>
          <p:cNvSpPr/>
          <p:nvPr/>
        </p:nvSpPr>
        <p:spPr>
          <a:xfrm>
            <a:off x="3100000" y="195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1,250</a:t>
            </a:r>
          </a:p>
        </p:txBody>
      </p:sp>
      <p:sp>
        <p:nvSpPr>
          <p:cNvPr id="28" name="d03"/>
          <p:cNvSpPr/>
          <p:nvPr/>
        </p:nvSpPr>
        <p:spPr>
          <a:xfrm>
            <a:off x="3970000" y="195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1,500</a:t>
            </a:r>
          </a:p>
        </p:txBody>
      </p:sp>
      <p:sp>
        <p:nvSpPr>
          <p:cNvPr id="29" name="d04"/>
          <p:cNvSpPr/>
          <p:nvPr/>
        </p:nvSpPr>
        <p:spPr>
          <a:xfrm>
            <a:off x="4840000" y="195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1,100</a:t>
            </a:r>
          </a:p>
        </p:txBody>
      </p:sp>
      <p:sp>
        <p:nvSpPr>
          <p:cNvPr id="30" name="d05"/>
          <p:cNvSpPr/>
          <p:nvPr/>
        </p:nvSpPr>
        <p:spPr>
          <a:xfrm>
            <a:off x="5710000" y="195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1,200</a:t>
            </a:r>
          </a:p>
        </p:txBody>
      </p:sp>
      <p:sp>
        <p:nvSpPr>
          <p:cNvPr id="31" name="d06"/>
          <p:cNvSpPr/>
          <p:nvPr/>
        </p:nvSpPr>
        <p:spPr>
          <a:xfrm>
            <a:off x="6580000" y="195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1,200</a:t>
            </a:r>
          </a:p>
        </p:txBody>
      </p:sp>
      <p:sp>
        <p:nvSpPr>
          <p:cNvPr id="32" name="d07"/>
          <p:cNvSpPr/>
          <p:nvPr/>
        </p:nvSpPr>
        <p:spPr>
          <a:xfrm>
            <a:off x="7450000" y="195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1,400</a:t>
            </a:r>
          </a:p>
        </p:txBody>
      </p:sp>
      <p:sp>
        <p:nvSpPr>
          <p:cNvPr id="33" name="d10"/>
          <p:cNvSpPr/>
          <p:nvPr/>
        </p:nvSpPr>
        <p:spPr>
          <a:xfrm>
            <a:off x="380000" y="2440000"/>
            <a:ext cx="190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11〜20㎥</a:t>
            </a:r>
          </a:p>
        </p:txBody>
      </p:sp>
      <p:sp>
        <p:nvSpPr>
          <p:cNvPr id="34" name="d11"/>
          <p:cNvSpPr/>
          <p:nvPr/>
        </p:nvSpPr>
        <p:spPr>
          <a:xfrm>
            <a:off x="2280000" y="2440000"/>
            <a:ext cx="82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120</a:t>
            </a:r>
          </a:p>
        </p:txBody>
      </p:sp>
      <p:sp>
        <p:nvSpPr>
          <p:cNvPr id="35" name="d12"/>
          <p:cNvSpPr/>
          <p:nvPr/>
        </p:nvSpPr>
        <p:spPr>
          <a:xfrm>
            <a:off x="3100000" y="244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135</a:t>
            </a:r>
          </a:p>
        </p:txBody>
      </p:sp>
      <p:sp>
        <p:nvSpPr>
          <p:cNvPr id="36" name="d13"/>
          <p:cNvSpPr/>
          <p:nvPr/>
        </p:nvSpPr>
        <p:spPr>
          <a:xfrm>
            <a:off x="3970000" y="244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150</a:t>
            </a:r>
          </a:p>
        </p:txBody>
      </p:sp>
      <p:sp>
        <p:nvSpPr>
          <p:cNvPr id="37" name="d14"/>
          <p:cNvSpPr/>
          <p:nvPr/>
        </p:nvSpPr>
        <p:spPr>
          <a:xfrm>
            <a:off x="4840000" y="244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150</a:t>
            </a:r>
          </a:p>
        </p:txBody>
      </p:sp>
      <p:sp>
        <p:nvSpPr>
          <p:cNvPr id="38" name="d15"/>
          <p:cNvSpPr/>
          <p:nvPr/>
        </p:nvSpPr>
        <p:spPr>
          <a:xfrm>
            <a:off x="5710000" y="244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180</a:t>
            </a:r>
          </a:p>
        </p:txBody>
      </p:sp>
      <p:sp>
        <p:nvSpPr>
          <p:cNvPr id="39" name="d16"/>
          <p:cNvSpPr/>
          <p:nvPr/>
        </p:nvSpPr>
        <p:spPr>
          <a:xfrm>
            <a:off x="6580000" y="244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140</a:t>
            </a:r>
          </a:p>
        </p:txBody>
      </p:sp>
      <p:sp>
        <p:nvSpPr>
          <p:cNvPr id="40" name="d17"/>
          <p:cNvSpPr/>
          <p:nvPr/>
        </p:nvSpPr>
        <p:spPr>
          <a:xfrm>
            <a:off x="7450000" y="244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160</a:t>
            </a:r>
          </a:p>
        </p:txBody>
      </p:sp>
      <p:sp>
        <p:nvSpPr>
          <p:cNvPr id="41" name="d20"/>
          <p:cNvSpPr/>
          <p:nvPr/>
        </p:nvSpPr>
        <p:spPr>
          <a:xfrm>
            <a:off x="380000" y="2930000"/>
            <a:ext cx="190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21〜30㎥</a:t>
            </a:r>
          </a:p>
        </p:txBody>
      </p:sp>
      <p:sp>
        <p:nvSpPr>
          <p:cNvPr id="42" name="d21"/>
          <p:cNvSpPr/>
          <p:nvPr/>
        </p:nvSpPr>
        <p:spPr>
          <a:xfrm>
            <a:off x="2280000" y="2930000"/>
            <a:ext cx="82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120</a:t>
            </a:r>
          </a:p>
        </p:txBody>
      </p:sp>
      <p:sp>
        <p:nvSpPr>
          <p:cNvPr id="43" name="d22"/>
          <p:cNvSpPr/>
          <p:nvPr/>
        </p:nvSpPr>
        <p:spPr>
          <a:xfrm>
            <a:off x="3100000" y="293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138</a:t>
            </a:r>
          </a:p>
        </p:txBody>
      </p:sp>
      <p:sp>
        <p:nvSpPr>
          <p:cNvPr id="44" name="d23"/>
          <p:cNvSpPr/>
          <p:nvPr/>
        </p:nvSpPr>
        <p:spPr>
          <a:xfrm>
            <a:off x="3970000" y="293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155</a:t>
            </a:r>
          </a:p>
        </p:txBody>
      </p:sp>
      <p:sp>
        <p:nvSpPr>
          <p:cNvPr id="45" name="d24"/>
          <p:cNvSpPr/>
          <p:nvPr/>
        </p:nvSpPr>
        <p:spPr>
          <a:xfrm>
            <a:off x="4840000" y="293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152</a:t>
            </a:r>
          </a:p>
        </p:txBody>
      </p:sp>
      <p:sp>
        <p:nvSpPr>
          <p:cNvPr id="46" name="d25"/>
          <p:cNvSpPr/>
          <p:nvPr/>
        </p:nvSpPr>
        <p:spPr>
          <a:xfrm>
            <a:off x="5710000" y="293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185</a:t>
            </a:r>
          </a:p>
        </p:txBody>
      </p:sp>
      <p:sp>
        <p:nvSpPr>
          <p:cNvPr id="47" name="d26"/>
          <p:cNvSpPr/>
          <p:nvPr/>
        </p:nvSpPr>
        <p:spPr>
          <a:xfrm>
            <a:off x="6580000" y="293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142</a:t>
            </a:r>
          </a:p>
        </p:txBody>
      </p:sp>
      <p:sp>
        <p:nvSpPr>
          <p:cNvPr id="48" name="d27"/>
          <p:cNvSpPr/>
          <p:nvPr/>
        </p:nvSpPr>
        <p:spPr>
          <a:xfrm>
            <a:off x="7450000" y="293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165</a:t>
            </a:r>
          </a:p>
        </p:txBody>
      </p:sp>
      <p:sp>
        <p:nvSpPr>
          <p:cNvPr id="49" name="d30"/>
          <p:cNvSpPr/>
          <p:nvPr/>
        </p:nvSpPr>
        <p:spPr>
          <a:xfrm>
            <a:off x="380000" y="3420000"/>
            <a:ext cx="190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31〜40㎥</a:t>
            </a:r>
          </a:p>
        </p:txBody>
      </p:sp>
      <p:sp>
        <p:nvSpPr>
          <p:cNvPr id="50" name="d31"/>
          <p:cNvSpPr/>
          <p:nvPr/>
        </p:nvSpPr>
        <p:spPr>
          <a:xfrm>
            <a:off x="2280000" y="3420000"/>
            <a:ext cx="82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130</a:t>
            </a:r>
          </a:p>
        </p:txBody>
      </p:sp>
      <p:sp>
        <p:nvSpPr>
          <p:cNvPr id="51" name="d32"/>
          <p:cNvSpPr/>
          <p:nvPr/>
        </p:nvSpPr>
        <p:spPr>
          <a:xfrm>
            <a:off x="3100000" y="342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145</a:t>
            </a:r>
          </a:p>
        </p:txBody>
      </p:sp>
      <p:sp>
        <p:nvSpPr>
          <p:cNvPr id="52" name="d33"/>
          <p:cNvSpPr/>
          <p:nvPr/>
        </p:nvSpPr>
        <p:spPr>
          <a:xfrm>
            <a:off x="3970000" y="342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160</a:t>
            </a:r>
          </a:p>
        </p:txBody>
      </p:sp>
      <p:sp>
        <p:nvSpPr>
          <p:cNvPr id="53" name="d34"/>
          <p:cNvSpPr/>
          <p:nvPr/>
        </p:nvSpPr>
        <p:spPr>
          <a:xfrm>
            <a:off x="4840000" y="342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160</a:t>
            </a:r>
          </a:p>
        </p:txBody>
      </p:sp>
      <p:sp>
        <p:nvSpPr>
          <p:cNvPr id="54" name="d35"/>
          <p:cNvSpPr/>
          <p:nvPr/>
        </p:nvSpPr>
        <p:spPr>
          <a:xfrm>
            <a:off x="5710000" y="342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190</a:t>
            </a:r>
          </a:p>
        </p:txBody>
      </p:sp>
      <p:sp>
        <p:nvSpPr>
          <p:cNvPr id="55" name="d36"/>
          <p:cNvSpPr/>
          <p:nvPr/>
        </p:nvSpPr>
        <p:spPr>
          <a:xfrm>
            <a:off x="6580000" y="342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150</a:t>
            </a:r>
          </a:p>
        </p:txBody>
      </p:sp>
      <p:sp>
        <p:nvSpPr>
          <p:cNvPr id="56" name="d37"/>
          <p:cNvSpPr/>
          <p:nvPr/>
        </p:nvSpPr>
        <p:spPr>
          <a:xfrm>
            <a:off x="7450000" y="342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170</a:t>
            </a:r>
          </a:p>
        </p:txBody>
      </p:sp>
      <p:sp>
        <p:nvSpPr>
          <p:cNvPr id="57" name="d40"/>
          <p:cNvSpPr/>
          <p:nvPr/>
        </p:nvSpPr>
        <p:spPr>
          <a:xfrm>
            <a:off x="380000" y="3910000"/>
            <a:ext cx="190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41〜50㎥</a:t>
            </a:r>
          </a:p>
        </p:txBody>
      </p:sp>
      <p:sp>
        <p:nvSpPr>
          <p:cNvPr id="58" name="d41"/>
          <p:cNvSpPr/>
          <p:nvPr/>
        </p:nvSpPr>
        <p:spPr>
          <a:xfrm>
            <a:off x="2280000" y="3910000"/>
            <a:ext cx="82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130</a:t>
            </a:r>
          </a:p>
        </p:txBody>
      </p:sp>
      <p:sp>
        <p:nvSpPr>
          <p:cNvPr id="59" name="d42"/>
          <p:cNvSpPr/>
          <p:nvPr/>
        </p:nvSpPr>
        <p:spPr>
          <a:xfrm>
            <a:off x="3100000" y="391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148</a:t>
            </a:r>
          </a:p>
        </p:txBody>
      </p:sp>
      <p:sp>
        <p:nvSpPr>
          <p:cNvPr id="60" name="d43"/>
          <p:cNvSpPr/>
          <p:nvPr/>
        </p:nvSpPr>
        <p:spPr>
          <a:xfrm>
            <a:off x="3970000" y="391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165</a:t>
            </a:r>
          </a:p>
        </p:txBody>
      </p:sp>
      <p:sp>
        <p:nvSpPr>
          <p:cNvPr id="61" name="d44"/>
          <p:cNvSpPr/>
          <p:nvPr/>
        </p:nvSpPr>
        <p:spPr>
          <a:xfrm>
            <a:off x="4840000" y="391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162</a:t>
            </a:r>
          </a:p>
        </p:txBody>
      </p:sp>
      <p:sp>
        <p:nvSpPr>
          <p:cNvPr id="62" name="d45"/>
          <p:cNvSpPr/>
          <p:nvPr/>
        </p:nvSpPr>
        <p:spPr>
          <a:xfrm>
            <a:off x="5710000" y="391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195</a:t>
            </a:r>
          </a:p>
        </p:txBody>
      </p:sp>
      <p:sp>
        <p:nvSpPr>
          <p:cNvPr id="63" name="d46"/>
          <p:cNvSpPr/>
          <p:nvPr/>
        </p:nvSpPr>
        <p:spPr>
          <a:xfrm>
            <a:off x="6580000" y="391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152</a:t>
            </a:r>
          </a:p>
        </p:txBody>
      </p:sp>
      <p:sp>
        <p:nvSpPr>
          <p:cNvPr id="64" name="d47"/>
          <p:cNvSpPr/>
          <p:nvPr/>
        </p:nvSpPr>
        <p:spPr>
          <a:xfrm>
            <a:off x="7450000" y="391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175</a:t>
            </a:r>
          </a:p>
        </p:txBody>
      </p:sp>
      <p:sp>
        <p:nvSpPr>
          <p:cNvPr id="65" name="d50"/>
          <p:cNvSpPr/>
          <p:nvPr/>
        </p:nvSpPr>
        <p:spPr>
          <a:xfrm>
            <a:off x="380000" y="4400000"/>
            <a:ext cx="190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51〜70㎥</a:t>
            </a:r>
          </a:p>
        </p:txBody>
      </p:sp>
      <p:sp>
        <p:nvSpPr>
          <p:cNvPr id="66" name="d51"/>
          <p:cNvSpPr/>
          <p:nvPr/>
        </p:nvSpPr>
        <p:spPr>
          <a:xfrm>
            <a:off x="2280000" y="4400000"/>
            <a:ext cx="82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140</a:t>
            </a:r>
          </a:p>
        </p:txBody>
      </p:sp>
      <p:sp>
        <p:nvSpPr>
          <p:cNvPr id="67" name="d52"/>
          <p:cNvSpPr/>
          <p:nvPr/>
        </p:nvSpPr>
        <p:spPr>
          <a:xfrm>
            <a:off x="3100000" y="440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158</a:t>
            </a:r>
          </a:p>
        </p:txBody>
      </p:sp>
      <p:sp>
        <p:nvSpPr>
          <p:cNvPr id="68" name="d53"/>
          <p:cNvSpPr/>
          <p:nvPr/>
        </p:nvSpPr>
        <p:spPr>
          <a:xfrm>
            <a:off x="3970000" y="440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175</a:t>
            </a:r>
          </a:p>
        </p:txBody>
      </p:sp>
      <p:sp>
        <p:nvSpPr>
          <p:cNvPr id="69" name="d54"/>
          <p:cNvSpPr/>
          <p:nvPr/>
        </p:nvSpPr>
        <p:spPr>
          <a:xfrm>
            <a:off x="4840000" y="440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172</a:t>
            </a:r>
          </a:p>
        </p:txBody>
      </p:sp>
      <p:sp>
        <p:nvSpPr>
          <p:cNvPr id="70" name="d55"/>
          <p:cNvSpPr/>
          <p:nvPr/>
        </p:nvSpPr>
        <p:spPr>
          <a:xfrm>
            <a:off x="5710000" y="440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205</a:t>
            </a:r>
          </a:p>
        </p:txBody>
      </p:sp>
      <p:sp>
        <p:nvSpPr>
          <p:cNvPr id="71" name="d56"/>
          <p:cNvSpPr/>
          <p:nvPr/>
        </p:nvSpPr>
        <p:spPr>
          <a:xfrm>
            <a:off x="6580000" y="440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162</a:t>
            </a:r>
          </a:p>
        </p:txBody>
      </p:sp>
      <p:sp>
        <p:nvSpPr>
          <p:cNvPr id="72" name="d57"/>
          <p:cNvSpPr/>
          <p:nvPr/>
        </p:nvSpPr>
        <p:spPr>
          <a:xfrm>
            <a:off x="7450000" y="440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185</a:t>
            </a:r>
          </a:p>
        </p:txBody>
      </p:sp>
      <p:sp>
        <p:nvSpPr>
          <p:cNvPr id="73" name="d60"/>
          <p:cNvSpPr/>
          <p:nvPr/>
        </p:nvSpPr>
        <p:spPr>
          <a:xfrm>
            <a:off x="380000" y="4890000"/>
            <a:ext cx="190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71〜100㎥</a:t>
            </a:r>
          </a:p>
        </p:txBody>
      </p:sp>
      <p:sp>
        <p:nvSpPr>
          <p:cNvPr id="74" name="d61"/>
          <p:cNvSpPr/>
          <p:nvPr/>
        </p:nvSpPr>
        <p:spPr>
          <a:xfrm>
            <a:off x="2280000" y="4890000"/>
            <a:ext cx="82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140</a:t>
            </a:r>
          </a:p>
        </p:txBody>
      </p:sp>
      <p:sp>
        <p:nvSpPr>
          <p:cNvPr id="75" name="d62"/>
          <p:cNvSpPr/>
          <p:nvPr/>
        </p:nvSpPr>
        <p:spPr>
          <a:xfrm>
            <a:off x="3100000" y="489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162</a:t>
            </a:r>
          </a:p>
        </p:txBody>
      </p:sp>
      <p:sp>
        <p:nvSpPr>
          <p:cNvPr id="76" name="d63"/>
          <p:cNvSpPr/>
          <p:nvPr/>
        </p:nvSpPr>
        <p:spPr>
          <a:xfrm>
            <a:off x="3970000" y="489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185</a:t>
            </a:r>
          </a:p>
        </p:txBody>
      </p:sp>
      <p:sp>
        <p:nvSpPr>
          <p:cNvPr id="77" name="d64"/>
          <p:cNvSpPr/>
          <p:nvPr/>
        </p:nvSpPr>
        <p:spPr>
          <a:xfrm>
            <a:off x="4840000" y="489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178</a:t>
            </a:r>
          </a:p>
        </p:txBody>
      </p:sp>
      <p:sp>
        <p:nvSpPr>
          <p:cNvPr id="78" name="d65"/>
          <p:cNvSpPr/>
          <p:nvPr/>
        </p:nvSpPr>
        <p:spPr>
          <a:xfrm>
            <a:off x="5710000" y="489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215</a:t>
            </a:r>
          </a:p>
        </p:txBody>
      </p:sp>
      <p:sp>
        <p:nvSpPr>
          <p:cNvPr id="79" name="d66"/>
          <p:cNvSpPr/>
          <p:nvPr/>
        </p:nvSpPr>
        <p:spPr>
          <a:xfrm>
            <a:off x="6580000" y="489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168</a:t>
            </a:r>
          </a:p>
        </p:txBody>
      </p:sp>
      <p:sp>
        <p:nvSpPr>
          <p:cNvPr id="80" name="d67"/>
          <p:cNvSpPr/>
          <p:nvPr/>
        </p:nvSpPr>
        <p:spPr>
          <a:xfrm>
            <a:off x="7450000" y="489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195</a:t>
            </a:r>
          </a:p>
        </p:txBody>
      </p:sp>
      <p:sp>
        <p:nvSpPr>
          <p:cNvPr id="81" name="d70"/>
          <p:cNvSpPr/>
          <p:nvPr/>
        </p:nvSpPr>
        <p:spPr>
          <a:xfrm>
            <a:off x="380000" y="5380000"/>
            <a:ext cx="190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101〜150㎥</a:t>
            </a:r>
          </a:p>
        </p:txBody>
      </p:sp>
      <p:sp>
        <p:nvSpPr>
          <p:cNvPr id="82" name="d71"/>
          <p:cNvSpPr/>
          <p:nvPr/>
        </p:nvSpPr>
        <p:spPr>
          <a:xfrm>
            <a:off x="2280000" y="5380000"/>
            <a:ext cx="82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140</a:t>
            </a:r>
          </a:p>
        </p:txBody>
      </p:sp>
      <p:sp>
        <p:nvSpPr>
          <p:cNvPr id="83" name="d72"/>
          <p:cNvSpPr/>
          <p:nvPr/>
        </p:nvSpPr>
        <p:spPr>
          <a:xfrm>
            <a:off x="3100000" y="538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172</a:t>
            </a:r>
          </a:p>
        </p:txBody>
      </p:sp>
      <p:sp>
        <p:nvSpPr>
          <p:cNvPr id="84" name="d73"/>
          <p:cNvSpPr/>
          <p:nvPr/>
        </p:nvSpPr>
        <p:spPr>
          <a:xfrm>
            <a:off x="3970000" y="538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205</a:t>
            </a:r>
          </a:p>
        </p:txBody>
      </p:sp>
      <p:sp>
        <p:nvSpPr>
          <p:cNvPr id="85" name="d74"/>
          <p:cNvSpPr/>
          <p:nvPr/>
        </p:nvSpPr>
        <p:spPr>
          <a:xfrm>
            <a:off x="4840000" y="538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188</a:t>
            </a:r>
          </a:p>
        </p:txBody>
      </p:sp>
      <p:sp>
        <p:nvSpPr>
          <p:cNvPr id="86" name="d75"/>
          <p:cNvSpPr/>
          <p:nvPr/>
        </p:nvSpPr>
        <p:spPr>
          <a:xfrm>
            <a:off x="5710000" y="538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235</a:t>
            </a:r>
          </a:p>
        </p:txBody>
      </p:sp>
      <p:sp>
        <p:nvSpPr>
          <p:cNvPr id="87" name="d76"/>
          <p:cNvSpPr/>
          <p:nvPr/>
        </p:nvSpPr>
        <p:spPr>
          <a:xfrm>
            <a:off x="6580000" y="538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178</a:t>
            </a:r>
          </a:p>
        </p:txBody>
      </p:sp>
      <p:sp>
        <p:nvSpPr>
          <p:cNvPr id="88" name="d77"/>
          <p:cNvSpPr/>
          <p:nvPr/>
        </p:nvSpPr>
        <p:spPr>
          <a:xfrm>
            <a:off x="7450000" y="5380000"/>
            <a:ext cx="870000" cy="460000"/>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215</a:t>
            </a:r>
          </a:p>
        </p:txBody>
      </p:sp>
      <p:sp>
        <p:nvSpPr>
          <p:cNvPr id="89" name="d80"/>
          <p:cNvSpPr/>
          <p:nvPr/>
        </p:nvSpPr>
        <p:spPr>
          <a:xfrm>
            <a:off x="380000" y="5870000"/>
            <a:ext cx="190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151㎥〜</a:t>
            </a:r>
          </a:p>
        </p:txBody>
      </p:sp>
      <p:sp>
        <p:nvSpPr>
          <p:cNvPr id="90" name="d81"/>
          <p:cNvSpPr/>
          <p:nvPr/>
        </p:nvSpPr>
        <p:spPr>
          <a:xfrm>
            <a:off x="2280000" y="5870000"/>
            <a:ext cx="82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160</a:t>
            </a:r>
          </a:p>
        </p:txBody>
      </p:sp>
      <p:sp>
        <p:nvSpPr>
          <p:cNvPr id="91" name="d82"/>
          <p:cNvSpPr/>
          <p:nvPr/>
        </p:nvSpPr>
        <p:spPr>
          <a:xfrm>
            <a:off x="3100000" y="587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192</a:t>
            </a:r>
          </a:p>
        </p:txBody>
      </p:sp>
      <p:sp>
        <p:nvSpPr>
          <p:cNvPr id="92" name="d83"/>
          <p:cNvSpPr/>
          <p:nvPr/>
        </p:nvSpPr>
        <p:spPr>
          <a:xfrm>
            <a:off x="3970000" y="587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225</a:t>
            </a:r>
          </a:p>
        </p:txBody>
      </p:sp>
      <p:sp>
        <p:nvSpPr>
          <p:cNvPr id="93" name="d84"/>
          <p:cNvSpPr/>
          <p:nvPr/>
        </p:nvSpPr>
        <p:spPr>
          <a:xfrm>
            <a:off x="4840000" y="587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208</a:t>
            </a:r>
          </a:p>
        </p:txBody>
      </p:sp>
      <p:sp>
        <p:nvSpPr>
          <p:cNvPr id="94" name="d85"/>
          <p:cNvSpPr/>
          <p:nvPr/>
        </p:nvSpPr>
        <p:spPr>
          <a:xfrm>
            <a:off x="5710000" y="587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255</a:t>
            </a:r>
          </a:p>
        </p:txBody>
      </p:sp>
      <p:sp>
        <p:nvSpPr>
          <p:cNvPr id="95" name="d86"/>
          <p:cNvSpPr/>
          <p:nvPr/>
        </p:nvSpPr>
        <p:spPr>
          <a:xfrm>
            <a:off x="6580000" y="587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198</a:t>
            </a:r>
          </a:p>
        </p:txBody>
      </p:sp>
      <p:sp>
        <p:nvSpPr>
          <p:cNvPr id="96" name="d87"/>
          <p:cNvSpPr/>
          <p:nvPr/>
        </p:nvSpPr>
        <p:spPr>
          <a:xfrm>
            <a:off x="7450000" y="5870000"/>
            <a:ext cx="870000" cy="460000"/>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235</a:t>
            </a:r>
          </a:p>
        </p:txBody>
      </p:sp>
      <p:sp>
        <p:nvSpPr>
          <p:cNvPr id="97" name="note"/>
          <p:cNvSpPr/>
          <p:nvPr/>
        </p:nvSpPr>
        <p:spPr>
          <a:xfrm>
            <a:off x="380000" y="6130000"/>
            <a:ext cx="11431760" cy="390000"/>
          </a:xfrm>
          <a:custGeom>
            <a:avLst/>
            <a:gdLst/>
            <a:ahLst/>
            <a:rect l="l" t="t" r="r" b="b"/>
            <a:pathLst>
              <a:path w="21600" h="21600">
                <a:moveTo>
                  <a:pt x="0" y="0"/>
                </a:moveTo>
                <a:lnTo>
                  <a:pt x="21600" y="0"/>
                </a:lnTo>
                <a:lnTo>
                  <a:pt x="21600" y="21600"/>
                </a:lnTo>
                <a:lnTo>
                  <a:pt x="0" y="21600"/>
                </a:lnTo>
                <a:close/>
              </a:path>
            </a:pathLst>
          </a:custGeom>
          <a:solidFill>
            <a:srgbClr val="EFF6FF"/>
          </a:solidFill>
          <a:ln w="9525">
            <a:solidFill>
              <a:srgbClr val="BFDBFE"/>
            </a:solidFill>
          </a:ln>
        </p:spPr>
        <p:style>
          <a:lnRef idx="0"/>
          <a:fillRef idx="0"/>
          <a:effectRef idx="0"/>
          <a:fontRef idx="minor"/>
        </p:style>
        <p:txBody>
          <a:bodyPr tIns="45720" bIns="45720" lIns="182880" rIns="91440" anchor="ctr">
            <a:noAutofit/>
          </a:bodyPr>
          <a:p>
            <a:pPr algn="l"/>
            <a:r>
              <a:rPr lang="ja-JP" sz="1050" b="0" dirty="0">
                <a:solidFill>
                  <a:srgbClr val="1E40AF"/>
                </a:solidFill>
                <a:latin typeface="Arial"/>
                <a:cs typeface="Noto Sans CJK JP"/>
              </a:rPr>
              <a:t>※ いずれのパターンも20㎥での最終月額（税抜）は3,000円で共通。パターン①は基本料+500円と高め・②は基本料+200円で少量世帯に配慮。</a:t>
            </a:r>
          </a:p>
        </p:txBody>
      </p:sp>
      <p:sp>
        <p:nvSpPr>
          <p:cNvPr id="98" name="pgnum"/>
          <p:cNvSpPr/>
          <p:nvPr/>
        </p:nvSpPr>
        <p:spPr>
          <a:xfrm>
            <a:off x="286200" y="654336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段階的値上げの検討　02-3　推奨ロードマップ案</a:t>
            </a:r>
          </a:p>
        </p:txBody>
      </p:sp>
      <p:sp>
        <p:nvSpPr>
          <p:cNvPr id="16" name="ttl"/>
          <p:cNvSpPr/>
          <p:nvPr/>
        </p:nvSpPr>
        <p:spPr>
          <a:xfrm>
            <a:off x="819360" y="850000"/>
            <a:ext cx="8000000"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推奨ロードマップ案（パターン②）</a:t>
            </a:r>
          </a:p>
        </p:txBody>
      </p:sp>
      <p:sp>
        <p:nvSpPr>
          <p:cNvPr id="17" name="yr0"/>
          <p:cNvSpPr/>
          <p:nvPr/>
        </p:nvSpPr>
        <p:spPr>
          <a:xfrm>
            <a:off x="571680" y="1620000"/>
            <a:ext cx="2120000" cy="35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FFFFFF"/>
                </a:solidFill>
                <a:latin typeface="Noto Sans CJK JP"/>
                <a:cs typeface="Noto Sans CJK JP"/>
              </a:rPr>
              <a:t>R7
（2025）</a:t>
            </a:r>
          </a:p>
        </p:txBody>
      </p:sp>
      <p:sp>
        <p:nvSpPr>
          <p:cNvPr id="18" name="tk0"/>
          <p:cNvSpPr/>
          <p:nvPr/>
        </p:nvSpPr>
        <p:spPr>
          <a:xfrm>
            <a:off x="571680" y="2010000"/>
            <a:ext cx="2120000" cy="145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経営戦略改定
使用料改定
必要性検証</a:t>
            </a:r>
          </a:p>
        </p:txBody>
      </p:sp>
      <p:sp>
        <p:nvSpPr>
          <p:cNvPr id="19" name="bg0"/>
          <p:cNvSpPr/>
          <p:nvPr/>
        </p:nvSpPr>
        <p:spPr>
          <a:xfrm>
            <a:off x="571680" y="3510000"/>
            <a:ext cx="2120000" cy="27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00" b="0" dirty="0">
                <a:solidFill>
                  <a:srgbClr val="78350F"/>
                </a:solidFill>
                <a:latin typeface="Noto Sans CJK JP"/>
                <a:cs typeface="Noto Sans CJK JP"/>
              </a:rPr>
              <a:t>現在</a:t>
            </a:r>
          </a:p>
        </p:txBody>
      </p:sp>
      <p:sp>
        <p:nvSpPr>
          <p:cNvPr id="20" name="yr1"/>
          <p:cNvSpPr/>
          <p:nvPr/>
        </p:nvSpPr>
        <p:spPr>
          <a:xfrm>
            <a:off x="2771680" y="1620000"/>
            <a:ext cx="2120000" cy="35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FFFFFF"/>
                </a:solidFill>
                <a:latin typeface="Noto Sans CJK JP"/>
                <a:cs typeface="Noto Sans CJK JP"/>
              </a:rPr>
              <a:t>R8
（2026）</a:t>
            </a:r>
          </a:p>
        </p:txBody>
      </p:sp>
      <p:sp>
        <p:nvSpPr>
          <p:cNvPr id="21" name="tk1"/>
          <p:cNvSpPr/>
          <p:nvPr/>
        </p:nvSpPr>
        <p:spPr>
          <a:xfrm>
            <a:off x="2771680" y="2010000"/>
            <a:ext cx="2120000" cy="145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審議会・
住民説明会
使用料改定
第1段実施</a:t>
            </a:r>
          </a:p>
        </p:txBody>
      </p:sp>
      <p:sp>
        <p:nvSpPr>
          <p:cNvPr id="22" name="bg1"/>
          <p:cNvSpPr/>
          <p:nvPr/>
        </p:nvSpPr>
        <p:spPr>
          <a:xfrm>
            <a:off x="2771680" y="3510000"/>
            <a:ext cx="2120000" cy="27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00" b="0" dirty="0">
                <a:solidFill>
                  <a:srgbClr val="78350F"/>
                </a:solidFill>
                <a:latin typeface="Noto Sans CJK JP"/>
                <a:cs typeface="Noto Sans CJK JP"/>
              </a:rPr>
              <a:t>今回〜</a:t>
            </a:r>
          </a:p>
        </p:txBody>
      </p:sp>
      <p:sp>
        <p:nvSpPr>
          <p:cNvPr id="23" name="yr2"/>
          <p:cNvSpPr/>
          <p:nvPr/>
        </p:nvSpPr>
        <p:spPr>
          <a:xfrm>
            <a:off x="4971680" y="1620000"/>
            <a:ext cx="2120000" cy="35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FFFFFF"/>
                </a:solidFill>
                <a:latin typeface="Noto Sans CJK JP"/>
                <a:cs typeface="Noto Sans CJK JP"/>
              </a:rPr>
              <a:t>R9
（2027）</a:t>
            </a:r>
          </a:p>
        </p:txBody>
      </p:sp>
      <p:sp>
        <p:nvSpPr>
          <p:cNvPr id="24" name="tk2"/>
          <p:cNvSpPr/>
          <p:nvPr/>
        </p:nvSpPr>
        <p:spPr>
          <a:xfrm>
            <a:off x="4971680" y="2010000"/>
            <a:ext cx="2120000" cy="145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最終単価適用
効果測定
開始</a:t>
            </a:r>
          </a:p>
        </p:txBody>
      </p:sp>
      <p:sp>
        <p:nvSpPr>
          <p:cNvPr id="25" name="yr3"/>
          <p:cNvSpPr/>
          <p:nvPr/>
        </p:nvSpPr>
        <p:spPr>
          <a:xfrm>
            <a:off x="7171680" y="1620000"/>
            <a:ext cx="2120000" cy="35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FFFFFF"/>
                </a:solidFill>
                <a:latin typeface="Noto Sans CJK JP"/>
                <a:cs typeface="Noto Sans CJK JP"/>
              </a:rPr>
              <a:t>R10
（2028）</a:t>
            </a:r>
          </a:p>
        </p:txBody>
      </p:sp>
      <p:sp>
        <p:nvSpPr>
          <p:cNvPr id="26" name="tk3"/>
          <p:cNvSpPr/>
          <p:nvPr/>
        </p:nvSpPr>
        <p:spPr>
          <a:xfrm>
            <a:off x="7171680" y="2010000"/>
            <a:ext cx="2120000" cy="145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経費回収率
目標達成確認
段階的適正化</a:t>
            </a:r>
          </a:p>
        </p:txBody>
      </p:sp>
      <p:sp>
        <p:nvSpPr>
          <p:cNvPr id="27" name="yr4"/>
          <p:cNvSpPr/>
          <p:nvPr/>
        </p:nvSpPr>
        <p:spPr>
          <a:xfrm>
            <a:off x="9371680" y="1620000"/>
            <a:ext cx="2120000" cy="350000"/>
          </a:xfrm>
          <a:custGeom>
            <a:avLst/>
            <a:gdLst/>
            <a:ahLst/>
            <a:cxnLst/>
            <a:rect l="l" t="t" r="r" b="b"/>
            <a:pathLst>
              <a:path w="21600" h="21600">
                <a:moveTo>
                  <a:pt x="0" y="0"/>
                </a:moveTo>
                <a:lnTo>
                  <a:pt x="21600" y="0"/>
                </a:lnTo>
                <a:lnTo>
                  <a:pt x="21600" y="21600"/>
                </a:lnTo>
                <a:lnTo>
                  <a:pt x="0" y="21600"/>
                </a:lnTo>
                <a:close/>
              </a:path>
            </a:pathLst>
          </a:custGeom>
          <a:solidFill>
            <a:srgbClr val="64748B"/>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FFFFFF"/>
                </a:solidFill>
                <a:latin typeface="Noto Sans CJK JP"/>
                <a:cs typeface="Noto Sans CJK JP"/>
              </a:rPr>
              <a:t>R12
（2030）</a:t>
            </a:r>
          </a:p>
        </p:txBody>
      </p:sp>
      <p:sp>
        <p:nvSpPr>
          <p:cNvPr id="28" name="tk4"/>
          <p:cNvSpPr/>
          <p:nvPr/>
        </p:nvSpPr>
        <p:spPr>
          <a:xfrm>
            <a:off x="9371680" y="2010000"/>
            <a:ext cx="2120000" cy="145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経営戦略改定
次回改定
必要性検証</a:t>
            </a:r>
          </a:p>
        </p:txBody>
      </p:sp>
      <p:sp>
        <p:nvSpPr>
          <p:cNvPr id="29" name="ghdr"/>
          <p:cNvSpPr/>
          <p:nvPr/>
        </p:nvSpPr>
        <p:spPr>
          <a:xfrm>
            <a:off x="571680" y="3900000"/>
            <a:ext cx="11048400" cy="29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l"/>
            <a:r>
              <a:rPr lang="ja-JP" sz="1200" b="0" dirty="0">
                <a:solidFill>
                  <a:srgbClr val="FFFFFF"/>
                </a:solidFill>
                <a:latin typeface="Noto Sans CJK JP"/>
                <a:cs typeface="Noto Sans CJK JP"/>
              </a:rPr>
              <a:t>  社会資本整備総合交付金　交付要件チェック</a:t>
            </a:r>
          </a:p>
        </p:txBody>
      </p:sp>
      <p:sp>
        <p:nvSpPr>
          <p:cNvPr id="30" name="ck0"/>
          <p:cNvSpPr/>
          <p:nvPr/>
        </p:nvSpPr>
        <p:spPr>
          <a:xfrm>
            <a:off x="571680" y="4240000"/>
            <a:ext cx="2750000" cy="7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FCA5A5"/>
            </a:solidFill>
          </a:ln>
        </p:spPr>
        <p:style>
          <a:lnRef idx="0">
            <a:scrgbClr r="0" g="0" b="0"/>
          </a:lnRef>
          <a:fillRef idx="0">
            <a:scrgbClr r="0" g="0" b="0"/>
          </a:fillRef>
          <a:effectRef idx="0">
            <a:scrgbClr r="0" g="0" b="0"/>
          </a:effectRef>
          <a:fontRef idx="minor"/>
        </p:style>
        <p:txBody>
          <a:bodyPr lIns="91440" tIns="60000" rIns="114300" bIns="60000" anchor="ctr">
            <a:noAutofit/>
          </a:bodyPr>
          <a:lstStyle/>
          <a:p>
            <a:pPr algn="l"/>
            <a:r>
              <a:rPr lang="ja-JP" sz="1000" b="0" dirty="0">
                <a:solidFill>
                  <a:srgbClr val="166534"/>
                </a:solidFill>
                <a:latin typeface="Noto Sans CJK JP"/>
                <a:cs typeface="Noto Sans CJK JP"/>
              </a:rPr>
              <a:t>✔ 公営企業会計の適用
R6.4移行済み
【達成済】</a:t>
            </a:r>
          </a:p>
        </p:txBody>
      </p:sp>
      <p:sp>
        <p:nvSpPr>
          <p:cNvPr id="31" name="ck1"/>
          <p:cNvSpPr/>
          <p:nvPr/>
        </p:nvSpPr>
        <p:spPr>
          <a:xfrm>
            <a:off x="3471680" y="4240000"/>
            <a:ext cx="2750000" cy="7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FCA5A5"/>
            </a:solidFill>
          </a:ln>
        </p:spPr>
        <p:style>
          <a:lnRef idx="0">
            <a:scrgbClr r="0" g="0" b="0"/>
          </a:lnRef>
          <a:fillRef idx="0">
            <a:scrgbClr r="0" g="0" b="0"/>
          </a:fillRef>
          <a:effectRef idx="0">
            <a:scrgbClr r="0" g="0" b="0"/>
          </a:effectRef>
          <a:fontRef idx="minor"/>
        </p:style>
        <p:txBody>
          <a:bodyPr lIns="91440" tIns="60000" rIns="114300" bIns="60000" anchor="ctr">
            <a:noAutofit/>
          </a:bodyPr>
          <a:lstStyle/>
          <a:p>
            <a:pPr algn="l"/>
            <a:r>
              <a:rPr lang="ja-JP" sz="1000" b="0" dirty="0">
                <a:solidFill>
                  <a:srgbClr val="F97316"/>
                </a:solidFill>
                <a:latin typeface="Noto Sans CJK JP"/>
                <a:cs typeface="Noto Sans CJK JP"/>
              </a:rPr>
              <a:t>✔ 使用料改定の必要性検証
R7年度（今回審議）
【対応中】</a:t>
            </a:r>
          </a:p>
        </p:txBody>
      </p:sp>
      <p:sp>
        <p:nvSpPr>
          <p:cNvPr id="32" name="ck2"/>
          <p:cNvSpPr/>
          <p:nvPr/>
        </p:nvSpPr>
        <p:spPr>
          <a:xfrm>
            <a:off x="6371680" y="4240000"/>
            <a:ext cx="2750000" cy="7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FCA5A5"/>
            </a:solidFill>
          </a:ln>
        </p:spPr>
        <p:style>
          <a:lnRef idx="0">
            <a:scrgbClr r="0" g="0" b="0"/>
          </a:lnRef>
          <a:fillRef idx="0">
            <a:scrgbClr r="0" g="0" b="0"/>
          </a:fillRef>
          <a:effectRef idx="0">
            <a:scrgbClr r="0" g="0" b="0"/>
          </a:effectRef>
          <a:fontRef idx="minor"/>
        </p:style>
        <p:txBody>
          <a:bodyPr lIns="91440" tIns="60000" rIns="114300" bIns="60000" anchor="ctr">
            <a:noAutofit/>
          </a:bodyPr>
          <a:lstStyle/>
          <a:p>
            <a:pPr algn="l"/>
            <a:r>
              <a:rPr lang="ja-JP" sz="1000" b="0" dirty="0">
                <a:solidFill>
                  <a:srgbClr val="F97316"/>
                </a:solidFill>
                <a:latin typeface="Noto Sans CJK JP"/>
                <a:cs typeface="Noto Sans CJK JP"/>
              </a:rPr>
              <a:t>✔ 経費回収率ロードマップ
R7年度末に策定・公表
【対応中】</a:t>
            </a:r>
          </a:p>
        </p:txBody>
      </p:sp>
      <p:sp>
        <p:nvSpPr>
          <p:cNvPr id="33" name="ck3"/>
          <p:cNvSpPr/>
          <p:nvPr/>
        </p:nvSpPr>
        <p:spPr>
          <a:xfrm>
            <a:off x="9271680" y="4240000"/>
            <a:ext cx="2750000" cy="7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FCA5A5"/>
            </a:solidFill>
          </a:ln>
        </p:spPr>
        <p:style>
          <a:lnRef idx="0">
            <a:scrgbClr r="0" g="0" b="0"/>
          </a:lnRef>
          <a:fillRef idx="0">
            <a:scrgbClr r="0" g="0" b="0"/>
          </a:fillRef>
          <a:effectRef idx="0">
            <a:scrgbClr r="0" g="0" b="0"/>
          </a:effectRef>
          <a:fontRef idx="minor"/>
        </p:style>
        <p:txBody>
          <a:bodyPr lIns="91440" tIns="60000" rIns="114300" bIns="60000" anchor="ctr">
            <a:noAutofit/>
          </a:bodyPr>
          <a:lstStyle/>
          <a:p>
            <a:pPr algn="l"/>
            <a:r>
              <a:rPr lang="ja-JP" sz="1000" b="0" dirty="0">
                <a:solidFill>
                  <a:srgbClr val="64748B"/>
                </a:solidFill>
                <a:latin typeface="Noto Sans CJK JP"/>
                <a:cs typeface="Noto Sans CJK JP"/>
              </a:rPr>
              <a:t>✔ 経費回収率向上達成
R10以降
【計画中】</a:t>
            </a:r>
          </a:p>
        </p:txBody>
      </p:sp>
      <p:sp>
        <p:nvSpPr>
          <p:cNvPr id="34"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sec_panel"/>
          <p:cNvSpPr/>
          <p:nvPr/>
        </p:nvSpPr>
        <p:spPr>
          <a:xfrm>
            <a:off x="0" y="0"/>
            <a:ext cx="3200000" cy="6858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sec_num"/>
          <p:cNvSpPr/>
          <p:nvPr/>
        </p:nvSpPr>
        <p:spPr>
          <a:xfrm>
            <a:off x="200000" y="2000000"/>
            <a:ext cx="2800000" cy="18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0" b="0" dirty="0">
                <a:solidFill>
                  <a:srgbClr val="FFFFFF"/>
                </a:solidFill>
                <a:latin typeface="Arial"/>
                <a:cs typeface="Noto Sans CJK JP"/>
              </a:rPr>
              <a:t>03</a:t>
            </a:r>
          </a:p>
        </p:txBody>
      </p:sp>
      <p:sp>
        <p:nvSpPr>
          <p:cNvPr id="22" name="sec_lbl"/>
          <p:cNvSpPr/>
          <p:nvPr/>
        </p:nvSpPr>
        <p:spPr>
          <a:xfrm>
            <a:off x="200000" y="3850000"/>
            <a:ext cx="28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800" b="0" dirty="0">
                <a:solidFill>
                  <a:srgbClr val="FFFFFF"/>
                </a:solidFill>
                <a:latin typeface="Noto Sans CJK JP"/>
                <a:cs typeface="Noto Sans CJK JP"/>
              </a:rPr>
              <a:t>SECTION</a:t>
            </a:r>
          </a:p>
        </p:txBody>
      </p:sp>
      <p:sp>
        <p:nvSpPr>
          <p:cNvPr id="23" name="right_bg"/>
          <p:cNvSpPr/>
          <p:nvPr/>
        </p:nvSpPr>
        <p:spPr>
          <a:xfrm>
            <a:off x="3200000" y="0"/>
            <a:ext cx="8991760" cy="6858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sub_lbl"/>
          <p:cNvSpPr/>
          <p:nvPr/>
        </p:nvSpPr>
        <p:spPr>
          <a:xfrm>
            <a:off x="3600000" y="1200000"/>
            <a:ext cx="3000000" cy="3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1600" b="0" dirty="0">
                <a:solidFill>
                  <a:srgbClr val="1E3A8A"/>
                </a:solidFill>
                <a:latin typeface="Noto Sans CJK JP"/>
                <a:cs typeface="Noto Sans CJK JP"/>
              </a:rPr>
              <a:t>下水道事業</a:t>
            </a:r>
          </a:p>
        </p:txBody>
      </p:sp>
      <p:sp>
        <p:nvSpPr>
          <p:cNvPr id="25" name="main_ttl"/>
          <p:cNvSpPr/>
          <p:nvPr/>
        </p:nvSpPr>
        <p:spPr>
          <a:xfrm>
            <a:off x="3600000" y="1640000"/>
            <a:ext cx="8400000" cy="12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0" dirty="0">
                <a:solidFill>
                  <a:srgbClr val="1E293B"/>
                </a:solidFill>
                <a:latin typeface="Arial"/>
                <a:cs typeface="Noto Sans CJK JP"/>
              </a:rPr>
              <a:t>財政健全化目標との整合性</a:t>
            </a:r>
          </a:p>
        </p:txBody>
      </p:sp>
      <p:sp>
        <p:nvSpPr>
          <p:cNvPr id="26" name="acc_line"/>
          <p:cNvSpPr/>
          <p:nvPr/>
        </p:nvSpPr>
        <p:spPr>
          <a:xfrm>
            <a:off x="3600000" y="2880000"/>
            <a:ext cx="600000" cy="38520"/>
          </a:xfrm>
          <a:custGeom>
            <a:avLst/>
            <a:gdLst/>
            <a:ahLst/>
            <a:cxnLst/>
            <a:rect l="l" t="t" r="r" b="b"/>
            <a:pathLst>
              <a:path w="21600" h="21600">
                <a:moveTo>
                  <a:pt x="0" y="0"/>
                </a:moveTo>
                <a:lnTo>
                  <a:pt x="21600" y="0"/>
                </a:lnTo>
                <a:lnTo>
                  <a:pt x="21600" y="21600"/>
                </a:lnTo>
                <a:lnTo>
                  <a:pt x="0" y="21600"/>
                </a:lnTo>
                <a:close/>
              </a:path>
            </a:pathLst>
          </a:custGeom>
          <a:solidFill>
            <a:srgbClr val="3B82F6"/>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7" name="desc"/>
          <p:cNvSpPr/>
          <p:nvPr/>
        </p:nvSpPr>
        <p:spPr>
          <a:xfrm>
            <a:off x="3600000" y="3080000"/>
            <a:ext cx="8200000" cy="24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45720" anchor="ctr">
            <a:noAutofit/>
          </a:bodyPr>
          <a:lstStyle/>
          <a:p>
            <a:pPr algn="l"/>
            <a:r>
              <a:rPr lang="ja-JP" sz="2200" b="0" dirty="0">
                <a:solidFill>
                  <a:srgbClr val="475569"/>
                </a:solidFill>
                <a:latin typeface="Noto Sans CJK JP"/>
                <a:cs typeface="Noto Sans CJK JP"/>
              </a:rPr>
              <a:t>本章では、推奨パターン採用時の経常収支比率・経費回収率の見込みを確認し、財政健全化目標値の設定について審議いただきます。</a:t>
            </a:r>
          </a:p>
        </p:txBody>
      </p:sp>
      <p:sp>
        <p:nvSpPr>
          <p:cNvPr id="28" name="pgnum"/>
          <p:cNvSpPr/>
          <p:nvPr/>
        </p:nvSpPr>
        <p:spPr>
          <a:xfrm>
            <a:off x="11200000" y="657000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lIns="0" tIns="0" rIns="0" bIns="0" anchor="ctr">
            <a:noAutofit/>
          </a:bodyPr>
          <a:lstStyle/>
          <a:p>
            <a:pPr algn="ctr"/>
            <a:r>
              <a:rPr lang="ja-JP" sz="900" b="1" dirty="0">
                <a:solidFill>
                  <a:srgbClr val="FFFFFF"/>
                </a:solidFill>
                <a:latin typeface="Arial"/>
                <a:cs typeface="Noto Sans CJK JP"/>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財政健全化目標との整合性　03-1　経常収支比率の見込み</a:t>
            </a:r>
          </a:p>
        </p:txBody>
      </p:sp>
      <p:sp>
        <p:nvSpPr>
          <p:cNvPr id="16" name="ttl"/>
          <p:cNvSpPr/>
          <p:nvPr/>
        </p:nvSpPr>
        <p:spPr>
          <a:xfrm>
            <a:off x="819360" y="850000"/>
            <a:ext cx="8000000"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経常収支比率の見込み（パターン②採用時）</a:t>
            </a:r>
          </a:p>
        </p:txBody>
      </p:sp>
      <p:sp>
        <p:nvSpPr>
          <p:cNvPr id="17" name="lh0"/>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公共下水道</a:t>
            </a:r>
          </a:p>
        </p:txBody>
      </p:sp>
      <p:sp>
        <p:nvSpPr>
          <p:cNvPr id="18" name="tg0"/>
          <p:cNvSpPr/>
          <p:nvPr/>
        </p:nvSpPr>
        <p:spPr>
          <a:xfrm>
            <a:off x="571680" y="1960000"/>
            <a:ext cx="5500000" cy="25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050" b="0" dirty="0">
                <a:solidFill>
                  <a:srgbClr val="1E40AF"/>
                </a:solidFill>
                <a:latin typeface="Noto Sans CJK JP"/>
                <a:cs typeface="Noto Sans CJK JP"/>
              </a:rPr>
              <a:t>目標：経常収支比率 100%以上（単年度黒字）</a:t>
            </a:r>
          </a:p>
        </p:txBody>
      </p:sp>
      <p:sp>
        <p:nvSpPr>
          <p:cNvPr id="19" name="rv00"/>
          <p:cNvSpPr/>
          <p:nvPr/>
        </p:nvSpPr>
        <p:spPr>
          <a:xfrm>
            <a:off x="571680" y="2260000"/>
            <a:ext cx="5500000" cy="82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R7（現行）
経常収支比率：90〜95%
（改定なし）</a:t>
            </a:r>
          </a:p>
        </p:txBody>
      </p:sp>
      <p:sp>
        <p:nvSpPr>
          <p:cNvPr id="20" name="rv01"/>
          <p:cNvSpPr/>
          <p:nvPr/>
        </p:nvSpPr>
        <p:spPr>
          <a:xfrm>
            <a:off x="571680" y="3130000"/>
            <a:ext cx="5500000" cy="82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R8（第1段適用）
経常収支比率：100%前後
（改定開始）</a:t>
            </a:r>
          </a:p>
        </p:txBody>
      </p:sp>
      <p:sp>
        <p:nvSpPr>
          <p:cNvPr id="21" name="rv02"/>
          <p:cNvSpPr/>
          <p:nvPr/>
        </p:nvSpPr>
        <p:spPr>
          <a:xfrm>
            <a:off x="571680" y="4000000"/>
            <a:ext cx="5500000" cy="82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E3A8A"/>
                </a:solidFill>
                <a:latin typeface="Noto Sans CJK JP"/>
                <a:cs typeface="Noto Sans CJK JP"/>
              </a:rPr>
              <a:t>R9（最終単価）
経常収支比率：103〜105%
（目標達成）</a:t>
            </a:r>
          </a:p>
        </p:txBody>
      </p:sp>
      <p:sp>
        <p:nvSpPr>
          <p:cNvPr id="22" name="rv03"/>
          <p:cNvSpPr/>
          <p:nvPr/>
        </p:nvSpPr>
        <p:spPr>
          <a:xfrm>
            <a:off x="571680" y="4870000"/>
            <a:ext cx="5500000" cy="820000"/>
          </a:xfrm>
          <a:custGeom>
            <a:avLst/>
            <a:gdLst/>
            <a:ahLst/>
            <a:cxnLst/>
            <a:rect l="l" t="t" r="r" b="b"/>
            <a:pathLst>
              <a:path w="21600" h="21600">
                <a:moveTo>
                  <a:pt x="0" y="0"/>
                </a:moveTo>
                <a:lnTo>
                  <a:pt x="21600" y="0"/>
                </a:lnTo>
                <a:lnTo>
                  <a:pt x="21600" y="21600"/>
                </a:lnTo>
                <a:lnTo>
                  <a:pt x="0" y="21600"/>
                </a:lnTo>
                <a:close/>
              </a:path>
            </a:pathLst>
          </a:custGeom>
          <a:solidFill>
            <a:srgbClr val="BBF7D0"/>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E3A8A"/>
                </a:solidFill>
                <a:latin typeface="Noto Sans CJK JP"/>
                <a:cs typeface="Noto Sans CJK JP"/>
              </a:rPr>
              <a:t>R10〜
経常収支比率：105%以上
（安定的黒字）</a:t>
            </a:r>
          </a:p>
        </p:txBody>
      </p:sp>
      <p:sp>
        <p:nvSpPr>
          <p:cNvPr id="23" name="lh1"/>
          <p:cNvSpPr/>
          <p:nvPr/>
        </p:nvSpPr>
        <p:spPr>
          <a:xfrm>
            <a:off x="62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農業集落排水</a:t>
            </a:r>
          </a:p>
        </p:txBody>
      </p:sp>
      <p:sp>
        <p:nvSpPr>
          <p:cNvPr id="24" name="tg1"/>
          <p:cNvSpPr/>
          <p:nvPr/>
        </p:nvSpPr>
        <p:spPr>
          <a:xfrm>
            <a:off x="6271680" y="1960000"/>
            <a:ext cx="5500000" cy="25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050" b="0" dirty="0">
                <a:solidFill>
                  <a:srgbClr val="1E40AF"/>
                </a:solidFill>
                <a:latin typeface="Noto Sans CJK JP"/>
                <a:cs typeface="Noto Sans CJK JP"/>
              </a:rPr>
              <a:t>目標：経常収支比率 100%以上（単年度黒字）</a:t>
            </a:r>
          </a:p>
        </p:txBody>
      </p:sp>
      <p:sp>
        <p:nvSpPr>
          <p:cNvPr id="25" name="rv10"/>
          <p:cNvSpPr/>
          <p:nvPr/>
        </p:nvSpPr>
        <p:spPr>
          <a:xfrm>
            <a:off x="6271680" y="2260000"/>
            <a:ext cx="5500000" cy="82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R7（現行）
経常収支比率：92〜95%
（改定なし）</a:t>
            </a:r>
          </a:p>
        </p:txBody>
      </p:sp>
      <p:sp>
        <p:nvSpPr>
          <p:cNvPr id="26" name="rv11"/>
          <p:cNvSpPr/>
          <p:nvPr/>
        </p:nvSpPr>
        <p:spPr>
          <a:xfrm>
            <a:off x="6271680" y="3130000"/>
            <a:ext cx="5500000" cy="82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R8（第1段適用）
経常収支比率：100%前後
（改定開始）</a:t>
            </a:r>
          </a:p>
        </p:txBody>
      </p:sp>
      <p:sp>
        <p:nvSpPr>
          <p:cNvPr id="27" name="rv12"/>
          <p:cNvSpPr/>
          <p:nvPr/>
        </p:nvSpPr>
        <p:spPr>
          <a:xfrm>
            <a:off x="6271680" y="4000000"/>
            <a:ext cx="5500000" cy="82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66534"/>
                </a:solidFill>
                <a:latin typeface="Noto Sans CJK JP"/>
                <a:cs typeface="Noto Sans CJK JP"/>
              </a:rPr>
              <a:t>R9（最終単価）
経常収支比率：101〜103%
（目標達成）</a:t>
            </a:r>
          </a:p>
        </p:txBody>
      </p:sp>
      <p:sp>
        <p:nvSpPr>
          <p:cNvPr id="28" name="rv13"/>
          <p:cNvSpPr/>
          <p:nvPr/>
        </p:nvSpPr>
        <p:spPr>
          <a:xfrm>
            <a:off x="6271680" y="4870000"/>
            <a:ext cx="5500000" cy="820000"/>
          </a:xfrm>
          <a:custGeom>
            <a:avLst/>
            <a:gdLst/>
            <a:ahLst/>
            <a:cxnLst/>
            <a:rect l="l" t="t" r="r" b="b"/>
            <a:pathLst>
              <a:path w="21600" h="21600">
                <a:moveTo>
                  <a:pt x="0" y="0"/>
                </a:moveTo>
                <a:lnTo>
                  <a:pt x="21600" y="0"/>
                </a:lnTo>
                <a:lnTo>
                  <a:pt x="21600" y="21600"/>
                </a:lnTo>
                <a:lnTo>
                  <a:pt x="0" y="21600"/>
                </a:lnTo>
                <a:close/>
              </a:path>
            </a:pathLst>
          </a:custGeom>
          <a:solidFill>
            <a:srgbClr val="BBF7D0"/>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66534"/>
                </a:solidFill>
                <a:latin typeface="Noto Sans CJK JP"/>
                <a:cs typeface="Noto Sans CJK JP"/>
              </a:rPr>
              <a:t>R10〜
経常収支比率：103%以上
（安定的黒字）</a:t>
            </a:r>
          </a:p>
        </p:txBody>
      </p:sp>
      <p:sp>
        <p:nvSpPr>
          <p:cNvPr id="29" name="nt13"/>
          <p:cNvSpPr/>
          <p:nvPr/>
        </p:nvSpPr>
        <p:spPr>
          <a:xfrm>
            <a:off x="571680" y="5800000"/>
            <a:ext cx="11048400" cy="3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16653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66534"/>
                </a:solidFill>
                <a:latin typeface="Noto Sans CJK JP"/>
                <a:cs typeface="Noto Sans CJK JP"/>
              </a:rPr>
              <a:t>✔ パターン②採用により、公共・農集ともにR9年度には経常収支比率100%超（単年度黒字）を達成できる見込みです。</a:t>
            </a:r>
          </a:p>
        </p:txBody>
      </p:sp>
      <p:sp>
        <p:nvSpPr>
          <p:cNvPr id="30"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財政健全化目標との整合性　03-2　経費回収率の見込みと目標値設定</a:t>
            </a:r>
          </a:p>
        </p:txBody>
      </p:sp>
      <p:sp>
        <p:nvSpPr>
          <p:cNvPr id="16" name="ttl"/>
          <p:cNvSpPr/>
          <p:nvPr/>
        </p:nvSpPr>
        <p:spPr>
          <a:xfrm>
            <a:off x="819360" y="850000"/>
            <a:ext cx="8000000"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経費回収率の見込みと目標値の設定（案）</a:t>
            </a:r>
          </a:p>
        </p:txBody>
      </p:sp>
      <p:sp>
        <p:nvSpPr>
          <p:cNvPr id="17" name="th14"/>
          <p:cNvSpPr/>
          <p:nvPr/>
        </p:nvSpPr>
        <p:spPr>
          <a:xfrm>
            <a:off x="5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年度</a:t>
            </a:r>
          </a:p>
        </p:txBody>
      </p:sp>
      <p:sp>
        <p:nvSpPr>
          <p:cNvPr id="18" name="th14"/>
          <p:cNvSpPr/>
          <p:nvPr/>
        </p:nvSpPr>
        <p:spPr>
          <a:xfrm>
            <a:off x="22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公共（改定なし）</a:t>
            </a:r>
          </a:p>
        </p:txBody>
      </p:sp>
      <p:sp>
        <p:nvSpPr>
          <p:cNvPr id="19" name="th14"/>
          <p:cNvSpPr/>
          <p:nvPr/>
        </p:nvSpPr>
        <p:spPr>
          <a:xfrm>
            <a:off x="3971680" y="1620000"/>
            <a:ext cx="16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公共（パターン②）</a:t>
            </a:r>
          </a:p>
        </p:txBody>
      </p:sp>
      <p:sp>
        <p:nvSpPr>
          <p:cNvPr id="20" name="th14"/>
          <p:cNvSpPr/>
          <p:nvPr/>
        </p:nvSpPr>
        <p:spPr>
          <a:xfrm>
            <a:off x="57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農集（改定なし）</a:t>
            </a:r>
          </a:p>
        </p:txBody>
      </p:sp>
      <p:sp>
        <p:nvSpPr>
          <p:cNvPr id="21" name="th14"/>
          <p:cNvSpPr/>
          <p:nvPr/>
        </p:nvSpPr>
        <p:spPr>
          <a:xfrm>
            <a:off x="7471680" y="1620000"/>
            <a:ext cx="16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農集（パターン②）</a:t>
            </a:r>
          </a:p>
        </p:txBody>
      </p:sp>
      <p:sp>
        <p:nvSpPr>
          <p:cNvPr id="22" name="th14"/>
          <p:cNvSpPr/>
          <p:nvPr/>
        </p:nvSpPr>
        <p:spPr>
          <a:xfrm>
            <a:off x="9271680" y="1620000"/>
            <a:ext cx="187832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目標水準（案）</a:t>
            </a:r>
          </a:p>
        </p:txBody>
      </p:sp>
      <p:sp>
        <p:nvSpPr>
          <p:cNvPr id="23" name="d1400"/>
          <p:cNvSpPr/>
          <p:nvPr/>
        </p:nvSpPr>
        <p:spPr>
          <a:xfrm>
            <a:off x="571680" y="195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R7</a:t>
            </a:r>
          </a:p>
        </p:txBody>
      </p:sp>
      <p:sp>
        <p:nvSpPr>
          <p:cNvPr id="24" name="d1401"/>
          <p:cNvSpPr/>
          <p:nvPr/>
        </p:nvSpPr>
        <p:spPr>
          <a:xfrm>
            <a:off x="2271680" y="195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Arial"/>
                <a:cs typeface="Noto Sans CJK JP"/>
              </a:rPr>
              <a:t>47%</a:t>
            </a:r>
          </a:p>
        </p:txBody>
      </p:sp>
      <p:sp>
        <p:nvSpPr>
          <p:cNvPr id="25" name="d1402"/>
          <p:cNvSpPr/>
          <p:nvPr/>
        </p:nvSpPr>
        <p:spPr>
          <a:xfrm>
            <a:off x="3971680" y="1950000"/>
            <a:ext cx="16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Arial"/>
                <a:cs typeface="Noto Sans CJK JP"/>
              </a:rPr>
              <a:t>47%</a:t>
            </a:r>
          </a:p>
        </p:txBody>
      </p:sp>
      <p:sp>
        <p:nvSpPr>
          <p:cNvPr id="26" name="d1403"/>
          <p:cNvSpPr/>
          <p:nvPr/>
        </p:nvSpPr>
        <p:spPr>
          <a:xfrm>
            <a:off x="5771680" y="195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Arial"/>
                <a:cs typeface="Noto Sans CJK JP"/>
              </a:rPr>
              <a:t>35%</a:t>
            </a:r>
          </a:p>
        </p:txBody>
      </p:sp>
      <p:sp>
        <p:nvSpPr>
          <p:cNvPr id="27" name="d1404"/>
          <p:cNvSpPr/>
          <p:nvPr/>
        </p:nvSpPr>
        <p:spPr>
          <a:xfrm>
            <a:off x="7471680" y="1950000"/>
            <a:ext cx="16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Arial"/>
                <a:cs typeface="Noto Sans CJK JP"/>
              </a:rPr>
              <a:t>35%</a:t>
            </a:r>
          </a:p>
        </p:txBody>
      </p:sp>
      <p:sp>
        <p:nvSpPr>
          <p:cNvPr id="28" name="d1405"/>
          <p:cNvSpPr/>
          <p:nvPr/>
        </p:nvSpPr>
        <p:spPr>
          <a:xfrm>
            <a:off x="9271680" y="1950000"/>
            <a:ext cx="187832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Arial"/>
                <a:cs typeface="Noto Sans CJK JP"/>
              </a:rPr>
              <a:t>—</a:t>
            </a:r>
          </a:p>
        </p:txBody>
      </p:sp>
      <p:sp>
        <p:nvSpPr>
          <p:cNvPr id="29" name="d1410"/>
          <p:cNvSpPr/>
          <p:nvPr/>
        </p:nvSpPr>
        <p:spPr>
          <a:xfrm>
            <a:off x="571680" y="257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R8</a:t>
            </a:r>
          </a:p>
        </p:txBody>
      </p:sp>
      <p:sp>
        <p:nvSpPr>
          <p:cNvPr id="30" name="d1411"/>
          <p:cNvSpPr/>
          <p:nvPr/>
        </p:nvSpPr>
        <p:spPr>
          <a:xfrm>
            <a:off x="2271680" y="257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Arial"/>
                <a:cs typeface="Noto Sans CJK JP"/>
              </a:rPr>
              <a:t>45%</a:t>
            </a:r>
          </a:p>
        </p:txBody>
      </p:sp>
      <p:sp>
        <p:nvSpPr>
          <p:cNvPr id="31" name="d1412"/>
          <p:cNvSpPr/>
          <p:nvPr/>
        </p:nvSpPr>
        <p:spPr>
          <a:xfrm>
            <a:off x="3971680" y="2570000"/>
            <a:ext cx="160000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Arial"/>
                <a:cs typeface="Noto Sans CJK JP"/>
              </a:rPr>
              <a:t>55%</a:t>
            </a:r>
          </a:p>
        </p:txBody>
      </p:sp>
      <p:sp>
        <p:nvSpPr>
          <p:cNvPr id="32" name="d1413"/>
          <p:cNvSpPr/>
          <p:nvPr/>
        </p:nvSpPr>
        <p:spPr>
          <a:xfrm>
            <a:off x="5771680" y="257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Arial"/>
                <a:cs typeface="Noto Sans CJK JP"/>
              </a:rPr>
              <a:t>33%</a:t>
            </a:r>
          </a:p>
        </p:txBody>
      </p:sp>
      <p:sp>
        <p:nvSpPr>
          <p:cNvPr id="33" name="d1414"/>
          <p:cNvSpPr/>
          <p:nvPr/>
        </p:nvSpPr>
        <p:spPr>
          <a:xfrm>
            <a:off x="7471680" y="2570000"/>
            <a:ext cx="160000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Arial"/>
                <a:cs typeface="Noto Sans CJK JP"/>
              </a:rPr>
              <a:t>44%</a:t>
            </a:r>
          </a:p>
        </p:txBody>
      </p:sp>
      <p:sp>
        <p:nvSpPr>
          <p:cNvPr id="34" name="d1415"/>
          <p:cNvSpPr/>
          <p:nvPr/>
        </p:nvSpPr>
        <p:spPr>
          <a:xfrm>
            <a:off x="9271680" y="2570000"/>
            <a:ext cx="187832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Arial"/>
                <a:cs typeface="Noto Sans CJK JP"/>
              </a:rPr>
              <a:t>—</a:t>
            </a:r>
          </a:p>
        </p:txBody>
      </p:sp>
      <p:sp>
        <p:nvSpPr>
          <p:cNvPr id="35" name="d1420"/>
          <p:cNvSpPr/>
          <p:nvPr/>
        </p:nvSpPr>
        <p:spPr>
          <a:xfrm>
            <a:off x="571680" y="319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R9</a:t>
            </a:r>
          </a:p>
        </p:txBody>
      </p:sp>
      <p:sp>
        <p:nvSpPr>
          <p:cNvPr id="36" name="d1421"/>
          <p:cNvSpPr/>
          <p:nvPr/>
        </p:nvSpPr>
        <p:spPr>
          <a:xfrm>
            <a:off x="2271680" y="319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EF4444"/>
                </a:solidFill>
                <a:latin typeface="Arial"/>
                <a:cs typeface="Noto Sans CJK JP"/>
              </a:rPr>
              <a:t>43%</a:t>
            </a:r>
          </a:p>
        </p:txBody>
      </p:sp>
      <p:sp>
        <p:nvSpPr>
          <p:cNvPr id="37" name="d1422"/>
          <p:cNvSpPr/>
          <p:nvPr/>
        </p:nvSpPr>
        <p:spPr>
          <a:xfrm>
            <a:off x="3971680" y="3190000"/>
            <a:ext cx="16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60%</a:t>
            </a:r>
          </a:p>
        </p:txBody>
      </p:sp>
      <p:sp>
        <p:nvSpPr>
          <p:cNvPr id="38" name="d1423"/>
          <p:cNvSpPr/>
          <p:nvPr/>
        </p:nvSpPr>
        <p:spPr>
          <a:xfrm>
            <a:off x="5771680" y="319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EF4444"/>
                </a:solidFill>
                <a:latin typeface="Arial"/>
                <a:cs typeface="Noto Sans CJK JP"/>
              </a:rPr>
              <a:t>31%</a:t>
            </a:r>
          </a:p>
        </p:txBody>
      </p:sp>
      <p:sp>
        <p:nvSpPr>
          <p:cNvPr id="39" name="d1424"/>
          <p:cNvSpPr/>
          <p:nvPr/>
        </p:nvSpPr>
        <p:spPr>
          <a:xfrm>
            <a:off x="7471680" y="3190000"/>
            <a:ext cx="16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47%</a:t>
            </a:r>
          </a:p>
        </p:txBody>
      </p:sp>
      <p:sp>
        <p:nvSpPr>
          <p:cNvPr id="40" name="d1425"/>
          <p:cNvSpPr/>
          <p:nvPr/>
        </p:nvSpPr>
        <p:spPr>
          <a:xfrm>
            <a:off x="9271680" y="3190000"/>
            <a:ext cx="187832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40AF"/>
                </a:solidFill>
                <a:latin typeface="Arial"/>
                <a:cs typeface="Noto Sans CJK JP"/>
              </a:rPr>
              <a:t>47%以上</a:t>
            </a:r>
          </a:p>
        </p:txBody>
      </p:sp>
      <p:sp>
        <p:nvSpPr>
          <p:cNvPr id="41" name="d1430"/>
          <p:cNvSpPr/>
          <p:nvPr/>
        </p:nvSpPr>
        <p:spPr>
          <a:xfrm>
            <a:off x="571680" y="381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R10</a:t>
            </a:r>
          </a:p>
        </p:txBody>
      </p:sp>
      <p:sp>
        <p:nvSpPr>
          <p:cNvPr id="42" name="d1431"/>
          <p:cNvSpPr/>
          <p:nvPr/>
        </p:nvSpPr>
        <p:spPr>
          <a:xfrm>
            <a:off x="2271680" y="381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EF4444"/>
                </a:solidFill>
                <a:latin typeface="Arial"/>
                <a:cs typeface="Noto Sans CJK JP"/>
              </a:rPr>
              <a:t>41%</a:t>
            </a:r>
          </a:p>
        </p:txBody>
      </p:sp>
      <p:sp>
        <p:nvSpPr>
          <p:cNvPr id="43" name="d1432"/>
          <p:cNvSpPr/>
          <p:nvPr/>
        </p:nvSpPr>
        <p:spPr>
          <a:xfrm>
            <a:off x="3971680" y="3810000"/>
            <a:ext cx="160000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63%</a:t>
            </a:r>
          </a:p>
        </p:txBody>
      </p:sp>
      <p:sp>
        <p:nvSpPr>
          <p:cNvPr id="44" name="d1433"/>
          <p:cNvSpPr/>
          <p:nvPr/>
        </p:nvSpPr>
        <p:spPr>
          <a:xfrm>
            <a:off x="5771680" y="381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EF4444"/>
                </a:solidFill>
                <a:latin typeface="Arial"/>
                <a:cs typeface="Noto Sans CJK JP"/>
              </a:rPr>
              <a:t>29%</a:t>
            </a:r>
          </a:p>
        </p:txBody>
      </p:sp>
      <p:sp>
        <p:nvSpPr>
          <p:cNvPr id="45" name="d1434"/>
          <p:cNvSpPr/>
          <p:nvPr/>
        </p:nvSpPr>
        <p:spPr>
          <a:xfrm>
            <a:off x="7471680" y="3810000"/>
            <a:ext cx="160000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52%</a:t>
            </a:r>
          </a:p>
        </p:txBody>
      </p:sp>
      <p:sp>
        <p:nvSpPr>
          <p:cNvPr id="46" name="d1435"/>
          <p:cNvSpPr/>
          <p:nvPr/>
        </p:nvSpPr>
        <p:spPr>
          <a:xfrm>
            <a:off x="9271680" y="3810000"/>
            <a:ext cx="1878320" cy="59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40AF"/>
                </a:solidFill>
                <a:latin typeface="Arial"/>
                <a:cs typeface="Noto Sans CJK JP"/>
              </a:rPr>
              <a:t>50%以上</a:t>
            </a:r>
          </a:p>
        </p:txBody>
      </p:sp>
      <p:sp>
        <p:nvSpPr>
          <p:cNvPr id="47" name="d1440"/>
          <p:cNvSpPr/>
          <p:nvPr/>
        </p:nvSpPr>
        <p:spPr>
          <a:xfrm>
            <a:off x="571680" y="443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R12</a:t>
            </a:r>
          </a:p>
        </p:txBody>
      </p:sp>
      <p:sp>
        <p:nvSpPr>
          <p:cNvPr id="48" name="d1441"/>
          <p:cNvSpPr/>
          <p:nvPr/>
        </p:nvSpPr>
        <p:spPr>
          <a:xfrm>
            <a:off x="2271680" y="443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EF4444"/>
                </a:solidFill>
                <a:latin typeface="Arial"/>
                <a:cs typeface="Noto Sans CJK JP"/>
              </a:rPr>
              <a:t>38%</a:t>
            </a:r>
          </a:p>
        </p:txBody>
      </p:sp>
      <p:sp>
        <p:nvSpPr>
          <p:cNvPr id="49" name="d1442"/>
          <p:cNvSpPr/>
          <p:nvPr/>
        </p:nvSpPr>
        <p:spPr>
          <a:xfrm>
            <a:off x="3971680" y="4430000"/>
            <a:ext cx="16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65%</a:t>
            </a:r>
          </a:p>
        </p:txBody>
      </p:sp>
      <p:sp>
        <p:nvSpPr>
          <p:cNvPr id="50" name="d1443"/>
          <p:cNvSpPr/>
          <p:nvPr/>
        </p:nvSpPr>
        <p:spPr>
          <a:xfrm>
            <a:off x="5771680" y="4430000"/>
            <a:ext cx="15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EF4444"/>
                </a:solidFill>
                <a:latin typeface="Arial"/>
                <a:cs typeface="Noto Sans CJK JP"/>
              </a:rPr>
              <a:t>26%</a:t>
            </a:r>
          </a:p>
        </p:txBody>
      </p:sp>
      <p:sp>
        <p:nvSpPr>
          <p:cNvPr id="51" name="d1444"/>
          <p:cNvSpPr/>
          <p:nvPr/>
        </p:nvSpPr>
        <p:spPr>
          <a:xfrm>
            <a:off x="7471680" y="4430000"/>
            <a:ext cx="160000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55%</a:t>
            </a:r>
          </a:p>
        </p:txBody>
      </p:sp>
      <p:sp>
        <p:nvSpPr>
          <p:cNvPr id="52" name="d1445"/>
          <p:cNvSpPr/>
          <p:nvPr/>
        </p:nvSpPr>
        <p:spPr>
          <a:xfrm>
            <a:off x="9271680" y="4430000"/>
            <a:ext cx="1878320" cy="59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40AF"/>
                </a:solidFill>
                <a:latin typeface="Arial"/>
                <a:cs typeface="Noto Sans CJK JP"/>
              </a:rPr>
              <a:t>55%以上</a:t>
            </a:r>
          </a:p>
        </p:txBody>
      </p:sp>
      <p:sp>
        <p:nvSpPr>
          <p:cNvPr id="53" name="nt14"/>
          <p:cNvSpPr/>
          <p:nvPr/>
        </p:nvSpPr>
        <p:spPr>
          <a:xfrm>
            <a:off x="571680" y="5100000"/>
            <a:ext cx="11048400" cy="4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150" b="0" dirty="0">
                <a:solidFill>
                  <a:srgbClr val="78350F"/>
                </a:solidFill>
                <a:latin typeface="Noto Sans CJK JP"/>
                <a:cs typeface="Noto Sans CJK JP"/>
              </a:rPr>
              <a:t>▶ 目標値の設定（審議事項）：R9に47%以上 → R10に50%以上 → R12に55%以上とする段階的目標値を提案します。</a:t>
            </a:r>
          </a:p>
        </p:txBody>
      </p:sp>
      <p:sp>
        <p:nvSpPr>
          <p:cNvPr id="54"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0" name="hb"/>
          <p:cNvSpPr/>
          <p:nvPr/>
        </p:nvSpPr>
        <p:spPr>
          <a:xfrm>
            <a:off x="0" y="0"/>
            <a:ext cx="12191760" cy="570000"/>
          </a:xfrm>
          <a:custGeom>
            <a:avLst/>
            <a:gdLst/>
            <a:ahLst/>
            <a:rect l="l" t="t" r="r" b="b"/>
            <a:pathLst>
              <a:path w="21600" h="21600">
                <a:moveTo>
                  <a:pt x="0" y="0"/>
                </a:moveTo>
                <a:lnTo>
                  <a:pt x="21600" y="0"/>
                </a:lnTo>
                <a:lnTo>
                  <a:pt x="21600" y="21600"/>
                </a:lnTo>
                <a:lnTo>
                  <a:pt x="0" y="21600"/>
                </a:lnTo>
                <a:close/>
              </a:path>
            </a:pathLst>
          </a:custGeom>
          <a:solidFill>
            <a:srgbClr val="1E293B"/>
          </a:solidFill>
          <a:ln w="0">
            <a:noFill/>
          </a:ln>
        </p:spPr>
        <p:style>
          <a:lnRef idx="0"/>
          <a:fillRef idx="0"/>
          <a:effectRef idx="0"/>
          <a:fontRef idx="minor"/>
        </p:style>
        <p:txBody>
          <a:bodyPr tIns="91440" bIns="91440" lIns="182880" rIns="91440" anchor="ctr">
            <a:noAutofit/>
          </a:bodyPr>
          <a:p>
            <a:pPr algn="l"/>
            <a:r>
              <a:rPr lang="ja-JP" sz="1700" b="0" dirty="0">
                <a:solidFill>
                  <a:srgbClr val="FFFFFF"/>
                </a:solidFill>
                <a:latin typeface="Arial"/>
                <a:cs typeface="Noto Sans CJK JP"/>
              </a:rPr>
              <a:t>  財政健全化目標との整合性　03-3　全パターン指標比較</a:t>
            </a:r>
          </a:p>
        </p:txBody>
      </p:sp>
      <p:sp>
        <p:nvSpPr>
          <p:cNvPr id="11" name="hl"/>
          <p:cNvSpPr/>
          <p:nvPr/>
        </p:nvSpPr>
        <p:spPr>
          <a:xfrm>
            <a:off x="0" y="570000"/>
            <a:ext cx="12191760" cy="19080"/>
          </a:xfrm>
          <a:custGeom>
            <a:avLst/>
            <a:gdLst/>
            <a:ahLst/>
            <a:rect l="l" t="t" r="r" b="b"/>
            <a:pathLst>
              <a:path w="21600" h="21600">
                <a:moveTo>
                  <a:pt x="0" y="0"/>
                </a:moveTo>
                <a:lnTo>
                  <a:pt x="21600" y="0"/>
                </a:lnTo>
                <a:lnTo>
                  <a:pt x="21600" y="21600"/>
                </a:lnTo>
                <a:lnTo>
                  <a:pt x="0" y="21600"/>
                </a:lnTo>
                <a:close/>
              </a:path>
            </a:pathLst>
          </a:custGeom>
          <a:solidFill>
            <a:srgbClr val="3B82F6"/>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570000"/>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0000"/>
            <a:ext cx="10800000" cy="52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2200" b="0" dirty="0">
                <a:solidFill>
                  <a:srgbClr val="1E293B"/>
                </a:solidFill>
                <a:latin typeface="Arial"/>
                <a:cs typeface="Noto Sans CJK JP"/>
              </a:rPr>
              <a:t>パターン別　経常収支比率・経費回収率の見込み比較</a:t>
            </a:r>
          </a:p>
        </p:txBody>
      </p:sp>
      <p:sp>
        <p:nvSpPr>
          <p:cNvPr id="14" name="hcr"/>
          <p:cNvSpPr/>
          <p:nvPr/>
        </p:nvSpPr>
        <p:spPr>
          <a:xfrm>
            <a:off x="380000" y="1380000"/>
            <a:ext cx="1143176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l"/>
            <a:r>
              <a:rPr lang="ja-JP" sz="1100" b="0" dirty="0">
                <a:solidFill>
                  <a:srgbClr val="FFFFFF"/>
                </a:solidFill>
                <a:latin typeface="Arial"/>
                <a:cs typeface="Noto Sans CJK JP"/>
              </a:rPr>
              <a:t>  経常収支比率（目標：単年度100%以上）</a:t>
            </a:r>
          </a:p>
        </p:txBody>
      </p:sp>
      <p:sp>
        <p:nvSpPr>
          <p:cNvPr id="15" name="gpub"/>
          <p:cNvSpPr/>
          <p:nvPr/>
        </p:nvSpPr>
        <p:spPr>
          <a:xfrm>
            <a:off x="1280000" y="1690000"/>
            <a:ext cx="4650000" cy="24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16" name="gagr"/>
          <p:cNvSpPr/>
          <p:nvPr/>
        </p:nvSpPr>
        <p:spPr>
          <a:xfrm>
            <a:off x="5930000" y="1690000"/>
            <a:ext cx="4641760" cy="24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17" name="th0"/>
          <p:cNvSpPr/>
          <p:nvPr/>
        </p:nvSpPr>
        <p:spPr>
          <a:xfrm>
            <a:off x="380000" y="1960000"/>
            <a:ext cx="90000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年度</a:t>
            </a:r>
          </a:p>
        </p:txBody>
      </p:sp>
      <p:sp>
        <p:nvSpPr>
          <p:cNvPr id="18" name="th1"/>
          <p:cNvSpPr/>
          <p:nvPr/>
        </p:nvSpPr>
        <p:spPr>
          <a:xfrm>
            <a:off x="128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19" name="th2"/>
          <p:cNvSpPr/>
          <p:nvPr/>
        </p:nvSpPr>
        <p:spPr>
          <a:xfrm>
            <a:off x="283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20" name="th3"/>
          <p:cNvSpPr/>
          <p:nvPr/>
        </p:nvSpPr>
        <p:spPr>
          <a:xfrm>
            <a:off x="438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21" name="th4"/>
          <p:cNvSpPr/>
          <p:nvPr/>
        </p:nvSpPr>
        <p:spPr>
          <a:xfrm>
            <a:off x="593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22" name="th5"/>
          <p:cNvSpPr/>
          <p:nvPr/>
        </p:nvSpPr>
        <p:spPr>
          <a:xfrm>
            <a:off x="748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23" name="th6"/>
          <p:cNvSpPr/>
          <p:nvPr/>
        </p:nvSpPr>
        <p:spPr>
          <a:xfrm>
            <a:off x="9030000" y="1960000"/>
            <a:ext cx="154176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24" name="cr00"/>
          <p:cNvSpPr/>
          <p:nvPr/>
        </p:nvSpPr>
        <p:spPr>
          <a:xfrm>
            <a:off x="380000" y="2280000"/>
            <a:ext cx="90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R7</a:t>
            </a:r>
          </a:p>
        </p:txBody>
      </p:sp>
      <p:sp>
        <p:nvSpPr>
          <p:cNvPr id="25" name="cr01"/>
          <p:cNvSpPr/>
          <p:nvPr/>
        </p:nvSpPr>
        <p:spPr>
          <a:xfrm>
            <a:off x="128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90〜95%</a:t>
            </a:r>
          </a:p>
        </p:txBody>
      </p:sp>
      <p:sp>
        <p:nvSpPr>
          <p:cNvPr id="26" name="cr02"/>
          <p:cNvSpPr/>
          <p:nvPr/>
        </p:nvSpPr>
        <p:spPr>
          <a:xfrm>
            <a:off x="283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90〜95%</a:t>
            </a:r>
          </a:p>
        </p:txBody>
      </p:sp>
      <p:sp>
        <p:nvSpPr>
          <p:cNvPr id="27" name="cr03"/>
          <p:cNvSpPr/>
          <p:nvPr/>
        </p:nvSpPr>
        <p:spPr>
          <a:xfrm>
            <a:off x="438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90〜95%</a:t>
            </a:r>
          </a:p>
        </p:txBody>
      </p:sp>
      <p:sp>
        <p:nvSpPr>
          <p:cNvPr id="28" name="cr04"/>
          <p:cNvSpPr/>
          <p:nvPr/>
        </p:nvSpPr>
        <p:spPr>
          <a:xfrm>
            <a:off x="593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92〜95%</a:t>
            </a:r>
          </a:p>
        </p:txBody>
      </p:sp>
      <p:sp>
        <p:nvSpPr>
          <p:cNvPr id="29" name="cr05"/>
          <p:cNvSpPr/>
          <p:nvPr/>
        </p:nvSpPr>
        <p:spPr>
          <a:xfrm>
            <a:off x="748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92〜95%</a:t>
            </a:r>
          </a:p>
        </p:txBody>
      </p:sp>
      <p:sp>
        <p:nvSpPr>
          <p:cNvPr id="30" name="cr06"/>
          <p:cNvSpPr/>
          <p:nvPr/>
        </p:nvSpPr>
        <p:spPr>
          <a:xfrm>
            <a:off x="9030000" y="2280000"/>
            <a:ext cx="154176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92〜95%</a:t>
            </a:r>
          </a:p>
        </p:txBody>
      </p:sp>
      <p:sp>
        <p:nvSpPr>
          <p:cNvPr id="31" name="cr10"/>
          <p:cNvSpPr/>
          <p:nvPr/>
        </p:nvSpPr>
        <p:spPr>
          <a:xfrm>
            <a:off x="380000" y="2600000"/>
            <a:ext cx="90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R8</a:t>
            </a:r>
          </a:p>
        </p:txBody>
      </p:sp>
      <p:sp>
        <p:nvSpPr>
          <p:cNvPr id="32" name="cr11"/>
          <p:cNvSpPr/>
          <p:nvPr/>
        </p:nvSpPr>
        <p:spPr>
          <a:xfrm>
            <a:off x="128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101〜103%</a:t>
            </a:r>
          </a:p>
        </p:txBody>
      </p:sp>
      <p:sp>
        <p:nvSpPr>
          <p:cNvPr id="33" name="cr12"/>
          <p:cNvSpPr/>
          <p:nvPr/>
        </p:nvSpPr>
        <p:spPr>
          <a:xfrm>
            <a:off x="283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100%前後</a:t>
            </a:r>
          </a:p>
        </p:txBody>
      </p:sp>
      <p:sp>
        <p:nvSpPr>
          <p:cNvPr id="34" name="cr13"/>
          <p:cNvSpPr/>
          <p:nvPr/>
        </p:nvSpPr>
        <p:spPr>
          <a:xfrm>
            <a:off x="438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100〜102%</a:t>
            </a:r>
          </a:p>
        </p:txBody>
      </p:sp>
      <p:sp>
        <p:nvSpPr>
          <p:cNvPr id="35" name="cr14"/>
          <p:cNvSpPr/>
          <p:nvPr/>
        </p:nvSpPr>
        <p:spPr>
          <a:xfrm>
            <a:off x="593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102〜104%</a:t>
            </a:r>
          </a:p>
        </p:txBody>
      </p:sp>
      <p:sp>
        <p:nvSpPr>
          <p:cNvPr id="36" name="cr15"/>
          <p:cNvSpPr/>
          <p:nvPr/>
        </p:nvSpPr>
        <p:spPr>
          <a:xfrm>
            <a:off x="748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100%前後</a:t>
            </a:r>
          </a:p>
        </p:txBody>
      </p:sp>
      <p:sp>
        <p:nvSpPr>
          <p:cNvPr id="37" name="cr16"/>
          <p:cNvSpPr/>
          <p:nvPr/>
        </p:nvSpPr>
        <p:spPr>
          <a:xfrm>
            <a:off x="9030000" y="2600000"/>
            <a:ext cx="154176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101〜103%</a:t>
            </a:r>
          </a:p>
        </p:txBody>
      </p:sp>
      <p:sp>
        <p:nvSpPr>
          <p:cNvPr id="38" name="cr20"/>
          <p:cNvSpPr/>
          <p:nvPr/>
        </p:nvSpPr>
        <p:spPr>
          <a:xfrm>
            <a:off x="380000" y="2920000"/>
            <a:ext cx="90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R9</a:t>
            </a:r>
          </a:p>
        </p:txBody>
      </p:sp>
      <p:sp>
        <p:nvSpPr>
          <p:cNvPr id="39" name="cr21"/>
          <p:cNvSpPr/>
          <p:nvPr/>
        </p:nvSpPr>
        <p:spPr>
          <a:xfrm>
            <a:off x="128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105〜108%</a:t>
            </a:r>
          </a:p>
        </p:txBody>
      </p:sp>
      <p:sp>
        <p:nvSpPr>
          <p:cNvPr id="40" name="cr22"/>
          <p:cNvSpPr/>
          <p:nvPr/>
        </p:nvSpPr>
        <p:spPr>
          <a:xfrm>
            <a:off x="283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103〜105%</a:t>
            </a:r>
          </a:p>
        </p:txBody>
      </p:sp>
      <p:sp>
        <p:nvSpPr>
          <p:cNvPr id="41" name="cr23"/>
          <p:cNvSpPr/>
          <p:nvPr/>
        </p:nvSpPr>
        <p:spPr>
          <a:xfrm>
            <a:off x="438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104〜106%</a:t>
            </a:r>
          </a:p>
        </p:txBody>
      </p:sp>
      <p:sp>
        <p:nvSpPr>
          <p:cNvPr id="42" name="cr24"/>
          <p:cNvSpPr/>
          <p:nvPr/>
        </p:nvSpPr>
        <p:spPr>
          <a:xfrm>
            <a:off x="593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106〜109%</a:t>
            </a:r>
          </a:p>
        </p:txBody>
      </p:sp>
      <p:sp>
        <p:nvSpPr>
          <p:cNvPr id="43" name="cr25"/>
          <p:cNvSpPr/>
          <p:nvPr/>
        </p:nvSpPr>
        <p:spPr>
          <a:xfrm>
            <a:off x="748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101〜103%</a:t>
            </a:r>
          </a:p>
        </p:txBody>
      </p:sp>
      <p:sp>
        <p:nvSpPr>
          <p:cNvPr id="44" name="cr26"/>
          <p:cNvSpPr/>
          <p:nvPr/>
        </p:nvSpPr>
        <p:spPr>
          <a:xfrm>
            <a:off x="9030000" y="2920000"/>
            <a:ext cx="154176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104〜107%</a:t>
            </a:r>
          </a:p>
        </p:txBody>
      </p:sp>
      <p:sp>
        <p:nvSpPr>
          <p:cNvPr id="45" name="her"/>
          <p:cNvSpPr/>
          <p:nvPr/>
        </p:nvSpPr>
        <p:spPr>
          <a:xfrm>
            <a:off x="380000" y="3330000"/>
            <a:ext cx="1143176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l"/>
            <a:r>
              <a:rPr lang="ja-JP" sz="1100" b="0" dirty="0">
                <a:solidFill>
                  <a:srgbClr val="FFFFFF"/>
                </a:solidFill>
                <a:latin typeface="Arial"/>
                <a:cs typeface="Noto Sans CJK JP"/>
              </a:rPr>
              <a:t>  経費回収率（目標：47%以上）</a:t>
            </a:r>
          </a:p>
        </p:txBody>
      </p:sp>
      <p:sp>
        <p:nvSpPr>
          <p:cNvPr id="46" name="gpub2"/>
          <p:cNvSpPr/>
          <p:nvPr/>
        </p:nvSpPr>
        <p:spPr>
          <a:xfrm>
            <a:off x="1280000" y="3640000"/>
            <a:ext cx="4650000" cy="24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47" name="gagr2"/>
          <p:cNvSpPr/>
          <p:nvPr/>
        </p:nvSpPr>
        <p:spPr>
          <a:xfrm>
            <a:off x="5930000" y="3640000"/>
            <a:ext cx="4641760" cy="24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48" name="th20"/>
          <p:cNvSpPr/>
          <p:nvPr/>
        </p:nvSpPr>
        <p:spPr>
          <a:xfrm>
            <a:off x="380000" y="3910000"/>
            <a:ext cx="90000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年度</a:t>
            </a:r>
          </a:p>
        </p:txBody>
      </p:sp>
      <p:sp>
        <p:nvSpPr>
          <p:cNvPr id="49" name="th21"/>
          <p:cNvSpPr/>
          <p:nvPr/>
        </p:nvSpPr>
        <p:spPr>
          <a:xfrm>
            <a:off x="128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50" name="th22"/>
          <p:cNvSpPr/>
          <p:nvPr/>
        </p:nvSpPr>
        <p:spPr>
          <a:xfrm>
            <a:off x="283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51" name="th23"/>
          <p:cNvSpPr/>
          <p:nvPr/>
        </p:nvSpPr>
        <p:spPr>
          <a:xfrm>
            <a:off x="438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52" name="th24"/>
          <p:cNvSpPr/>
          <p:nvPr/>
        </p:nvSpPr>
        <p:spPr>
          <a:xfrm>
            <a:off x="593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53" name="th25"/>
          <p:cNvSpPr/>
          <p:nvPr/>
        </p:nvSpPr>
        <p:spPr>
          <a:xfrm>
            <a:off x="748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54" name="th26"/>
          <p:cNvSpPr/>
          <p:nvPr/>
        </p:nvSpPr>
        <p:spPr>
          <a:xfrm>
            <a:off x="9030000" y="3910000"/>
            <a:ext cx="154176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55" name="er00"/>
          <p:cNvSpPr/>
          <p:nvPr/>
        </p:nvSpPr>
        <p:spPr>
          <a:xfrm>
            <a:off x="380000" y="4230000"/>
            <a:ext cx="90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R7</a:t>
            </a:r>
          </a:p>
        </p:txBody>
      </p:sp>
      <p:sp>
        <p:nvSpPr>
          <p:cNvPr id="56" name="er01"/>
          <p:cNvSpPr/>
          <p:nvPr/>
        </p:nvSpPr>
        <p:spPr>
          <a:xfrm>
            <a:off x="128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47%</a:t>
            </a:r>
          </a:p>
        </p:txBody>
      </p:sp>
      <p:sp>
        <p:nvSpPr>
          <p:cNvPr id="57" name="er02"/>
          <p:cNvSpPr/>
          <p:nvPr/>
        </p:nvSpPr>
        <p:spPr>
          <a:xfrm>
            <a:off x="283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47%</a:t>
            </a:r>
          </a:p>
        </p:txBody>
      </p:sp>
      <p:sp>
        <p:nvSpPr>
          <p:cNvPr id="58" name="er03"/>
          <p:cNvSpPr/>
          <p:nvPr/>
        </p:nvSpPr>
        <p:spPr>
          <a:xfrm>
            <a:off x="438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47%</a:t>
            </a:r>
          </a:p>
        </p:txBody>
      </p:sp>
      <p:sp>
        <p:nvSpPr>
          <p:cNvPr id="59" name="er04"/>
          <p:cNvSpPr/>
          <p:nvPr/>
        </p:nvSpPr>
        <p:spPr>
          <a:xfrm>
            <a:off x="593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35%</a:t>
            </a:r>
          </a:p>
        </p:txBody>
      </p:sp>
      <p:sp>
        <p:nvSpPr>
          <p:cNvPr id="60" name="er05"/>
          <p:cNvSpPr/>
          <p:nvPr/>
        </p:nvSpPr>
        <p:spPr>
          <a:xfrm>
            <a:off x="748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35%</a:t>
            </a:r>
          </a:p>
        </p:txBody>
      </p:sp>
      <p:sp>
        <p:nvSpPr>
          <p:cNvPr id="61" name="er06"/>
          <p:cNvSpPr/>
          <p:nvPr/>
        </p:nvSpPr>
        <p:spPr>
          <a:xfrm>
            <a:off x="9030000" y="4230000"/>
            <a:ext cx="154176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35%</a:t>
            </a:r>
          </a:p>
        </p:txBody>
      </p:sp>
      <p:sp>
        <p:nvSpPr>
          <p:cNvPr id="62" name="er10"/>
          <p:cNvSpPr/>
          <p:nvPr/>
        </p:nvSpPr>
        <p:spPr>
          <a:xfrm>
            <a:off x="380000" y="4550000"/>
            <a:ext cx="90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R8</a:t>
            </a:r>
          </a:p>
        </p:txBody>
      </p:sp>
      <p:sp>
        <p:nvSpPr>
          <p:cNvPr id="63" name="er11"/>
          <p:cNvSpPr/>
          <p:nvPr/>
        </p:nvSpPr>
        <p:spPr>
          <a:xfrm>
            <a:off x="128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58%</a:t>
            </a:r>
          </a:p>
        </p:txBody>
      </p:sp>
      <p:sp>
        <p:nvSpPr>
          <p:cNvPr id="64" name="er12"/>
          <p:cNvSpPr/>
          <p:nvPr/>
        </p:nvSpPr>
        <p:spPr>
          <a:xfrm>
            <a:off x="283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55%</a:t>
            </a:r>
          </a:p>
        </p:txBody>
      </p:sp>
      <p:sp>
        <p:nvSpPr>
          <p:cNvPr id="65" name="er13"/>
          <p:cNvSpPr/>
          <p:nvPr/>
        </p:nvSpPr>
        <p:spPr>
          <a:xfrm>
            <a:off x="438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56%</a:t>
            </a:r>
          </a:p>
        </p:txBody>
      </p:sp>
      <p:sp>
        <p:nvSpPr>
          <p:cNvPr id="66" name="er14"/>
          <p:cNvSpPr/>
          <p:nvPr/>
        </p:nvSpPr>
        <p:spPr>
          <a:xfrm>
            <a:off x="593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47%</a:t>
            </a:r>
          </a:p>
        </p:txBody>
      </p:sp>
      <p:sp>
        <p:nvSpPr>
          <p:cNvPr id="67" name="er15"/>
          <p:cNvSpPr/>
          <p:nvPr/>
        </p:nvSpPr>
        <p:spPr>
          <a:xfrm>
            <a:off x="748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44%</a:t>
            </a:r>
          </a:p>
        </p:txBody>
      </p:sp>
      <p:sp>
        <p:nvSpPr>
          <p:cNvPr id="68" name="er16"/>
          <p:cNvSpPr/>
          <p:nvPr/>
        </p:nvSpPr>
        <p:spPr>
          <a:xfrm>
            <a:off x="9030000" y="4550000"/>
            <a:ext cx="154176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45%</a:t>
            </a:r>
          </a:p>
        </p:txBody>
      </p:sp>
      <p:sp>
        <p:nvSpPr>
          <p:cNvPr id="69" name="er20"/>
          <p:cNvSpPr/>
          <p:nvPr/>
        </p:nvSpPr>
        <p:spPr>
          <a:xfrm>
            <a:off x="380000" y="4870000"/>
            <a:ext cx="90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R9</a:t>
            </a:r>
          </a:p>
        </p:txBody>
      </p:sp>
      <p:sp>
        <p:nvSpPr>
          <p:cNvPr id="70" name="er21"/>
          <p:cNvSpPr/>
          <p:nvPr/>
        </p:nvSpPr>
        <p:spPr>
          <a:xfrm>
            <a:off x="128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63%以上</a:t>
            </a:r>
          </a:p>
        </p:txBody>
      </p:sp>
      <p:sp>
        <p:nvSpPr>
          <p:cNvPr id="71" name="er22"/>
          <p:cNvSpPr/>
          <p:nvPr/>
        </p:nvSpPr>
        <p:spPr>
          <a:xfrm>
            <a:off x="283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60%以上</a:t>
            </a:r>
          </a:p>
        </p:txBody>
      </p:sp>
      <p:sp>
        <p:nvSpPr>
          <p:cNvPr id="72" name="er23"/>
          <p:cNvSpPr/>
          <p:nvPr/>
        </p:nvSpPr>
        <p:spPr>
          <a:xfrm>
            <a:off x="438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61%以上</a:t>
            </a:r>
          </a:p>
        </p:txBody>
      </p:sp>
      <p:sp>
        <p:nvSpPr>
          <p:cNvPr id="73" name="er24"/>
          <p:cNvSpPr/>
          <p:nvPr/>
        </p:nvSpPr>
        <p:spPr>
          <a:xfrm>
            <a:off x="593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52%以上</a:t>
            </a:r>
          </a:p>
        </p:txBody>
      </p:sp>
      <p:sp>
        <p:nvSpPr>
          <p:cNvPr id="74" name="er25"/>
          <p:cNvSpPr/>
          <p:nvPr/>
        </p:nvSpPr>
        <p:spPr>
          <a:xfrm>
            <a:off x="748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47%以上</a:t>
            </a:r>
          </a:p>
        </p:txBody>
      </p:sp>
      <p:sp>
        <p:nvSpPr>
          <p:cNvPr id="75" name="er26"/>
          <p:cNvSpPr/>
          <p:nvPr/>
        </p:nvSpPr>
        <p:spPr>
          <a:xfrm>
            <a:off x="9030000" y="4870000"/>
            <a:ext cx="154176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48%以上</a:t>
            </a:r>
          </a:p>
        </p:txBody>
      </p:sp>
      <p:sp>
        <p:nvSpPr>
          <p:cNvPr id="76" name="note"/>
          <p:cNvSpPr/>
          <p:nvPr/>
        </p:nvSpPr>
        <p:spPr>
          <a:xfrm>
            <a:off x="380000" y="5210000"/>
            <a:ext cx="11431760" cy="420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fillRef idx="0"/>
          <a:effectRef idx="0"/>
          <a:fontRef idx="minor"/>
        </p:style>
        <p:txBody>
          <a:bodyPr tIns="45720" bIns="45720" lIns="182880" rIns="91440" anchor="ctr">
            <a:noAutofit/>
          </a:bodyPr>
          <a:p>
            <a:pPr algn="l"/>
            <a:r>
              <a:rPr lang="ja-JP" sz="1050" b="0" dirty="0">
                <a:solidFill>
                  <a:srgbClr val="78350F"/>
                </a:solidFill>
                <a:latin typeface="Arial"/>
                <a:cs typeface="Noto Sans CJK JP"/>
              </a:rPr>
              <a:t>▶ ①が最も早く目標達成（R9公共63%・農集52%）。②は少量世帯配慮のため農集R9が47%ギリギリ。④はバランス型。いずれもR9に経常100%超を達成する見込みです。</a:t>
            </a:r>
          </a:p>
        </p:txBody>
      </p:sp>
      <p:sp>
        <p:nvSpPr>
          <p:cNvPr id="77" name="pgnum"/>
          <p:cNvSpPr/>
          <p:nvPr/>
        </p:nvSpPr>
        <p:spPr>
          <a:xfrm>
            <a:off x="286200" y="654336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sec_panel"/>
          <p:cNvSpPr/>
          <p:nvPr/>
        </p:nvSpPr>
        <p:spPr>
          <a:xfrm>
            <a:off x="0" y="0"/>
            <a:ext cx="3200000" cy="6858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sec_num"/>
          <p:cNvSpPr/>
          <p:nvPr/>
        </p:nvSpPr>
        <p:spPr>
          <a:xfrm>
            <a:off x="200000" y="2000000"/>
            <a:ext cx="2800000" cy="18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0" b="0" dirty="0">
                <a:solidFill>
                  <a:srgbClr val="FFFFFF"/>
                </a:solidFill>
                <a:latin typeface="Arial"/>
                <a:cs typeface="Noto Sans CJK JP"/>
              </a:rPr>
              <a:t>04</a:t>
            </a:r>
          </a:p>
        </p:txBody>
      </p:sp>
      <p:sp>
        <p:nvSpPr>
          <p:cNvPr id="22" name="sec_lbl"/>
          <p:cNvSpPr/>
          <p:nvPr/>
        </p:nvSpPr>
        <p:spPr>
          <a:xfrm>
            <a:off x="200000" y="3850000"/>
            <a:ext cx="28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800" b="0" dirty="0">
                <a:solidFill>
                  <a:srgbClr val="FFFFFF"/>
                </a:solidFill>
                <a:latin typeface="Noto Sans CJK JP"/>
                <a:cs typeface="Noto Sans CJK JP"/>
              </a:rPr>
              <a:t>SECTION</a:t>
            </a:r>
          </a:p>
        </p:txBody>
      </p:sp>
      <p:sp>
        <p:nvSpPr>
          <p:cNvPr id="23" name="right_bg"/>
          <p:cNvSpPr/>
          <p:nvPr/>
        </p:nvSpPr>
        <p:spPr>
          <a:xfrm>
            <a:off x="3200000" y="0"/>
            <a:ext cx="8991760" cy="6858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sub_lbl"/>
          <p:cNvSpPr/>
          <p:nvPr/>
        </p:nvSpPr>
        <p:spPr>
          <a:xfrm>
            <a:off x="3600000" y="1200000"/>
            <a:ext cx="3000000" cy="3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1600" b="0" dirty="0">
                <a:solidFill>
                  <a:srgbClr val="1E3A8A"/>
                </a:solidFill>
                <a:latin typeface="Noto Sans CJK JP"/>
                <a:cs typeface="Noto Sans CJK JP"/>
              </a:rPr>
              <a:t>下水道事業</a:t>
            </a:r>
          </a:p>
        </p:txBody>
      </p:sp>
      <p:sp>
        <p:nvSpPr>
          <p:cNvPr id="25" name="main_ttl"/>
          <p:cNvSpPr/>
          <p:nvPr/>
        </p:nvSpPr>
        <p:spPr>
          <a:xfrm>
            <a:off x="3600000" y="1640000"/>
            <a:ext cx="8400000" cy="12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0" dirty="0">
                <a:solidFill>
                  <a:srgbClr val="1E293B"/>
                </a:solidFill>
                <a:latin typeface="Arial"/>
                <a:cs typeface="Noto Sans CJK JP"/>
              </a:rPr>
              <a:t>住民への影響・説明対応</a:t>
            </a:r>
          </a:p>
        </p:txBody>
      </p:sp>
      <p:sp>
        <p:nvSpPr>
          <p:cNvPr id="26" name="acc_line"/>
          <p:cNvSpPr/>
          <p:nvPr/>
        </p:nvSpPr>
        <p:spPr>
          <a:xfrm>
            <a:off x="3600000" y="2880000"/>
            <a:ext cx="600000" cy="38520"/>
          </a:xfrm>
          <a:custGeom>
            <a:avLst/>
            <a:gdLst/>
            <a:ahLst/>
            <a:cxnLst/>
            <a:rect l="l" t="t" r="r" b="b"/>
            <a:pathLst>
              <a:path w="21600" h="21600">
                <a:moveTo>
                  <a:pt x="0" y="0"/>
                </a:moveTo>
                <a:lnTo>
                  <a:pt x="21600" y="0"/>
                </a:lnTo>
                <a:lnTo>
                  <a:pt x="21600" y="21600"/>
                </a:lnTo>
                <a:lnTo>
                  <a:pt x="0" y="21600"/>
                </a:lnTo>
                <a:close/>
              </a:path>
            </a:pathLst>
          </a:custGeom>
          <a:solidFill>
            <a:srgbClr val="3B82F6"/>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7" name="desc"/>
          <p:cNvSpPr/>
          <p:nvPr/>
        </p:nvSpPr>
        <p:spPr>
          <a:xfrm>
            <a:off x="3600000" y="3080000"/>
            <a:ext cx="8200000" cy="24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45720" anchor="ctr">
            <a:noAutofit/>
          </a:bodyPr>
          <a:lstStyle/>
          <a:p>
            <a:pPr algn="l"/>
            <a:r>
              <a:rPr lang="ja-JP" sz="2200" b="0" dirty="0">
                <a:solidFill>
                  <a:srgbClr val="475569"/>
                </a:solidFill>
                <a:latin typeface="Noto Sans CJK JP"/>
                <a:cs typeface="Noto Sans CJK JP"/>
              </a:rPr>
              <a:t>本章では、改定パターン採用時の住民・事業所別影響額と、
住民説明会の実施計画（案）を整理します。</a:t>
            </a:r>
          </a:p>
        </p:txBody>
      </p:sp>
      <p:sp>
        <p:nvSpPr>
          <p:cNvPr id="28" name="pgnum"/>
          <p:cNvSpPr/>
          <p:nvPr/>
        </p:nvSpPr>
        <p:spPr>
          <a:xfrm>
            <a:off x="11200000" y="657000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lIns="0" tIns="0" rIns="0" bIns="0" anchor="ctr">
            <a:noAutofit/>
          </a:bodyPr>
          <a:lstStyle/>
          <a:p>
            <a:pPr algn="ctr"/>
            <a:r>
              <a:rPr lang="ja-JP" sz="900" b="1" dirty="0">
                <a:solidFill>
                  <a:srgbClr val="FFFFFF"/>
                </a:solidFill>
                <a:latin typeface="Arial"/>
                <a:cs typeface="Noto Sans CJK JP"/>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住民への影響・説明対応　04-1　家庭・事業所別影響額（パターン②・税込）</a:t>
            </a:r>
          </a:p>
        </p:txBody>
      </p:sp>
      <p:sp>
        <p:nvSpPr>
          <p:cNvPr id="16" name="ttl"/>
          <p:cNvSpPr/>
          <p:nvPr/>
        </p:nvSpPr>
        <p:spPr>
          <a:xfrm>
            <a:off x="819360" y="850000"/>
            <a:ext cx="8000000"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家庭・事業所別　月額影響額（パターン②・税込）</a:t>
            </a:r>
          </a:p>
        </p:txBody>
      </p:sp>
      <p:sp>
        <p:nvSpPr>
          <p:cNvPr id="17" name="hh"/>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200" b="0" dirty="0">
                <a:solidFill>
                  <a:srgbClr val="FFFFFF"/>
                </a:solidFill>
                <a:latin typeface="Noto Sans CJK JP"/>
                <a:cs typeface="Noto Sans CJK JP"/>
              </a:rPr>
              <a:t>一般家庭への影響</a:t>
            </a:r>
          </a:p>
        </p:txBody>
      </p:sp>
      <p:sp>
        <p:nvSpPr>
          <p:cNvPr id="18" name="hr00"/>
          <p:cNvSpPr/>
          <p:nvPr/>
        </p:nvSpPr>
        <p:spPr>
          <a:xfrm>
            <a:off x="571680" y="197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10㎥（1〜2人世帯）</a:t>
            </a:r>
          </a:p>
        </p:txBody>
      </p:sp>
      <p:sp>
        <p:nvSpPr>
          <p:cNvPr id="19" name="hr01"/>
          <p:cNvSpPr/>
          <p:nvPr/>
        </p:nvSpPr>
        <p:spPr>
          <a:xfrm>
            <a:off x="2871680" y="197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1,100円</a:t>
            </a:r>
          </a:p>
        </p:txBody>
      </p:sp>
      <p:sp>
        <p:nvSpPr>
          <p:cNvPr id="20" name="hr02"/>
          <p:cNvSpPr/>
          <p:nvPr/>
        </p:nvSpPr>
        <p:spPr>
          <a:xfrm>
            <a:off x="3971680" y="197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1,320円</a:t>
            </a:r>
          </a:p>
        </p:txBody>
      </p:sp>
      <p:sp>
        <p:nvSpPr>
          <p:cNvPr id="21" name="hr03"/>
          <p:cNvSpPr/>
          <p:nvPr/>
        </p:nvSpPr>
        <p:spPr>
          <a:xfrm>
            <a:off x="5271680" y="197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＋220円</a:t>
            </a:r>
          </a:p>
        </p:txBody>
      </p:sp>
      <p:sp>
        <p:nvSpPr>
          <p:cNvPr id="22" name="hr10"/>
          <p:cNvSpPr/>
          <p:nvPr/>
        </p:nvSpPr>
        <p:spPr>
          <a:xfrm>
            <a:off x="571680" y="256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1" dirty="0">
                <a:solidFill>
                  <a:srgbClr val="1E3A8A"/>
                </a:solidFill>
                <a:latin typeface="Noto Sans CJK JP"/>
                <a:cs typeface="Noto Sans CJK JP"/>
              </a:rPr>
              <a:t>20㎥（3人世帯）　★</a:t>
            </a:r>
          </a:p>
        </p:txBody>
      </p:sp>
      <p:sp>
        <p:nvSpPr>
          <p:cNvPr id="23" name="hr11"/>
          <p:cNvSpPr/>
          <p:nvPr/>
        </p:nvSpPr>
        <p:spPr>
          <a:xfrm>
            <a:off x="2871680" y="256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1E3A8A"/>
                </a:solidFill>
                <a:latin typeface="Arial"/>
                <a:cs typeface="Noto Sans CJK JP"/>
              </a:rPr>
              <a:t>2,420円</a:t>
            </a:r>
          </a:p>
        </p:txBody>
      </p:sp>
      <p:sp>
        <p:nvSpPr>
          <p:cNvPr id="24" name="hr12"/>
          <p:cNvSpPr/>
          <p:nvPr/>
        </p:nvSpPr>
        <p:spPr>
          <a:xfrm>
            <a:off x="3971680" y="256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1E3A8A"/>
                </a:solidFill>
                <a:latin typeface="Arial"/>
                <a:cs typeface="Noto Sans CJK JP"/>
              </a:rPr>
              <a:t>3,300円</a:t>
            </a:r>
          </a:p>
        </p:txBody>
      </p:sp>
      <p:sp>
        <p:nvSpPr>
          <p:cNvPr id="25" name="hr13"/>
          <p:cNvSpPr/>
          <p:nvPr/>
        </p:nvSpPr>
        <p:spPr>
          <a:xfrm>
            <a:off x="5271680" y="256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EF4444"/>
                </a:solidFill>
                <a:latin typeface="Arial"/>
                <a:cs typeface="Noto Sans CJK JP"/>
              </a:rPr>
              <a:t>＋880円</a:t>
            </a:r>
          </a:p>
        </p:txBody>
      </p:sp>
      <p:sp>
        <p:nvSpPr>
          <p:cNvPr id="26" name="hr20"/>
          <p:cNvSpPr/>
          <p:nvPr/>
        </p:nvSpPr>
        <p:spPr>
          <a:xfrm>
            <a:off x="571680" y="315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30㎥（3〜4人世帯）</a:t>
            </a:r>
          </a:p>
        </p:txBody>
      </p:sp>
      <p:sp>
        <p:nvSpPr>
          <p:cNvPr id="27" name="hr21"/>
          <p:cNvSpPr/>
          <p:nvPr/>
        </p:nvSpPr>
        <p:spPr>
          <a:xfrm>
            <a:off x="2871680" y="315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3,740円</a:t>
            </a:r>
          </a:p>
        </p:txBody>
      </p:sp>
      <p:sp>
        <p:nvSpPr>
          <p:cNvPr id="28" name="hr22"/>
          <p:cNvSpPr/>
          <p:nvPr/>
        </p:nvSpPr>
        <p:spPr>
          <a:xfrm>
            <a:off x="3971680" y="315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5,335円</a:t>
            </a:r>
          </a:p>
        </p:txBody>
      </p:sp>
      <p:sp>
        <p:nvSpPr>
          <p:cNvPr id="29" name="hr23"/>
          <p:cNvSpPr/>
          <p:nvPr/>
        </p:nvSpPr>
        <p:spPr>
          <a:xfrm>
            <a:off x="5271680" y="315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＋1,595円</a:t>
            </a:r>
          </a:p>
        </p:txBody>
      </p:sp>
      <p:sp>
        <p:nvSpPr>
          <p:cNvPr id="30" name="hr30"/>
          <p:cNvSpPr/>
          <p:nvPr/>
        </p:nvSpPr>
        <p:spPr>
          <a:xfrm>
            <a:off x="571680" y="374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50㎥（4人以上）</a:t>
            </a:r>
          </a:p>
        </p:txBody>
      </p:sp>
      <p:sp>
        <p:nvSpPr>
          <p:cNvPr id="31" name="hr31"/>
          <p:cNvSpPr/>
          <p:nvPr/>
        </p:nvSpPr>
        <p:spPr>
          <a:xfrm>
            <a:off x="2871680" y="374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6,600円</a:t>
            </a:r>
          </a:p>
        </p:txBody>
      </p:sp>
      <p:sp>
        <p:nvSpPr>
          <p:cNvPr id="32" name="hr32"/>
          <p:cNvSpPr/>
          <p:nvPr/>
        </p:nvSpPr>
        <p:spPr>
          <a:xfrm>
            <a:off x="3971680" y="374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9,570円</a:t>
            </a:r>
          </a:p>
        </p:txBody>
      </p:sp>
      <p:sp>
        <p:nvSpPr>
          <p:cNvPr id="33" name="hr33"/>
          <p:cNvSpPr/>
          <p:nvPr/>
        </p:nvSpPr>
        <p:spPr>
          <a:xfrm>
            <a:off x="5271680" y="374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＋2,970円</a:t>
            </a:r>
          </a:p>
        </p:txBody>
      </p:sp>
      <p:sp>
        <p:nvSpPr>
          <p:cNvPr id="34" name="bh"/>
          <p:cNvSpPr/>
          <p:nvPr/>
        </p:nvSpPr>
        <p:spPr>
          <a:xfrm>
            <a:off x="6671680" y="1620000"/>
            <a:ext cx="514932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200" b="0" dirty="0">
                <a:solidFill>
                  <a:srgbClr val="FFFFFF"/>
                </a:solidFill>
                <a:latin typeface="Noto Sans CJK JP"/>
                <a:cs typeface="Noto Sans CJK JP"/>
              </a:rPr>
              <a:t>事業所等への影響</a:t>
            </a:r>
          </a:p>
        </p:txBody>
      </p:sp>
      <p:sp>
        <p:nvSpPr>
          <p:cNvPr id="35" name="br00"/>
          <p:cNvSpPr/>
          <p:nvPr/>
        </p:nvSpPr>
        <p:spPr>
          <a:xfrm>
            <a:off x="6671680" y="1970000"/>
            <a:ext cx="210000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50㎥（小規模）</a:t>
            </a:r>
          </a:p>
        </p:txBody>
      </p:sp>
      <p:sp>
        <p:nvSpPr>
          <p:cNvPr id="36" name="br01"/>
          <p:cNvSpPr/>
          <p:nvPr/>
        </p:nvSpPr>
        <p:spPr>
          <a:xfrm>
            <a:off x="8871680" y="197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6,600円</a:t>
            </a:r>
          </a:p>
        </p:txBody>
      </p:sp>
      <p:sp>
        <p:nvSpPr>
          <p:cNvPr id="37" name="br02"/>
          <p:cNvSpPr/>
          <p:nvPr/>
        </p:nvSpPr>
        <p:spPr>
          <a:xfrm>
            <a:off x="10171680" y="197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9,570円</a:t>
            </a:r>
          </a:p>
        </p:txBody>
      </p:sp>
      <p:sp>
        <p:nvSpPr>
          <p:cNvPr id="38" name="br03"/>
          <p:cNvSpPr/>
          <p:nvPr/>
        </p:nvSpPr>
        <p:spPr>
          <a:xfrm>
            <a:off x="11471680" y="1970000"/>
            <a:ext cx="64932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＋2,970円</a:t>
            </a:r>
          </a:p>
        </p:txBody>
      </p:sp>
      <p:sp>
        <p:nvSpPr>
          <p:cNvPr id="39" name="br10"/>
          <p:cNvSpPr/>
          <p:nvPr/>
        </p:nvSpPr>
        <p:spPr>
          <a:xfrm>
            <a:off x="6671680" y="2560000"/>
            <a:ext cx="21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100㎥（中規模）</a:t>
            </a:r>
          </a:p>
        </p:txBody>
      </p:sp>
      <p:sp>
        <p:nvSpPr>
          <p:cNvPr id="40" name="br11"/>
          <p:cNvSpPr/>
          <p:nvPr/>
        </p:nvSpPr>
        <p:spPr>
          <a:xfrm>
            <a:off x="8871680" y="256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13,200円</a:t>
            </a:r>
          </a:p>
        </p:txBody>
      </p:sp>
      <p:sp>
        <p:nvSpPr>
          <p:cNvPr id="41" name="br12"/>
          <p:cNvSpPr/>
          <p:nvPr/>
        </p:nvSpPr>
        <p:spPr>
          <a:xfrm>
            <a:off x="10171680" y="256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20,790円</a:t>
            </a:r>
          </a:p>
        </p:txBody>
      </p:sp>
      <p:sp>
        <p:nvSpPr>
          <p:cNvPr id="42" name="br13"/>
          <p:cNvSpPr/>
          <p:nvPr/>
        </p:nvSpPr>
        <p:spPr>
          <a:xfrm>
            <a:off x="11471680" y="2560000"/>
            <a:ext cx="64932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＋7,590円</a:t>
            </a:r>
          </a:p>
        </p:txBody>
      </p:sp>
      <p:sp>
        <p:nvSpPr>
          <p:cNvPr id="43" name="br20"/>
          <p:cNvSpPr/>
          <p:nvPr/>
        </p:nvSpPr>
        <p:spPr>
          <a:xfrm>
            <a:off x="6671680" y="3150000"/>
            <a:ext cx="210000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200㎥（大規模）</a:t>
            </a:r>
          </a:p>
        </p:txBody>
      </p:sp>
      <p:sp>
        <p:nvSpPr>
          <p:cNvPr id="44" name="br21"/>
          <p:cNvSpPr/>
          <p:nvPr/>
        </p:nvSpPr>
        <p:spPr>
          <a:xfrm>
            <a:off x="8871680" y="315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26,400円</a:t>
            </a:r>
          </a:p>
        </p:txBody>
      </p:sp>
      <p:sp>
        <p:nvSpPr>
          <p:cNvPr id="45" name="br22"/>
          <p:cNvSpPr/>
          <p:nvPr/>
        </p:nvSpPr>
        <p:spPr>
          <a:xfrm>
            <a:off x="10171680" y="315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44,880円</a:t>
            </a:r>
          </a:p>
        </p:txBody>
      </p:sp>
      <p:sp>
        <p:nvSpPr>
          <p:cNvPr id="46" name="br23"/>
          <p:cNvSpPr/>
          <p:nvPr/>
        </p:nvSpPr>
        <p:spPr>
          <a:xfrm>
            <a:off x="11471680" y="3150000"/>
            <a:ext cx="64932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＋18,480円</a:t>
            </a:r>
          </a:p>
        </p:txBody>
      </p:sp>
      <p:sp>
        <p:nvSpPr>
          <p:cNvPr id="47" name="br30"/>
          <p:cNvSpPr/>
          <p:nvPr/>
        </p:nvSpPr>
        <p:spPr>
          <a:xfrm>
            <a:off x="6671680" y="3740000"/>
            <a:ext cx="21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500㎥（大型施設）</a:t>
            </a:r>
          </a:p>
        </p:txBody>
      </p:sp>
      <p:sp>
        <p:nvSpPr>
          <p:cNvPr id="48" name="br31"/>
          <p:cNvSpPr/>
          <p:nvPr/>
        </p:nvSpPr>
        <p:spPr>
          <a:xfrm>
            <a:off x="8871680" y="374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66,000円</a:t>
            </a:r>
          </a:p>
        </p:txBody>
      </p:sp>
      <p:sp>
        <p:nvSpPr>
          <p:cNvPr id="49" name="br32"/>
          <p:cNvSpPr/>
          <p:nvPr/>
        </p:nvSpPr>
        <p:spPr>
          <a:xfrm>
            <a:off x="10171680" y="374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117,150円</a:t>
            </a:r>
          </a:p>
        </p:txBody>
      </p:sp>
      <p:sp>
        <p:nvSpPr>
          <p:cNvPr id="50" name="br33"/>
          <p:cNvSpPr/>
          <p:nvPr/>
        </p:nvSpPr>
        <p:spPr>
          <a:xfrm>
            <a:off x="11471680" y="3740000"/>
            <a:ext cx="64932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＋51,150円</a:t>
            </a:r>
          </a:p>
        </p:txBody>
      </p:sp>
      <p:sp>
        <p:nvSpPr>
          <p:cNvPr id="51" name="nt16"/>
          <p:cNvSpPr/>
          <p:nvPr/>
        </p:nvSpPr>
        <p:spPr>
          <a:xfrm>
            <a:off x="571680" y="5100000"/>
            <a:ext cx="11048400" cy="36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150" b="0" dirty="0">
                <a:solidFill>
                  <a:srgbClr val="78350F"/>
                </a:solidFill>
                <a:latin typeface="Noto Sans CJK JP"/>
                <a:cs typeface="Noto Sans CJK JP"/>
              </a:rPr>
              <a:t>★ 20㎥（一般家庭の標準的な使用量）での月額は税込3,300円（税抜3,000円）。1日あたりの負担増加額は約29円です。</a:t>
            </a:r>
          </a:p>
        </p:txBody>
      </p:sp>
      <p:sp>
        <p:nvSpPr>
          <p:cNvPr id="52"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0" name="hb"/>
          <p:cNvSpPr/>
          <p:nvPr/>
        </p:nvSpPr>
        <p:spPr>
          <a:xfrm>
            <a:off x="0" y="0"/>
            <a:ext cx="12191760" cy="570000"/>
          </a:xfrm>
          <a:custGeom>
            <a:avLst/>
            <a:gdLst/>
            <a:ahLst/>
            <a:rect l="l" t="t" r="r" b="b"/>
            <a:pathLst>
              <a:path w="21600" h="21600">
                <a:moveTo>
                  <a:pt x="0" y="0"/>
                </a:moveTo>
                <a:lnTo>
                  <a:pt x="21600" y="0"/>
                </a:lnTo>
                <a:lnTo>
                  <a:pt x="21600" y="21600"/>
                </a:lnTo>
                <a:lnTo>
                  <a:pt x="0" y="21600"/>
                </a:lnTo>
                <a:close/>
              </a:path>
            </a:pathLst>
          </a:custGeom>
          <a:solidFill>
            <a:srgbClr val="1E293B"/>
          </a:solidFill>
          <a:ln w="0">
            <a:noFill/>
          </a:ln>
        </p:spPr>
        <p:style>
          <a:lnRef idx="0"/>
          <a:fillRef idx="0"/>
          <a:effectRef idx="0"/>
          <a:fontRef idx="minor"/>
        </p:style>
        <p:txBody>
          <a:bodyPr tIns="91440" bIns="91440" lIns="182880" rIns="91440" anchor="ctr">
            <a:noAutofit/>
          </a:bodyPr>
          <a:p>
            <a:pPr algn="l"/>
            <a:r>
              <a:rPr lang="ja-JP" sz="1700" b="0" dirty="0">
                <a:solidFill>
                  <a:srgbClr val="FFFFFF"/>
                </a:solidFill>
                <a:latin typeface="Arial"/>
                <a:cs typeface="Noto Sans CJK JP"/>
              </a:rPr>
              <a:t>  住民への影響・説明対応　04-1補　使用水量別月額使用料比較</a:t>
            </a:r>
          </a:p>
        </p:txBody>
      </p:sp>
      <p:sp>
        <p:nvSpPr>
          <p:cNvPr id="11" name="hl"/>
          <p:cNvSpPr/>
          <p:nvPr/>
        </p:nvSpPr>
        <p:spPr>
          <a:xfrm>
            <a:off x="0" y="570000"/>
            <a:ext cx="12191760" cy="19080"/>
          </a:xfrm>
          <a:custGeom>
            <a:avLst/>
            <a:gdLst/>
            <a:ahLst/>
            <a:rect l="l" t="t" r="r" b="b"/>
            <a:pathLst>
              <a:path w="21600" h="21600">
                <a:moveTo>
                  <a:pt x="0" y="0"/>
                </a:moveTo>
                <a:lnTo>
                  <a:pt x="21600" y="0"/>
                </a:lnTo>
                <a:lnTo>
                  <a:pt x="21600" y="21600"/>
                </a:lnTo>
                <a:lnTo>
                  <a:pt x="0" y="21600"/>
                </a:lnTo>
                <a:close/>
              </a:path>
            </a:pathLst>
          </a:custGeom>
          <a:solidFill>
            <a:srgbClr val="3B82F6"/>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570000"/>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0000"/>
            <a:ext cx="10800000" cy="52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1950" b="0" dirty="0">
                <a:solidFill>
                  <a:srgbClr val="1E293B"/>
                </a:solidFill>
                <a:latin typeface="Arial"/>
                <a:cs typeface="Noto Sans CJK JP"/>
              </a:rPr>
              <a:t>使用水量別　月額使用料一覧（税込）　― 基本料金＋超過料金の合計 ―</a:t>
            </a:r>
          </a:p>
        </p:txBody>
      </p:sp>
      <p:sp>
        <p:nvSpPr>
          <p:cNvPr id="14" name="gl2"/>
          <p:cNvSpPr/>
          <p:nvPr/>
        </p:nvSpPr>
        <p:spPr>
          <a:xfrm>
            <a:off x="2510000" y="1390000"/>
            <a:ext cx="2710000" cy="22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45720" bIns="45720" lIns="91440" rIns="91440" anchor="ctr">
            <a:noAutofit/>
          </a:bodyPr>
          <a:p>
            <a:pPr algn="ctr"/>
            <a:r>
              <a:rPr lang="ja-JP" sz="900" b="0" dirty="0">
                <a:solidFill>
                  <a:srgbClr val="FFFFFF"/>
                </a:solidFill>
                <a:latin typeface="Arial"/>
                <a:cs typeface="Noto Sans CJK JP"/>
              </a:rPr>
              <a:t>← パターン①</a:t>
            </a:r>
          </a:p>
        </p:txBody>
      </p:sp>
      <p:sp>
        <p:nvSpPr>
          <p:cNvPr id="15" name="gl5"/>
          <p:cNvSpPr/>
          <p:nvPr/>
        </p:nvSpPr>
        <p:spPr>
          <a:xfrm>
            <a:off x="5220000" y="1390000"/>
            <a:ext cx="2710000" cy="22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00" b="0" dirty="0">
                <a:solidFill>
                  <a:srgbClr val="FFFFFF"/>
                </a:solidFill>
                <a:latin typeface="Arial"/>
                <a:cs typeface="Noto Sans CJK JP"/>
              </a:rPr>
              <a:t>← パターン②</a:t>
            </a:r>
          </a:p>
        </p:txBody>
      </p:sp>
      <p:sp>
        <p:nvSpPr>
          <p:cNvPr id="16" name="gl8"/>
          <p:cNvSpPr/>
          <p:nvPr/>
        </p:nvSpPr>
        <p:spPr>
          <a:xfrm>
            <a:off x="7930000" y="1390000"/>
            <a:ext cx="2710000" cy="22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45720" bIns="45720" lIns="91440" rIns="91440" anchor="ctr">
            <a:noAutofit/>
          </a:bodyPr>
          <a:p>
            <a:pPr algn="ctr"/>
            <a:r>
              <a:rPr lang="ja-JP" sz="900" b="0" dirty="0">
                <a:solidFill>
                  <a:srgbClr val="FFFFFF"/>
                </a:solidFill>
                <a:latin typeface="Arial"/>
                <a:cs typeface="Noto Sans CJK JP"/>
              </a:rPr>
              <a:t>← パターン④</a:t>
            </a:r>
          </a:p>
        </p:txBody>
      </p:sp>
      <p:sp>
        <p:nvSpPr>
          <p:cNvPr id="17" name="th0"/>
          <p:cNvSpPr/>
          <p:nvPr/>
        </p:nvSpPr>
        <p:spPr>
          <a:xfrm>
            <a:off x="380000" y="1610000"/>
            <a:ext cx="1200000" cy="30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水量</a:t>
            </a:r>
          </a:p>
        </p:txBody>
      </p:sp>
      <p:sp>
        <p:nvSpPr>
          <p:cNvPr id="18" name="th1"/>
          <p:cNvSpPr/>
          <p:nvPr/>
        </p:nvSpPr>
        <p:spPr>
          <a:xfrm>
            <a:off x="1580000" y="1610000"/>
            <a:ext cx="930000" cy="300000"/>
          </a:xfrm>
          <a:custGeom>
            <a:avLst/>
            <a:gdLst/>
            <a:ahLst/>
            <a:rect l="l" t="t" r="r" b="b"/>
            <a:pathLst>
              <a:path w="21600" h="21600">
                <a:moveTo>
                  <a:pt x="0" y="0"/>
                </a:moveTo>
                <a:lnTo>
                  <a:pt x="21600" y="0"/>
                </a:lnTo>
                <a:lnTo>
                  <a:pt x="21600" y="21600"/>
                </a:lnTo>
                <a:lnTo>
                  <a:pt x="0" y="21600"/>
                </a:lnTo>
                <a:close/>
              </a:path>
            </a:pathLst>
          </a:custGeom>
          <a:solidFill>
            <a:srgbClr val="475569"/>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現行（税込）</a:t>
            </a:r>
          </a:p>
        </p:txBody>
      </p:sp>
      <p:sp>
        <p:nvSpPr>
          <p:cNvPr id="19" name="th2"/>
          <p:cNvSpPr/>
          <p:nvPr/>
        </p:nvSpPr>
        <p:spPr>
          <a:xfrm>
            <a:off x="2510000" y="1610000"/>
            <a:ext cx="930000" cy="30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税抜</a:t>
            </a:r>
          </a:p>
        </p:txBody>
      </p:sp>
      <p:sp>
        <p:nvSpPr>
          <p:cNvPr id="20" name="th3"/>
          <p:cNvSpPr/>
          <p:nvPr/>
        </p:nvSpPr>
        <p:spPr>
          <a:xfrm>
            <a:off x="3440000" y="1610000"/>
            <a:ext cx="950000" cy="30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税込</a:t>
            </a:r>
          </a:p>
        </p:txBody>
      </p:sp>
      <p:sp>
        <p:nvSpPr>
          <p:cNvPr id="21" name="th4"/>
          <p:cNvSpPr/>
          <p:nvPr/>
        </p:nvSpPr>
        <p:spPr>
          <a:xfrm>
            <a:off x="4390000" y="1610000"/>
            <a:ext cx="830000" cy="30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差額</a:t>
            </a:r>
          </a:p>
        </p:txBody>
      </p:sp>
      <p:sp>
        <p:nvSpPr>
          <p:cNvPr id="22" name="th5"/>
          <p:cNvSpPr/>
          <p:nvPr/>
        </p:nvSpPr>
        <p:spPr>
          <a:xfrm>
            <a:off x="5220000" y="1610000"/>
            <a:ext cx="93000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税抜</a:t>
            </a:r>
          </a:p>
        </p:txBody>
      </p:sp>
      <p:sp>
        <p:nvSpPr>
          <p:cNvPr id="23" name="th6"/>
          <p:cNvSpPr/>
          <p:nvPr/>
        </p:nvSpPr>
        <p:spPr>
          <a:xfrm>
            <a:off x="6150000" y="1610000"/>
            <a:ext cx="95000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税込</a:t>
            </a:r>
          </a:p>
        </p:txBody>
      </p:sp>
      <p:sp>
        <p:nvSpPr>
          <p:cNvPr id="24" name="th7"/>
          <p:cNvSpPr/>
          <p:nvPr/>
        </p:nvSpPr>
        <p:spPr>
          <a:xfrm>
            <a:off x="7100000" y="1610000"/>
            <a:ext cx="83000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差額</a:t>
            </a:r>
          </a:p>
        </p:txBody>
      </p:sp>
      <p:sp>
        <p:nvSpPr>
          <p:cNvPr id="25" name="th8"/>
          <p:cNvSpPr/>
          <p:nvPr/>
        </p:nvSpPr>
        <p:spPr>
          <a:xfrm>
            <a:off x="7930000" y="1610000"/>
            <a:ext cx="930000" cy="30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税抜</a:t>
            </a:r>
          </a:p>
        </p:txBody>
      </p:sp>
      <p:sp>
        <p:nvSpPr>
          <p:cNvPr id="26" name="th9"/>
          <p:cNvSpPr/>
          <p:nvPr/>
        </p:nvSpPr>
        <p:spPr>
          <a:xfrm>
            <a:off x="8860000" y="1610000"/>
            <a:ext cx="950000" cy="30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税込</a:t>
            </a:r>
          </a:p>
        </p:txBody>
      </p:sp>
      <p:sp>
        <p:nvSpPr>
          <p:cNvPr id="27" name="th10"/>
          <p:cNvSpPr/>
          <p:nvPr/>
        </p:nvSpPr>
        <p:spPr>
          <a:xfrm>
            <a:off x="9810000" y="1610000"/>
            <a:ext cx="830000" cy="30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差額</a:t>
            </a:r>
          </a:p>
        </p:txBody>
      </p:sp>
      <p:sp>
        <p:nvSpPr>
          <p:cNvPr id="28" name="d00"/>
          <p:cNvSpPr/>
          <p:nvPr/>
        </p:nvSpPr>
        <p:spPr>
          <a:xfrm>
            <a:off x="380000" y="1960000"/>
            <a:ext cx="120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l"/>
            <a:r>
              <a:rPr lang="ja-JP" sz="1150" b="0" dirty="0">
                <a:solidFill>
                  <a:srgbClr val="1E293B"/>
                </a:solidFill>
                <a:latin typeface="Arial"/>
                <a:cs typeface="Noto Sans CJK JP"/>
              </a:rPr>
              <a:t>10㎥</a:t>
            </a:r>
          </a:p>
        </p:txBody>
      </p:sp>
      <p:sp>
        <p:nvSpPr>
          <p:cNvPr id="29" name="d01"/>
          <p:cNvSpPr/>
          <p:nvPr/>
        </p:nvSpPr>
        <p:spPr>
          <a:xfrm>
            <a:off x="1580000" y="1960000"/>
            <a:ext cx="9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475569"/>
                </a:solidFill>
                <a:latin typeface="Arial"/>
                <a:cs typeface="Noto Sans CJK JP"/>
              </a:rPr>
              <a:t>1,100円</a:t>
            </a:r>
          </a:p>
        </p:txBody>
      </p:sp>
      <p:sp>
        <p:nvSpPr>
          <p:cNvPr id="30" name="d02"/>
          <p:cNvSpPr/>
          <p:nvPr/>
        </p:nvSpPr>
        <p:spPr>
          <a:xfrm>
            <a:off x="2510000" y="1960000"/>
            <a:ext cx="9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1,500円</a:t>
            </a:r>
          </a:p>
        </p:txBody>
      </p:sp>
      <p:sp>
        <p:nvSpPr>
          <p:cNvPr id="31" name="d03"/>
          <p:cNvSpPr/>
          <p:nvPr/>
        </p:nvSpPr>
        <p:spPr>
          <a:xfrm>
            <a:off x="3440000" y="1960000"/>
            <a:ext cx="95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1,650円</a:t>
            </a:r>
          </a:p>
        </p:txBody>
      </p:sp>
      <p:sp>
        <p:nvSpPr>
          <p:cNvPr id="32" name="d04"/>
          <p:cNvSpPr/>
          <p:nvPr/>
        </p:nvSpPr>
        <p:spPr>
          <a:xfrm>
            <a:off x="4390000" y="1960000"/>
            <a:ext cx="8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＋550円</a:t>
            </a:r>
          </a:p>
        </p:txBody>
      </p:sp>
      <p:sp>
        <p:nvSpPr>
          <p:cNvPr id="33" name="d05"/>
          <p:cNvSpPr/>
          <p:nvPr/>
        </p:nvSpPr>
        <p:spPr>
          <a:xfrm>
            <a:off x="5220000" y="1960000"/>
            <a:ext cx="9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1,200円</a:t>
            </a:r>
          </a:p>
        </p:txBody>
      </p:sp>
      <p:sp>
        <p:nvSpPr>
          <p:cNvPr id="34" name="d06"/>
          <p:cNvSpPr/>
          <p:nvPr/>
        </p:nvSpPr>
        <p:spPr>
          <a:xfrm>
            <a:off x="6150000" y="1960000"/>
            <a:ext cx="95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1,320円</a:t>
            </a:r>
          </a:p>
        </p:txBody>
      </p:sp>
      <p:sp>
        <p:nvSpPr>
          <p:cNvPr id="35" name="d07"/>
          <p:cNvSpPr/>
          <p:nvPr/>
        </p:nvSpPr>
        <p:spPr>
          <a:xfrm>
            <a:off x="7100000" y="1960000"/>
            <a:ext cx="8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＋220円</a:t>
            </a:r>
          </a:p>
        </p:txBody>
      </p:sp>
      <p:sp>
        <p:nvSpPr>
          <p:cNvPr id="36" name="d08"/>
          <p:cNvSpPr/>
          <p:nvPr/>
        </p:nvSpPr>
        <p:spPr>
          <a:xfrm>
            <a:off x="7930000" y="1960000"/>
            <a:ext cx="9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1,400円</a:t>
            </a:r>
          </a:p>
        </p:txBody>
      </p:sp>
      <p:sp>
        <p:nvSpPr>
          <p:cNvPr id="37" name="d09"/>
          <p:cNvSpPr/>
          <p:nvPr/>
        </p:nvSpPr>
        <p:spPr>
          <a:xfrm>
            <a:off x="8860000" y="1960000"/>
            <a:ext cx="95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1,540円</a:t>
            </a:r>
          </a:p>
        </p:txBody>
      </p:sp>
      <p:sp>
        <p:nvSpPr>
          <p:cNvPr id="38" name="d010"/>
          <p:cNvSpPr/>
          <p:nvPr/>
        </p:nvSpPr>
        <p:spPr>
          <a:xfrm>
            <a:off x="9810000" y="1960000"/>
            <a:ext cx="8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＋440円</a:t>
            </a:r>
          </a:p>
        </p:txBody>
      </p:sp>
      <p:sp>
        <p:nvSpPr>
          <p:cNvPr id="39" name="d10"/>
          <p:cNvSpPr/>
          <p:nvPr/>
        </p:nvSpPr>
        <p:spPr>
          <a:xfrm>
            <a:off x="380000" y="3040000"/>
            <a:ext cx="1200000" cy="96000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l"/>
            <a:r>
              <a:rPr lang="ja-JP" sz="1250" b="1" dirty="0">
                <a:solidFill>
                  <a:srgbClr val="1E293B"/>
                </a:solidFill>
                <a:latin typeface="Arial"/>
                <a:cs typeface="Noto Sans CJK JP"/>
              </a:rPr>
              <a:t>20㎥</a:t>
            </a:r>
          </a:p>
        </p:txBody>
      </p:sp>
      <p:sp>
        <p:nvSpPr>
          <p:cNvPr id="40" name="d11"/>
          <p:cNvSpPr/>
          <p:nvPr/>
        </p:nvSpPr>
        <p:spPr>
          <a:xfrm>
            <a:off x="1580000" y="3040000"/>
            <a:ext cx="930000" cy="96000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475569"/>
                </a:solidFill>
                <a:latin typeface="Arial"/>
                <a:cs typeface="Noto Sans CJK JP"/>
              </a:rPr>
              <a:t>2,420円</a:t>
            </a:r>
          </a:p>
        </p:txBody>
      </p:sp>
      <p:sp>
        <p:nvSpPr>
          <p:cNvPr id="41" name="d12"/>
          <p:cNvSpPr/>
          <p:nvPr/>
        </p:nvSpPr>
        <p:spPr>
          <a:xfrm>
            <a:off x="2510000" y="3040000"/>
            <a:ext cx="930000" cy="96000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1E40AF"/>
                </a:solidFill>
                <a:latin typeface="Arial"/>
                <a:cs typeface="Noto Sans CJK JP"/>
              </a:rPr>
              <a:t>3,000円</a:t>
            </a:r>
          </a:p>
        </p:txBody>
      </p:sp>
      <p:sp>
        <p:nvSpPr>
          <p:cNvPr id="42" name="d13"/>
          <p:cNvSpPr/>
          <p:nvPr/>
        </p:nvSpPr>
        <p:spPr>
          <a:xfrm>
            <a:off x="3440000" y="3040000"/>
            <a:ext cx="950000" cy="96000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1E40AF"/>
                </a:solidFill>
                <a:latin typeface="Arial"/>
                <a:cs typeface="Noto Sans CJK JP"/>
              </a:rPr>
              <a:t>3,300円</a:t>
            </a:r>
          </a:p>
        </p:txBody>
      </p:sp>
      <p:sp>
        <p:nvSpPr>
          <p:cNvPr id="43" name="d14"/>
          <p:cNvSpPr/>
          <p:nvPr/>
        </p:nvSpPr>
        <p:spPr>
          <a:xfrm>
            <a:off x="4390000" y="3040000"/>
            <a:ext cx="830000" cy="96000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EF4444"/>
                </a:solidFill>
                <a:latin typeface="Arial"/>
                <a:cs typeface="Noto Sans CJK JP"/>
              </a:rPr>
              <a:t>＋880円</a:t>
            </a:r>
          </a:p>
        </p:txBody>
      </p:sp>
      <p:sp>
        <p:nvSpPr>
          <p:cNvPr id="44" name="d15"/>
          <p:cNvSpPr/>
          <p:nvPr/>
        </p:nvSpPr>
        <p:spPr>
          <a:xfrm>
            <a:off x="5220000" y="3040000"/>
            <a:ext cx="930000" cy="96000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166534"/>
                </a:solidFill>
                <a:latin typeface="Arial"/>
                <a:cs typeface="Noto Sans CJK JP"/>
              </a:rPr>
              <a:t>3,000円</a:t>
            </a:r>
          </a:p>
        </p:txBody>
      </p:sp>
      <p:sp>
        <p:nvSpPr>
          <p:cNvPr id="45" name="d16"/>
          <p:cNvSpPr/>
          <p:nvPr/>
        </p:nvSpPr>
        <p:spPr>
          <a:xfrm>
            <a:off x="6150000" y="3040000"/>
            <a:ext cx="950000" cy="96000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166534"/>
                </a:solidFill>
                <a:latin typeface="Arial"/>
                <a:cs typeface="Noto Sans CJK JP"/>
              </a:rPr>
              <a:t>3,300円</a:t>
            </a:r>
          </a:p>
        </p:txBody>
      </p:sp>
      <p:sp>
        <p:nvSpPr>
          <p:cNvPr id="46" name="d17"/>
          <p:cNvSpPr/>
          <p:nvPr/>
        </p:nvSpPr>
        <p:spPr>
          <a:xfrm>
            <a:off x="7100000" y="3040000"/>
            <a:ext cx="830000" cy="96000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EF4444"/>
                </a:solidFill>
                <a:latin typeface="Arial"/>
                <a:cs typeface="Noto Sans CJK JP"/>
              </a:rPr>
              <a:t>＋880円</a:t>
            </a:r>
          </a:p>
        </p:txBody>
      </p:sp>
      <p:sp>
        <p:nvSpPr>
          <p:cNvPr id="47" name="d18"/>
          <p:cNvSpPr/>
          <p:nvPr/>
        </p:nvSpPr>
        <p:spPr>
          <a:xfrm>
            <a:off x="7930000" y="3040000"/>
            <a:ext cx="930000" cy="96000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B45309"/>
                </a:solidFill>
                <a:latin typeface="Arial"/>
                <a:cs typeface="Noto Sans CJK JP"/>
              </a:rPr>
              <a:t>3,000円</a:t>
            </a:r>
          </a:p>
        </p:txBody>
      </p:sp>
      <p:sp>
        <p:nvSpPr>
          <p:cNvPr id="48" name="d19"/>
          <p:cNvSpPr/>
          <p:nvPr/>
        </p:nvSpPr>
        <p:spPr>
          <a:xfrm>
            <a:off x="8860000" y="3040000"/>
            <a:ext cx="950000" cy="96000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B45309"/>
                </a:solidFill>
                <a:latin typeface="Arial"/>
                <a:cs typeface="Noto Sans CJK JP"/>
              </a:rPr>
              <a:t>3,300円</a:t>
            </a:r>
          </a:p>
        </p:txBody>
      </p:sp>
      <p:sp>
        <p:nvSpPr>
          <p:cNvPr id="49" name="d110"/>
          <p:cNvSpPr/>
          <p:nvPr/>
        </p:nvSpPr>
        <p:spPr>
          <a:xfrm>
            <a:off x="9810000" y="3040000"/>
            <a:ext cx="830000" cy="96000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EF4444"/>
                </a:solidFill>
                <a:latin typeface="Arial"/>
                <a:cs typeface="Noto Sans CJK JP"/>
              </a:rPr>
              <a:t>＋880円</a:t>
            </a:r>
          </a:p>
        </p:txBody>
      </p:sp>
      <p:sp>
        <p:nvSpPr>
          <p:cNvPr id="50" name="d20"/>
          <p:cNvSpPr/>
          <p:nvPr/>
        </p:nvSpPr>
        <p:spPr>
          <a:xfrm>
            <a:off x="380000" y="4120000"/>
            <a:ext cx="120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l"/>
            <a:r>
              <a:rPr lang="ja-JP" sz="1150" b="0" dirty="0">
                <a:solidFill>
                  <a:srgbClr val="1E293B"/>
                </a:solidFill>
                <a:latin typeface="Arial"/>
                <a:cs typeface="Noto Sans CJK JP"/>
              </a:rPr>
              <a:t>30㎥</a:t>
            </a:r>
          </a:p>
        </p:txBody>
      </p:sp>
      <p:sp>
        <p:nvSpPr>
          <p:cNvPr id="51" name="d21"/>
          <p:cNvSpPr/>
          <p:nvPr/>
        </p:nvSpPr>
        <p:spPr>
          <a:xfrm>
            <a:off x="1580000" y="4120000"/>
            <a:ext cx="9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475569"/>
                </a:solidFill>
                <a:latin typeface="Arial"/>
                <a:cs typeface="Noto Sans CJK JP"/>
              </a:rPr>
              <a:t>3,740円</a:t>
            </a:r>
          </a:p>
        </p:txBody>
      </p:sp>
      <p:sp>
        <p:nvSpPr>
          <p:cNvPr id="52" name="d22"/>
          <p:cNvSpPr/>
          <p:nvPr/>
        </p:nvSpPr>
        <p:spPr>
          <a:xfrm>
            <a:off x="2510000" y="4120000"/>
            <a:ext cx="9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4,550円</a:t>
            </a:r>
          </a:p>
        </p:txBody>
      </p:sp>
      <p:sp>
        <p:nvSpPr>
          <p:cNvPr id="53" name="d23"/>
          <p:cNvSpPr/>
          <p:nvPr/>
        </p:nvSpPr>
        <p:spPr>
          <a:xfrm>
            <a:off x="3440000" y="4120000"/>
            <a:ext cx="95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5,005円</a:t>
            </a:r>
          </a:p>
        </p:txBody>
      </p:sp>
      <p:sp>
        <p:nvSpPr>
          <p:cNvPr id="54" name="d24"/>
          <p:cNvSpPr/>
          <p:nvPr/>
        </p:nvSpPr>
        <p:spPr>
          <a:xfrm>
            <a:off x="4390000" y="4120000"/>
            <a:ext cx="8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＋1,265円</a:t>
            </a:r>
          </a:p>
        </p:txBody>
      </p:sp>
      <p:sp>
        <p:nvSpPr>
          <p:cNvPr id="55" name="d25"/>
          <p:cNvSpPr/>
          <p:nvPr/>
        </p:nvSpPr>
        <p:spPr>
          <a:xfrm>
            <a:off x="5220000" y="4120000"/>
            <a:ext cx="9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4,850円</a:t>
            </a:r>
          </a:p>
        </p:txBody>
      </p:sp>
      <p:sp>
        <p:nvSpPr>
          <p:cNvPr id="56" name="d26"/>
          <p:cNvSpPr/>
          <p:nvPr/>
        </p:nvSpPr>
        <p:spPr>
          <a:xfrm>
            <a:off x="6150000" y="4120000"/>
            <a:ext cx="95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5,335円</a:t>
            </a:r>
          </a:p>
        </p:txBody>
      </p:sp>
      <p:sp>
        <p:nvSpPr>
          <p:cNvPr id="57" name="d27"/>
          <p:cNvSpPr/>
          <p:nvPr/>
        </p:nvSpPr>
        <p:spPr>
          <a:xfrm>
            <a:off x="7100000" y="4120000"/>
            <a:ext cx="8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＋1,595円</a:t>
            </a:r>
          </a:p>
        </p:txBody>
      </p:sp>
      <p:sp>
        <p:nvSpPr>
          <p:cNvPr id="58" name="d28"/>
          <p:cNvSpPr/>
          <p:nvPr/>
        </p:nvSpPr>
        <p:spPr>
          <a:xfrm>
            <a:off x="7930000" y="4120000"/>
            <a:ext cx="9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4,650円</a:t>
            </a:r>
          </a:p>
        </p:txBody>
      </p:sp>
      <p:sp>
        <p:nvSpPr>
          <p:cNvPr id="59" name="d29"/>
          <p:cNvSpPr/>
          <p:nvPr/>
        </p:nvSpPr>
        <p:spPr>
          <a:xfrm>
            <a:off x="8860000" y="4120000"/>
            <a:ext cx="95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5,115円</a:t>
            </a:r>
          </a:p>
        </p:txBody>
      </p:sp>
      <p:sp>
        <p:nvSpPr>
          <p:cNvPr id="60" name="d210"/>
          <p:cNvSpPr/>
          <p:nvPr/>
        </p:nvSpPr>
        <p:spPr>
          <a:xfrm>
            <a:off x="9810000" y="4120000"/>
            <a:ext cx="830000" cy="96000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＋1,375円</a:t>
            </a:r>
          </a:p>
        </p:txBody>
      </p:sp>
      <p:sp>
        <p:nvSpPr>
          <p:cNvPr id="61" name="d30"/>
          <p:cNvSpPr/>
          <p:nvPr/>
        </p:nvSpPr>
        <p:spPr>
          <a:xfrm>
            <a:off x="380000" y="5200000"/>
            <a:ext cx="1200000" cy="96000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l"/>
            <a:r>
              <a:rPr lang="ja-JP" sz="1150" b="0" dirty="0">
                <a:solidFill>
                  <a:srgbClr val="1E293B"/>
                </a:solidFill>
                <a:latin typeface="Arial"/>
                <a:cs typeface="Noto Sans CJK JP"/>
              </a:rPr>
              <a:t>40㎥</a:t>
            </a:r>
          </a:p>
        </p:txBody>
      </p:sp>
      <p:sp>
        <p:nvSpPr>
          <p:cNvPr id="62" name="d31"/>
          <p:cNvSpPr/>
          <p:nvPr/>
        </p:nvSpPr>
        <p:spPr>
          <a:xfrm>
            <a:off x="1580000" y="5200000"/>
            <a:ext cx="930000" cy="96000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475569"/>
                </a:solidFill>
                <a:latin typeface="Arial"/>
                <a:cs typeface="Noto Sans CJK JP"/>
              </a:rPr>
              <a:t>5,170円</a:t>
            </a:r>
          </a:p>
        </p:txBody>
      </p:sp>
      <p:sp>
        <p:nvSpPr>
          <p:cNvPr id="63" name="d32"/>
          <p:cNvSpPr/>
          <p:nvPr/>
        </p:nvSpPr>
        <p:spPr>
          <a:xfrm>
            <a:off x="2510000" y="5200000"/>
            <a:ext cx="930000" cy="96000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6,150円</a:t>
            </a:r>
          </a:p>
        </p:txBody>
      </p:sp>
      <p:sp>
        <p:nvSpPr>
          <p:cNvPr id="64" name="d33"/>
          <p:cNvSpPr/>
          <p:nvPr/>
        </p:nvSpPr>
        <p:spPr>
          <a:xfrm>
            <a:off x="3440000" y="5200000"/>
            <a:ext cx="950000" cy="96000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6,765円</a:t>
            </a:r>
          </a:p>
        </p:txBody>
      </p:sp>
      <p:sp>
        <p:nvSpPr>
          <p:cNvPr id="65" name="d34"/>
          <p:cNvSpPr/>
          <p:nvPr/>
        </p:nvSpPr>
        <p:spPr>
          <a:xfrm>
            <a:off x="4390000" y="5200000"/>
            <a:ext cx="830000" cy="96000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＋1,595円</a:t>
            </a:r>
          </a:p>
        </p:txBody>
      </p:sp>
      <p:sp>
        <p:nvSpPr>
          <p:cNvPr id="66" name="d35"/>
          <p:cNvSpPr/>
          <p:nvPr/>
        </p:nvSpPr>
        <p:spPr>
          <a:xfrm>
            <a:off x="5220000" y="5200000"/>
            <a:ext cx="930000" cy="96000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6,750円</a:t>
            </a:r>
          </a:p>
        </p:txBody>
      </p:sp>
      <p:sp>
        <p:nvSpPr>
          <p:cNvPr id="67" name="d36"/>
          <p:cNvSpPr/>
          <p:nvPr/>
        </p:nvSpPr>
        <p:spPr>
          <a:xfrm>
            <a:off x="6150000" y="5200000"/>
            <a:ext cx="950000" cy="96000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7,425円</a:t>
            </a:r>
          </a:p>
        </p:txBody>
      </p:sp>
      <p:sp>
        <p:nvSpPr>
          <p:cNvPr id="68" name="d37"/>
          <p:cNvSpPr/>
          <p:nvPr/>
        </p:nvSpPr>
        <p:spPr>
          <a:xfrm>
            <a:off x="7100000" y="5200000"/>
            <a:ext cx="830000" cy="96000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＋2,255円</a:t>
            </a:r>
          </a:p>
        </p:txBody>
      </p:sp>
      <p:sp>
        <p:nvSpPr>
          <p:cNvPr id="69" name="d38"/>
          <p:cNvSpPr/>
          <p:nvPr/>
        </p:nvSpPr>
        <p:spPr>
          <a:xfrm>
            <a:off x="7930000" y="5200000"/>
            <a:ext cx="930000" cy="96000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6,350円</a:t>
            </a:r>
          </a:p>
        </p:txBody>
      </p:sp>
      <p:sp>
        <p:nvSpPr>
          <p:cNvPr id="70" name="d39"/>
          <p:cNvSpPr/>
          <p:nvPr/>
        </p:nvSpPr>
        <p:spPr>
          <a:xfrm>
            <a:off x="8860000" y="5200000"/>
            <a:ext cx="950000" cy="96000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6,985円</a:t>
            </a:r>
          </a:p>
        </p:txBody>
      </p:sp>
      <p:sp>
        <p:nvSpPr>
          <p:cNvPr id="71" name="d310"/>
          <p:cNvSpPr/>
          <p:nvPr/>
        </p:nvSpPr>
        <p:spPr>
          <a:xfrm>
            <a:off x="9810000" y="5200000"/>
            <a:ext cx="830000" cy="96000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＋1,815円</a:t>
            </a:r>
          </a:p>
        </p:txBody>
      </p:sp>
      <p:sp>
        <p:nvSpPr>
          <p:cNvPr id="72" name="note"/>
          <p:cNvSpPr/>
          <p:nvPr/>
        </p:nvSpPr>
        <p:spPr>
          <a:xfrm>
            <a:off x="380000" y="6230000"/>
            <a:ext cx="11431760" cy="380000"/>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fillRef idx="0"/>
          <a:effectRef idx="0"/>
          <a:fontRef idx="minor"/>
        </p:style>
        <p:txBody>
          <a:bodyPr tIns="45720" bIns="45720" lIns="182880" rIns="91440" anchor="ctr">
            <a:noAutofit/>
          </a:bodyPr>
          <a:p>
            <a:pPr algn="l"/>
            <a:r>
              <a:rPr lang="ja-JP" sz="1050" b="0" dirty="0">
                <a:solidFill>
                  <a:srgbClr val="78350F"/>
                </a:solidFill>
                <a:latin typeface="Arial"/>
                <a:cs typeface="Noto Sans CJK JP"/>
              </a:rPr>
              <a:t>★ 青枠20㎥が一般家庭の標準使用量。改定後の差額はいずれのパターンも月額＋880円（年間＋10,560円）。税込・1か月あたり。</a:t>
            </a:r>
          </a:p>
        </p:txBody>
      </p:sp>
      <p:sp>
        <p:nvSpPr>
          <p:cNvPr id="73" name="pgnum"/>
          <p:cNvSpPr/>
          <p:nvPr/>
        </p:nvSpPr>
        <p:spPr>
          <a:xfrm>
            <a:off x="286200" y="654336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住民への影響・説明対応　04-2　住民説明会の実施計画（案）</a:t>
            </a:r>
          </a:p>
        </p:txBody>
      </p:sp>
      <p:sp>
        <p:nvSpPr>
          <p:cNvPr id="16" name="ttl"/>
          <p:cNvSpPr/>
          <p:nvPr/>
        </p:nvSpPr>
        <p:spPr>
          <a:xfrm>
            <a:off x="819360" y="850000"/>
            <a:ext cx="8000000"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住民説明会　実施計画（案）</a:t>
            </a:r>
          </a:p>
        </p:txBody>
      </p:sp>
      <p:sp>
        <p:nvSpPr>
          <p:cNvPr id="17" name="py0"/>
          <p:cNvSpPr/>
          <p:nvPr/>
        </p:nvSpPr>
        <p:spPr>
          <a:xfrm>
            <a:off x="571680" y="1600000"/>
            <a:ext cx="1800000" cy="12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 b="0" dirty="0">
                <a:solidFill>
                  <a:srgbClr val="FFFFFF"/>
                </a:solidFill>
                <a:latin typeface="Noto Sans CJK JP"/>
                <a:cs typeface="Noto Sans CJK JP"/>
              </a:rPr>
              <a:t>R7年度
（令和7）</a:t>
            </a:r>
          </a:p>
        </p:txBody>
      </p:sp>
      <p:sp>
        <p:nvSpPr>
          <p:cNvPr id="18" name="pa0"/>
          <p:cNvSpPr/>
          <p:nvPr/>
        </p:nvSpPr>
        <p:spPr>
          <a:xfrm>
            <a:off x="2571680" y="1600000"/>
            <a:ext cx="9048000" cy="4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E3A8A"/>
                </a:solidFill>
                <a:latin typeface="Noto Sans CJK JP"/>
                <a:cs typeface="Noto Sans CJK JP"/>
              </a:rPr>
              <a:t>審議会開催（第1〜3回）</a:t>
            </a:r>
          </a:p>
        </p:txBody>
      </p:sp>
      <p:sp>
        <p:nvSpPr>
          <p:cNvPr id="19" name="pd0"/>
          <p:cNvSpPr/>
          <p:nvPr/>
        </p:nvSpPr>
        <p:spPr>
          <a:xfrm>
            <a:off x="2571680" y="2080000"/>
            <a:ext cx="8248000" cy="72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使用料改定の必要性検証・答申案策定を完了</a:t>
            </a:r>
          </a:p>
        </p:txBody>
      </p:sp>
      <p:sp>
        <p:nvSpPr>
          <p:cNvPr id="20" name="pb0"/>
          <p:cNvSpPr/>
          <p:nvPr/>
        </p:nvSpPr>
        <p:spPr>
          <a:xfrm>
            <a:off x="10919680" y="2080000"/>
            <a:ext cx="700000" cy="72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現在進行中</a:t>
            </a:r>
          </a:p>
        </p:txBody>
      </p:sp>
      <p:sp>
        <p:nvSpPr>
          <p:cNvPr id="21" name="py1"/>
          <p:cNvSpPr/>
          <p:nvPr/>
        </p:nvSpPr>
        <p:spPr>
          <a:xfrm>
            <a:off x="571680" y="2850000"/>
            <a:ext cx="1800000" cy="120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 b="0" dirty="0">
                <a:solidFill>
                  <a:srgbClr val="FFFFFF"/>
                </a:solidFill>
                <a:latin typeface="Noto Sans CJK JP"/>
                <a:cs typeface="Noto Sans CJK JP"/>
              </a:rPr>
              <a:t>R8年前半
（令和8・4〜8月）</a:t>
            </a:r>
          </a:p>
        </p:txBody>
      </p:sp>
      <p:sp>
        <p:nvSpPr>
          <p:cNvPr id="22" name="pa1"/>
          <p:cNvSpPr/>
          <p:nvPr/>
        </p:nvSpPr>
        <p:spPr>
          <a:xfrm>
            <a:off x="2571680" y="2850000"/>
            <a:ext cx="9048000" cy="4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E3A8A"/>
                </a:solidFill>
                <a:latin typeface="Noto Sans CJK JP"/>
                <a:cs typeface="Noto Sans CJK JP"/>
              </a:rPr>
              <a:t>住民説明会の開催</a:t>
            </a:r>
          </a:p>
        </p:txBody>
      </p:sp>
      <p:sp>
        <p:nvSpPr>
          <p:cNvPr id="23" name="pd1"/>
          <p:cNvSpPr/>
          <p:nvPr/>
        </p:nvSpPr>
        <p:spPr>
          <a:xfrm>
            <a:off x="2571680" y="3330000"/>
            <a:ext cx="8248000" cy="72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全地区・各集落での説明会実施（公共・農集別）</a:t>
            </a:r>
          </a:p>
        </p:txBody>
      </p:sp>
      <p:sp>
        <p:nvSpPr>
          <p:cNvPr id="24" name="pb1"/>
          <p:cNvSpPr/>
          <p:nvPr/>
        </p:nvSpPr>
        <p:spPr>
          <a:xfrm>
            <a:off x="10919680" y="3330000"/>
            <a:ext cx="700000" cy="72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実施予定</a:t>
            </a:r>
          </a:p>
        </p:txBody>
      </p:sp>
      <p:sp>
        <p:nvSpPr>
          <p:cNvPr id="25" name="py2"/>
          <p:cNvSpPr/>
          <p:nvPr/>
        </p:nvSpPr>
        <p:spPr>
          <a:xfrm>
            <a:off x="571680" y="4100000"/>
            <a:ext cx="1800000" cy="12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 b="0" dirty="0">
                <a:solidFill>
                  <a:srgbClr val="FFFFFF"/>
                </a:solidFill>
                <a:latin typeface="Noto Sans CJK JP"/>
                <a:cs typeface="Noto Sans CJK JP"/>
              </a:rPr>
              <a:t>R8年後半
（令和8・9〜12月）</a:t>
            </a:r>
          </a:p>
        </p:txBody>
      </p:sp>
      <p:sp>
        <p:nvSpPr>
          <p:cNvPr id="26" name="pa2"/>
          <p:cNvSpPr/>
          <p:nvPr/>
        </p:nvSpPr>
        <p:spPr>
          <a:xfrm>
            <a:off x="2571680" y="4100000"/>
            <a:ext cx="9048000" cy="4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E3A8A"/>
                </a:solidFill>
                <a:latin typeface="Noto Sans CJK JP"/>
                <a:cs typeface="Noto Sans CJK JP"/>
              </a:rPr>
              <a:t>議会への提案・条例改正</a:t>
            </a:r>
          </a:p>
        </p:txBody>
      </p:sp>
      <p:sp>
        <p:nvSpPr>
          <p:cNvPr id="27" name="pd2"/>
          <p:cNvSpPr/>
          <p:nvPr/>
        </p:nvSpPr>
        <p:spPr>
          <a:xfrm>
            <a:off x="2571680" y="4580000"/>
            <a:ext cx="8248000" cy="72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使用料条例の改正議案を議会に提出・決議</a:t>
            </a:r>
          </a:p>
        </p:txBody>
      </p:sp>
      <p:sp>
        <p:nvSpPr>
          <p:cNvPr id="28" name="pb2"/>
          <p:cNvSpPr/>
          <p:nvPr/>
        </p:nvSpPr>
        <p:spPr>
          <a:xfrm>
            <a:off x="10919680" y="4580000"/>
            <a:ext cx="700000" cy="72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実施予定</a:t>
            </a:r>
          </a:p>
        </p:txBody>
      </p:sp>
      <p:sp>
        <p:nvSpPr>
          <p:cNvPr id="29" name="py3"/>
          <p:cNvSpPr/>
          <p:nvPr/>
        </p:nvSpPr>
        <p:spPr>
          <a:xfrm>
            <a:off x="571680" y="5350000"/>
            <a:ext cx="1800000" cy="120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 b="0" dirty="0">
                <a:solidFill>
                  <a:srgbClr val="FFFFFF"/>
                </a:solidFill>
                <a:latin typeface="Noto Sans CJK JP"/>
                <a:cs typeface="Noto Sans CJK JP"/>
              </a:rPr>
              <a:t>R9年4月〜</a:t>
            </a:r>
          </a:p>
        </p:txBody>
      </p:sp>
      <p:sp>
        <p:nvSpPr>
          <p:cNvPr id="30" name="pa3"/>
          <p:cNvSpPr/>
          <p:nvPr/>
        </p:nvSpPr>
        <p:spPr>
          <a:xfrm>
            <a:off x="2571680" y="5350000"/>
            <a:ext cx="9048000" cy="4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E3A8A"/>
                </a:solidFill>
                <a:latin typeface="Noto Sans CJK JP"/>
                <a:cs typeface="Noto Sans CJK JP"/>
              </a:rPr>
              <a:t>改定単価の適用開始</a:t>
            </a:r>
          </a:p>
        </p:txBody>
      </p:sp>
      <p:sp>
        <p:nvSpPr>
          <p:cNvPr id="31" name="pd3"/>
          <p:cNvSpPr/>
          <p:nvPr/>
        </p:nvSpPr>
        <p:spPr>
          <a:xfrm>
            <a:off x="2571680" y="5830000"/>
            <a:ext cx="8248000" cy="72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新使用料体系での徴収開始・効果測定</a:t>
            </a:r>
          </a:p>
        </p:txBody>
      </p:sp>
      <p:sp>
        <p:nvSpPr>
          <p:cNvPr id="32" name="pb3"/>
          <p:cNvSpPr/>
          <p:nvPr/>
        </p:nvSpPr>
        <p:spPr>
          <a:xfrm>
            <a:off x="10919680" y="5830000"/>
            <a:ext cx="700000" cy="72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目標</a:t>
            </a:r>
          </a:p>
        </p:txBody>
      </p:sp>
      <p:sp>
        <p:nvSpPr>
          <p:cNvPr id="33"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5" name="hdr_txt"/>
          <p:cNvSpPr/>
          <p:nvPr/>
        </p:nvSpPr>
        <p:spPr>
          <a:xfrm>
            <a:off x="961920" y="181080"/>
            <a:ext cx="95000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0" bIns="45720" anchor="ctr">
            <a:noAutofit/>
          </a:bodyPr>
          <a:lstStyle/>
          <a:p>
            <a:pPr algn="l"/>
            <a:r>
              <a:rPr lang="ja-JP" sz="2100" b="0" dirty="0">
                <a:solidFill>
                  <a:srgbClr val="1E293B"/>
                </a:solidFill>
                <a:latin typeface="Arial"/>
                <a:cs typeface="Noto Sans CJK JP"/>
              </a:rPr>
              <a:t>次回（第3回）予定事項</a:t>
            </a:r>
          </a:p>
        </p:txBody>
      </p:sp>
      <p:sp>
        <p:nvSpPr>
          <p:cNvPr id="16" name="ttl"/>
          <p:cNvSpPr/>
          <p:nvPr/>
        </p:nvSpPr>
        <p:spPr>
          <a:xfrm>
            <a:off x="819360" y="850000"/>
            <a:ext cx="8000000"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第3回審議会　審議予定事項</a:t>
            </a:r>
          </a:p>
        </p:txBody>
      </p:sp>
      <p:sp>
        <p:nvSpPr>
          <p:cNvPr id="17" name="ni0"/>
          <p:cNvSpPr/>
          <p:nvPr/>
        </p:nvSpPr>
        <p:spPr>
          <a:xfrm>
            <a:off x="571680" y="1600000"/>
            <a:ext cx="580000" cy="1150000"/>
          </a:xfrm>
          <a:custGeom>
            <a:avLst/>
            <a:gdLst/>
            <a:ahLst/>
            <a:cxnLst/>
            <a:rect l="l" t="t" r="r" b="b"/>
            <a:pathLst>
              <a:path w="21600" h="21600">
                <a:moveTo>
                  <a:pt x="0" y="0"/>
                </a:moveTo>
                <a:lnTo>
                  <a:pt x="21600" y="0"/>
                </a:lnTo>
                <a:lnTo>
                  <a:pt x="21600" y="21600"/>
                </a:lnTo>
                <a:lnTo>
                  <a:pt x="0" y="21600"/>
                </a:lnTo>
                <a:close/>
              </a:path>
            </a:pathLst>
          </a:custGeom>
          <a:solidFill>
            <a:srgbClr val="1E40A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2400" b="0" dirty="0">
                <a:solidFill>
                  <a:srgbClr val="FFFFFF"/>
                </a:solidFill>
                <a:latin typeface="Arial"/>
                <a:cs typeface="Noto Sans CJK JP"/>
              </a:rPr>
              <a:t>1</a:t>
            </a:r>
          </a:p>
        </p:txBody>
      </p:sp>
      <p:sp>
        <p:nvSpPr>
          <p:cNvPr id="18" name="nt0"/>
          <p:cNvSpPr/>
          <p:nvPr/>
        </p:nvSpPr>
        <p:spPr>
          <a:xfrm>
            <a:off x="1251680" y="1600000"/>
            <a:ext cx="10568080" cy="4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E40AF"/>
                </a:solidFill>
                <a:latin typeface="Noto Sans CJK JP"/>
                <a:cs typeface="Noto Sans CJK JP"/>
              </a:rPr>
              <a:t>基本料金・従量料金のバランス検討</a:t>
            </a:r>
          </a:p>
        </p:txBody>
      </p:sp>
      <p:sp>
        <p:nvSpPr>
          <p:cNvPr id="19" name="nb0"/>
          <p:cNvSpPr/>
          <p:nvPr/>
        </p:nvSpPr>
        <p:spPr>
          <a:xfrm>
            <a:off x="1251680" y="2040000"/>
            <a:ext cx="10568080" cy="71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基本料金と従量料金の構成比率について、低所得・少量使用世帯への配慮と財政安定性のバランスを審議します。</a:t>
            </a:r>
          </a:p>
        </p:txBody>
      </p:sp>
      <p:sp>
        <p:nvSpPr>
          <p:cNvPr id="20" name="ni1"/>
          <p:cNvSpPr/>
          <p:nvPr/>
        </p:nvSpPr>
        <p:spPr>
          <a:xfrm>
            <a:off x="571680" y="2850000"/>
            <a:ext cx="580000" cy="115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2400" b="0" dirty="0">
                <a:solidFill>
                  <a:srgbClr val="FFFFFF"/>
                </a:solidFill>
                <a:latin typeface="Arial"/>
                <a:cs typeface="Noto Sans CJK JP"/>
              </a:rPr>
              <a:t>2</a:t>
            </a:r>
          </a:p>
        </p:txBody>
      </p:sp>
      <p:sp>
        <p:nvSpPr>
          <p:cNvPr id="21" name="nt1"/>
          <p:cNvSpPr/>
          <p:nvPr/>
        </p:nvSpPr>
        <p:spPr>
          <a:xfrm>
            <a:off x="1251680" y="2850000"/>
            <a:ext cx="10568080" cy="4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66534"/>
                </a:solidFill>
                <a:latin typeface="Noto Sans CJK JP"/>
                <a:cs typeface="Noto Sans CJK JP"/>
              </a:rPr>
              <a:t>料金体系の見直し（段階数・逓増度）</a:t>
            </a:r>
          </a:p>
        </p:txBody>
      </p:sp>
      <p:sp>
        <p:nvSpPr>
          <p:cNvPr id="22" name="nb1"/>
          <p:cNvSpPr/>
          <p:nvPr/>
        </p:nvSpPr>
        <p:spPr>
          <a:xfrm>
            <a:off x="1251680" y="3290000"/>
            <a:ext cx="10568080" cy="71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現行9区分の水量区分の見直し、逓増傾斜の適正化について検討します。51㎥以上の区分整理を中心に議論します。</a:t>
            </a:r>
          </a:p>
        </p:txBody>
      </p:sp>
      <p:sp>
        <p:nvSpPr>
          <p:cNvPr id="23" name="ni2"/>
          <p:cNvSpPr/>
          <p:nvPr/>
        </p:nvSpPr>
        <p:spPr>
          <a:xfrm>
            <a:off x="571680" y="4100000"/>
            <a:ext cx="580000" cy="1150000"/>
          </a:xfrm>
          <a:custGeom>
            <a:avLst/>
            <a:gdLst/>
            <a:ahLst/>
            <a:cxnLst/>
            <a:rect l="l" t="t" r="r" b="b"/>
            <a:pathLst>
              <a:path w="21600" h="21600">
                <a:moveTo>
                  <a:pt x="0" y="0"/>
                </a:moveTo>
                <a:lnTo>
                  <a:pt x="21600" y="0"/>
                </a:lnTo>
                <a:lnTo>
                  <a:pt x="21600" y="21600"/>
                </a:lnTo>
                <a:lnTo>
                  <a:pt x="0" y="21600"/>
                </a:lnTo>
                <a:close/>
              </a:path>
            </a:pathLst>
          </a:custGeom>
          <a:solidFill>
            <a:srgbClr val="C2410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2400" b="0" dirty="0">
                <a:solidFill>
                  <a:srgbClr val="FFFFFF"/>
                </a:solidFill>
                <a:latin typeface="Arial"/>
                <a:cs typeface="Noto Sans CJK JP"/>
              </a:rPr>
              <a:t>3</a:t>
            </a:r>
          </a:p>
        </p:txBody>
      </p:sp>
      <p:sp>
        <p:nvSpPr>
          <p:cNvPr id="24" name="nt2"/>
          <p:cNvSpPr/>
          <p:nvPr/>
        </p:nvSpPr>
        <p:spPr>
          <a:xfrm>
            <a:off x="1251680" y="4100000"/>
            <a:ext cx="10568080" cy="4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C2410C"/>
                </a:solidFill>
                <a:latin typeface="Noto Sans CJK JP"/>
                <a:cs typeface="Noto Sans CJK JP"/>
              </a:rPr>
              <a:t>答申案の策定・意見集約</a:t>
            </a:r>
          </a:p>
        </p:txBody>
      </p:sp>
      <p:sp>
        <p:nvSpPr>
          <p:cNvPr id="25" name="nb2"/>
          <p:cNvSpPr/>
          <p:nvPr/>
        </p:nvSpPr>
        <p:spPr>
          <a:xfrm>
            <a:off x="1251680" y="4540000"/>
            <a:ext cx="10568080" cy="71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これまでの審議内容を踏まえ、使用料改定に関する答申案を策定します。委員全員の意見を集約し最終答申に向けた調整を行います。</a:t>
            </a:r>
          </a:p>
        </p:txBody>
      </p:sp>
      <p:sp>
        <p:nvSpPr>
          <p:cNvPr id="26" name="ni3"/>
          <p:cNvSpPr/>
          <p:nvPr/>
        </p:nvSpPr>
        <p:spPr>
          <a:xfrm>
            <a:off x="571680" y="5350000"/>
            <a:ext cx="580000" cy="1150000"/>
          </a:xfrm>
          <a:custGeom>
            <a:avLst/>
            <a:gdLst/>
            <a:ahLst/>
            <a:cxnLst/>
            <a:rect l="l" t="t" r="r" b="b"/>
            <a:pathLst>
              <a:path w="21600" h="21600">
                <a:moveTo>
                  <a:pt x="0" y="0"/>
                </a:moveTo>
                <a:lnTo>
                  <a:pt x="21600" y="0"/>
                </a:lnTo>
                <a:lnTo>
                  <a:pt x="21600" y="21600"/>
                </a:lnTo>
                <a:lnTo>
                  <a:pt x="0" y="21600"/>
                </a:lnTo>
                <a:close/>
              </a:path>
            </a:pathLst>
          </a:custGeom>
          <a:solidFill>
            <a:srgbClr val="7C3AED"/>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2400" b="0" dirty="0">
                <a:solidFill>
                  <a:srgbClr val="FFFFFF"/>
                </a:solidFill>
                <a:latin typeface="Arial"/>
                <a:cs typeface="Noto Sans CJK JP"/>
              </a:rPr>
              <a:t>4</a:t>
            </a:r>
          </a:p>
        </p:txBody>
      </p:sp>
      <p:sp>
        <p:nvSpPr>
          <p:cNvPr id="27" name="nt3"/>
          <p:cNvSpPr/>
          <p:nvPr/>
        </p:nvSpPr>
        <p:spPr>
          <a:xfrm>
            <a:off x="1251680" y="5350000"/>
            <a:ext cx="10568080" cy="4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7C3AED"/>
                </a:solidFill>
                <a:latin typeface="Noto Sans CJK JP"/>
                <a:cs typeface="Noto Sans CJK JP"/>
              </a:rPr>
              <a:t>住民説明会フィードバックの反映</a:t>
            </a:r>
          </a:p>
        </p:txBody>
      </p:sp>
      <p:sp>
        <p:nvSpPr>
          <p:cNvPr id="28" name="nb3"/>
          <p:cNvSpPr/>
          <p:nvPr/>
        </p:nvSpPr>
        <p:spPr>
          <a:xfrm>
            <a:off x="1251680" y="5790000"/>
            <a:ext cx="10568080" cy="71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第2回審議後の住民説明会での意見・質問を踏まえ、必要に応じて改定案の微調整を行います。</a:t>
            </a:r>
          </a:p>
        </p:txBody>
      </p:sp>
      <p:sp>
        <p:nvSpPr>
          <p:cNvPr id="29"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22</a:t>
            </a: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TotalTime>
  <Words>2181</Words>
  <Application>Microsoft Office PowerPoint</Application>
  <PresentationFormat>ワイド画面</PresentationFormat>
  <Paragraphs>390</Paragraphs>
  <Slides>18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18</vt:i4>
      </vt:variant>
    </vt:vector>
  </HeadingPairs>
  <TitlesOfParts>
    <vt:vector size="24" baseType="lpstr">
      <vt:lpstr>Noto Sans CJK JP</vt:lpstr>
      <vt:lpstr>Arial</vt:lpstr>
      <vt:lpstr>Symbol</vt:lpstr>
      <vt:lpstr>Wingdings</vt:lpstr>
      <vt:lpstr>Office</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若山諒太</dc:creator>
  <cp:lastModifiedBy>諒太 若山</cp:lastModifiedBy>
  <cp:revision>2</cp:revision>
  <dcterms:modified xsi:type="dcterms:W3CDTF">2026-06-02T08:07:21Z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大輔 松田</cp:lastModifiedBy>
  <dcterms:modified xsi:type="dcterms:W3CDTF">2026-04-07T21:33:30Z</dcterms:modified>
  <cp:revision>2</cp:revision>
  <dc:subject/>
  <dc:title/>
</cp:coreProperties>
</file>