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ore0.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metadata/core-properties" Target="docProps/core0.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sldIdLst>
    <p:sldId id="256" r:id="rId3"/>
    <p:sldId id="257" r:id="rId4"/>
    <p:sldId id="258" r:id="rId5"/>
    <p:sldId id="259" r:id="rId6"/>
    <p:sldId id="260" r:id="rId42"/>
    <p:sldId id="261" r:id="rId7"/>
    <p:sldId id="262" r:id="rId29"/>
    <p:sldId id="263" r:id="rId8"/>
    <p:sldId id="264" r:id="rId30"/>
    <p:sldId id="265" r:id="rId9"/>
    <p:sldId id="266" r:id="rId10"/>
    <p:sldId id="267" r:id="rId43"/>
    <p:sldId id="268" r:id="rId11"/>
    <p:sldId id="269" r:id="rId12"/>
    <p:sldId id="270" r:id="rId31"/>
    <p:sldId id="271" r:id="rId13"/>
    <p:sldId id="272" r:id="rId32"/>
    <p:sldId id="273" r:id="rId14"/>
    <p:sldId id="274" r:id="rId38"/>
    <p:sldId id="275" r:id="rId15"/>
    <p:sldId id="276" r:id="rId16"/>
    <p:sldId id="277" r:id="rId33"/>
    <p:sldId id="278" r:id="rId17"/>
    <p:sldId id="279" r:id="rId34"/>
    <p:sldId id="280" r:id="rId18"/>
    <p:sldId id="281" r:id="rId39"/>
    <p:sldId id="282" r:id="rId35"/>
    <p:sldId id="283" r:id="rId40"/>
    <p:sldId id="284" r:id="rId19"/>
    <p:sldId id="285" r:id="rId41"/>
    <p:sldId id="286" r:id="rId20"/>
    <p:sldId id="287" r:id="rId36"/>
    <p:sldId id="288" r:id="rId25"/>
    <p:sldId id="289" r:id="rId37"/>
    <p:sldId id="290" r:id="rId26"/>
    <p:sldId id="291" r:id="rId27"/>
    <p:sldId id="292" r:id="rId28"/>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892"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slide" Target="slides/slide8.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8.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3.xml"/><Relationship Id="rId18" Type="http://schemas.openxmlformats.org/officeDocument/2006/relationships/slide" Target="slides/slide25.xml"/><Relationship Id="rId19" Type="http://schemas.openxmlformats.org/officeDocument/2006/relationships/slide" Target="slides/slide29.xml"/><Relationship Id="rId20" Type="http://schemas.openxmlformats.org/officeDocument/2006/relationships/slide" Target="slides/slide3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33.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37.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7.xml"/><Relationship Id="rId33" Type="http://schemas.openxmlformats.org/officeDocument/2006/relationships/slide" Target="slides/slide22.xml"/><Relationship Id="rId34" Type="http://schemas.openxmlformats.org/officeDocument/2006/relationships/slide" Target="slides/slide24.xml"/><Relationship Id="rId35" Type="http://schemas.openxmlformats.org/officeDocument/2006/relationships/slide" Target="slides/slide27.xml"/><Relationship Id="rId36" Type="http://schemas.openxmlformats.org/officeDocument/2006/relationships/slide" Target="slides/slide32.xml"/><Relationship Id="rId37" Type="http://schemas.openxmlformats.org/officeDocument/2006/relationships/slide" Target="slides/slide34.xml"/><Relationship Id="rId38" Type="http://schemas.openxmlformats.org/officeDocument/2006/relationships/slide" Target="slides/slide19.xml"/><Relationship Id="rId39" Type="http://schemas.openxmlformats.org/officeDocument/2006/relationships/slide" Target="slides/slide26.xml"/><Relationship Id="rId40" Type="http://schemas.openxmlformats.org/officeDocument/2006/relationships/slide" Target="slides/slide28.xml"/><Relationship Id="rId41" Type="http://schemas.openxmlformats.org/officeDocument/2006/relationships/slide" Target="slides/slide30.xml"/><Relationship Id="rId42" Type="http://schemas.openxmlformats.org/officeDocument/2006/relationships/slide" Target="slides/slide5.xml"/><Relationship Id="rId43"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Master1-Office-Them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Master1-Layout1-cust-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2556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2556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left_bar"/>
          <p:cNvSpPr/>
          <p:nvPr/>
        </p:nvSpPr>
        <p:spPr>
          <a:xfrm>
            <a:off x="9000" y="9000"/>
            <a:ext cx="228600" cy="68389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bottom_bar"/>
          <p:cNvSpPr/>
          <p:nvPr/>
        </p:nvSpPr>
        <p:spPr>
          <a:xfrm>
            <a:off x="9000" y="6734520"/>
            <a:ext cx="12173400" cy="114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deco_circle"/>
          <p:cNvSpPr/>
          <p:nvPr/>
        </p:nvSpPr>
        <p:spPr>
          <a:xfrm>
            <a:off x="8848800" y="4466880"/>
            <a:ext cx="1904760" cy="190476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3" name="div_line"/>
          <p:cNvSpPr/>
          <p:nvPr/>
        </p:nvSpPr>
        <p:spPr>
          <a:xfrm>
            <a:off x="1152000" y="3696840"/>
            <a:ext cx="62481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org_name"/>
          <p:cNvSpPr/>
          <p:nvPr/>
        </p:nvSpPr>
        <p:spPr>
          <a:xfrm>
            <a:off x="1152000" y="1459440"/>
            <a:ext cx="640080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64748B"/>
                </a:solidFill>
                <a:latin typeface="Noto Sans CJK JP"/>
                <a:cs typeface="Noto Sans CJK JP"/>
              </a:rPr>
              <a:t>六戸町 下水道使用料審議委員会</a:t>
            </a:r>
          </a:p>
        </p:txBody>
      </p:sp>
      <p:sp>
        <p:nvSpPr>
          <p:cNvPr id="25" name="title1"/>
          <p:cNvSpPr/>
          <p:nvPr/>
        </p:nvSpPr>
        <p:spPr>
          <a:xfrm>
            <a:off x="1152000" y="1774080"/>
            <a:ext cx="4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第２回</a:t>
            </a:r>
          </a:p>
        </p:txBody>
      </p:sp>
      <p:sp>
        <p:nvSpPr>
          <p:cNvPr id="26" name="title2"/>
          <p:cNvSpPr/>
          <p:nvPr/>
        </p:nvSpPr>
        <p:spPr>
          <a:xfrm>
            <a:off x="1152000" y="2650000"/>
            <a:ext cx="7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審議会 資料</a:t>
            </a:r>
          </a:p>
        </p:txBody>
      </p:sp>
      <p:sp>
        <p:nvSpPr>
          <p:cNvPr id="27" name="date_icon"/>
          <p:cNvSpPr/>
          <p:nvPr/>
        </p:nvSpPr>
        <p:spPr>
          <a:xfrm>
            <a:off x="1152000" y="390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8" name="date_txt"/>
          <p:cNvSpPr/>
          <p:nvPr/>
        </p:nvSpPr>
        <p:spPr>
          <a:xfrm>
            <a:off x="1837800" y="393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令和８年８月19日（水）　18:30〜</a:t>
            </a:r>
          </a:p>
        </p:txBody>
      </p:sp>
      <p:sp>
        <p:nvSpPr>
          <p:cNvPr id="29" name="loc_icon"/>
          <p:cNvSpPr/>
          <p:nvPr/>
        </p:nvSpPr>
        <p:spPr>
          <a:xfrm>
            <a:off x="1152000" y="455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loc_txt"/>
          <p:cNvSpPr/>
          <p:nvPr/>
        </p:nvSpPr>
        <p:spPr>
          <a:xfrm>
            <a:off x="1837800" y="457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六戸町役場 ２階 小会議室</a:t>
            </a:r>
          </a:p>
        </p:txBody>
      </p:sp>
      <p:sp>
        <p:nvSpPr>
          <p:cNvPr id="4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hdr_bar"/>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hdr_line"/>
          <p:cNvSpPr/>
          <p:nvPr/>
        </p:nvSpPr>
        <p:spPr>
          <a:xfrm>
            <a:off x="0" y="72432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hdr_title"/>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5400" b="0" dirty="0">
                <a:solidFill>
                  <a:srgbClr val="FFFFFF"/>
                </a:solidFill>
                <a:latin typeface="Arial"/>
                <a:cs typeface="Noto Sans CJK JP"/>
              </a:rPr>
              <a:t>目次</a:t>
            </a:r>
          </a:p>
        </p:txBody>
      </p:sp>
      <p:sp>
        <p:nvSpPr>
          <p:cNvPr id="23" name="agenda_lbl"/>
          <p:cNvSpPr/>
          <p:nvPr/>
        </p:nvSpPr>
        <p:spPr>
          <a:xfrm>
            <a:off x="571680" y="780000"/>
            <a:ext cx="2000000" cy="32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500" b="0" dirty="0">
                <a:solidFill>
                  <a:srgbClr val="FFFFFF"/>
                </a:solidFill>
                <a:latin typeface="Noto Sans CJK JP"/>
                <a:cs typeface="Noto Sans CJK JP"/>
              </a:rPr>
              <a:t>AGENDA</a:t>
            </a:r>
          </a:p>
        </p:txBody>
      </p:sp>
      <p:sp>
        <p:nvSpPr>
          <p:cNvPr id="30" name="num_bg"/>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1" name="num_txt"/>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0</a:t>
            </a:r>
            <a:endParaRPr lang="ja-JP" sz="4800" b="0" dirty="0">
              <a:solidFill>
                <a:srgbClr val="CBD5E1"/>
              </a:solidFill>
              <a:latin typeface="Arial"/>
              <a:cs typeface="Noto Sans CJK JP"/>
            </a:endParaRPr>
          </a:p>
        </p:txBody>
      </p:sp>
      <p:sp>
        <p:nvSpPr>
          <p:cNvPr id="32" name="item_lbl"/>
          <p:cNvSpPr/>
          <p:nvPr/>
        </p:nvSpPr>
        <p:spPr>
          <a:xfrm>
            <a:off x="1524000" y="110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前回審議の振り返り</a:t>
            </a:r>
          </a:p>
        </p:txBody>
      </p:sp>
      <p:sp>
        <p:nvSpPr>
          <p:cNvPr id="33" name="item_desc"/>
          <p:cNvSpPr/>
          <p:nvPr/>
        </p:nvSpPr>
        <p:spPr>
          <a:xfrm>
            <a:off x="4924000" y="110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第1回審議内容のまとめ・委員意見への対応方針</a:t>
            </a:r>
          </a:p>
        </p:txBody>
      </p:sp>
      <p:sp>
        <p:nvSpPr>
          <p:cNvPr id="34" name="num_bg"/>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5" name="num_txt"/>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01</a:t>
            </a:r>
          </a:p>
        </p:txBody>
      </p:sp>
      <p:sp>
        <p:nvSpPr>
          <p:cNvPr id="36" name="item_lbl"/>
          <p:cNvSpPr/>
          <p:nvPr/>
        </p:nvSpPr>
        <p:spPr>
          <a:xfrm>
            <a:off x="1524000" y="201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01</a:t>
            </a:r>
          </a:p>
        </p:txBody>
      </p:sp>
      <p:sp>
        <p:nvSpPr>
          <p:cNvPr id="37" name="item_desc"/>
          <p:cNvSpPr/>
          <p:nvPr/>
        </p:nvSpPr>
        <p:spPr>
          <a:xfrm>
            <a:off x="4924000" y="201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改定しない場合の影響・パターン①②④の収支シミュレーション・改定率の妥当性・近隣自治体比較</a:t>
            </a:r>
          </a:p>
        </p:txBody>
      </p:sp>
      <p:sp>
        <p:nvSpPr>
          <p:cNvPr id="38" name="num_bg"/>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9" name="num_txt"/>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02</a:t>
            </a:r>
          </a:p>
        </p:txBody>
      </p:sp>
      <p:sp>
        <p:nvSpPr>
          <p:cNvPr id="40" name="item_lbl"/>
          <p:cNvSpPr/>
          <p:nvPr/>
        </p:nvSpPr>
        <p:spPr>
          <a:xfrm>
            <a:off x="1524000" y="292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02</a:t>
            </a:r>
          </a:p>
        </p:txBody>
      </p:sp>
      <p:sp>
        <p:nvSpPr>
          <p:cNvPr id="41" name="item_desc"/>
          <p:cNvSpPr/>
          <p:nvPr/>
        </p:nvSpPr>
        <p:spPr>
          <a:xfrm>
            <a:off x="4924000" y="292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段階的値上げの検討（2か年vs3か年・パターン別段階単価一覧・改定ロードマップ）</a:t>
            </a:r>
          </a:p>
        </p:txBody>
      </p:sp>
      <p:sp>
        <p:nvSpPr>
          <p:cNvPr id="42" name="num_bg"/>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3" name="num_txt"/>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03</a:t>
            </a:r>
          </a:p>
        </p:txBody>
      </p:sp>
      <p:sp>
        <p:nvSpPr>
          <p:cNvPr id="44" name="item_lbl"/>
          <p:cNvSpPr/>
          <p:nvPr/>
        </p:nvSpPr>
        <p:spPr>
          <a:xfrm>
            <a:off x="1524000" y="383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03</a:t>
            </a:r>
          </a:p>
        </p:txBody>
      </p:sp>
      <p:sp>
        <p:nvSpPr>
          <p:cNvPr id="45" name="item_desc"/>
          <p:cNvSpPr/>
          <p:nvPr/>
        </p:nvSpPr>
        <p:spPr>
          <a:xfrm>
            <a:off x="4924000" y="383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財政健全化目標との整合性（経常収支比率・経費回収率・目標値設定）</a:t>
            </a:r>
          </a:p>
        </p:txBody>
      </p:sp>
      <p:sp>
        <p:nvSpPr>
          <p:cNvPr id="46" name="num_bg"/>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7" name="num_txt"/>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04</a:t>
            </a:r>
          </a:p>
        </p:txBody>
      </p:sp>
      <p:sp>
        <p:nvSpPr>
          <p:cNvPr id="48" name="item_lbl"/>
          <p:cNvSpPr/>
          <p:nvPr/>
        </p:nvSpPr>
        <p:spPr>
          <a:xfrm>
            <a:off x="1524000" y="474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04</a:t>
            </a:r>
          </a:p>
        </p:txBody>
      </p:sp>
      <p:sp>
        <p:nvSpPr>
          <p:cNvPr id="49" name="item_desc"/>
          <p:cNvSpPr/>
          <p:nvPr/>
        </p:nvSpPr>
        <p:spPr>
          <a:xfrm>
            <a:off x="4924000" y="474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住民への影響・説明対応（パターン別影響額・説明会計画）</a:t>
            </a:r>
          </a:p>
        </p:txBody>
      </p:sp>
      <p:sp>
        <p:nvSpPr>
          <p:cNvPr id="50" name="num_bg"/>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51" name="num_txt"/>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5</a:t>
            </a:r>
            <a:endParaRPr lang="ja-JP" sz="4800" b="0" dirty="0">
              <a:solidFill>
                <a:srgbClr val="CBD5E1"/>
              </a:solidFill>
              <a:latin typeface="Arial"/>
              <a:cs typeface="Noto Sans CJK JP"/>
            </a:endParaRPr>
          </a:p>
        </p:txBody>
      </p:sp>
      <p:sp>
        <p:nvSpPr>
          <p:cNvPr id="52" name="item_lbl"/>
          <p:cNvSpPr/>
          <p:nvPr/>
        </p:nvSpPr>
        <p:spPr>
          <a:xfrm>
            <a:off x="1524000" y="565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次回（第3回）予定</a:t>
            </a:r>
          </a:p>
        </p:txBody>
      </p:sp>
      <p:sp>
        <p:nvSpPr>
          <p:cNvPr id="53" name="item_desc"/>
          <p:cNvSpPr/>
          <p:nvPr/>
        </p:nvSpPr>
        <p:spPr>
          <a:xfrm>
            <a:off x="4924000" y="565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料金体系見直し・答申案策定・意見集約</a:t>
            </a:r>
          </a:p>
        </p:txBody>
      </p:sp>
      <p:sp>
        <p:nvSpPr>
          <p:cNvPr id="10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前回審議の振り返り（第1回）</a:t>
            </a:r>
          </a:p>
        </p:txBody>
      </p:sp>
      <p:sp>
        <p:nvSpPr>
          <p:cNvPr id="16" name="ttl"/>
          <p:cNvSpPr/>
          <p:nvPr/>
        </p:nvSpPr>
        <p:spPr>
          <a:xfrm>
            <a:off x="819360" y="870000"/>
            <a:ext cx="1105229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第1回審議内容のまとめ</a:t>
            </a:r>
          </a:p>
        </p:txBody>
      </p:sp>
      <p:sp>
        <p:nvSpPr>
          <p:cNvPr id="17" name="pi"/>
          <p:cNvSpPr/>
          <p:nvPr/>
        </p:nvSpPr>
        <p:spPr>
          <a:xfrm>
            <a:off x="571680" y="195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8" name="pt"/>
          <p:cNvSpPr/>
          <p:nvPr/>
        </p:nvSpPr>
        <p:spPr>
          <a:xfrm>
            <a:off x="1100000" y="195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現状の経営状況</a:t>
            </a:r>
          </a:p>
        </p:txBody>
      </p:sp>
      <p:sp>
        <p:nvSpPr>
          <p:cNvPr id="19" name="pb"/>
          <p:cNvSpPr/>
          <p:nvPr/>
        </p:nvSpPr>
        <p:spPr>
          <a:xfrm>
            <a:off x="4200000" y="195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公共の経費回収率47.11%・農集35.99%（令和6年度決算）と低水準。使用料改定が必要。経営持続のための抜本的対策を確認した。</a:t>
            </a:r>
          </a:p>
        </p:txBody>
      </p:sp>
      <p:sp>
        <p:nvSpPr>
          <p:cNvPr id="20" name="pi"/>
          <p:cNvSpPr/>
          <p:nvPr/>
        </p:nvSpPr>
        <p:spPr>
          <a:xfrm>
            <a:off x="571680" y="277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pt"/>
          <p:cNvSpPr/>
          <p:nvPr/>
        </p:nvSpPr>
        <p:spPr>
          <a:xfrm>
            <a:off x="1100000" y="277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財政目標の確認</a:t>
            </a:r>
          </a:p>
        </p:txBody>
      </p:sp>
      <p:sp>
        <p:nvSpPr>
          <p:cNvPr id="22" name="pb"/>
          <p:cNvSpPr/>
          <p:nvPr/>
        </p:nvSpPr>
        <p:spPr>
          <a:xfrm>
            <a:off x="4200000" y="277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目標①経常収支比率100%以上、目標②経費回収率47%以上（段階的向上）を目標として設定した。</a:t>
            </a:r>
          </a:p>
        </p:txBody>
      </p:sp>
      <p:sp>
        <p:nvSpPr>
          <p:cNvPr id="23" name="pi"/>
          <p:cNvSpPr/>
          <p:nvPr/>
        </p:nvSpPr>
        <p:spPr>
          <a:xfrm>
            <a:off x="571680" y="359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pt"/>
          <p:cNvSpPr/>
          <p:nvPr/>
        </p:nvSpPr>
        <p:spPr>
          <a:xfrm>
            <a:off x="1100000" y="359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シミュレーション結果</a:t>
            </a:r>
          </a:p>
        </p:txBody>
      </p:sp>
      <p:sp>
        <p:nvSpPr>
          <p:cNvPr id="25" name="pb"/>
          <p:cNvSpPr/>
          <p:nvPr/>
        </p:nvSpPr>
        <p:spPr>
          <a:xfrm>
            <a:off x="4200000" y="359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パターン①②④を提示。20㎥で税抜3,000円・税込3,300円を達成。今回は3パターンすべての収支シミュレーションを提示する。</a:t>
            </a:r>
          </a:p>
        </p:txBody>
      </p:sp>
      <p:sp>
        <p:nvSpPr>
          <p:cNvPr id="26" name="pi"/>
          <p:cNvSpPr/>
          <p:nvPr/>
        </p:nvSpPr>
        <p:spPr>
          <a:xfrm>
            <a:off x="571680" y="441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pt"/>
          <p:cNvSpPr/>
          <p:nvPr/>
        </p:nvSpPr>
        <p:spPr>
          <a:xfrm>
            <a:off x="1100000" y="441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社会資本整備交付金要件</a:t>
            </a:r>
          </a:p>
        </p:txBody>
      </p:sp>
      <p:sp>
        <p:nvSpPr>
          <p:cNvPr id="28" name="pb"/>
          <p:cNvSpPr/>
          <p:nvPr/>
        </p:nvSpPr>
        <p:spPr>
          <a:xfrm>
            <a:off x="4200000" y="441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5年に1回の使用料改定検証が交付要件。未達成の場合は社会資本整備総合交付金の対象外となる。</a:t>
            </a:r>
          </a:p>
        </p:txBody>
      </p:sp>
      <p:sp>
        <p:nvSpPr>
          <p:cNvPr id="29" name="pi"/>
          <p:cNvSpPr/>
          <p:nvPr/>
        </p:nvSpPr>
        <p:spPr>
          <a:xfrm>
            <a:off x="571680" y="523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pt"/>
          <p:cNvSpPr/>
          <p:nvPr/>
        </p:nvSpPr>
        <p:spPr>
          <a:xfrm>
            <a:off x="1100000" y="523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段階的改定単価</a:t>
            </a:r>
          </a:p>
        </p:txBody>
      </p:sp>
      <p:sp>
        <p:nvSpPr>
          <p:cNvPr id="31" name="pb"/>
          <p:cNvSpPr/>
          <p:nvPr/>
        </p:nvSpPr>
        <p:spPr>
          <a:xfrm>
            <a:off x="4200000" y="523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2か年（R8中間→R9最終）および3か年（R8第1段→R9第2段→R10最終）の段階単価を提示・確認した。</a:t>
            </a:r>
          </a:p>
        </p:txBody>
      </p:sp>
      <p:sp>
        <p:nvSpPr>
          <p:cNvPr id="3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01</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使用料改定案の検討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本章では、まず使用料改定を行わない場合の影響を確認したうえで、パターン①②④それぞれの収支シミュレーション結果を示し、推奨案の選定理由と改定率の妥当性について整理します。</a:t>
            </a:r>
          </a:p>
          <a:p>
            <a:pPr algn="l"/>
            <a:r>
              <a:rPr lang="ja-JP" sz="2200" b="0" dirty="0">
                <a:solidFill>
                  <a:srgbClr val="475569"/>
                </a:solidFill>
                <a:latin typeface="Noto Sans CJK JP"/>
                <a:cs typeface="Noto Sans CJK JP"/>
              </a:rPr>
              <a:t>なお本章以降の指標は2か年改定を主軸として記載し、3か年改定は括弧書きで併記しています。改定年数は第2章でご審議いただく事項です。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01-1　使用料改定を行わない場合の影響</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使用料改定を行わない場合（現状維持）と改定する場合の比較</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改定しない場合（現状維持）</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使用料は現行のまま（基本1,000円／20㎥・税込2,420円）</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当面のメリット</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住民の月額負担は現行のまま</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条例改正・住民説明の手続きが不要</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ただし効果は短期的なものにとどまる</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想定されるリスク</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経常赤字が継続（R8〜R16累計 公共△159,715千円・農集△199,587千円）</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一般会計繰入の増加／更新・修繕の先送り／交付金要件の未充足</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改定する場合（推奨案②・2か年改定）</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R8：中間単価 → R9：最終単価（20㎥・税込3,300円）</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期待される効果</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公共はR9に経常収支比率101.1%へ改善（単年度黒字化）</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R8〜R16の経常損益は公共＋42,505千円（改定なし比＋202,220千円）</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農集も赤字幅を年6,200〜6,500千円圧縮（累計＋54,165千円）</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住民への影響</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20㎥（3人世帯）で月額＋880円・年間＋10,560円（1日あたり約29円）</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10㎥の少量使用世帯でも月額＋220円（パターン②の場合）</a:t>
            </a:r>
          </a:p>
        </p:txBody>
      </p:sp>
      <p:sp>
        <p:nvSpPr>
          <p:cNvPr id="35" name="rec9"/>
          <p:cNvSpPr/>
          <p:nvPr/>
        </p:nvSpPr>
        <p:spPr>
          <a:xfrm>
            <a:off x="571680" y="4930000"/>
            <a:ext cx="11048400" cy="1361566"/>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改定しない場合、令和8〜16年度の9年間で両事業合計 約3.6億円の経常赤字が累積し、その補填は一般会計繰入（＝町民全体の税負担）に依存することになります。加えて社会資本整備総合交付金の交付要件（使用料改定の必要性検証・経費回収率向上ロードマップ）を満たせず、改築・更新事業の国庫補助を受けられなくなるおそれがあります。</a:t>
            </a:r>
          </a:p>
          <a:p>
            <a:pPr algn="l"/>
            <a:r>
              <a:rPr lang="ja-JP" sz="1300" b="0" dirty="0">
                <a:solidFill>
                  <a:srgbClr val="78350F"/>
                </a:solidFill>
                <a:latin typeface="Noto Sans CJK JP"/>
                <a:cs typeface="Noto Sans CJK JP"/>
              </a:rPr>
              <a:t>※ 金額は経営戦略ベースの推計値です（令和7年度決算との突合は未実施）。一般会計繰入金はブック上いずれのケースも同額を前提としているため、上表の差は経常損益の差として現れます。</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01-2　推奨パターンの絞り込み</a:t>
            </a:r>
          </a:p>
        </p:txBody>
      </p:sp>
      <p:sp>
        <p:nvSpPr>
          <p:cNvPr id="16" name="ttl"/>
          <p:cNvSpPr/>
          <p:nvPr/>
        </p:nvSpPr>
        <p:spPr>
          <a:xfrm>
            <a:off x="571680" y="850000"/>
            <a:ext cx="1129997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推奨パターンの絞り込み　評価軸による比較</a:t>
            </a:r>
          </a:p>
        </p:txBody>
      </p:sp>
      <p:sp>
        <p:nvSpPr>
          <p:cNvPr id="17" name="th0"/>
          <p:cNvSpPr/>
          <p:nvPr/>
        </p:nvSpPr>
        <p:spPr>
          <a:xfrm>
            <a:off x="571680" y="1900000"/>
            <a:ext cx="25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評価軸</a:t>
            </a:r>
          </a:p>
        </p:txBody>
      </p:sp>
      <p:sp>
        <p:nvSpPr>
          <p:cNvPr id="18" name="th1"/>
          <p:cNvSpPr/>
          <p:nvPr/>
        </p:nvSpPr>
        <p:spPr>
          <a:xfrm>
            <a:off x="3271680" y="1900000"/>
            <a:ext cx="26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パターン①
標準型</a:t>
            </a:r>
          </a:p>
        </p:txBody>
      </p:sp>
      <p:sp>
        <p:nvSpPr>
          <p:cNvPr id="19" name="th2"/>
          <p:cNvSpPr/>
          <p:nvPr/>
        </p:nvSpPr>
        <p:spPr>
          <a:xfrm>
            <a:off x="6071680" y="190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パターン②
家庭軽減型</a:t>
            </a:r>
          </a:p>
        </p:txBody>
      </p:sp>
      <p:sp>
        <p:nvSpPr>
          <p:cNvPr id="20" name="th3"/>
          <p:cNvSpPr/>
          <p:nvPr/>
        </p:nvSpPr>
        <p:spPr>
          <a:xfrm>
            <a:off x="9071680" y="1900000"/>
            <a:ext cx="257832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パターン④
段階累進型</a:t>
            </a:r>
          </a:p>
        </p:txBody>
      </p:sp>
      <p:sp>
        <p:nvSpPr>
          <p:cNvPr id="21" name="r00"/>
          <p:cNvSpPr/>
          <p:nvPr/>
        </p:nvSpPr>
        <p:spPr>
          <a:xfrm>
            <a:off x="571680" y="23042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財政健全化への貢献度（R9使用料収入）</a:t>
            </a:r>
          </a:p>
        </p:txBody>
      </p:sp>
      <p:sp>
        <p:nvSpPr>
          <p:cNvPr id="22" name="r01"/>
          <p:cNvSpPr/>
          <p:nvPr/>
        </p:nvSpPr>
        <p:spPr>
          <a:xfrm>
            <a:off x="3271680" y="23042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76,277千円</a:t>
            </a:r>
          </a:p>
        </p:txBody>
      </p:sp>
      <p:sp>
        <p:nvSpPr>
          <p:cNvPr id="23" name="r02"/>
          <p:cNvSpPr/>
          <p:nvPr/>
        </p:nvSpPr>
        <p:spPr>
          <a:xfrm>
            <a:off x="6071680" y="23042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81,531千円</a:t>
            </a:r>
          </a:p>
        </p:txBody>
      </p:sp>
      <p:sp>
        <p:nvSpPr>
          <p:cNvPr id="24" name="r03"/>
          <p:cNvSpPr/>
          <p:nvPr/>
        </p:nvSpPr>
        <p:spPr>
          <a:xfrm>
            <a:off x="9071680" y="23042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78,028千円</a:t>
            </a:r>
          </a:p>
        </p:txBody>
      </p:sp>
      <p:sp>
        <p:nvSpPr>
          <p:cNvPr id="25" name="r10"/>
          <p:cNvSpPr/>
          <p:nvPr/>
        </p:nvSpPr>
        <p:spPr>
          <a:xfrm>
            <a:off x="571680" y="27614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目標達成（20㎥・税抜3,000円）</a:t>
            </a:r>
          </a:p>
        </p:txBody>
      </p:sp>
      <p:sp>
        <p:nvSpPr>
          <p:cNvPr id="26" name="r11"/>
          <p:cNvSpPr/>
          <p:nvPr/>
        </p:nvSpPr>
        <p:spPr>
          <a:xfrm>
            <a:off x="3271680" y="27614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達成</a:t>
            </a:r>
          </a:p>
        </p:txBody>
      </p:sp>
      <p:sp>
        <p:nvSpPr>
          <p:cNvPr id="27" name="r12"/>
          <p:cNvSpPr/>
          <p:nvPr/>
        </p:nvSpPr>
        <p:spPr>
          <a:xfrm>
            <a:off x="6071680" y="27614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達成</a:t>
            </a:r>
          </a:p>
        </p:txBody>
      </p:sp>
      <p:sp>
        <p:nvSpPr>
          <p:cNvPr id="28" name="r13"/>
          <p:cNvSpPr/>
          <p:nvPr/>
        </p:nvSpPr>
        <p:spPr>
          <a:xfrm>
            <a:off x="9071680" y="27614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達成</a:t>
            </a:r>
          </a:p>
        </p:txBody>
      </p:sp>
      <p:sp>
        <p:nvSpPr>
          <p:cNvPr id="29" name="r20"/>
          <p:cNvSpPr/>
          <p:nvPr/>
        </p:nvSpPr>
        <p:spPr>
          <a:xfrm>
            <a:off x="571680" y="32186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少量使用者（10㎥以下）への配慮</a:t>
            </a:r>
          </a:p>
        </p:txBody>
      </p:sp>
      <p:sp>
        <p:nvSpPr>
          <p:cNvPr id="30" name="r21"/>
          <p:cNvSpPr/>
          <p:nvPr/>
        </p:nvSpPr>
        <p:spPr>
          <a:xfrm>
            <a:off x="3271680" y="32186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基本料+50%</a:t>
            </a:r>
          </a:p>
        </p:txBody>
      </p:sp>
      <p:sp>
        <p:nvSpPr>
          <p:cNvPr id="31" name="r22"/>
          <p:cNvSpPr/>
          <p:nvPr/>
        </p:nvSpPr>
        <p:spPr>
          <a:xfrm>
            <a:off x="6071680" y="32186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基本料+20%</a:t>
            </a:r>
          </a:p>
        </p:txBody>
      </p:sp>
      <p:sp>
        <p:nvSpPr>
          <p:cNvPr id="32" name="r23"/>
          <p:cNvSpPr/>
          <p:nvPr/>
        </p:nvSpPr>
        <p:spPr>
          <a:xfrm>
            <a:off x="9071680" y="32186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基本料+40%</a:t>
            </a:r>
          </a:p>
        </p:txBody>
      </p:sp>
      <p:sp>
        <p:nvSpPr>
          <p:cNvPr id="33" name="r30"/>
          <p:cNvSpPr/>
          <p:nvPr/>
        </p:nvSpPr>
        <p:spPr>
          <a:xfrm>
            <a:off x="571680" y="3675887"/>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中量使用者（20〜30㎥）の負担</a:t>
            </a:r>
          </a:p>
        </p:txBody>
      </p:sp>
      <p:sp>
        <p:nvSpPr>
          <p:cNvPr id="34" name="r31"/>
          <p:cNvSpPr/>
          <p:nvPr/>
        </p:nvSpPr>
        <p:spPr>
          <a:xfrm>
            <a:off x="3271680" y="3675887"/>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標準</a:t>
            </a:r>
          </a:p>
        </p:txBody>
      </p:sp>
      <p:sp>
        <p:nvSpPr>
          <p:cNvPr id="35" name="r32"/>
          <p:cNvSpPr/>
          <p:nvPr/>
        </p:nvSpPr>
        <p:spPr>
          <a:xfrm>
            <a:off x="6071680" y="3675887"/>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標準</a:t>
            </a:r>
          </a:p>
        </p:txBody>
      </p:sp>
      <p:sp>
        <p:nvSpPr>
          <p:cNvPr id="36" name="r33"/>
          <p:cNvSpPr/>
          <p:nvPr/>
        </p:nvSpPr>
        <p:spPr>
          <a:xfrm>
            <a:off x="9071680" y="3675887"/>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緩やか</a:t>
            </a:r>
          </a:p>
        </p:txBody>
      </p:sp>
      <p:sp>
        <p:nvSpPr>
          <p:cNvPr id="37" name="r40"/>
          <p:cNvSpPr/>
          <p:nvPr/>
        </p:nvSpPr>
        <p:spPr>
          <a:xfrm>
            <a:off x="571680" y="4133087"/>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大口使用者への累進性</a:t>
            </a:r>
          </a:p>
        </p:txBody>
      </p:sp>
      <p:sp>
        <p:nvSpPr>
          <p:cNvPr id="38" name="r41"/>
          <p:cNvSpPr/>
          <p:nvPr/>
        </p:nvSpPr>
        <p:spPr>
          <a:xfrm>
            <a:off x="3271680" y="4133087"/>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39" name="r42"/>
          <p:cNvSpPr/>
          <p:nvPr/>
        </p:nvSpPr>
        <p:spPr>
          <a:xfrm>
            <a:off x="6071680" y="4133087"/>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強い</a:t>
            </a:r>
          </a:p>
        </p:txBody>
      </p:sp>
      <p:sp>
        <p:nvSpPr>
          <p:cNvPr id="40" name="r43"/>
          <p:cNvSpPr/>
          <p:nvPr/>
        </p:nvSpPr>
        <p:spPr>
          <a:xfrm>
            <a:off x="9071680" y="4133087"/>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41" name="r50"/>
          <p:cNvSpPr/>
          <p:nvPr/>
        </p:nvSpPr>
        <p:spPr>
          <a:xfrm>
            <a:off x="571680" y="45902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1" dirty="0">
                <a:solidFill>
                  <a:srgbClr val="EF4444"/>
                </a:solidFill>
                <a:latin typeface="Noto Sans CJK JP"/>
                <a:cs typeface="Noto Sans CJK JP"/>
              </a:rPr>
              <a:t>総合評価</a:t>
            </a:r>
          </a:p>
        </p:txBody>
      </p:sp>
      <p:sp>
        <p:nvSpPr>
          <p:cNvPr id="42" name="r51"/>
          <p:cNvSpPr/>
          <p:nvPr/>
        </p:nvSpPr>
        <p:spPr>
          <a:xfrm>
            <a:off x="3271680" y="45902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3" name="r52"/>
          <p:cNvSpPr/>
          <p:nvPr/>
        </p:nvSpPr>
        <p:spPr>
          <a:xfrm>
            <a:off x="6071680" y="45902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EF4444"/>
                </a:solidFill>
                <a:latin typeface="Noto Sans CJK JP"/>
                <a:cs typeface="Noto Sans CJK JP"/>
              </a:rPr>
              <a:t>◎ 推奨</a:t>
            </a:r>
          </a:p>
        </p:txBody>
      </p:sp>
      <p:sp>
        <p:nvSpPr>
          <p:cNvPr id="44" name="r53"/>
          <p:cNvSpPr/>
          <p:nvPr/>
        </p:nvSpPr>
        <p:spPr>
          <a:xfrm>
            <a:off x="9071680" y="45902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5" name="concl"/>
          <p:cNvSpPr/>
          <p:nvPr/>
        </p:nvSpPr>
        <p:spPr>
          <a:xfrm>
            <a:off x="571680" y="5148961"/>
            <a:ext cx="11048400" cy="1361566"/>
          </a:xfrm>
          <a:custGeom>
            <a:avLst/>
            <a:gdLst/>
            <a:ahLst/>
            <a:cxnLst/>
            <a:rect l="l" t="t" r="r" b="b"/>
            <a:pathLst>
              <a:path w="21600" h="21600">
                <a:moveTo>
                  <a:pt x="0" y="0"/>
                </a:moveTo>
                <a:lnTo>
                  <a:pt x="21600" y="0"/>
                </a:lnTo>
                <a:lnTo>
                  <a:pt x="21600" y="21600"/>
                </a:lnTo>
                <a:lnTo>
                  <a:pt x="0" y="21600"/>
                </a:lnTo>
                <a:close/>
              </a:path>
            </a:pathLst>
          </a:custGeom>
          <a:solidFill>
            <a:srgbClr val="FEF2F2"/>
          </a:solidFill>
          <a:ln w="19050">
            <a:solidFill>
              <a:srgbClr val="EF444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EF4444"/>
                </a:solidFill>
                <a:latin typeface="Noto Sans CJK JP"/>
                <a:cs typeface="Noto Sans CJK JP"/>
              </a:rPr>
              <a:t>▶ 推奨案：パターン②（家庭軽減型）　【選定理由①】財政改善効果が3案中で最大（R9使用料収入81,531千円／公共 経費回収率46.1%・経常収支比率101.1%／農集 経費回収率54.2%。いずれも3案中で最良）　【選定理由②】少量使用者（10㎥）の負担増が3案中で最小（月＋220円。①＋550円・④＋440円）</a:t>
            </a:r>
          </a:p>
          <a:p>
            <a:pPr algn="l"/>
            <a:r>
              <a:rPr lang="ja-JP" sz="1300" b="0" dirty="0">
                <a:solidFill>
                  <a:srgbClr val="EF4444"/>
                </a:solidFill>
                <a:latin typeface="Noto Sans CJK JP"/>
                <a:cs typeface="Noto Sans CJK JP"/>
              </a:rPr>
              <a:t>※ ただし公共下水道の経費回収率は目標水準47%に対しR9 46.1%で、今回改定のみでは目標に到達しません（使用料収入ベースで1,647千円・＋2.0%相当の不足）。R10以降の段階的適正化（次期改定：R12検証）とあわせた達成を想定しています（03-4参照）。</a:t>
            </a:r>
          </a:p>
        </p:txBody>
      </p:sp>
      <p:sp>
        <p:nvSpPr>
          <p:cNvPr id="4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01-3　収支シミュレーション（パターン①採用時）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パターン①（標準型）採用時の財政収支見込み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R8：97.6%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R9：100.0%　（98.4%）</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R8：38.5%　（36.6%）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R9：43.1%　（38.8%）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R8：83.4%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R9：84.0%　（82.4%）</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R8：45.2%　（43.1%）</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R9：49.6%　（44.9%）</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パターン①（標準型）を2か年改定で採用した場合、公共下水道は経常収支比率がR9に100.0%（R10以降 101.1%）となり、目標①の100%以上を達成する見込みです。経費回収率は現行34.4%からR9 43.1%・R10 43.4%へ改善しますが、目標②の47%には6,901千円（＋9.0%）不足し、次期改定とあわせた段階的な達成となります。</a:t>
            </a:r>
          </a:p>
          <a:p>
            <a:pPr algn="l"/>
            <a:r>
              <a:rPr lang="ja-JP" sz="1200" b="0" dirty="0">
                <a:solidFill>
                  <a:srgbClr val="166534"/>
                </a:solidFill>
                <a:latin typeface="Noto Sans CJK JP"/>
                <a:cs typeface="Noto Sans CJK JP"/>
              </a:rPr>
              <a:t>農業集落排水は経費回収率がR9 49.6%・R10 50.0%へ改善し目標②を達成する一方、経常収支比率（目標①）はR10で84.2%にとどまり、引き続き他会計繰入等による補填が必要となる見込みです。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01-4　収支シミュレーション（パターン②採用時）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パターン②（家庭軽減型）採用時の財政収支見込み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R8：98.1%　（97.4%）</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R9：101.1%　（99.1%）</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R8：40.0%　（37.6%）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R9：46.1%　（40.8%）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R8：84.2%　（83.2%）</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R9：85.8%　（83.5%）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R8：47.7%　（44.7%）</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R9：54.2%　（48.1%）</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パターン②（家庭軽減型）を2か年改定で採用した場合、公共下水道は経常収支比率がR9に101.1%（R10以降 102.4%）となり、目標①の100%以上を達成する見込みです。経費回収率は現行34.4%からR9 46.1%・R10 46.4%へ改善しますが、目標②の47%には1,647千円（＋2.0%）不足し、次期改定とあわせた段階的な達成となります。</a:t>
            </a:r>
          </a:p>
          <a:p>
            <a:pPr algn="l"/>
            <a:r>
              <a:rPr lang="ja-JP" sz="1200" b="0" dirty="0">
                <a:solidFill>
                  <a:srgbClr val="166534"/>
                </a:solidFill>
                <a:latin typeface="Noto Sans CJK JP"/>
                <a:cs typeface="Noto Sans CJK JP"/>
              </a:rPr>
              <a:t>農業集落排水は経費回収率がR9 54.2%・R10 54.7%へ改善し目標②を達成する一方、経常収支比率（目標①）はR10で85.9%にとどまり、引き続き他会計繰入等による補填が必要となる見込みです。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01-5　収支シミュレーション（パターン④採用時）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パターン④（段階累進型）採用時の財政収支見込み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R8：97.8%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R9：100.4%　（98.5%）</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R8：39.0%　（36.8%）</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R9：44.1%　（39.1%）</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R8：83.7%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R9：84.6%　（82.5%）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R8：46.0%　（43.3%）</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R9：51.1%　（45.2%）</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パターン④（段階累進型）を2か年改定で採用した場合、公共下水道は経常収支比率がR9に100.4%（R10以降 101.6%）となり、目標①の100%以上を達成する見込みです。経費回収率は現行34.4%からR9 44.1%・R10 44.4%へ改善しますが、目標②の47%には5,150千円（＋6.6%）不足し、次期改定とあわせた段階的な達成となります。</a:t>
            </a:r>
          </a:p>
          <a:p>
            <a:pPr algn="l"/>
            <a:r>
              <a:rPr lang="ja-JP" sz="1200" b="0" dirty="0">
                <a:solidFill>
                  <a:srgbClr val="166534"/>
                </a:solidFill>
                <a:latin typeface="Noto Sans CJK JP"/>
                <a:cs typeface="Noto Sans CJK JP"/>
              </a:rPr>
              <a:t>農業集落排水は経費回収率がR9 51.1%・R10 51.5%へ改善し目標②を達成する一方、経常収支比率（目標①）はR10で84.8%にとどまり、引き続き他会計繰入等による補填が必要となる見込みです。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使用料改定案の検討　01-6　収支見込み比較（パターン①②④・2か年改定）</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3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100" b="0" dirty="0">
                <a:solidFill>
                  <a:srgbClr val="1E293B"/>
                </a:solidFill>
                <a:latin typeface="Arial"/>
                <a:cs typeface="Noto Sans CJK JP"/>
              </a:rPr>
              <a:t>パターン別　財政収支見込み比較（公共下水道・農業集落排水）　2か年改定ベース</a:t>
            </a:r>
          </a:p>
        </p:txBody>
      </p:sp>
      <p:sp>
        <p:nvSpPr>
          <p:cNvPr id="14" name="ph0"/>
          <p:cNvSpPr/>
          <p:nvPr/>
        </p:nvSpPr>
        <p:spPr>
          <a:xfrm>
            <a:off x="380000" y="1371600"/>
            <a:ext cx="3696960" cy="301752"/>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パターン②（家庭軽減型）</a:t>
            </a:r>
          </a:p>
        </p:txBody>
      </p:sp>
      <p:sp>
        <p:nvSpPr>
          <p:cNvPr id="15" name="pub0"/>
          <p:cNvSpPr/>
          <p:nvPr/>
        </p:nvSpPr>
        <p:spPr>
          <a:xfrm>
            <a:off x="380000" y="1691640"/>
            <a:ext cx="3696960" cy="2286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ch0"/>
          <p:cNvSpPr/>
          <p:nvPr/>
        </p:nvSpPr>
        <p:spPr>
          <a:xfrm>
            <a:off x="380000" y="1947672"/>
            <a:ext cx="3696960" cy="219456"/>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17" name="cpr00"/>
          <p:cNvSpPr/>
          <p:nvPr/>
        </p:nvSpPr>
        <p:spPr>
          <a:xfrm>
            <a:off x="380000" y="2194560"/>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18" name="cpr01"/>
          <p:cNvSpPr/>
          <p:nvPr/>
        </p:nvSpPr>
        <p:spPr>
          <a:xfrm>
            <a:off x="380000" y="2450592"/>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R8：98.1%</a:t>
            </a:r>
          </a:p>
        </p:txBody>
      </p:sp>
      <p:sp>
        <p:nvSpPr>
          <p:cNvPr id="19" name="cpr02"/>
          <p:cNvSpPr/>
          <p:nvPr/>
        </p:nvSpPr>
        <p:spPr>
          <a:xfrm>
            <a:off x="380000" y="2706624"/>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R9：101.1%</a:t>
            </a:r>
          </a:p>
        </p:txBody>
      </p:sp>
      <p:sp>
        <p:nvSpPr>
          <p:cNvPr id="20" name="eh0"/>
          <p:cNvSpPr/>
          <p:nvPr/>
        </p:nvSpPr>
        <p:spPr>
          <a:xfrm>
            <a:off x="380000" y="297180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21" name="epr00"/>
          <p:cNvSpPr/>
          <p:nvPr/>
        </p:nvSpPr>
        <p:spPr>
          <a:xfrm>
            <a:off x="380000" y="321868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22" name="epr01"/>
          <p:cNvSpPr/>
          <p:nvPr/>
        </p:nvSpPr>
        <p:spPr>
          <a:xfrm>
            <a:off x="380000" y="347472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R8：40.0%</a:t>
            </a:r>
          </a:p>
        </p:txBody>
      </p:sp>
      <p:sp>
        <p:nvSpPr>
          <p:cNvPr id="23" name="epr02"/>
          <p:cNvSpPr/>
          <p:nvPr/>
        </p:nvSpPr>
        <p:spPr>
          <a:xfrm>
            <a:off x="380000" y="373075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R9：46.1%</a:t>
            </a:r>
          </a:p>
        </p:txBody>
      </p:sp>
      <p:sp>
        <p:nvSpPr>
          <p:cNvPr id="24" name="agr0"/>
          <p:cNvSpPr/>
          <p:nvPr/>
        </p:nvSpPr>
        <p:spPr>
          <a:xfrm>
            <a:off x="380000" y="3995928"/>
            <a:ext cx="3696960" cy="2286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25" name="ach0"/>
          <p:cNvSpPr/>
          <p:nvPr/>
        </p:nvSpPr>
        <p:spPr>
          <a:xfrm>
            <a:off x="380000" y="425196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26" name="ar00"/>
          <p:cNvSpPr/>
          <p:nvPr/>
        </p:nvSpPr>
        <p:spPr>
          <a:xfrm>
            <a:off x="380000" y="449884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27" name="ar01"/>
          <p:cNvSpPr/>
          <p:nvPr/>
        </p:nvSpPr>
        <p:spPr>
          <a:xfrm>
            <a:off x="380000" y="475488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R8：47.7% / 84.2%</a:t>
            </a:r>
          </a:p>
        </p:txBody>
      </p:sp>
      <p:sp>
        <p:nvSpPr>
          <p:cNvPr id="28" name="ar02"/>
          <p:cNvSpPr/>
          <p:nvPr/>
        </p:nvSpPr>
        <p:spPr>
          <a:xfrm>
            <a:off x="380000" y="501091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R9：54.2% / 85.8%</a:t>
            </a:r>
          </a:p>
        </p:txBody>
      </p:sp>
      <p:sp>
        <p:nvSpPr>
          <p:cNvPr id="29" name="ph1"/>
          <p:cNvSpPr/>
          <p:nvPr/>
        </p:nvSpPr>
        <p:spPr>
          <a:xfrm>
            <a:off x="4146960" y="1371600"/>
            <a:ext cx="3696960" cy="301752"/>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パターン④（段階累進型）</a:t>
            </a:r>
          </a:p>
        </p:txBody>
      </p:sp>
      <p:sp>
        <p:nvSpPr>
          <p:cNvPr id="30" name="pub1"/>
          <p:cNvSpPr/>
          <p:nvPr/>
        </p:nvSpPr>
        <p:spPr>
          <a:xfrm>
            <a:off x="4146960" y="1691640"/>
            <a:ext cx="3696960" cy="2286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31" name="ch1"/>
          <p:cNvSpPr/>
          <p:nvPr/>
        </p:nvSpPr>
        <p:spPr>
          <a:xfrm>
            <a:off x="4146960" y="1947672"/>
            <a:ext cx="3696960" cy="219456"/>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32" name="cpr10"/>
          <p:cNvSpPr/>
          <p:nvPr/>
        </p:nvSpPr>
        <p:spPr>
          <a:xfrm>
            <a:off x="4146960" y="2194560"/>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33" name="cpr11"/>
          <p:cNvSpPr/>
          <p:nvPr/>
        </p:nvSpPr>
        <p:spPr>
          <a:xfrm>
            <a:off x="4146960" y="2450592"/>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R8：97.8%</a:t>
            </a:r>
          </a:p>
        </p:txBody>
      </p:sp>
      <p:sp>
        <p:nvSpPr>
          <p:cNvPr id="34" name="cpr12"/>
          <p:cNvSpPr/>
          <p:nvPr/>
        </p:nvSpPr>
        <p:spPr>
          <a:xfrm>
            <a:off x="4146960" y="2706624"/>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R9：100.4%</a:t>
            </a:r>
          </a:p>
        </p:txBody>
      </p:sp>
      <p:sp>
        <p:nvSpPr>
          <p:cNvPr id="35" name="eh1"/>
          <p:cNvSpPr/>
          <p:nvPr/>
        </p:nvSpPr>
        <p:spPr>
          <a:xfrm>
            <a:off x="4146960" y="297180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36" name="epr10"/>
          <p:cNvSpPr/>
          <p:nvPr/>
        </p:nvSpPr>
        <p:spPr>
          <a:xfrm>
            <a:off x="4146960" y="321868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37" name="epr11"/>
          <p:cNvSpPr/>
          <p:nvPr/>
        </p:nvSpPr>
        <p:spPr>
          <a:xfrm>
            <a:off x="4146960" y="347472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R8：39.0%</a:t>
            </a:r>
          </a:p>
        </p:txBody>
      </p:sp>
      <p:sp>
        <p:nvSpPr>
          <p:cNvPr id="38" name="epr12"/>
          <p:cNvSpPr/>
          <p:nvPr/>
        </p:nvSpPr>
        <p:spPr>
          <a:xfrm>
            <a:off x="4146960" y="373075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R9：44.1%</a:t>
            </a:r>
          </a:p>
        </p:txBody>
      </p:sp>
      <p:sp>
        <p:nvSpPr>
          <p:cNvPr id="39" name="agr1"/>
          <p:cNvSpPr/>
          <p:nvPr/>
        </p:nvSpPr>
        <p:spPr>
          <a:xfrm>
            <a:off x="4146960" y="3995928"/>
            <a:ext cx="3696960" cy="2286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0" name="ach1"/>
          <p:cNvSpPr/>
          <p:nvPr/>
        </p:nvSpPr>
        <p:spPr>
          <a:xfrm>
            <a:off x="4146960" y="425196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41" name="ar10"/>
          <p:cNvSpPr/>
          <p:nvPr/>
        </p:nvSpPr>
        <p:spPr>
          <a:xfrm>
            <a:off x="4146960" y="449884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42" name="ar11"/>
          <p:cNvSpPr/>
          <p:nvPr/>
        </p:nvSpPr>
        <p:spPr>
          <a:xfrm>
            <a:off x="4146960" y="475488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R8：46.0% / 83.7%</a:t>
            </a:r>
          </a:p>
        </p:txBody>
      </p:sp>
      <p:sp>
        <p:nvSpPr>
          <p:cNvPr id="43" name="ar12"/>
          <p:cNvSpPr/>
          <p:nvPr/>
        </p:nvSpPr>
        <p:spPr>
          <a:xfrm>
            <a:off x="4146960" y="501091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R9：51.1% / 84.6%</a:t>
            </a:r>
          </a:p>
        </p:txBody>
      </p:sp>
      <p:sp>
        <p:nvSpPr>
          <p:cNvPr id="44" name="ph2"/>
          <p:cNvSpPr/>
          <p:nvPr/>
        </p:nvSpPr>
        <p:spPr>
          <a:xfrm>
            <a:off x="7913920" y="1371600"/>
            <a:ext cx="3696960" cy="301752"/>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パターン①（標準型）</a:t>
            </a:r>
          </a:p>
        </p:txBody>
      </p:sp>
      <p:sp>
        <p:nvSpPr>
          <p:cNvPr id="45" name="pub2"/>
          <p:cNvSpPr/>
          <p:nvPr/>
        </p:nvSpPr>
        <p:spPr>
          <a:xfrm>
            <a:off x="7913920" y="1691640"/>
            <a:ext cx="3696960" cy="2286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6" name="ch2"/>
          <p:cNvSpPr/>
          <p:nvPr/>
        </p:nvSpPr>
        <p:spPr>
          <a:xfrm>
            <a:off x="7913920" y="1947672"/>
            <a:ext cx="3696960" cy="219456"/>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47" name="cpr20"/>
          <p:cNvSpPr/>
          <p:nvPr/>
        </p:nvSpPr>
        <p:spPr>
          <a:xfrm>
            <a:off x="7913920" y="2194560"/>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48" name="cpr21"/>
          <p:cNvSpPr/>
          <p:nvPr/>
        </p:nvSpPr>
        <p:spPr>
          <a:xfrm>
            <a:off x="7913920" y="2450592"/>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R8：97.6%</a:t>
            </a:r>
          </a:p>
        </p:txBody>
      </p:sp>
      <p:sp>
        <p:nvSpPr>
          <p:cNvPr id="49" name="cpr22"/>
          <p:cNvSpPr/>
          <p:nvPr/>
        </p:nvSpPr>
        <p:spPr>
          <a:xfrm>
            <a:off x="7913920" y="2706624"/>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R9：100.0%</a:t>
            </a:r>
          </a:p>
        </p:txBody>
      </p:sp>
      <p:sp>
        <p:nvSpPr>
          <p:cNvPr id="50" name="eh2"/>
          <p:cNvSpPr/>
          <p:nvPr/>
        </p:nvSpPr>
        <p:spPr>
          <a:xfrm>
            <a:off x="7913920" y="297180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51" name="epr20"/>
          <p:cNvSpPr/>
          <p:nvPr/>
        </p:nvSpPr>
        <p:spPr>
          <a:xfrm>
            <a:off x="7913920" y="321868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52" name="epr21"/>
          <p:cNvSpPr/>
          <p:nvPr/>
        </p:nvSpPr>
        <p:spPr>
          <a:xfrm>
            <a:off x="7913920" y="347472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R8：38.5%</a:t>
            </a:r>
          </a:p>
        </p:txBody>
      </p:sp>
      <p:sp>
        <p:nvSpPr>
          <p:cNvPr id="53" name="epr22"/>
          <p:cNvSpPr/>
          <p:nvPr/>
        </p:nvSpPr>
        <p:spPr>
          <a:xfrm>
            <a:off x="7913920" y="373075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R9：43.1%</a:t>
            </a:r>
          </a:p>
        </p:txBody>
      </p:sp>
      <p:sp>
        <p:nvSpPr>
          <p:cNvPr id="54" name="agr2"/>
          <p:cNvSpPr/>
          <p:nvPr/>
        </p:nvSpPr>
        <p:spPr>
          <a:xfrm>
            <a:off x="7913920" y="3995928"/>
            <a:ext cx="3696960" cy="2286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55" name="ach2"/>
          <p:cNvSpPr/>
          <p:nvPr/>
        </p:nvSpPr>
        <p:spPr>
          <a:xfrm>
            <a:off x="7913920" y="425196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56" name="ar20"/>
          <p:cNvSpPr/>
          <p:nvPr/>
        </p:nvSpPr>
        <p:spPr>
          <a:xfrm>
            <a:off x="7913920" y="449884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57" name="ar21"/>
          <p:cNvSpPr/>
          <p:nvPr/>
        </p:nvSpPr>
        <p:spPr>
          <a:xfrm>
            <a:off x="7913920" y="475488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R8：45.2% / 83.4%</a:t>
            </a:r>
          </a:p>
        </p:txBody>
      </p:sp>
      <p:sp>
        <p:nvSpPr>
          <p:cNvPr id="58" name="ar22"/>
          <p:cNvSpPr/>
          <p:nvPr/>
        </p:nvSpPr>
        <p:spPr>
          <a:xfrm>
            <a:off x="7913920" y="501091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R9：49.6% / 84.0%</a:t>
            </a:r>
          </a:p>
        </p:txBody>
      </p:sp>
      <p:sp>
        <p:nvSpPr>
          <p:cNvPr id="59" name="note"/>
          <p:cNvSpPr/>
          <p:nvPr/>
        </p:nvSpPr>
        <p:spPr>
          <a:xfrm>
            <a:off x="380000" y="5333111"/>
            <a:ext cx="11431760" cy="1177417"/>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100" b="0" dirty="0">
                <a:solidFill>
                  <a:srgbClr val="78350F"/>
                </a:solidFill>
                <a:latin typeface="Arial"/>
                <a:cs typeface="Noto Sans CJK JP"/>
              </a:rPr>
              <a:t>▶ 使用料収入は②＞④＞①の順に大きく、公共下水道の経費回収率もR9で②46.1%＞④44.1%＞①43.1%。経常収支比率は3案ともR9に100%以上を達成する見込みです。農業集落排水は経費回収率が大きく改善する一方、経常収支比率は3案とも100%未満（R9で84〜86%）にとどまります。</a:t>
            </a:r>
          </a:p>
          <a:p>
            <a:pPr algn="l"/>
            <a:r>
              <a:rPr lang="ja-JP" sz="1100" b="0" dirty="0">
                <a:solidFill>
                  <a:srgbClr val="78350F"/>
                </a:solidFill>
                <a:latin typeface="Arial"/>
                <a:cs typeface="Noto Sans CJK JP"/>
              </a:rPr>
              <a:t>▶ 収入差の理由：使用料収入は基本使用料が約27%・超過（従量）使用料が約73%で、有収水量の約72%が11㎥以上の従量部分です。②は基本料金を最も低く（1,200円）抑える一方で従量単価を最も高く設定しているため、基本料金の抑制分を従量部分の増収が上回り収入が最大になります（20㎥は3案とも税抜3,000円で同額）。</a:t>
            </a:r>
          </a:p>
          <a:p>
            <a:pPr algn="l"/>
            <a:r>
              <a:rPr lang="ja-JP" sz="1100" b="0" dirty="0">
                <a:solidFill>
                  <a:srgbClr val="78350F"/>
                </a:solidFill>
                <a:latin typeface="Arial"/>
                <a:cs typeface="Noto Sans CJK JP"/>
              </a:rPr>
              <a:t>▶ ②でも公共の経費回収率は目標47%に対しR9 46.1%で、1,647千円（＋2.0%）の増収が不足します（01-2・03-4参照）。</a:t>
            </a:r>
          </a:p>
        </p:txBody>
      </p:sp>
      <p:sp>
        <p:nvSpPr>
          <p:cNvPr id="60"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01-7　改定率の妥当性評価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改定率の妥当性評価</a:t>
            </a:r>
          </a:p>
        </p:txBody>
      </p:sp>
      <p:sp>
        <p:nvSpPr>
          <p:cNvPr id="17" name="lh7"/>
          <p:cNvSpPr/>
          <p:nvPr/>
        </p:nvSpPr>
        <p:spPr>
          <a:xfrm>
            <a:off x="571680" y="1620000"/>
            <a:ext cx="54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青森県内自治体との比較（20㎥・税込）</a:t>
            </a:r>
          </a:p>
        </p:txBody>
      </p:sp>
      <p:sp>
        <p:nvSpPr>
          <p:cNvPr id="18" name="cn0"/>
          <p:cNvSpPr/>
          <p:nvPr/>
        </p:nvSpPr>
        <p:spPr>
          <a:xfrm>
            <a:off x="571680" y="197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六戸町（改定前）</a:t>
            </a:r>
          </a:p>
        </p:txBody>
      </p:sp>
      <p:sp>
        <p:nvSpPr>
          <p:cNvPr id="19" name="cp0"/>
          <p:cNvSpPr/>
          <p:nvPr/>
        </p:nvSpPr>
        <p:spPr>
          <a:xfrm>
            <a:off x="3171680" y="197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2,420円</a:t>
            </a:r>
          </a:p>
        </p:txBody>
      </p:sp>
      <p:sp>
        <p:nvSpPr>
          <p:cNvPr id="20" name="cr0"/>
          <p:cNvSpPr/>
          <p:nvPr/>
        </p:nvSpPr>
        <p:spPr>
          <a:xfrm>
            <a:off x="4671680" y="197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a:t>
            </a:r>
          </a:p>
        </p:txBody>
      </p:sp>
      <p:sp>
        <p:nvSpPr>
          <p:cNvPr id="21" name="cn1"/>
          <p:cNvSpPr/>
          <p:nvPr/>
        </p:nvSpPr>
        <p:spPr>
          <a:xfrm>
            <a:off x="571680" y="243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EF4444"/>
                </a:solidFill>
                <a:latin typeface="Noto Sans CJK JP"/>
                <a:cs typeface="Noto Sans CJK JP"/>
              </a:rPr>
              <a:t>六戸町（改定後・共通）</a:t>
            </a:r>
          </a:p>
        </p:txBody>
      </p:sp>
      <p:sp>
        <p:nvSpPr>
          <p:cNvPr id="22" name="cp1"/>
          <p:cNvSpPr/>
          <p:nvPr/>
        </p:nvSpPr>
        <p:spPr>
          <a:xfrm>
            <a:off x="3171680" y="243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3,300円</a:t>
            </a:r>
          </a:p>
        </p:txBody>
      </p:sp>
      <p:sp>
        <p:nvSpPr>
          <p:cNvPr id="23" name="cr1"/>
          <p:cNvSpPr/>
          <p:nvPr/>
        </p:nvSpPr>
        <p:spPr>
          <a:xfrm>
            <a:off x="4671680" y="243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＋36.4%</a:t>
            </a:r>
          </a:p>
        </p:txBody>
      </p:sp>
      <p:sp>
        <p:nvSpPr>
          <p:cNvPr id="24" name="cn2"/>
          <p:cNvSpPr/>
          <p:nvPr/>
        </p:nvSpPr>
        <p:spPr>
          <a:xfrm>
            <a:off x="571680" y="289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八戸市</a:t>
            </a:r>
          </a:p>
        </p:txBody>
      </p:sp>
      <p:sp>
        <p:nvSpPr>
          <p:cNvPr id="25" name="cp2"/>
          <p:cNvSpPr/>
          <p:nvPr/>
        </p:nvSpPr>
        <p:spPr>
          <a:xfrm>
            <a:off x="3171680" y="289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3,383円</a:t>
            </a:r>
          </a:p>
        </p:txBody>
      </p:sp>
      <p:sp>
        <p:nvSpPr>
          <p:cNvPr id="26" name="cr2"/>
          <p:cNvSpPr/>
          <p:nvPr/>
        </p:nvSpPr>
        <p:spPr>
          <a:xfrm>
            <a:off x="4671680" y="289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27" name="cn3"/>
          <p:cNvSpPr/>
          <p:nvPr/>
        </p:nvSpPr>
        <p:spPr>
          <a:xfrm>
            <a:off x="571680" y="335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県内平均（公共）</a:t>
            </a:r>
          </a:p>
        </p:txBody>
      </p:sp>
      <p:sp>
        <p:nvSpPr>
          <p:cNvPr id="28" name="cp3"/>
          <p:cNvSpPr/>
          <p:nvPr/>
        </p:nvSpPr>
        <p:spPr>
          <a:xfrm>
            <a:off x="3171680" y="335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3,063円</a:t>
            </a:r>
          </a:p>
        </p:txBody>
      </p:sp>
      <p:sp>
        <p:nvSpPr>
          <p:cNvPr id="29" name="cr3"/>
          <p:cNvSpPr/>
          <p:nvPr/>
        </p:nvSpPr>
        <p:spPr>
          <a:xfrm>
            <a:off x="4671680" y="335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30" name="cn4"/>
          <p:cNvSpPr/>
          <p:nvPr/>
        </p:nvSpPr>
        <p:spPr>
          <a:xfrm>
            <a:off x="571680" y="381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県内平均（農集）</a:t>
            </a:r>
          </a:p>
        </p:txBody>
      </p:sp>
      <p:sp>
        <p:nvSpPr>
          <p:cNvPr id="31" name="cp4"/>
          <p:cNvSpPr/>
          <p:nvPr/>
        </p:nvSpPr>
        <p:spPr>
          <a:xfrm>
            <a:off x="3171680" y="381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2,912円</a:t>
            </a:r>
          </a:p>
        </p:txBody>
      </p:sp>
      <p:sp>
        <p:nvSpPr>
          <p:cNvPr id="32" name="cr4"/>
          <p:cNvSpPr/>
          <p:nvPr/>
        </p:nvSpPr>
        <p:spPr>
          <a:xfrm>
            <a:off x="4671680" y="381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a:t>
            </a:r>
          </a:p>
        </p:txBody>
      </p:sp>
      <p:sp>
        <p:nvSpPr>
          <p:cNvPr id="33" name="rh7"/>
          <p:cNvSpPr/>
          <p:nvPr/>
        </p:nvSpPr>
        <p:spPr>
          <a:xfrm>
            <a:off x="64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住民負担指標</a:t>
            </a:r>
          </a:p>
        </p:txBody>
      </p:sp>
      <p:sp>
        <p:nvSpPr>
          <p:cNvPr id="34" name="bi0"/>
          <p:cNvSpPr/>
          <p:nvPr/>
        </p:nvSpPr>
        <p:spPr>
          <a:xfrm>
            <a:off x="6471680" y="197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改定後月額（20㎥・税込）</a:t>
            </a:r>
          </a:p>
        </p:txBody>
      </p:sp>
      <p:sp>
        <p:nvSpPr>
          <p:cNvPr id="35" name="bv0"/>
          <p:cNvSpPr/>
          <p:nvPr/>
        </p:nvSpPr>
        <p:spPr>
          <a:xfrm>
            <a:off x="10177272" y="197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C2410C"/>
                </a:solidFill>
                <a:latin typeface="Arial"/>
                <a:cs typeface="Noto Sans CJK JP"/>
              </a:rPr>
              <a:t>3,300円</a:t>
            </a:r>
          </a:p>
        </p:txBody>
      </p:sp>
      <p:sp>
        <p:nvSpPr>
          <p:cNvPr id="36" name="bi1"/>
          <p:cNvSpPr/>
          <p:nvPr/>
        </p:nvSpPr>
        <p:spPr>
          <a:xfrm>
            <a:off x="6471680" y="243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年間負担増加額</a:t>
            </a:r>
          </a:p>
        </p:txBody>
      </p:sp>
      <p:sp>
        <p:nvSpPr>
          <p:cNvPr id="37" name="bv1"/>
          <p:cNvSpPr/>
          <p:nvPr/>
        </p:nvSpPr>
        <p:spPr>
          <a:xfrm>
            <a:off x="10177272" y="243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＋10,560円/年</a:t>
            </a:r>
          </a:p>
        </p:txBody>
      </p:sp>
      <p:sp>
        <p:nvSpPr>
          <p:cNvPr id="38" name="bi2"/>
          <p:cNvSpPr/>
          <p:nvPr/>
        </p:nvSpPr>
        <p:spPr>
          <a:xfrm>
            <a:off x="6471680" y="289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1日あたり負担増</a:t>
            </a:r>
          </a:p>
        </p:txBody>
      </p:sp>
      <p:sp>
        <p:nvSpPr>
          <p:cNvPr id="39" name="bv2"/>
          <p:cNvSpPr/>
          <p:nvPr/>
        </p:nvSpPr>
        <p:spPr>
          <a:xfrm>
            <a:off x="10177272" y="289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約29円</a:t>
            </a:r>
          </a:p>
        </p:txBody>
      </p:sp>
      <p:sp>
        <p:nvSpPr>
          <p:cNvPr id="40" name="bi3"/>
          <p:cNvSpPr/>
          <p:nvPr/>
        </p:nvSpPr>
        <p:spPr>
          <a:xfrm>
            <a:off x="6471680" y="335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現行比の改定率</a:t>
            </a:r>
          </a:p>
        </p:txBody>
      </p:sp>
      <p:sp>
        <p:nvSpPr>
          <p:cNvPr id="41" name="bv3"/>
          <p:cNvSpPr/>
          <p:nvPr/>
        </p:nvSpPr>
        <p:spPr>
          <a:xfrm>
            <a:off x="10177272" y="335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＋36.4%</a:t>
            </a:r>
          </a:p>
        </p:txBody>
      </p:sp>
      <p:sp>
        <p:nvSpPr>
          <p:cNvPr id="42" name="bi4"/>
          <p:cNvSpPr/>
          <p:nvPr/>
        </p:nvSpPr>
        <p:spPr>
          <a:xfrm>
            <a:off x="6471680" y="381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県内平均との差</a:t>
            </a:r>
          </a:p>
        </p:txBody>
      </p:sp>
      <p:sp>
        <p:nvSpPr>
          <p:cNvPr id="43" name="bv4"/>
          <p:cNvSpPr/>
          <p:nvPr/>
        </p:nvSpPr>
        <p:spPr>
          <a:xfrm>
            <a:off x="10177272" y="381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＋237円</a:t>
            </a:r>
          </a:p>
        </p:txBody>
      </p:sp>
      <p:sp>
        <p:nvSpPr>
          <p:cNvPr id="44" name="eval7"/>
          <p:cNvSpPr/>
          <p:nvPr/>
        </p:nvSpPr>
        <p:spPr>
          <a:xfrm>
            <a:off x="571680" y="4680000"/>
            <a:ext cx="11048400" cy="643381"/>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改定後の水準（税込3,300円）は青森県内平均（公共3,063円・農集2,912円）と概ね同水準。1日あたりの負担増は約29円で、住民への影響は許容範囲内と評価されます。近隣自治体との個別比較は01-8をご覧ください。</a:t>
            </a:r>
          </a:p>
        </p:txBody>
      </p:sp>
      <p:sp>
        <p:nvSpPr>
          <p:cNvPr id="45"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01-8　近隣自治体との使用料比較</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近隣自治体との使用料比較（一般家庭 20㎥／月・税込）</a:t>
            </a:r>
          </a:p>
        </p:txBody>
      </p:sp>
      <p:sp>
        <p:nvSpPr>
          <p:cNvPr id="17" name="lh7"/>
          <p:cNvSpPr/>
          <p:nvPr/>
        </p:nvSpPr>
        <p:spPr>
          <a:xfrm>
            <a:off x="571680" y="1620000"/>
            <a:ext cx="54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公共下水道　右列＝六戸町（改定後3,300円）との差</a:t>
            </a:r>
          </a:p>
        </p:txBody>
      </p:sp>
      <p:sp>
        <p:nvSpPr>
          <p:cNvPr id="18" name="cn0"/>
          <p:cNvSpPr/>
          <p:nvPr/>
        </p:nvSpPr>
        <p:spPr>
          <a:xfrm>
            <a:off x="576072" y="197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B91C1C"/>
                </a:solidFill>
                <a:latin typeface="Noto Sans CJK JP"/>
                <a:cs typeface="Noto Sans CJK JP"/>
              </a:rPr>
              <a:t>おいらせ町</a:t>
            </a:r>
          </a:p>
        </p:txBody>
      </p:sp>
      <p:sp>
        <p:nvSpPr>
          <p:cNvPr id="19" name="cp0"/>
          <p:cNvSpPr/>
          <p:nvPr/>
        </p:nvSpPr>
        <p:spPr>
          <a:xfrm>
            <a:off x="2926080" y="197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B91C1C"/>
                </a:solidFill>
                <a:latin typeface="Arial"/>
                <a:cs typeface="Noto Sans CJK JP"/>
              </a:rPr>
              <a:t>3,655円</a:t>
            </a:r>
          </a:p>
        </p:txBody>
      </p:sp>
      <p:sp>
        <p:nvSpPr>
          <p:cNvPr id="20" name="cr0"/>
          <p:cNvSpPr/>
          <p:nvPr/>
        </p:nvSpPr>
        <p:spPr>
          <a:xfrm>
            <a:off x="4233672" y="197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B91C1C"/>
                </a:solidFill>
                <a:latin typeface="Arial"/>
                <a:cs typeface="Noto Sans CJK JP"/>
              </a:rPr>
              <a:t>＋355円</a:t>
            </a:r>
          </a:p>
        </p:txBody>
      </p:sp>
      <p:sp>
        <p:nvSpPr>
          <p:cNvPr id="21" name="cn1"/>
          <p:cNvSpPr/>
          <p:nvPr/>
        </p:nvSpPr>
        <p:spPr>
          <a:xfrm>
            <a:off x="576072" y="243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B91C1C"/>
                </a:solidFill>
                <a:latin typeface="Noto Sans CJK JP"/>
                <a:cs typeface="Noto Sans CJK JP"/>
              </a:rPr>
              <a:t>八戸市</a:t>
            </a:r>
          </a:p>
        </p:txBody>
      </p:sp>
      <p:sp>
        <p:nvSpPr>
          <p:cNvPr id="22" name="cp1"/>
          <p:cNvSpPr/>
          <p:nvPr/>
        </p:nvSpPr>
        <p:spPr>
          <a:xfrm>
            <a:off x="2926080" y="243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3,383円</a:t>
            </a:r>
          </a:p>
        </p:txBody>
      </p:sp>
      <p:sp>
        <p:nvSpPr>
          <p:cNvPr id="23" name="cr1"/>
          <p:cNvSpPr/>
          <p:nvPr/>
        </p:nvSpPr>
        <p:spPr>
          <a:xfrm>
            <a:off x="4233672" y="243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＋83円</a:t>
            </a:r>
          </a:p>
        </p:txBody>
      </p:sp>
      <p:sp>
        <p:nvSpPr>
          <p:cNvPr id="24" name="cn2"/>
          <p:cNvSpPr/>
          <p:nvPr/>
        </p:nvSpPr>
        <p:spPr>
          <a:xfrm>
            <a:off x="576072" y="289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七戸町</a:t>
            </a:r>
          </a:p>
        </p:txBody>
      </p:sp>
      <p:sp>
        <p:nvSpPr>
          <p:cNvPr id="25" name="cp2"/>
          <p:cNvSpPr/>
          <p:nvPr/>
        </p:nvSpPr>
        <p:spPr>
          <a:xfrm>
            <a:off x="2926080" y="289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3,300円</a:t>
            </a:r>
          </a:p>
        </p:txBody>
      </p:sp>
      <p:sp>
        <p:nvSpPr>
          <p:cNvPr id="26" name="cr2"/>
          <p:cNvSpPr/>
          <p:nvPr/>
        </p:nvSpPr>
        <p:spPr>
          <a:xfrm>
            <a:off x="4233672" y="289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±0円</a:t>
            </a:r>
          </a:p>
        </p:txBody>
      </p:sp>
      <p:sp>
        <p:nvSpPr>
          <p:cNvPr id="27" name="cn3"/>
          <p:cNvSpPr/>
          <p:nvPr/>
        </p:nvSpPr>
        <p:spPr>
          <a:xfrm>
            <a:off x="576072" y="335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東北町</a:t>
            </a:r>
          </a:p>
        </p:txBody>
      </p:sp>
      <p:sp>
        <p:nvSpPr>
          <p:cNvPr id="28" name="cp3"/>
          <p:cNvSpPr/>
          <p:nvPr/>
        </p:nvSpPr>
        <p:spPr>
          <a:xfrm>
            <a:off x="2926080" y="335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3,300円</a:t>
            </a:r>
          </a:p>
        </p:txBody>
      </p:sp>
      <p:sp>
        <p:nvSpPr>
          <p:cNvPr id="29" name="cr3"/>
          <p:cNvSpPr/>
          <p:nvPr/>
        </p:nvSpPr>
        <p:spPr>
          <a:xfrm>
            <a:off x="4233672" y="335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±0円</a:t>
            </a:r>
          </a:p>
        </p:txBody>
      </p:sp>
      <p:sp>
        <p:nvSpPr>
          <p:cNvPr id="30" name="cn4"/>
          <p:cNvSpPr/>
          <p:nvPr/>
        </p:nvSpPr>
        <p:spPr>
          <a:xfrm>
            <a:off x="576072" y="381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五戸町</a:t>
            </a:r>
          </a:p>
        </p:txBody>
      </p:sp>
      <p:sp>
        <p:nvSpPr>
          <p:cNvPr id="31" name="cp4"/>
          <p:cNvSpPr/>
          <p:nvPr/>
        </p:nvSpPr>
        <p:spPr>
          <a:xfrm>
            <a:off x="2926080" y="381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2,640円</a:t>
            </a:r>
          </a:p>
        </p:txBody>
      </p:sp>
      <p:sp>
        <p:nvSpPr>
          <p:cNvPr id="32" name="cr4"/>
          <p:cNvSpPr/>
          <p:nvPr/>
        </p:nvSpPr>
        <p:spPr>
          <a:xfrm>
            <a:off x="4233672" y="381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△660円</a:t>
            </a:r>
          </a:p>
        </p:txBody>
      </p:sp>
      <p:sp>
        <p:nvSpPr>
          <p:cNvPr id="33" name="rh7"/>
          <p:cNvSpPr/>
          <p:nvPr/>
        </p:nvSpPr>
        <p:spPr>
          <a:xfrm>
            <a:off x="64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農業集落排水（20㎥・税込）</a:t>
            </a:r>
          </a:p>
        </p:txBody>
      </p:sp>
      <p:sp>
        <p:nvSpPr>
          <p:cNvPr id="34" name="bi0"/>
          <p:cNvSpPr/>
          <p:nvPr/>
        </p:nvSpPr>
        <p:spPr>
          <a:xfrm>
            <a:off x="6471680" y="197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B91C1C"/>
                </a:solidFill>
                <a:latin typeface="Noto Sans CJK JP"/>
                <a:cs typeface="Noto Sans CJK JP"/>
              </a:rPr>
              <a:t>黒石市（県内最高）</a:t>
            </a:r>
          </a:p>
        </p:txBody>
      </p:sp>
      <p:sp>
        <p:nvSpPr>
          <p:cNvPr id="35" name="bv0"/>
          <p:cNvSpPr/>
          <p:nvPr/>
        </p:nvSpPr>
        <p:spPr>
          <a:xfrm>
            <a:off x="10177272" y="197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4,045円</a:t>
            </a:r>
          </a:p>
        </p:txBody>
      </p:sp>
      <p:sp>
        <p:nvSpPr>
          <p:cNvPr id="36" name="bi1"/>
          <p:cNvSpPr/>
          <p:nvPr/>
        </p:nvSpPr>
        <p:spPr>
          <a:xfrm>
            <a:off x="6471680" y="243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B91C1C"/>
                </a:solidFill>
                <a:latin typeface="Noto Sans CJK JP"/>
                <a:cs typeface="Noto Sans CJK JP"/>
              </a:rPr>
              <a:t>おいらせ町</a:t>
            </a:r>
          </a:p>
        </p:txBody>
      </p:sp>
      <p:sp>
        <p:nvSpPr>
          <p:cNvPr id="37" name="bv1"/>
          <p:cNvSpPr/>
          <p:nvPr/>
        </p:nvSpPr>
        <p:spPr>
          <a:xfrm>
            <a:off x="10177272" y="243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3,655円</a:t>
            </a:r>
          </a:p>
        </p:txBody>
      </p:sp>
      <p:sp>
        <p:nvSpPr>
          <p:cNvPr id="38" name="bi2"/>
          <p:cNvSpPr/>
          <p:nvPr/>
        </p:nvSpPr>
        <p:spPr>
          <a:xfrm>
            <a:off x="6471680" y="289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七戸町・東北町</a:t>
            </a:r>
          </a:p>
        </p:txBody>
      </p:sp>
      <p:sp>
        <p:nvSpPr>
          <p:cNvPr id="39" name="bv2"/>
          <p:cNvSpPr/>
          <p:nvPr/>
        </p:nvSpPr>
        <p:spPr>
          <a:xfrm>
            <a:off x="10177272" y="289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3,300円</a:t>
            </a:r>
          </a:p>
        </p:txBody>
      </p:sp>
      <p:sp>
        <p:nvSpPr>
          <p:cNvPr id="40" name="bi3"/>
          <p:cNvSpPr/>
          <p:nvPr/>
        </p:nvSpPr>
        <p:spPr>
          <a:xfrm>
            <a:off x="6471680" y="335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板柳町</a:t>
            </a:r>
          </a:p>
        </p:txBody>
      </p:sp>
      <p:sp>
        <p:nvSpPr>
          <p:cNvPr id="41" name="bv3"/>
          <p:cNvSpPr/>
          <p:nvPr/>
        </p:nvSpPr>
        <p:spPr>
          <a:xfrm>
            <a:off x="10177272" y="335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2,920円</a:t>
            </a:r>
          </a:p>
        </p:txBody>
      </p:sp>
      <p:sp>
        <p:nvSpPr>
          <p:cNvPr id="42" name="bi4"/>
          <p:cNvSpPr/>
          <p:nvPr/>
        </p:nvSpPr>
        <p:spPr>
          <a:xfrm>
            <a:off x="6471680" y="381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新郷村（県内最安）</a:t>
            </a:r>
          </a:p>
        </p:txBody>
      </p:sp>
      <p:sp>
        <p:nvSpPr>
          <p:cNvPr id="43" name="bv4"/>
          <p:cNvSpPr/>
          <p:nvPr/>
        </p:nvSpPr>
        <p:spPr>
          <a:xfrm>
            <a:off x="10177272" y="381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1,760円</a:t>
            </a:r>
          </a:p>
        </p:txBody>
      </p:sp>
      <p:sp>
        <p:nvSpPr>
          <p:cNvPr id="44" name="eval7"/>
          <p:cNvSpPr/>
          <p:nvPr/>
        </p:nvSpPr>
        <p:spPr>
          <a:xfrm>
            <a:off x="571680" y="4680000"/>
            <a:ext cx="11048400" cy="1361566"/>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六戸町の改定後（税込3,300円）は近隣自治体の中位に位置し、七戸町・東北町と同額、八戸市（3,383円）・おいらせ町（3,655円）を下回ります。東北町は令和6年に2,640円→3,300円へ改定済みです。県内平均は公共3,063円・農集2,912円（01-7）で、改定後もこれを大きく超える水準ではありません。</a:t>
            </a:r>
          </a:p>
          <a:p>
            <a:pPr algn="l"/>
            <a:r>
              <a:rPr lang="ja-JP" sz="1300" b="0" dirty="0">
                <a:solidFill>
                  <a:srgbClr val="78350F"/>
                </a:solidFill>
                <a:latin typeface="Noto Sans CJK JP"/>
                <a:cs typeface="Noto Sans CJK JP"/>
              </a:rPr>
              <a:t>※ 文字色は六戸町の改定後3,300円との比較（赤＝高い／青＝同額／緑＝低い）。出所：第1回審議会資料「青森県内 下水道使用料比較」（令和6年3月31日現在・20㎥・税込）。三沢市は第1回資料に掲載がないため未掲載です（照会中）。</a:t>
            </a:r>
          </a:p>
        </p:txBody>
      </p:sp>
      <p:sp>
        <p:nvSpPr>
          <p:cNvPr id="45"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02</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段階的値上げの検討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本章では、2か年・3か年の改定方式の比較、段階単価一覧の確認、および推奨ロードマップ案を整理します。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02-1　改定年数の選択（論点整理）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2か年改定 vs 3か年改定　論点整理</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2か年改定</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改定スケジュール：R8：中間単価 → R9：最終単価</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早期に財政健全化目標を達成</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収入確保の確実性が高い</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行政手続きがシンプル</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1回の値上げ幅が大きい（基本料+100〜250円）</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住民への急激な負担増加</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3か年改定</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改定スケジュール：R8：第1段 → R9：第2段 → R10：最終</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住民負担を3段階に平準化</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各段階の値上げ幅が小さく説明容易</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柔軟な段階適正化が可能</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目標達成がR10まで遅延（交付金要件の充足も遅延）</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改定・告示作業が複数回必要</a:t>
            </a:r>
          </a:p>
        </p:txBody>
      </p:sp>
      <p:sp>
        <p:nvSpPr>
          <p:cNvPr id="35" name="rec9"/>
          <p:cNvSpPr/>
          <p:nvPr/>
        </p:nvSpPr>
        <p:spPr>
          <a:xfrm>
            <a:off x="571680" y="4930000"/>
            <a:ext cx="11048400" cy="403986"/>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審議ポイント：住民負担の平準化と財政健全化の早期達成のバランスについて審議をお願いします。</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02-2　段階単価一覧（パターン①・税抜き・円）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パターン①（標準型）の段階単価一覧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1,250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135</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138</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145</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148</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158</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193</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225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225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02-3　段階単価一覧（パターン②・税抜き・円）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推奨案（パターン②）の段階単価一覧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1,100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1,200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1,050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1,200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188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208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255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220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255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02-4　段階単価一覧（パターン④・税抜き・円）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パターン④（段階累進型）の段階単価一覧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1,400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1,200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1,400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135</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145</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185</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210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段階的値上げの検討　02-5　段階単価比較（パターン①②④・2か年）</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段階単価　パターン別比較（税抜き・円）　2か年改定：R8中間→R9最終</a:t>
            </a:r>
          </a:p>
        </p:txBody>
      </p:sp>
      <p:sp>
        <p:nvSpPr>
          <p:cNvPr id="14" name="gl2"/>
          <p:cNvSpPr/>
          <p:nvPr/>
        </p:nvSpPr>
        <p:spPr>
          <a:xfrm>
            <a:off x="310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①標準型 2か年</a:t>
            </a:r>
          </a:p>
        </p:txBody>
      </p:sp>
      <p:sp>
        <p:nvSpPr>
          <p:cNvPr id="15" name="gl4"/>
          <p:cNvSpPr/>
          <p:nvPr/>
        </p:nvSpPr>
        <p:spPr>
          <a:xfrm>
            <a:off x="484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②家庭軽減型 2か年</a:t>
            </a:r>
          </a:p>
        </p:txBody>
      </p:sp>
      <p:sp>
        <p:nvSpPr>
          <p:cNvPr id="16" name="gl6"/>
          <p:cNvSpPr/>
          <p:nvPr/>
        </p:nvSpPr>
        <p:spPr>
          <a:xfrm>
            <a:off x="658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④段階累進型 2か年</a:t>
            </a:r>
          </a:p>
        </p:txBody>
      </p:sp>
      <p:sp>
        <p:nvSpPr>
          <p:cNvPr id="17" name="th0"/>
          <p:cNvSpPr/>
          <p:nvPr/>
        </p:nvSpPr>
        <p:spPr>
          <a:xfrm>
            <a:off x="380000" y="1610000"/>
            <a:ext cx="19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水量区分</a:t>
            </a:r>
          </a:p>
        </p:txBody>
      </p:sp>
      <p:sp>
        <p:nvSpPr>
          <p:cNvPr id="18" name="th1"/>
          <p:cNvSpPr/>
          <p:nvPr/>
        </p:nvSpPr>
        <p:spPr>
          <a:xfrm>
            <a:off x="2280000" y="1610000"/>
            <a:ext cx="82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現行</a:t>
            </a:r>
          </a:p>
        </p:txBody>
      </p:sp>
      <p:sp>
        <p:nvSpPr>
          <p:cNvPr id="19" name="th2"/>
          <p:cNvSpPr/>
          <p:nvPr/>
        </p:nvSpPr>
        <p:spPr>
          <a:xfrm>
            <a:off x="310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①R8中間</a:t>
            </a:r>
          </a:p>
        </p:txBody>
      </p:sp>
      <p:sp>
        <p:nvSpPr>
          <p:cNvPr id="20" name="th3"/>
          <p:cNvSpPr/>
          <p:nvPr/>
        </p:nvSpPr>
        <p:spPr>
          <a:xfrm>
            <a:off x="397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①R9最終</a:t>
            </a:r>
          </a:p>
        </p:txBody>
      </p:sp>
      <p:sp>
        <p:nvSpPr>
          <p:cNvPr id="21" name="th4"/>
          <p:cNvSpPr/>
          <p:nvPr/>
        </p:nvSpPr>
        <p:spPr>
          <a:xfrm>
            <a:off x="484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②R8中間</a:t>
            </a:r>
          </a:p>
        </p:txBody>
      </p:sp>
      <p:sp>
        <p:nvSpPr>
          <p:cNvPr id="22" name="th5"/>
          <p:cNvSpPr/>
          <p:nvPr/>
        </p:nvSpPr>
        <p:spPr>
          <a:xfrm>
            <a:off x="571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②R9最終</a:t>
            </a:r>
          </a:p>
        </p:txBody>
      </p:sp>
      <p:sp>
        <p:nvSpPr>
          <p:cNvPr id="23" name="th6"/>
          <p:cNvSpPr/>
          <p:nvPr/>
        </p:nvSpPr>
        <p:spPr>
          <a:xfrm>
            <a:off x="658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④R8中間</a:t>
            </a:r>
          </a:p>
        </p:txBody>
      </p:sp>
      <p:sp>
        <p:nvSpPr>
          <p:cNvPr id="24" name="th7"/>
          <p:cNvSpPr/>
          <p:nvPr/>
        </p:nvSpPr>
        <p:spPr>
          <a:xfrm>
            <a:off x="745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92400E"/>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④R9最終</a:t>
            </a:r>
          </a:p>
        </p:txBody>
      </p:sp>
      <p:sp>
        <p:nvSpPr>
          <p:cNvPr id="25" name="d00"/>
          <p:cNvSpPr/>
          <p:nvPr/>
        </p:nvSpPr>
        <p:spPr>
          <a:xfrm>
            <a:off x="380000" y="1947672"/>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基本(0〜10㎥)</a:t>
            </a:r>
          </a:p>
        </p:txBody>
      </p:sp>
      <p:sp>
        <p:nvSpPr>
          <p:cNvPr id="26" name="d01"/>
          <p:cNvSpPr/>
          <p:nvPr/>
        </p:nvSpPr>
        <p:spPr>
          <a:xfrm>
            <a:off x="2280000" y="1947672"/>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1,000</a:t>
            </a:r>
          </a:p>
        </p:txBody>
      </p:sp>
      <p:sp>
        <p:nvSpPr>
          <p:cNvPr id="27" name="d02"/>
          <p:cNvSpPr/>
          <p:nvPr/>
        </p:nvSpPr>
        <p:spPr>
          <a:xfrm>
            <a:off x="310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1,250</a:t>
            </a:r>
          </a:p>
        </p:txBody>
      </p:sp>
      <p:sp>
        <p:nvSpPr>
          <p:cNvPr id="28" name="d03"/>
          <p:cNvSpPr/>
          <p:nvPr/>
        </p:nvSpPr>
        <p:spPr>
          <a:xfrm>
            <a:off x="397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1,500</a:t>
            </a:r>
          </a:p>
        </p:txBody>
      </p:sp>
      <p:sp>
        <p:nvSpPr>
          <p:cNvPr id="29" name="d04"/>
          <p:cNvSpPr/>
          <p:nvPr/>
        </p:nvSpPr>
        <p:spPr>
          <a:xfrm>
            <a:off x="484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1,100</a:t>
            </a:r>
          </a:p>
        </p:txBody>
      </p:sp>
      <p:sp>
        <p:nvSpPr>
          <p:cNvPr id="30" name="d05"/>
          <p:cNvSpPr/>
          <p:nvPr/>
        </p:nvSpPr>
        <p:spPr>
          <a:xfrm>
            <a:off x="571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1,200</a:t>
            </a:r>
          </a:p>
        </p:txBody>
      </p:sp>
      <p:sp>
        <p:nvSpPr>
          <p:cNvPr id="31" name="d06"/>
          <p:cNvSpPr/>
          <p:nvPr/>
        </p:nvSpPr>
        <p:spPr>
          <a:xfrm>
            <a:off x="658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1,200</a:t>
            </a:r>
          </a:p>
        </p:txBody>
      </p:sp>
      <p:sp>
        <p:nvSpPr>
          <p:cNvPr id="32" name="d07"/>
          <p:cNvSpPr/>
          <p:nvPr/>
        </p:nvSpPr>
        <p:spPr>
          <a:xfrm>
            <a:off x="745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1,400</a:t>
            </a:r>
          </a:p>
        </p:txBody>
      </p:sp>
      <p:sp>
        <p:nvSpPr>
          <p:cNvPr id="33" name="d10"/>
          <p:cNvSpPr/>
          <p:nvPr/>
        </p:nvSpPr>
        <p:spPr>
          <a:xfrm>
            <a:off x="380000" y="2377439"/>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11〜20㎥</a:t>
            </a:r>
          </a:p>
        </p:txBody>
      </p:sp>
      <p:sp>
        <p:nvSpPr>
          <p:cNvPr id="34" name="d11"/>
          <p:cNvSpPr/>
          <p:nvPr/>
        </p:nvSpPr>
        <p:spPr>
          <a:xfrm>
            <a:off x="2280000" y="2377439"/>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35" name="d12"/>
          <p:cNvSpPr/>
          <p:nvPr/>
        </p:nvSpPr>
        <p:spPr>
          <a:xfrm>
            <a:off x="310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135</a:t>
            </a:r>
          </a:p>
        </p:txBody>
      </p:sp>
      <p:sp>
        <p:nvSpPr>
          <p:cNvPr id="36" name="d13"/>
          <p:cNvSpPr/>
          <p:nvPr/>
        </p:nvSpPr>
        <p:spPr>
          <a:xfrm>
            <a:off x="397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37" name="d14"/>
          <p:cNvSpPr/>
          <p:nvPr/>
        </p:nvSpPr>
        <p:spPr>
          <a:xfrm>
            <a:off x="484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38" name="d15"/>
          <p:cNvSpPr/>
          <p:nvPr/>
        </p:nvSpPr>
        <p:spPr>
          <a:xfrm>
            <a:off x="571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180</a:t>
            </a:r>
          </a:p>
        </p:txBody>
      </p:sp>
      <p:sp>
        <p:nvSpPr>
          <p:cNvPr id="39" name="d16"/>
          <p:cNvSpPr/>
          <p:nvPr/>
        </p:nvSpPr>
        <p:spPr>
          <a:xfrm>
            <a:off x="658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140</a:t>
            </a:r>
          </a:p>
        </p:txBody>
      </p:sp>
      <p:sp>
        <p:nvSpPr>
          <p:cNvPr id="40" name="d17"/>
          <p:cNvSpPr/>
          <p:nvPr/>
        </p:nvSpPr>
        <p:spPr>
          <a:xfrm>
            <a:off x="745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160</a:t>
            </a:r>
          </a:p>
        </p:txBody>
      </p:sp>
      <p:sp>
        <p:nvSpPr>
          <p:cNvPr id="41" name="d20"/>
          <p:cNvSpPr/>
          <p:nvPr/>
        </p:nvSpPr>
        <p:spPr>
          <a:xfrm>
            <a:off x="380000" y="2807208"/>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21〜30㎥</a:t>
            </a:r>
          </a:p>
        </p:txBody>
      </p:sp>
      <p:sp>
        <p:nvSpPr>
          <p:cNvPr id="42" name="d21"/>
          <p:cNvSpPr/>
          <p:nvPr/>
        </p:nvSpPr>
        <p:spPr>
          <a:xfrm>
            <a:off x="2280000" y="2807208"/>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43" name="d22"/>
          <p:cNvSpPr/>
          <p:nvPr/>
        </p:nvSpPr>
        <p:spPr>
          <a:xfrm>
            <a:off x="310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138</a:t>
            </a:r>
          </a:p>
        </p:txBody>
      </p:sp>
      <p:sp>
        <p:nvSpPr>
          <p:cNvPr id="44" name="d23"/>
          <p:cNvSpPr/>
          <p:nvPr/>
        </p:nvSpPr>
        <p:spPr>
          <a:xfrm>
            <a:off x="397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155</a:t>
            </a:r>
          </a:p>
        </p:txBody>
      </p:sp>
      <p:sp>
        <p:nvSpPr>
          <p:cNvPr id="45" name="d24"/>
          <p:cNvSpPr/>
          <p:nvPr/>
        </p:nvSpPr>
        <p:spPr>
          <a:xfrm>
            <a:off x="484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153</a:t>
            </a:r>
          </a:p>
        </p:txBody>
      </p:sp>
      <p:sp>
        <p:nvSpPr>
          <p:cNvPr id="46" name="d25"/>
          <p:cNvSpPr/>
          <p:nvPr/>
        </p:nvSpPr>
        <p:spPr>
          <a:xfrm>
            <a:off x="571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185</a:t>
            </a:r>
          </a:p>
        </p:txBody>
      </p:sp>
      <p:sp>
        <p:nvSpPr>
          <p:cNvPr id="47" name="d26"/>
          <p:cNvSpPr/>
          <p:nvPr/>
        </p:nvSpPr>
        <p:spPr>
          <a:xfrm>
            <a:off x="658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143</a:t>
            </a:r>
          </a:p>
        </p:txBody>
      </p:sp>
      <p:sp>
        <p:nvSpPr>
          <p:cNvPr id="48" name="d27"/>
          <p:cNvSpPr/>
          <p:nvPr/>
        </p:nvSpPr>
        <p:spPr>
          <a:xfrm>
            <a:off x="745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165</a:t>
            </a:r>
          </a:p>
        </p:txBody>
      </p:sp>
      <p:sp>
        <p:nvSpPr>
          <p:cNvPr id="49" name="d30"/>
          <p:cNvSpPr/>
          <p:nvPr/>
        </p:nvSpPr>
        <p:spPr>
          <a:xfrm>
            <a:off x="380000" y="3236976"/>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31〜40㎥</a:t>
            </a:r>
          </a:p>
        </p:txBody>
      </p:sp>
      <p:sp>
        <p:nvSpPr>
          <p:cNvPr id="50" name="d31"/>
          <p:cNvSpPr/>
          <p:nvPr/>
        </p:nvSpPr>
        <p:spPr>
          <a:xfrm>
            <a:off x="2280000" y="3236976"/>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1" name="d32"/>
          <p:cNvSpPr/>
          <p:nvPr/>
        </p:nvSpPr>
        <p:spPr>
          <a:xfrm>
            <a:off x="310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145</a:t>
            </a:r>
          </a:p>
        </p:txBody>
      </p:sp>
      <p:sp>
        <p:nvSpPr>
          <p:cNvPr id="52" name="d33"/>
          <p:cNvSpPr/>
          <p:nvPr/>
        </p:nvSpPr>
        <p:spPr>
          <a:xfrm>
            <a:off x="397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160</a:t>
            </a:r>
          </a:p>
        </p:txBody>
      </p:sp>
      <p:sp>
        <p:nvSpPr>
          <p:cNvPr id="53" name="d34"/>
          <p:cNvSpPr/>
          <p:nvPr/>
        </p:nvSpPr>
        <p:spPr>
          <a:xfrm>
            <a:off x="484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160</a:t>
            </a:r>
          </a:p>
        </p:txBody>
      </p:sp>
      <p:sp>
        <p:nvSpPr>
          <p:cNvPr id="54" name="d35"/>
          <p:cNvSpPr/>
          <p:nvPr/>
        </p:nvSpPr>
        <p:spPr>
          <a:xfrm>
            <a:off x="571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190</a:t>
            </a:r>
          </a:p>
        </p:txBody>
      </p:sp>
      <p:sp>
        <p:nvSpPr>
          <p:cNvPr id="55" name="d36"/>
          <p:cNvSpPr/>
          <p:nvPr/>
        </p:nvSpPr>
        <p:spPr>
          <a:xfrm>
            <a:off x="658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150</a:t>
            </a:r>
          </a:p>
        </p:txBody>
      </p:sp>
      <p:sp>
        <p:nvSpPr>
          <p:cNvPr id="56" name="d37"/>
          <p:cNvSpPr/>
          <p:nvPr/>
        </p:nvSpPr>
        <p:spPr>
          <a:xfrm>
            <a:off x="745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57" name="d40"/>
          <p:cNvSpPr/>
          <p:nvPr/>
        </p:nvSpPr>
        <p:spPr>
          <a:xfrm>
            <a:off x="380000" y="3666744"/>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41〜50㎥</a:t>
            </a:r>
          </a:p>
        </p:txBody>
      </p:sp>
      <p:sp>
        <p:nvSpPr>
          <p:cNvPr id="58" name="d41"/>
          <p:cNvSpPr/>
          <p:nvPr/>
        </p:nvSpPr>
        <p:spPr>
          <a:xfrm>
            <a:off x="2280000" y="3666744"/>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9" name="d42"/>
          <p:cNvSpPr/>
          <p:nvPr/>
        </p:nvSpPr>
        <p:spPr>
          <a:xfrm>
            <a:off x="310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148</a:t>
            </a:r>
          </a:p>
        </p:txBody>
      </p:sp>
      <p:sp>
        <p:nvSpPr>
          <p:cNvPr id="60" name="d43"/>
          <p:cNvSpPr/>
          <p:nvPr/>
        </p:nvSpPr>
        <p:spPr>
          <a:xfrm>
            <a:off x="397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165</a:t>
            </a:r>
          </a:p>
        </p:txBody>
      </p:sp>
      <p:sp>
        <p:nvSpPr>
          <p:cNvPr id="61" name="d44"/>
          <p:cNvSpPr/>
          <p:nvPr/>
        </p:nvSpPr>
        <p:spPr>
          <a:xfrm>
            <a:off x="484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163</a:t>
            </a:r>
          </a:p>
        </p:txBody>
      </p:sp>
      <p:sp>
        <p:nvSpPr>
          <p:cNvPr id="62" name="d45"/>
          <p:cNvSpPr/>
          <p:nvPr/>
        </p:nvSpPr>
        <p:spPr>
          <a:xfrm>
            <a:off x="571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195</a:t>
            </a:r>
          </a:p>
        </p:txBody>
      </p:sp>
      <p:sp>
        <p:nvSpPr>
          <p:cNvPr id="63" name="d46"/>
          <p:cNvSpPr/>
          <p:nvPr/>
        </p:nvSpPr>
        <p:spPr>
          <a:xfrm>
            <a:off x="658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153</a:t>
            </a:r>
          </a:p>
        </p:txBody>
      </p:sp>
      <p:sp>
        <p:nvSpPr>
          <p:cNvPr id="64" name="d47"/>
          <p:cNvSpPr/>
          <p:nvPr/>
        </p:nvSpPr>
        <p:spPr>
          <a:xfrm>
            <a:off x="745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175</a:t>
            </a:r>
          </a:p>
        </p:txBody>
      </p:sp>
      <p:sp>
        <p:nvSpPr>
          <p:cNvPr id="65" name="d50"/>
          <p:cNvSpPr/>
          <p:nvPr/>
        </p:nvSpPr>
        <p:spPr>
          <a:xfrm>
            <a:off x="380000" y="4096511"/>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51〜70㎥</a:t>
            </a:r>
          </a:p>
        </p:txBody>
      </p:sp>
      <p:sp>
        <p:nvSpPr>
          <p:cNvPr id="66" name="d51"/>
          <p:cNvSpPr/>
          <p:nvPr/>
        </p:nvSpPr>
        <p:spPr>
          <a:xfrm>
            <a:off x="2280000" y="4096511"/>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67" name="d52"/>
          <p:cNvSpPr/>
          <p:nvPr/>
        </p:nvSpPr>
        <p:spPr>
          <a:xfrm>
            <a:off x="310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158</a:t>
            </a:r>
          </a:p>
        </p:txBody>
      </p:sp>
      <p:sp>
        <p:nvSpPr>
          <p:cNvPr id="68" name="d53"/>
          <p:cNvSpPr/>
          <p:nvPr/>
        </p:nvSpPr>
        <p:spPr>
          <a:xfrm>
            <a:off x="397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175</a:t>
            </a:r>
          </a:p>
        </p:txBody>
      </p:sp>
      <p:sp>
        <p:nvSpPr>
          <p:cNvPr id="69" name="d54"/>
          <p:cNvSpPr/>
          <p:nvPr/>
        </p:nvSpPr>
        <p:spPr>
          <a:xfrm>
            <a:off x="484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173</a:t>
            </a:r>
          </a:p>
        </p:txBody>
      </p:sp>
      <p:sp>
        <p:nvSpPr>
          <p:cNvPr id="70" name="d55"/>
          <p:cNvSpPr/>
          <p:nvPr/>
        </p:nvSpPr>
        <p:spPr>
          <a:xfrm>
            <a:off x="571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205</a:t>
            </a:r>
          </a:p>
        </p:txBody>
      </p:sp>
      <p:sp>
        <p:nvSpPr>
          <p:cNvPr id="71" name="d56"/>
          <p:cNvSpPr/>
          <p:nvPr/>
        </p:nvSpPr>
        <p:spPr>
          <a:xfrm>
            <a:off x="658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163</a:t>
            </a:r>
          </a:p>
        </p:txBody>
      </p:sp>
      <p:sp>
        <p:nvSpPr>
          <p:cNvPr id="72" name="d57"/>
          <p:cNvSpPr/>
          <p:nvPr/>
        </p:nvSpPr>
        <p:spPr>
          <a:xfrm>
            <a:off x="745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185</a:t>
            </a:r>
          </a:p>
        </p:txBody>
      </p:sp>
      <p:sp>
        <p:nvSpPr>
          <p:cNvPr id="73" name="d60"/>
          <p:cNvSpPr/>
          <p:nvPr/>
        </p:nvSpPr>
        <p:spPr>
          <a:xfrm>
            <a:off x="380000" y="4526279"/>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71〜100㎥</a:t>
            </a:r>
          </a:p>
        </p:txBody>
      </p:sp>
      <p:sp>
        <p:nvSpPr>
          <p:cNvPr id="74" name="d61"/>
          <p:cNvSpPr/>
          <p:nvPr/>
        </p:nvSpPr>
        <p:spPr>
          <a:xfrm>
            <a:off x="2280000" y="4526279"/>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75" name="d62"/>
          <p:cNvSpPr/>
          <p:nvPr/>
        </p:nvSpPr>
        <p:spPr>
          <a:xfrm>
            <a:off x="310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163</a:t>
            </a:r>
          </a:p>
        </p:txBody>
      </p:sp>
      <p:sp>
        <p:nvSpPr>
          <p:cNvPr id="76" name="d63"/>
          <p:cNvSpPr/>
          <p:nvPr/>
        </p:nvSpPr>
        <p:spPr>
          <a:xfrm>
            <a:off x="397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185</a:t>
            </a:r>
          </a:p>
        </p:txBody>
      </p:sp>
      <p:sp>
        <p:nvSpPr>
          <p:cNvPr id="77" name="d64"/>
          <p:cNvSpPr/>
          <p:nvPr/>
        </p:nvSpPr>
        <p:spPr>
          <a:xfrm>
            <a:off x="484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178</a:t>
            </a:r>
          </a:p>
        </p:txBody>
      </p:sp>
      <p:sp>
        <p:nvSpPr>
          <p:cNvPr id="78" name="d65"/>
          <p:cNvSpPr/>
          <p:nvPr/>
        </p:nvSpPr>
        <p:spPr>
          <a:xfrm>
            <a:off x="571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215</a:t>
            </a:r>
          </a:p>
        </p:txBody>
      </p:sp>
      <p:sp>
        <p:nvSpPr>
          <p:cNvPr id="79" name="d66"/>
          <p:cNvSpPr/>
          <p:nvPr/>
        </p:nvSpPr>
        <p:spPr>
          <a:xfrm>
            <a:off x="658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168</a:t>
            </a:r>
          </a:p>
        </p:txBody>
      </p:sp>
      <p:sp>
        <p:nvSpPr>
          <p:cNvPr id="80" name="d67"/>
          <p:cNvSpPr/>
          <p:nvPr/>
        </p:nvSpPr>
        <p:spPr>
          <a:xfrm>
            <a:off x="745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195</a:t>
            </a:r>
          </a:p>
        </p:txBody>
      </p:sp>
      <p:sp>
        <p:nvSpPr>
          <p:cNvPr id="81" name="d70"/>
          <p:cNvSpPr/>
          <p:nvPr/>
        </p:nvSpPr>
        <p:spPr>
          <a:xfrm>
            <a:off x="380000" y="4956048"/>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101〜150㎥</a:t>
            </a:r>
          </a:p>
        </p:txBody>
      </p:sp>
      <p:sp>
        <p:nvSpPr>
          <p:cNvPr id="82" name="d71"/>
          <p:cNvSpPr/>
          <p:nvPr/>
        </p:nvSpPr>
        <p:spPr>
          <a:xfrm>
            <a:off x="2280000" y="4956048"/>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83" name="d72"/>
          <p:cNvSpPr/>
          <p:nvPr/>
        </p:nvSpPr>
        <p:spPr>
          <a:xfrm>
            <a:off x="310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173</a:t>
            </a:r>
          </a:p>
        </p:txBody>
      </p:sp>
      <p:sp>
        <p:nvSpPr>
          <p:cNvPr id="84" name="d73"/>
          <p:cNvSpPr/>
          <p:nvPr/>
        </p:nvSpPr>
        <p:spPr>
          <a:xfrm>
            <a:off x="397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205</a:t>
            </a:r>
          </a:p>
        </p:txBody>
      </p:sp>
      <p:sp>
        <p:nvSpPr>
          <p:cNvPr id="85" name="d74"/>
          <p:cNvSpPr/>
          <p:nvPr/>
        </p:nvSpPr>
        <p:spPr>
          <a:xfrm>
            <a:off x="484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188</a:t>
            </a:r>
          </a:p>
        </p:txBody>
      </p:sp>
      <p:sp>
        <p:nvSpPr>
          <p:cNvPr id="86" name="d75"/>
          <p:cNvSpPr/>
          <p:nvPr/>
        </p:nvSpPr>
        <p:spPr>
          <a:xfrm>
            <a:off x="571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235</a:t>
            </a:r>
          </a:p>
        </p:txBody>
      </p:sp>
      <p:sp>
        <p:nvSpPr>
          <p:cNvPr id="87" name="d76"/>
          <p:cNvSpPr/>
          <p:nvPr/>
        </p:nvSpPr>
        <p:spPr>
          <a:xfrm>
            <a:off x="658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178</a:t>
            </a:r>
          </a:p>
        </p:txBody>
      </p:sp>
      <p:sp>
        <p:nvSpPr>
          <p:cNvPr id="88" name="d77"/>
          <p:cNvSpPr/>
          <p:nvPr/>
        </p:nvSpPr>
        <p:spPr>
          <a:xfrm>
            <a:off x="745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215</a:t>
            </a:r>
          </a:p>
        </p:txBody>
      </p:sp>
      <p:sp>
        <p:nvSpPr>
          <p:cNvPr id="89" name="d80"/>
          <p:cNvSpPr/>
          <p:nvPr/>
        </p:nvSpPr>
        <p:spPr>
          <a:xfrm>
            <a:off x="380000" y="5385816"/>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151㎥〜</a:t>
            </a:r>
          </a:p>
        </p:txBody>
      </p:sp>
      <p:sp>
        <p:nvSpPr>
          <p:cNvPr id="90" name="d81"/>
          <p:cNvSpPr/>
          <p:nvPr/>
        </p:nvSpPr>
        <p:spPr>
          <a:xfrm>
            <a:off x="2280000" y="5385816"/>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160</a:t>
            </a:r>
          </a:p>
        </p:txBody>
      </p:sp>
      <p:sp>
        <p:nvSpPr>
          <p:cNvPr id="91" name="d82"/>
          <p:cNvSpPr/>
          <p:nvPr/>
        </p:nvSpPr>
        <p:spPr>
          <a:xfrm>
            <a:off x="310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193</a:t>
            </a:r>
          </a:p>
        </p:txBody>
      </p:sp>
      <p:sp>
        <p:nvSpPr>
          <p:cNvPr id="92" name="d83"/>
          <p:cNvSpPr/>
          <p:nvPr/>
        </p:nvSpPr>
        <p:spPr>
          <a:xfrm>
            <a:off x="397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225</a:t>
            </a:r>
          </a:p>
        </p:txBody>
      </p:sp>
      <p:sp>
        <p:nvSpPr>
          <p:cNvPr id="93" name="d84"/>
          <p:cNvSpPr/>
          <p:nvPr/>
        </p:nvSpPr>
        <p:spPr>
          <a:xfrm>
            <a:off x="484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208</a:t>
            </a:r>
          </a:p>
        </p:txBody>
      </p:sp>
      <p:sp>
        <p:nvSpPr>
          <p:cNvPr id="94" name="d85"/>
          <p:cNvSpPr/>
          <p:nvPr/>
        </p:nvSpPr>
        <p:spPr>
          <a:xfrm>
            <a:off x="571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255</a:t>
            </a:r>
          </a:p>
        </p:txBody>
      </p:sp>
      <p:sp>
        <p:nvSpPr>
          <p:cNvPr id="95" name="d86"/>
          <p:cNvSpPr/>
          <p:nvPr/>
        </p:nvSpPr>
        <p:spPr>
          <a:xfrm>
            <a:off x="658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198</a:t>
            </a:r>
          </a:p>
        </p:txBody>
      </p:sp>
      <p:sp>
        <p:nvSpPr>
          <p:cNvPr id="96" name="d87"/>
          <p:cNvSpPr/>
          <p:nvPr/>
        </p:nvSpPr>
        <p:spPr>
          <a:xfrm>
            <a:off x="745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235</a:t>
            </a:r>
          </a:p>
        </p:txBody>
      </p:sp>
      <p:sp>
        <p:nvSpPr>
          <p:cNvPr id="97" name="note"/>
          <p:cNvSpPr/>
          <p:nvPr/>
        </p:nvSpPr>
        <p:spPr>
          <a:xfrm>
            <a:off x="380000" y="5959221"/>
            <a:ext cx="11431760" cy="551307"/>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20㎥での最終月額（税抜）は3案とも3,000円で共通。R8中間単価は算定ブックの数式どおり（現行＋最終）÷2の四捨五入。</a:t>
            </a:r>
          </a:p>
          <a:p>
            <a:pPr algn="l"/>
            <a:r>
              <a:rPr lang="ja-JP" sz="1050" b="0" dirty="0">
                <a:solidFill>
                  <a:srgbClr val="1E40AF"/>
                </a:solidFill>
                <a:latin typeface="Arial"/>
                <a:cs typeface="Noto Sans CJK JP"/>
              </a:rPr>
              <a:t>　 第1回資料は切り捨てで提示しており（①71〜100㎥＝162円 等）、5区分で1円の差があります。条例上の端数処理とあわせて確定が必要です。</a:t>
            </a:r>
          </a:p>
        </p:txBody>
      </p:sp>
      <p:sp>
        <p:nvSpPr>
          <p:cNvPr id="98"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段階的値上げの検討　02-6　段階単価比較（パターン①②④・3か年）</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段階単価　パターン別比較（税抜き・円）　3か年改定：R8第1段→R9第2段→R10最終</a:t>
            </a:r>
          </a:p>
        </p:txBody>
      </p:sp>
      <p:sp>
        <p:nvSpPr>
          <p:cNvPr id="14" name="gl2"/>
          <p:cNvSpPr/>
          <p:nvPr/>
        </p:nvSpPr>
        <p:spPr>
          <a:xfrm>
            <a:off x="310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①標準型 3か年</a:t>
            </a:r>
          </a:p>
        </p:txBody>
      </p:sp>
      <p:sp>
        <p:nvSpPr>
          <p:cNvPr id="15" name="gl4"/>
          <p:cNvSpPr/>
          <p:nvPr/>
        </p:nvSpPr>
        <p:spPr>
          <a:xfrm>
            <a:off x="484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②家庭軽減型 3か年</a:t>
            </a:r>
          </a:p>
        </p:txBody>
      </p:sp>
      <p:sp>
        <p:nvSpPr>
          <p:cNvPr id="16" name="gl6"/>
          <p:cNvSpPr/>
          <p:nvPr/>
        </p:nvSpPr>
        <p:spPr>
          <a:xfrm>
            <a:off x="658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④段階累進型 3か年</a:t>
            </a:r>
          </a:p>
        </p:txBody>
      </p:sp>
      <p:sp>
        <p:nvSpPr>
          <p:cNvPr id="17" name="th0"/>
          <p:cNvSpPr/>
          <p:nvPr/>
        </p:nvSpPr>
        <p:spPr>
          <a:xfrm>
            <a:off x="380000" y="1610000"/>
            <a:ext cx="19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水量区分</a:t>
            </a:r>
          </a:p>
        </p:txBody>
      </p:sp>
      <p:sp>
        <p:nvSpPr>
          <p:cNvPr id="18" name="th1"/>
          <p:cNvSpPr/>
          <p:nvPr/>
        </p:nvSpPr>
        <p:spPr>
          <a:xfrm>
            <a:off x="2280000" y="1610000"/>
            <a:ext cx="82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現行</a:t>
            </a:r>
          </a:p>
        </p:txBody>
      </p:sp>
      <p:sp>
        <p:nvSpPr>
          <p:cNvPr id="19" name="th2"/>
          <p:cNvSpPr/>
          <p:nvPr/>
        </p:nvSpPr>
        <p:spPr>
          <a:xfrm>
            <a:off x="310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①R8第1段</a:t>
            </a:r>
          </a:p>
        </p:txBody>
      </p:sp>
      <p:sp>
        <p:nvSpPr>
          <p:cNvPr id="20" name="th3"/>
          <p:cNvSpPr/>
          <p:nvPr/>
        </p:nvSpPr>
        <p:spPr>
          <a:xfrm>
            <a:off x="397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①R9第2段</a:t>
            </a:r>
          </a:p>
        </p:txBody>
      </p:sp>
      <p:sp>
        <p:nvSpPr>
          <p:cNvPr id="21" name="th4"/>
          <p:cNvSpPr/>
          <p:nvPr/>
        </p:nvSpPr>
        <p:spPr>
          <a:xfrm>
            <a:off x="484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②R8第1段</a:t>
            </a:r>
          </a:p>
        </p:txBody>
      </p:sp>
      <p:sp>
        <p:nvSpPr>
          <p:cNvPr id="22" name="th5"/>
          <p:cNvSpPr/>
          <p:nvPr/>
        </p:nvSpPr>
        <p:spPr>
          <a:xfrm>
            <a:off x="571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②R9第2段</a:t>
            </a:r>
          </a:p>
        </p:txBody>
      </p:sp>
      <p:sp>
        <p:nvSpPr>
          <p:cNvPr id="23" name="th6"/>
          <p:cNvSpPr/>
          <p:nvPr/>
        </p:nvSpPr>
        <p:spPr>
          <a:xfrm>
            <a:off x="658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④R8第1段</a:t>
            </a:r>
          </a:p>
        </p:txBody>
      </p:sp>
      <p:sp>
        <p:nvSpPr>
          <p:cNvPr id="24" name="th7"/>
          <p:cNvSpPr/>
          <p:nvPr/>
        </p:nvSpPr>
        <p:spPr>
          <a:xfrm>
            <a:off x="745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92400E"/>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④R9第2段</a:t>
            </a:r>
          </a:p>
        </p:txBody>
      </p:sp>
      <p:sp>
        <p:nvSpPr>
          <p:cNvPr id="25" name="d00"/>
          <p:cNvSpPr/>
          <p:nvPr/>
        </p:nvSpPr>
        <p:spPr>
          <a:xfrm>
            <a:off x="380000" y="1947672"/>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基本(0〜10㎥)</a:t>
            </a:r>
          </a:p>
        </p:txBody>
      </p:sp>
      <p:sp>
        <p:nvSpPr>
          <p:cNvPr id="26" name="d01"/>
          <p:cNvSpPr/>
          <p:nvPr/>
        </p:nvSpPr>
        <p:spPr>
          <a:xfrm>
            <a:off x="2280000" y="1947672"/>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1,000</a:t>
            </a:r>
          </a:p>
        </p:txBody>
      </p:sp>
      <p:sp>
        <p:nvSpPr>
          <p:cNvPr id="27" name="d02"/>
          <p:cNvSpPr/>
          <p:nvPr/>
        </p:nvSpPr>
        <p:spPr>
          <a:xfrm>
            <a:off x="310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1,150</a:t>
            </a:r>
          </a:p>
        </p:txBody>
      </p:sp>
      <p:sp>
        <p:nvSpPr>
          <p:cNvPr id="28" name="d03"/>
          <p:cNvSpPr/>
          <p:nvPr/>
        </p:nvSpPr>
        <p:spPr>
          <a:xfrm>
            <a:off x="397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1,300</a:t>
            </a:r>
          </a:p>
        </p:txBody>
      </p:sp>
      <p:sp>
        <p:nvSpPr>
          <p:cNvPr id="29" name="d04"/>
          <p:cNvSpPr/>
          <p:nvPr/>
        </p:nvSpPr>
        <p:spPr>
          <a:xfrm>
            <a:off x="484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1,050</a:t>
            </a:r>
          </a:p>
        </p:txBody>
      </p:sp>
      <p:sp>
        <p:nvSpPr>
          <p:cNvPr id="30" name="d05"/>
          <p:cNvSpPr/>
          <p:nvPr/>
        </p:nvSpPr>
        <p:spPr>
          <a:xfrm>
            <a:off x="571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1,100</a:t>
            </a:r>
          </a:p>
        </p:txBody>
      </p:sp>
      <p:sp>
        <p:nvSpPr>
          <p:cNvPr id="31" name="d06"/>
          <p:cNvSpPr/>
          <p:nvPr/>
        </p:nvSpPr>
        <p:spPr>
          <a:xfrm>
            <a:off x="658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1,100</a:t>
            </a:r>
          </a:p>
        </p:txBody>
      </p:sp>
      <p:sp>
        <p:nvSpPr>
          <p:cNvPr id="32" name="d07"/>
          <p:cNvSpPr/>
          <p:nvPr/>
        </p:nvSpPr>
        <p:spPr>
          <a:xfrm>
            <a:off x="745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1,200</a:t>
            </a:r>
          </a:p>
        </p:txBody>
      </p:sp>
      <p:sp>
        <p:nvSpPr>
          <p:cNvPr id="33" name="d10"/>
          <p:cNvSpPr/>
          <p:nvPr/>
        </p:nvSpPr>
        <p:spPr>
          <a:xfrm>
            <a:off x="380000" y="2377439"/>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11〜20㎥</a:t>
            </a:r>
          </a:p>
        </p:txBody>
      </p:sp>
      <p:sp>
        <p:nvSpPr>
          <p:cNvPr id="34" name="d11"/>
          <p:cNvSpPr/>
          <p:nvPr/>
        </p:nvSpPr>
        <p:spPr>
          <a:xfrm>
            <a:off x="2280000" y="2377439"/>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35" name="d12"/>
          <p:cNvSpPr/>
          <p:nvPr/>
        </p:nvSpPr>
        <p:spPr>
          <a:xfrm>
            <a:off x="310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130</a:t>
            </a:r>
          </a:p>
        </p:txBody>
      </p:sp>
      <p:sp>
        <p:nvSpPr>
          <p:cNvPr id="36" name="d13"/>
          <p:cNvSpPr/>
          <p:nvPr/>
        </p:nvSpPr>
        <p:spPr>
          <a:xfrm>
            <a:off x="397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140</a:t>
            </a:r>
          </a:p>
        </p:txBody>
      </p:sp>
      <p:sp>
        <p:nvSpPr>
          <p:cNvPr id="37" name="d14"/>
          <p:cNvSpPr/>
          <p:nvPr/>
        </p:nvSpPr>
        <p:spPr>
          <a:xfrm>
            <a:off x="484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140</a:t>
            </a:r>
          </a:p>
        </p:txBody>
      </p:sp>
      <p:sp>
        <p:nvSpPr>
          <p:cNvPr id="38" name="d15"/>
          <p:cNvSpPr/>
          <p:nvPr/>
        </p:nvSpPr>
        <p:spPr>
          <a:xfrm>
            <a:off x="571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160</a:t>
            </a:r>
          </a:p>
        </p:txBody>
      </p:sp>
      <p:sp>
        <p:nvSpPr>
          <p:cNvPr id="39" name="d16"/>
          <p:cNvSpPr/>
          <p:nvPr/>
        </p:nvSpPr>
        <p:spPr>
          <a:xfrm>
            <a:off x="658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130</a:t>
            </a:r>
          </a:p>
        </p:txBody>
      </p:sp>
      <p:sp>
        <p:nvSpPr>
          <p:cNvPr id="40" name="d17"/>
          <p:cNvSpPr/>
          <p:nvPr/>
        </p:nvSpPr>
        <p:spPr>
          <a:xfrm>
            <a:off x="745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140</a:t>
            </a:r>
          </a:p>
        </p:txBody>
      </p:sp>
      <p:sp>
        <p:nvSpPr>
          <p:cNvPr id="41" name="d20"/>
          <p:cNvSpPr/>
          <p:nvPr/>
        </p:nvSpPr>
        <p:spPr>
          <a:xfrm>
            <a:off x="380000" y="2807208"/>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21〜30㎥</a:t>
            </a:r>
          </a:p>
        </p:txBody>
      </p:sp>
      <p:sp>
        <p:nvSpPr>
          <p:cNvPr id="42" name="d21"/>
          <p:cNvSpPr/>
          <p:nvPr/>
        </p:nvSpPr>
        <p:spPr>
          <a:xfrm>
            <a:off x="2280000" y="2807208"/>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43" name="d22"/>
          <p:cNvSpPr/>
          <p:nvPr/>
        </p:nvSpPr>
        <p:spPr>
          <a:xfrm>
            <a:off x="310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130</a:t>
            </a:r>
          </a:p>
        </p:txBody>
      </p:sp>
      <p:sp>
        <p:nvSpPr>
          <p:cNvPr id="44" name="d23"/>
          <p:cNvSpPr/>
          <p:nvPr/>
        </p:nvSpPr>
        <p:spPr>
          <a:xfrm>
            <a:off x="397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140</a:t>
            </a:r>
          </a:p>
        </p:txBody>
      </p:sp>
      <p:sp>
        <p:nvSpPr>
          <p:cNvPr id="45" name="d24"/>
          <p:cNvSpPr/>
          <p:nvPr/>
        </p:nvSpPr>
        <p:spPr>
          <a:xfrm>
            <a:off x="484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140</a:t>
            </a:r>
          </a:p>
        </p:txBody>
      </p:sp>
      <p:sp>
        <p:nvSpPr>
          <p:cNvPr id="46" name="d25"/>
          <p:cNvSpPr/>
          <p:nvPr/>
        </p:nvSpPr>
        <p:spPr>
          <a:xfrm>
            <a:off x="571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160</a:t>
            </a:r>
          </a:p>
        </p:txBody>
      </p:sp>
      <p:sp>
        <p:nvSpPr>
          <p:cNvPr id="47" name="d26"/>
          <p:cNvSpPr/>
          <p:nvPr/>
        </p:nvSpPr>
        <p:spPr>
          <a:xfrm>
            <a:off x="658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135</a:t>
            </a:r>
          </a:p>
        </p:txBody>
      </p:sp>
      <p:sp>
        <p:nvSpPr>
          <p:cNvPr id="48" name="d27"/>
          <p:cNvSpPr/>
          <p:nvPr/>
        </p:nvSpPr>
        <p:spPr>
          <a:xfrm>
            <a:off x="745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150</a:t>
            </a:r>
          </a:p>
        </p:txBody>
      </p:sp>
      <p:sp>
        <p:nvSpPr>
          <p:cNvPr id="49" name="d30"/>
          <p:cNvSpPr/>
          <p:nvPr/>
        </p:nvSpPr>
        <p:spPr>
          <a:xfrm>
            <a:off x="380000" y="3236976"/>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31〜40㎥</a:t>
            </a:r>
          </a:p>
        </p:txBody>
      </p:sp>
      <p:sp>
        <p:nvSpPr>
          <p:cNvPr id="50" name="d31"/>
          <p:cNvSpPr/>
          <p:nvPr/>
        </p:nvSpPr>
        <p:spPr>
          <a:xfrm>
            <a:off x="2280000" y="3236976"/>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1" name="d32"/>
          <p:cNvSpPr/>
          <p:nvPr/>
        </p:nvSpPr>
        <p:spPr>
          <a:xfrm>
            <a:off x="310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140</a:t>
            </a:r>
          </a:p>
        </p:txBody>
      </p:sp>
      <p:sp>
        <p:nvSpPr>
          <p:cNvPr id="52" name="d33"/>
          <p:cNvSpPr/>
          <p:nvPr/>
        </p:nvSpPr>
        <p:spPr>
          <a:xfrm>
            <a:off x="397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53" name="d34"/>
          <p:cNvSpPr/>
          <p:nvPr/>
        </p:nvSpPr>
        <p:spPr>
          <a:xfrm>
            <a:off x="484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54" name="d35"/>
          <p:cNvSpPr/>
          <p:nvPr/>
        </p:nvSpPr>
        <p:spPr>
          <a:xfrm>
            <a:off x="571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170</a:t>
            </a:r>
          </a:p>
        </p:txBody>
      </p:sp>
      <p:sp>
        <p:nvSpPr>
          <p:cNvPr id="55" name="d36"/>
          <p:cNvSpPr/>
          <p:nvPr/>
        </p:nvSpPr>
        <p:spPr>
          <a:xfrm>
            <a:off x="658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140</a:t>
            </a:r>
          </a:p>
        </p:txBody>
      </p:sp>
      <p:sp>
        <p:nvSpPr>
          <p:cNvPr id="56" name="d37"/>
          <p:cNvSpPr/>
          <p:nvPr/>
        </p:nvSpPr>
        <p:spPr>
          <a:xfrm>
            <a:off x="745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150</a:t>
            </a:r>
          </a:p>
        </p:txBody>
      </p:sp>
      <p:sp>
        <p:nvSpPr>
          <p:cNvPr id="57" name="d40"/>
          <p:cNvSpPr/>
          <p:nvPr/>
        </p:nvSpPr>
        <p:spPr>
          <a:xfrm>
            <a:off x="380000" y="3666744"/>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41〜50㎥</a:t>
            </a:r>
          </a:p>
        </p:txBody>
      </p:sp>
      <p:sp>
        <p:nvSpPr>
          <p:cNvPr id="58" name="d41"/>
          <p:cNvSpPr/>
          <p:nvPr/>
        </p:nvSpPr>
        <p:spPr>
          <a:xfrm>
            <a:off x="2280000" y="3666744"/>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9" name="d42"/>
          <p:cNvSpPr/>
          <p:nvPr/>
        </p:nvSpPr>
        <p:spPr>
          <a:xfrm>
            <a:off x="310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140</a:t>
            </a:r>
          </a:p>
        </p:txBody>
      </p:sp>
      <p:sp>
        <p:nvSpPr>
          <p:cNvPr id="60" name="d43"/>
          <p:cNvSpPr/>
          <p:nvPr/>
        </p:nvSpPr>
        <p:spPr>
          <a:xfrm>
            <a:off x="397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61" name="d44"/>
          <p:cNvSpPr/>
          <p:nvPr/>
        </p:nvSpPr>
        <p:spPr>
          <a:xfrm>
            <a:off x="484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62" name="d45"/>
          <p:cNvSpPr/>
          <p:nvPr/>
        </p:nvSpPr>
        <p:spPr>
          <a:xfrm>
            <a:off x="571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170</a:t>
            </a:r>
          </a:p>
        </p:txBody>
      </p:sp>
      <p:sp>
        <p:nvSpPr>
          <p:cNvPr id="63" name="d46"/>
          <p:cNvSpPr/>
          <p:nvPr/>
        </p:nvSpPr>
        <p:spPr>
          <a:xfrm>
            <a:off x="658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145</a:t>
            </a:r>
          </a:p>
        </p:txBody>
      </p:sp>
      <p:sp>
        <p:nvSpPr>
          <p:cNvPr id="64" name="d47"/>
          <p:cNvSpPr/>
          <p:nvPr/>
        </p:nvSpPr>
        <p:spPr>
          <a:xfrm>
            <a:off x="745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160</a:t>
            </a:r>
          </a:p>
        </p:txBody>
      </p:sp>
      <p:sp>
        <p:nvSpPr>
          <p:cNvPr id="65" name="d50"/>
          <p:cNvSpPr/>
          <p:nvPr/>
        </p:nvSpPr>
        <p:spPr>
          <a:xfrm>
            <a:off x="380000" y="4096511"/>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51〜70㎥</a:t>
            </a:r>
          </a:p>
        </p:txBody>
      </p:sp>
      <p:sp>
        <p:nvSpPr>
          <p:cNvPr id="66" name="d51"/>
          <p:cNvSpPr/>
          <p:nvPr/>
        </p:nvSpPr>
        <p:spPr>
          <a:xfrm>
            <a:off x="2280000" y="4096511"/>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67" name="d52"/>
          <p:cNvSpPr/>
          <p:nvPr/>
        </p:nvSpPr>
        <p:spPr>
          <a:xfrm>
            <a:off x="310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150</a:t>
            </a:r>
          </a:p>
        </p:txBody>
      </p:sp>
      <p:sp>
        <p:nvSpPr>
          <p:cNvPr id="68" name="d53"/>
          <p:cNvSpPr/>
          <p:nvPr/>
        </p:nvSpPr>
        <p:spPr>
          <a:xfrm>
            <a:off x="397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160</a:t>
            </a:r>
          </a:p>
        </p:txBody>
      </p:sp>
      <p:sp>
        <p:nvSpPr>
          <p:cNvPr id="69" name="d54"/>
          <p:cNvSpPr/>
          <p:nvPr/>
        </p:nvSpPr>
        <p:spPr>
          <a:xfrm>
            <a:off x="484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160</a:t>
            </a:r>
          </a:p>
        </p:txBody>
      </p:sp>
      <p:sp>
        <p:nvSpPr>
          <p:cNvPr id="70" name="d55"/>
          <p:cNvSpPr/>
          <p:nvPr/>
        </p:nvSpPr>
        <p:spPr>
          <a:xfrm>
            <a:off x="571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180</a:t>
            </a:r>
          </a:p>
        </p:txBody>
      </p:sp>
      <p:sp>
        <p:nvSpPr>
          <p:cNvPr id="71" name="d56"/>
          <p:cNvSpPr/>
          <p:nvPr/>
        </p:nvSpPr>
        <p:spPr>
          <a:xfrm>
            <a:off x="658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155</a:t>
            </a:r>
          </a:p>
        </p:txBody>
      </p:sp>
      <p:sp>
        <p:nvSpPr>
          <p:cNvPr id="72" name="d57"/>
          <p:cNvSpPr/>
          <p:nvPr/>
        </p:nvSpPr>
        <p:spPr>
          <a:xfrm>
            <a:off x="745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73" name="d60"/>
          <p:cNvSpPr/>
          <p:nvPr/>
        </p:nvSpPr>
        <p:spPr>
          <a:xfrm>
            <a:off x="380000" y="4526279"/>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71〜100㎥</a:t>
            </a:r>
          </a:p>
        </p:txBody>
      </p:sp>
      <p:sp>
        <p:nvSpPr>
          <p:cNvPr id="74" name="d61"/>
          <p:cNvSpPr/>
          <p:nvPr/>
        </p:nvSpPr>
        <p:spPr>
          <a:xfrm>
            <a:off x="2280000" y="4526279"/>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75" name="d62"/>
          <p:cNvSpPr/>
          <p:nvPr/>
        </p:nvSpPr>
        <p:spPr>
          <a:xfrm>
            <a:off x="310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155</a:t>
            </a:r>
          </a:p>
        </p:txBody>
      </p:sp>
      <p:sp>
        <p:nvSpPr>
          <p:cNvPr id="76" name="d63"/>
          <p:cNvSpPr/>
          <p:nvPr/>
        </p:nvSpPr>
        <p:spPr>
          <a:xfrm>
            <a:off x="397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170</a:t>
            </a:r>
          </a:p>
        </p:txBody>
      </p:sp>
      <p:sp>
        <p:nvSpPr>
          <p:cNvPr id="77" name="d64"/>
          <p:cNvSpPr/>
          <p:nvPr/>
        </p:nvSpPr>
        <p:spPr>
          <a:xfrm>
            <a:off x="484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165</a:t>
            </a:r>
          </a:p>
        </p:txBody>
      </p:sp>
      <p:sp>
        <p:nvSpPr>
          <p:cNvPr id="78" name="d65"/>
          <p:cNvSpPr/>
          <p:nvPr/>
        </p:nvSpPr>
        <p:spPr>
          <a:xfrm>
            <a:off x="571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190</a:t>
            </a:r>
          </a:p>
        </p:txBody>
      </p:sp>
      <p:sp>
        <p:nvSpPr>
          <p:cNvPr id="79" name="d66"/>
          <p:cNvSpPr/>
          <p:nvPr/>
        </p:nvSpPr>
        <p:spPr>
          <a:xfrm>
            <a:off x="658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155</a:t>
            </a:r>
          </a:p>
        </p:txBody>
      </p:sp>
      <p:sp>
        <p:nvSpPr>
          <p:cNvPr id="80" name="d67"/>
          <p:cNvSpPr/>
          <p:nvPr/>
        </p:nvSpPr>
        <p:spPr>
          <a:xfrm>
            <a:off x="745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81" name="d70"/>
          <p:cNvSpPr/>
          <p:nvPr/>
        </p:nvSpPr>
        <p:spPr>
          <a:xfrm>
            <a:off x="380000" y="4956048"/>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101〜150㎥</a:t>
            </a:r>
          </a:p>
        </p:txBody>
      </p:sp>
      <p:sp>
        <p:nvSpPr>
          <p:cNvPr id="82" name="d71"/>
          <p:cNvSpPr/>
          <p:nvPr/>
        </p:nvSpPr>
        <p:spPr>
          <a:xfrm>
            <a:off x="2280000" y="4956048"/>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83" name="d72"/>
          <p:cNvSpPr/>
          <p:nvPr/>
        </p:nvSpPr>
        <p:spPr>
          <a:xfrm>
            <a:off x="310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160</a:t>
            </a:r>
          </a:p>
        </p:txBody>
      </p:sp>
      <p:sp>
        <p:nvSpPr>
          <p:cNvPr id="84" name="d73"/>
          <p:cNvSpPr/>
          <p:nvPr/>
        </p:nvSpPr>
        <p:spPr>
          <a:xfrm>
            <a:off x="397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180</a:t>
            </a:r>
          </a:p>
        </p:txBody>
      </p:sp>
      <p:sp>
        <p:nvSpPr>
          <p:cNvPr id="85" name="d74"/>
          <p:cNvSpPr/>
          <p:nvPr/>
        </p:nvSpPr>
        <p:spPr>
          <a:xfrm>
            <a:off x="484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170</a:t>
            </a:r>
          </a:p>
        </p:txBody>
      </p:sp>
      <p:sp>
        <p:nvSpPr>
          <p:cNvPr id="86" name="d75"/>
          <p:cNvSpPr/>
          <p:nvPr/>
        </p:nvSpPr>
        <p:spPr>
          <a:xfrm>
            <a:off x="571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200</a:t>
            </a:r>
          </a:p>
        </p:txBody>
      </p:sp>
      <p:sp>
        <p:nvSpPr>
          <p:cNvPr id="87" name="d76"/>
          <p:cNvSpPr/>
          <p:nvPr/>
        </p:nvSpPr>
        <p:spPr>
          <a:xfrm>
            <a:off x="658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165</a:t>
            </a:r>
          </a:p>
        </p:txBody>
      </p:sp>
      <p:sp>
        <p:nvSpPr>
          <p:cNvPr id="88" name="d77"/>
          <p:cNvSpPr/>
          <p:nvPr/>
        </p:nvSpPr>
        <p:spPr>
          <a:xfrm>
            <a:off x="745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190</a:t>
            </a:r>
          </a:p>
        </p:txBody>
      </p:sp>
      <p:sp>
        <p:nvSpPr>
          <p:cNvPr id="89" name="d80"/>
          <p:cNvSpPr/>
          <p:nvPr/>
        </p:nvSpPr>
        <p:spPr>
          <a:xfrm>
            <a:off x="380000" y="5385816"/>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151㎥〜</a:t>
            </a:r>
          </a:p>
        </p:txBody>
      </p:sp>
      <p:sp>
        <p:nvSpPr>
          <p:cNvPr id="90" name="d81"/>
          <p:cNvSpPr/>
          <p:nvPr/>
        </p:nvSpPr>
        <p:spPr>
          <a:xfrm>
            <a:off x="2280000" y="5385816"/>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160</a:t>
            </a:r>
          </a:p>
        </p:txBody>
      </p:sp>
      <p:sp>
        <p:nvSpPr>
          <p:cNvPr id="91" name="d82"/>
          <p:cNvSpPr/>
          <p:nvPr/>
        </p:nvSpPr>
        <p:spPr>
          <a:xfrm>
            <a:off x="310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180</a:t>
            </a:r>
          </a:p>
        </p:txBody>
      </p:sp>
      <p:sp>
        <p:nvSpPr>
          <p:cNvPr id="92" name="d83"/>
          <p:cNvSpPr/>
          <p:nvPr/>
        </p:nvSpPr>
        <p:spPr>
          <a:xfrm>
            <a:off x="397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200</a:t>
            </a:r>
          </a:p>
        </p:txBody>
      </p:sp>
      <p:sp>
        <p:nvSpPr>
          <p:cNvPr id="93" name="d84"/>
          <p:cNvSpPr/>
          <p:nvPr/>
        </p:nvSpPr>
        <p:spPr>
          <a:xfrm>
            <a:off x="484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190</a:t>
            </a:r>
          </a:p>
        </p:txBody>
      </p:sp>
      <p:sp>
        <p:nvSpPr>
          <p:cNvPr id="94" name="d85"/>
          <p:cNvSpPr/>
          <p:nvPr/>
        </p:nvSpPr>
        <p:spPr>
          <a:xfrm>
            <a:off x="571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220</a:t>
            </a:r>
          </a:p>
        </p:txBody>
      </p:sp>
      <p:sp>
        <p:nvSpPr>
          <p:cNvPr id="95" name="d86"/>
          <p:cNvSpPr/>
          <p:nvPr/>
        </p:nvSpPr>
        <p:spPr>
          <a:xfrm>
            <a:off x="658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185</a:t>
            </a:r>
          </a:p>
        </p:txBody>
      </p:sp>
      <p:sp>
        <p:nvSpPr>
          <p:cNvPr id="96" name="d87"/>
          <p:cNvSpPr/>
          <p:nvPr/>
        </p:nvSpPr>
        <p:spPr>
          <a:xfrm>
            <a:off x="745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210</a:t>
            </a:r>
          </a:p>
        </p:txBody>
      </p:sp>
      <p:sp>
        <p:nvSpPr>
          <p:cNvPr id="97" name="note"/>
          <p:cNvSpPr/>
          <p:nvPr/>
        </p:nvSpPr>
        <p:spPr>
          <a:xfrm>
            <a:off x="380000" y="6120528"/>
            <a:ext cx="11431760" cy="39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R10の最終単価は2か年改定のR9最終単価と同一です（02-5参照）。3か年改定は各段階の値上げ幅が小さくなる一方、最終単価の適用がR10となるため財政目標の達成は1年遅れます。</a:t>
            </a:r>
          </a:p>
        </p:txBody>
      </p:sp>
      <p:sp>
        <p:nvSpPr>
          <p:cNvPr id="98"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02-7　改定ロードマップ案</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改定ロードマップ案（パターン①②④共通）</a:t>
            </a:r>
          </a:p>
        </p:txBody>
      </p:sp>
      <p:sp>
        <p:nvSpPr>
          <p:cNvPr id="17" name="yr0"/>
          <p:cNvSpPr/>
          <p:nvPr/>
        </p:nvSpPr>
        <p:spPr>
          <a:xfrm>
            <a:off x="5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R7
（2025）</a:t>
            </a:r>
          </a:p>
        </p:txBody>
      </p:sp>
      <p:sp>
        <p:nvSpPr>
          <p:cNvPr id="18" name="tk0"/>
          <p:cNvSpPr/>
          <p:nvPr/>
        </p:nvSpPr>
        <p:spPr>
          <a:xfrm>
            <a:off x="5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
使用料改定
必要性検証</a:t>
            </a:r>
          </a:p>
        </p:txBody>
      </p:sp>
      <p:sp>
        <p:nvSpPr>
          <p:cNvPr id="19" name="bg0"/>
          <p:cNvSpPr/>
          <p:nvPr/>
        </p:nvSpPr>
        <p:spPr>
          <a:xfrm>
            <a:off x="5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現在</a:t>
            </a:r>
          </a:p>
        </p:txBody>
      </p:sp>
      <p:sp>
        <p:nvSpPr>
          <p:cNvPr id="20" name="yr1"/>
          <p:cNvSpPr/>
          <p:nvPr/>
        </p:nvSpPr>
        <p:spPr>
          <a:xfrm>
            <a:off x="27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R8
（2026）</a:t>
            </a:r>
          </a:p>
        </p:txBody>
      </p:sp>
      <p:sp>
        <p:nvSpPr>
          <p:cNvPr id="21" name="tk1"/>
          <p:cNvSpPr/>
          <p:nvPr/>
        </p:nvSpPr>
        <p:spPr>
          <a:xfrm>
            <a:off x="27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審議会・
住民説明会
使用料改定
第1段実施</a:t>
            </a:r>
          </a:p>
        </p:txBody>
      </p:sp>
      <p:sp>
        <p:nvSpPr>
          <p:cNvPr id="22" name="bg1"/>
          <p:cNvSpPr/>
          <p:nvPr/>
        </p:nvSpPr>
        <p:spPr>
          <a:xfrm>
            <a:off x="27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今回〜</a:t>
            </a:r>
          </a:p>
        </p:txBody>
      </p:sp>
      <p:sp>
        <p:nvSpPr>
          <p:cNvPr id="23" name="yr2"/>
          <p:cNvSpPr/>
          <p:nvPr/>
        </p:nvSpPr>
        <p:spPr>
          <a:xfrm>
            <a:off x="49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R9
（2027）</a:t>
            </a:r>
          </a:p>
        </p:txBody>
      </p:sp>
      <p:sp>
        <p:nvSpPr>
          <p:cNvPr id="24" name="tk2"/>
          <p:cNvSpPr/>
          <p:nvPr/>
        </p:nvSpPr>
        <p:spPr>
          <a:xfrm>
            <a:off x="49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最終単価適用
効果測定
開始</a:t>
            </a:r>
          </a:p>
        </p:txBody>
      </p:sp>
      <p:sp>
        <p:nvSpPr>
          <p:cNvPr id="25" name="yr3"/>
          <p:cNvSpPr/>
          <p:nvPr/>
        </p:nvSpPr>
        <p:spPr>
          <a:xfrm>
            <a:off x="71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R10
（2028）</a:t>
            </a:r>
          </a:p>
        </p:txBody>
      </p:sp>
      <p:sp>
        <p:nvSpPr>
          <p:cNvPr id="26" name="tk3"/>
          <p:cNvSpPr/>
          <p:nvPr/>
        </p:nvSpPr>
        <p:spPr>
          <a:xfrm>
            <a:off x="71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経費回収率</a:t>
            </a:r>
          </a:p>
          <a:p>
            <a:pPr algn="l"/>
            <a:r>
              <a:rPr lang="ja-JP" sz="1100" b="0" dirty="0">
                <a:solidFill>
                  <a:srgbClr val="475569"/>
                </a:solidFill>
                <a:latin typeface="Noto Sans CJK JP"/>
                <a:cs typeface="Noto Sans CJK JP"/>
              </a:rPr>
              <a:t>目標達成確認</a:t>
            </a:r>
          </a:p>
          <a:p>
            <a:pPr algn="l"/>
            <a:r>
              <a:rPr lang="ja-JP" sz="1100" b="0" dirty="0">
                <a:solidFill>
                  <a:srgbClr val="475569"/>
                </a:solidFill>
                <a:latin typeface="Noto Sans CJK JP"/>
                <a:cs typeface="Noto Sans CJK JP"/>
              </a:rPr>
              <a:t>効果検証</a:t>
            </a:r>
          </a:p>
        </p:txBody>
      </p:sp>
      <p:sp>
        <p:nvSpPr>
          <p:cNvPr id="27" name="yr4"/>
          <p:cNvSpPr/>
          <p:nvPr/>
        </p:nvSpPr>
        <p:spPr>
          <a:xfrm>
            <a:off x="93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64748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R12
（2030）</a:t>
            </a:r>
          </a:p>
        </p:txBody>
      </p:sp>
      <p:sp>
        <p:nvSpPr>
          <p:cNvPr id="28" name="tk4"/>
          <p:cNvSpPr/>
          <p:nvPr/>
        </p:nvSpPr>
        <p:spPr>
          <a:xfrm>
            <a:off x="93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a:t>
            </a:r>
          </a:p>
          <a:p>
            <a:pPr algn="l"/>
            <a:r>
              <a:rPr lang="ja-JP" sz="1100" b="0" dirty="0">
                <a:solidFill>
                  <a:srgbClr val="475569"/>
                </a:solidFill>
                <a:latin typeface="Noto Sans CJK JP"/>
                <a:cs typeface="Noto Sans CJK JP"/>
              </a:rPr>
              <a:t>次回改定の</a:t>
            </a:r>
          </a:p>
          <a:p>
            <a:pPr algn="l"/>
            <a:r>
              <a:rPr lang="ja-JP" sz="1100" b="0" dirty="0">
                <a:solidFill>
                  <a:srgbClr val="475569"/>
                </a:solidFill>
                <a:latin typeface="Noto Sans CJK JP"/>
                <a:cs typeface="Noto Sans CJK JP"/>
              </a:rPr>
              <a:t>必要性検証</a:t>
            </a:r>
          </a:p>
        </p:txBody>
      </p:sp>
      <p:sp>
        <p:nvSpPr>
          <p:cNvPr id="29" name="ghdr"/>
          <p:cNvSpPr/>
          <p:nvPr/>
        </p:nvSpPr>
        <p:spPr>
          <a:xfrm>
            <a:off x="571680" y="3900000"/>
            <a:ext cx="11048400" cy="29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l"/>
            <a:r>
              <a:rPr lang="ja-JP" sz="1200" b="0" dirty="0">
                <a:solidFill>
                  <a:srgbClr val="FFFFFF"/>
                </a:solidFill>
                <a:latin typeface="Noto Sans CJK JP"/>
                <a:cs typeface="Noto Sans CJK JP"/>
              </a:rPr>
              <a:t>  社会資本整備総合交付金　交付要件チェック</a:t>
            </a:r>
          </a:p>
        </p:txBody>
      </p:sp>
      <p:sp>
        <p:nvSpPr>
          <p:cNvPr id="30" name="ck0"/>
          <p:cNvSpPr/>
          <p:nvPr/>
        </p:nvSpPr>
        <p:spPr>
          <a:xfrm>
            <a:off x="5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166534"/>
                </a:solidFill>
                <a:latin typeface="Noto Sans CJK JP"/>
                <a:cs typeface="Noto Sans CJK JP"/>
              </a:rPr>
              <a:t>✔ 公営企業会計の適用
R6.4移行済み
【達成済】</a:t>
            </a:r>
          </a:p>
        </p:txBody>
      </p:sp>
      <p:sp>
        <p:nvSpPr>
          <p:cNvPr id="31" name="ck1"/>
          <p:cNvSpPr/>
          <p:nvPr/>
        </p:nvSpPr>
        <p:spPr>
          <a:xfrm>
            <a:off x="34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使用料改定の必要性検証
R7年度（今回審議）
【対応中】</a:t>
            </a:r>
          </a:p>
        </p:txBody>
      </p:sp>
      <p:sp>
        <p:nvSpPr>
          <p:cNvPr id="32" name="ck2"/>
          <p:cNvSpPr/>
          <p:nvPr/>
        </p:nvSpPr>
        <p:spPr>
          <a:xfrm>
            <a:off x="63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経費回収率ロードマップ
R7年度末に策定・公表
【対応中】</a:t>
            </a:r>
          </a:p>
        </p:txBody>
      </p:sp>
      <p:sp>
        <p:nvSpPr>
          <p:cNvPr id="33" name="ck3"/>
          <p:cNvSpPr/>
          <p:nvPr/>
        </p:nvSpPr>
        <p:spPr>
          <a:xfrm>
            <a:off x="92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64748B"/>
                </a:solidFill>
                <a:latin typeface="Noto Sans CJK JP"/>
                <a:cs typeface="Noto Sans CJK JP"/>
              </a:rPr>
              <a:t>✔ 経費回収率向上達成
R10以降
【計画中】</a:t>
            </a:r>
          </a:p>
        </p:txBody>
      </p:sp>
      <p:sp>
        <p:nvSpPr>
          <p:cNvPr id="3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20</a:t>
            </a:r>
          </a:p>
        </p:txBody>
      </p:sp>
      <p:sp>
        <p:nvSpPr>
          <p:cNvPr id="35" name="note"/>
          <p:cNvSpPr/>
          <p:nvPr/>
        </p:nvSpPr>
        <p:spPr>
          <a:xfrm>
            <a:off x="576072" y="5074920"/>
            <a:ext cx="11045952" cy="1298448"/>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今回改定の位置付け：経費回収率を34.4%→46.1%（推奨案②・2か年・R9）へ引き上げる第1段階の適正化。目標47%以上は次期改定とあわせて段階的に達成します。</a:t>
            </a:r>
          </a:p>
          <a:p>
            <a:pPr algn="l"/>
            <a:r>
              <a:rPr lang="ja-JP" sz="1050" b="0" dirty="0">
                <a:solidFill>
                  <a:srgbClr val="78350F"/>
                </a:solidFill>
                <a:latin typeface="Arial"/>
                <a:cs typeface="Noto Sans CJK JP"/>
              </a:rPr>
              <a:t>▶ 次回の検証時期：令和12年度（経営戦略の改定期）。5年に1回の使用料改定の必要性検証（交付要件）に合わせて実施します。</a:t>
            </a:r>
          </a:p>
          <a:p>
            <a:pPr algn="l"/>
            <a:r>
              <a:rPr lang="ja-JP" sz="1050" b="0" dirty="0">
                <a:solidFill>
                  <a:srgbClr val="78350F"/>
                </a:solidFill>
                <a:latin typeface="Arial"/>
                <a:cs typeface="Noto Sans CJK JP"/>
              </a:rPr>
              <a:t>▶ 再改定の判断条件：①経費回収率がロードマップの業績目標を下回る、②有収水量が推計を超えて減少する、③維持管理費・更新投資が推計を上回る場合。</a:t>
            </a:r>
          </a:p>
          <a:p>
            <a:pPr algn="l"/>
            <a:r>
              <a:rPr lang="ja-JP" sz="1050" b="0" dirty="0">
                <a:solidFill>
                  <a:srgbClr val="78350F"/>
                </a:solidFill>
                <a:latin typeface="Arial"/>
                <a:cs typeface="Noto Sans CJK JP"/>
              </a:rPr>
              <a:t>▶ 交付金への影響：要件を満たさない場合、下水道の改築・更新に係る社会資本整備総合交付金が交付対象外となります。改定により使用料単価は127.8円/㎥（R7）→182.6円/㎥（②2か年・R9）となり、除外基準の150円/㎥を上回ります（交付金額・対象事業費は町に確認中）。</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03</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財政健全化目標との整合性</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本章では、パターン①②④それぞれの経常収支比率・経費回収率の見込みを確認し、財政健全化目標値の設定について審議いただきます。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03-1　経常収支比率の見込み（パターン①）</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経常収支比率の見込み（パターン①・標準型／2か年改定）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経常収支比率：97.6%</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経常収支比率：100.0%</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経常収支比率：83.4%</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経常収支比率：84.0%</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経常収支比率：84.2%</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462016"/>
            <a:ext cx="11048400" cy="1048511"/>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パターン①採用により、公共下水道はR9に100.0%と目標の100%以上を達成する見込みです。農業集落排水はR10で84.2%にとどまり、100%達成には他会計繰入等による補填が引き続き必要です。</a:t>
            </a:r>
          </a:p>
          <a:p>
            <a:pPr algn="l"/>
            <a:r>
              <a:rPr lang="ja-JP" sz="1200" b="0" dirty="0">
                <a:solidFill>
                  <a:srgbClr val="166534"/>
                </a:solidFill>
                <a:latin typeface="Noto Sans CJK JP"/>
                <a:cs typeface="Noto Sans CJK JP"/>
              </a:rPr>
              <a:t>※ 農業集落排水が経常収支比率100%（目標①）を単独で達成するには、R9で使用料収入 36,672千円が必要です。これはパターン①改定後（19,471千円）の約1.9倍、20㎥換算で月額税込 約6,215円に相当し、今回の改定幅で達成することは構造的に困難です（目標②の経費回収率47%は49.6%で達成見込み）。</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03-2　経常収支比率の見込み（パターン②）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経常収支比率の見込み（パターン②・家庭軽減型／2か年改定）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経常収支比率：98.1%</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経常収支比率：102.4%</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経常収支比率：84.2%</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経常収支比率：85.8%</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経常収支比率：85.9%</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462016"/>
            <a:ext cx="11048400" cy="1048511"/>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パターン②採用により、公共下水道はR9に101.1%と目標の100%以上を達成する見込みです。農業集落排水はR10で85.9%にとどまり、100%達成には他会計繰入等による補填が引き続き必要です。</a:t>
            </a:r>
          </a:p>
          <a:p>
            <a:pPr algn="l"/>
            <a:r>
              <a:rPr lang="ja-JP" sz="1200" b="0" dirty="0">
                <a:solidFill>
                  <a:srgbClr val="166534"/>
                </a:solidFill>
                <a:latin typeface="Noto Sans CJK JP"/>
                <a:cs typeface="Noto Sans CJK JP"/>
              </a:rPr>
              <a:t>※ 農業集落排水が経常収支比率100%（目標①）を単独で達成するには、R9で使用料収入 36,672千円が必要です。これはパターン②改定後（21,314千円）の約1.7倍、20㎥換算で月額税込 約5,678円に相当し、今回の改定幅で達成することは構造的に困難です（目標②の経費回収率47%は54.2%で達成見込み）。</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03-3　経常収支比率の見込み（パターン④）</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経常収支比率の見込み（パターン④・段階累進型／2か年改定）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経常収支比率：97.8%</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経常収支比率：100.4%</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経常収支比率：101.6%</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経常収支比率：83.7%</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経常収支比率：84.6%</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経常収支比率：84.8%</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462016"/>
            <a:ext cx="11048400" cy="1048511"/>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パターン④採用により、公共下水道はR9に100.4%と目標の100%以上を達成する見込みです。農業集落排水はR10で84.8%にとどまり、100%達成には他会計繰入等による補填が引き続き必要です。</a:t>
            </a:r>
          </a:p>
          <a:p>
            <a:pPr algn="l"/>
            <a:r>
              <a:rPr lang="ja-JP" sz="1200" b="0" dirty="0">
                <a:solidFill>
                  <a:srgbClr val="166534"/>
                </a:solidFill>
                <a:latin typeface="Noto Sans CJK JP"/>
                <a:cs typeface="Noto Sans CJK JP"/>
              </a:rPr>
              <a:t>※ 農業集落排水が経常収支比率100%（目標①）を単独で達成するには、R9で使用料収入 36,672千円が必要です。これはパターン④改定後（20,085千円）の約1.8倍、20㎥換算で月額税込 約6,025円に相当し、今回の改定幅で達成することは構造的に困難です（目標②の経費回収率47%は51.1%で達成見込み）。</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03-4　経費回収率の見込み（公共下水道・2か年改定）</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経費回収率の見込みと目標値（案）　公共下水道・2か年改定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34.4%</a:t>
            </a:r>
          </a:p>
        </p:txBody>
      </p:sp>
      <p:sp>
        <p:nvSpPr>
          <p:cNvPr id="25" name="d1402"/>
          <p:cNvSpPr/>
          <p:nvPr/>
        </p:nvSpPr>
        <p:spPr>
          <a:xfrm>
            <a:off x="3971680" y="1947672"/>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6" name="d1403"/>
          <p:cNvSpPr/>
          <p:nvPr/>
        </p:nvSpPr>
        <p:spPr>
          <a:xfrm>
            <a:off x="5771680" y="1947672"/>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34.4%</a:t>
            </a:r>
          </a:p>
        </p:txBody>
      </p:sp>
      <p:sp>
        <p:nvSpPr>
          <p:cNvPr id="27" name="d1404"/>
          <p:cNvSpPr/>
          <p:nvPr/>
        </p:nvSpPr>
        <p:spPr>
          <a:xfrm>
            <a:off x="7471680" y="1947672"/>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8" name="d1405"/>
          <p:cNvSpPr/>
          <p:nvPr/>
        </p:nvSpPr>
        <p:spPr>
          <a:xfrm>
            <a:off x="9271680" y="1947672"/>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514600"/>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14600"/>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33.2%</a:t>
            </a:r>
          </a:p>
        </p:txBody>
      </p:sp>
      <p:sp>
        <p:nvSpPr>
          <p:cNvPr id="31" name="d1412"/>
          <p:cNvSpPr/>
          <p:nvPr/>
        </p:nvSpPr>
        <p:spPr>
          <a:xfrm>
            <a:off x="3971680" y="2514600"/>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38.5%</a:t>
            </a:r>
          </a:p>
        </p:txBody>
      </p:sp>
      <p:sp>
        <p:nvSpPr>
          <p:cNvPr id="32" name="d1413"/>
          <p:cNvSpPr/>
          <p:nvPr/>
        </p:nvSpPr>
        <p:spPr>
          <a:xfrm>
            <a:off x="5771680" y="2514600"/>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40.0%</a:t>
            </a:r>
          </a:p>
        </p:txBody>
      </p:sp>
      <p:sp>
        <p:nvSpPr>
          <p:cNvPr id="33" name="d1414"/>
          <p:cNvSpPr/>
          <p:nvPr/>
        </p:nvSpPr>
        <p:spPr>
          <a:xfrm>
            <a:off x="7471680" y="2514600"/>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39.0%</a:t>
            </a:r>
          </a:p>
        </p:txBody>
      </p:sp>
      <p:sp>
        <p:nvSpPr>
          <p:cNvPr id="34" name="d1415"/>
          <p:cNvSpPr/>
          <p:nvPr/>
        </p:nvSpPr>
        <p:spPr>
          <a:xfrm>
            <a:off x="9271680" y="2514600"/>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3081528"/>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081528"/>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32.3%</a:t>
            </a:r>
          </a:p>
        </p:txBody>
      </p:sp>
      <p:sp>
        <p:nvSpPr>
          <p:cNvPr id="37" name="d1422"/>
          <p:cNvSpPr/>
          <p:nvPr/>
        </p:nvSpPr>
        <p:spPr>
          <a:xfrm>
            <a:off x="3971680" y="3081528"/>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43.1%</a:t>
            </a:r>
          </a:p>
        </p:txBody>
      </p:sp>
      <p:sp>
        <p:nvSpPr>
          <p:cNvPr id="38" name="d1423"/>
          <p:cNvSpPr/>
          <p:nvPr/>
        </p:nvSpPr>
        <p:spPr>
          <a:xfrm>
            <a:off x="5771680" y="3081528"/>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46.1%</a:t>
            </a:r>
          </a:p>
        </p:txBody>
      </p:sp>
      <p:sp>
        <p:nvSpPr>
          <p:cNvPr id="39" name="d1424"/>
          <p:cNvSpPr/>
          <p:nvPr/>
        </p:nvSpPr>
        <p:spPr>
          <a:xfrm>
            <a:off x="7471680" y="3081528"/>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44.1%</a:t>
            </a:r>
          </a:p>
        </p:txBody>
      </p:sp>
      <p:sp>
        <p:nvSpPr>
          <p:cNvPr id="40" name="d1425"/>
          <p:cNvSpPr/>
          <p:nvPr/>
        </p:nvSpPr>
        <p:spPr>
          <a:xfrm>
            <a:off x="9271680" y="3081528"/>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648456"/>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648456"/>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32.5%</a:t>
            </a:r>
          </a:p>
        </p:txBody>
      </p:sp>
      <p:sp>
        <p:nvSpPr>
          <p:cNvPr id="43" name="d1432"/>
          <p:cNvSpPr/>
          <p:nvPr/>
        </p:nvSpPr>
        <p:spPr>
          <a:xfrm>
            <a:off x="3971680" y="3648456"/>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43.4%</a:t>
            </a:r>
          </a:p>
        </p:txBody>
      </p:sp>
      <p:sp>
        <p:nvSpPr>
          <p:cNvPr id="44" name="d1433"/>
          <p:cNvSpPr/>
          <p:nvPr/>
        </p:nvSpPr>
        <p:spPr>
          <a:xfrm>
            <a:off x="5771680" y="3648456"/>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46.4%</a:t>
            </a:r>
          </a:p>
        </p:txBody>
      </p:sp>
      <p:sp>
        <p:nvSpPr>
          <p:cNvPr id="45" name="d1434"/>
          <p:cNvSpPr/>
          <p:nvPr/>
        </p:nvSpPr>
        <p:spPr>
          <a:xfrm>
            <a:off x="7471680" y="3648456"/>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44.4%</a:t>
            </a:r>
          </a:p>
        </p:txBody>
      </p:sp>
      <p:sp>
        <p:nvSpPr>
          <p:cNvPr id="46" name="d1435"/>
          <p:cNvSpPr/>
          <p:nvPr/>
        </p:nvSpPr>
        <p:spPr>
          <a:xfrm>
            <a:off x="9271680" y="3648456"/>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215383"/>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215383"/>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31.4%</a:t>
            </a:r>
          </a:p>
        </p:txBody>
      </p:sp>
      <p:sp>
        <p:nvSpPr>
          <p:cNvPr id="49" name="d1442"/>
          <p:cNvSpPr/>
          <p:nvPr/>
        </p:nvSpPr>
        <p:spPr>
          <a:xfrm>
            <a:off x="3971680" y="4215383"/>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42.0%</a:t>
            </a:r>
          </a:p>
        </p:txBody>
      </p:sp>
      <p:sp>
        <p:nvSpPr>
          <p:cNvPr id="50" name="d1443"/>
          <p:cNvSpPr/>
          <p:nvPr/>
        </p:nvSpPr>
        <p:spPr>
          <a:xfrm>
            <a:off x="5771680" y="4215383"/>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44.9%</a:t>
            </a:r>
          </a:p>
        </p:txBody>
      </p:sp>
      <p:sp>
        <p:nvSpPr>
          <p:cNvPr id="51" name="d1444"/>
          <p:cNvSpPr/>
          <p:nvPr/>
        </p:nvSpPr>
        <p:spPr>
          <a:xfrm>
            <a:off x="7471680" y="4215383"/>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43.0%</a:t>
            </a:r>
          </a:p>
        </p:txBody>
      </p:sp>
      <p:sp>
        <p:nvSpPr>
          <p:cNvPr id="52" name="d1445"/>
          <p:cNvSpPr/>
          <p:nvPr/>
        </p:nvSpPr>
        <p:spPr>
          <a:xfrm>
            <a:off x="9271680" y="4215383"/>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4863528"/>
            <a:ext cx="11048400" cy="1646999"/>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審議事項：公共下水道は今回改定のみではR9で43〜46%にとどまり、目標水準47%に到達しません。R10以降の段階的適正化（次期改定）とあわせた目標設定について審議をお願いします。</a:t>
            </a:r>
          </a:p>
          <a:p>
            <a:pPr algn="l"/>
            <a:r>
              <a:rPr lang="ja-JP" sz="1150" b="0" dirty="0">
                <a:solidFill>
                  <a:srgbClr val="78350F"/>
                </a:solidFill>
                <a:latin typeface="Noto Sans CJK JP"/>
                <a:cs typeface="Noto Sans CJK JP"/>
              </a:rPr>
              <a:t>※ 推奨案②で目標に到達するのに必要な増収は、R9 47%まで1,647千円（＋2.0%）、R10 50%まで6,268千円（＋7.7%）、R12 55%まで17,944千円（＋22.5%）です。</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経費回収率の分母＝汚水処理費（維持管理費分）＝経常費用−減価償却費−支払利息−その他営業外費用。資本費（R7 64,832千円）は分流式下水道等に要する経費でカバーされるため全額控除しています。</a:t>
            </a:r>
          </a:p>
          <a:p>
            <a:pPr algn="l"/>
            <a:r>
              <a:rPr lang="ja-JP" sz="1150" b="0" dirty="0">
                <a:solidFill>
                  <a:srgbClr val="78350F"/>
                </a:solidFill>
                <a:latin typeface="Noto Sans CJK JP"/>
                <a:cs typeface="Noto Sans CJK JP"/>
              </a:rPr>
              <a:t>※ R7の汚水処理費168,331千円の内訳は職員給与費5,936・動力費4,975・修繕費912・材料費1,228・その他（主に委託料）155,280千円。R6決算の47.11%も同一基準（119,503千円）で、R7の34.4%への低下は維持管理費の＋40.9%増によるものです（増加要因は町へ照会中・令和7年度決算と突合予定）。</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03-5　経費回収率の見込み（公共下水道・3か年改定）</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経費回収率の見込みと目標値（案）　公共下水道・3か年改定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34.4%</a:t>
            </a:r>
          </a:p>
        </p:txBody>
      </p:sp>
      <p:sp>
        <p:nvSpPr>
          <p:cNvPr id="25" name="d1402"/>
          <p:cNvSpPr/>
          <p:nvPr/>
        </p:nvSpPr>
        <p:spPr>
          <a:xfrm>
            <a:off x="3971680" y="1947672"/>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6" name="d1403"/>
          <p:cNvSpPr/>
          <p:nvPr/>
        </p:nvSpPr>
        <p:spPr>
          <a:xfrm>
            <a:off x="5771680" y="1947672"/>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34.4%</a:t>
            </a:r>
          </a:p>
        </p:txBody>
      </p:sp>
      <p:sp>
        <p:nvSpPr>
          <p:cNvPr id="27" name="d1404"/>
          <p:cNvSpPr/>
          <p:nvPr/>
        </p:nvSpPr>
        <p:spPr>
          <a:xfrm>
            <a:off x="7471680" y="1947672"/>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8" name="d1405"/>
          <p:cNvSpPr/>
          <p:nvPr/>
        </p:nvSpPr>
        <p:spPr>
          <a:xfrm>
            <a:off x="9271680" y="1947672"/>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514600"/>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14600"/>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33.2%</a:t>
            </a:r>
          </a:p>
        </p:txBody>
      </p:sp>
      <p:sp>
        <p:nvSpPr>
          <p:cNvPr id="31" name="d1412"/>
          <p:cNvSpPr/>
          <p:nvPr/>
        </p:nvSpPr>
        <p:spPr>
          <a:xfrm>
            <a:off x="3971680" y="2514600"/>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36.6%</a:t>
            </a:r>
          </a:p>
        </p:txBody>
      </p:sp>
      <p:sp>
        <p:nvSpPr>
          <p:cNvPr id="32" name="d1413"/>
          <p:cNvSpPr/>
          <p:nvPr/>
        </p:nvSpPr>
        <p:spPr>
          <a:xfrm>
            <a:off x="5771680" y="2514600"/>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37.6%</a:t>
            </a:r>
          </a:p>
        </p:txBody>
      </p:sp>
      <p:sp>
        <p:nvSpPr>
          <p:cNvPr id="33" name="d1414"/>
          <p:cNvSpPr/>
          <p:nvPr/>
        </p:nvSpPr>
        <p:spPr>
          <a:xfrm>
            <a:off x="7471680" y="2514600"/>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36.8%</a:t>
            </a:r>
          </a:p>
        </p:txBody>
      </p:sp>
      <p:sp>
        <p:nvSpPr>
          <p:cNvPr id="34" name="d1415"/>
          <p:cNvSpPr/>
          <p:nvPr/>
        </p:nvSpPr>
        <p:spPr>
          <a:xfrm>
            <a:off x="9271680" y="2514600"/>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3081528"/>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081528"/>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32.3%</a:t>
            </a:r>
          </a:p>
        </p:txBody>
      </p:sp>
      <p:sp>
        <p:nvSpPr>
          <p:cNvPr id="37" name="d1422"/>
          <p:cNvSpPr/>
          <p:nvPr/>
        </p:nvSpPr>
        <p:spPr>
          <a:xfrm>
            <a:off x="3971680" y="3081528"/>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38.8%</a:t>
            </a:r>
          </a:p>
        </p:txBody>
      </p:sp>
      <p:sp>
        <p:nvSpPr>
          <p:cNvPr id="38" name="d1423"/>
          <p:cNvSpPr/>
          <p:nvPr/>
        </p:nvSpPr>
        <p:spPr>
          <a:xfrm>
            <a:off x="5771680" y="3081528"/>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40.8%</a:t>
            </a:r>
          </a:p>
        </p:txBody>
      </p:sp>
      <p:sp>
        <p:nvSpPr>
          <p:cNvPr id="39" name="d1424"/>
          <p:cNvSpPr/>
          <p:nvPr/>
        </p:nvSpPr>
        <p:spPr>
          <a:xfrm>
            <a:off x="7471680" y="3081528"/>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39.1%</a:t>
            </a:r>
          </a:p>
        </p:txBody>
      </p:sp>
      <p:sp>
        <p:nvSpPr>
          <p:cNvPr id="40" name="d1425"/>
          <p:cNvSpPr/>
          <p:nvPr/>
        </p:nvSpPr>
        <p:spPr>
          <a:xfrm>
            <a:off x="9271680" y="3081528"/>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648456"/>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648456"/>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32.5%</a:t>
            </a:r>
          </a:p>
        </p:txBody>
      </p:sp>
      <p:sp>
        <p:nvSpPr>
          <p:cNvPr id="43" name="d1432"/>
          <p:cNvSpPr/>
          <p:nvPr/>
        </p:nvSpPr>
        <p:spPr>
          <a:xfrm>
            <a:off x="3971680" y="3648456"/>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43.4%</a:t>
            </a:r>
          </a:p>
        </p:txBody>
      </p:sp>
      <p:sp>
        <p:nvSpPr>
          <p:cNvPr id="44" name="d1433"/>
          <p:cNvSpPr/>
          <p:nvPr/>
        </p:nvSpPr>
        <p:spPr>
          <a:xfrm>
            <a:off x="5771680" y="3648456"/>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46.4%</a:t>
            </a:r>
          </a:p>
        </p:txBody>
      </p:sp>
      <p:sp>
        <p:nvSpPr>
          <p:cNvPr id="45" name="d1434"/>
          <p:cNvSpPr/>
          <p:nvPr/>
        </p:nvSpPr>
        <p:spPr>
          <a:xfrm>
            <a:off x="7471680" y="3648456"/>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44.4%</a:t>
            </a:r>
          </a:p>
        </p:txBody>
      </p:sp>
      <p:sp>
        <p:nvSpPr>
          <p:cNvPr id="46" name="d1435"/>
          <p:cNvSpPr/>
          <p:nvPr/>
        </p:nvSpPr>
        <p:spPr>
          <a:xfrm>
            <a:off x="9271680" y="3648456"/>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215383"/>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215383"/>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31.4%</a:t>
            </a:r>
          </a:p>
        </p:txBody>
      </p:sp>
      <p:sp>
        <p:nvSpPr>
          <p:cNvPr id="49" name="d1442"/>
          <p:cNvSpPr/>
          <p:nvPr/>
        </p:nvSpPr>
        <p:spPr>
          <a:xfrm>
            <a:off x="3971680" y="4215383"/>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42.0%</a:t>
            </a:r>
          </a:p>
        </p:txBody>
      </p:sp>
      <p:sp>
        <p:nvSpPr>
          <p:cNvPr id="50" name="d1443"/>
          <p:cNvSpPr/>
          <p:nvPr/>
        </p:nvSpPr>
        <p:spPr>
          <a:xfrm>
            <a:off x="5771680" y="4215383"/>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44.9%</a:t>
            </a:r>
          </a:p>
        </p:txBody>
      </p:sp>
      <p:sp>
        <p:nvSpPr>
          <p:cNvPr id="51" name="d1444"/>
          <p:cNvSpPr/>
          <p:nvPr/>
        </p:nvSpPr>
        <p:spPr>
          <a:xfrm>
            <a:off x="7471680" y="4215383"/>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43.0%</a:t>
            </a:r>
          </a:p>
        </p:txBody>
      </p:sp>
      <p:sp>
        <p:nvSpPr>
          <p:cNvPr id="52" name="d1445"/>
          <p:cNvSpPr/>
          <p:nvPr/>
        </p:nvSpPr>
        <p:spPr>
          <a:xfrm>
            <a:off x="9271680" y="4215383"/>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5100000"/>
            <a:ext cx="11048400" cy="1223454"/>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3か年改定では最終単価の適用がR10となるため、R9時点では38.8〜40.8%にとどまり、R10で43.4〜46.4%に達します（2か年改定はR9で43.1〜46.1%）。いずれも目標水準47%には到達しません。</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64,832千円）は分流式下水道等に要する経費でカバーされるため全額控除しています。</a:t>
            </a:r>
          </a:p>
          <a:p>
            <a:pPr algn="l"/>
            <a:r>
              <a:rPr lang="ja-JP" sz="1150" b="0" dirty="0">
                <a:solidFill>
                  <a:srgbClr val="78350F"/>
                </a:solidFill>
                <a:latin typeface="Noto Sans CJK JP"/>
                <a:cs typeface="Noto Sans CJK JP"/>
              </a:rPr>
              <a:t>※ R10以降の水準は2か年改定と同一に収束します。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03-6　経費回収率の見込み（農業集落排水・2か年改定）</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経費回収率の見込みと目標値（案）　農業集落排水・2か年改定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39.9%</a:t>
            </a:r>
          </a:p>
        </p:txBody>
      </p:sp>
      <p:sp>
        <p:nvSpPr>
          <p:cNvPr id="25" name="d1402"/>
          <p:cNvSpPr/>
          <p:nvPr/>
        </p:nvSpPr>
        <p:spPr>
          <a:xfrm>
            <a:off x="3971680" y="1947672"/>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6" name="d1403"/>
          <p:cNvSpPr/>
          <p:nvPr/>
        </p:nvSpPr>
        <p:spPr>
          <a:xfrm>
            <a:off x="5771680" y="1947672"/>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39.9%</a:t>
            </a:r>
          </a:p>
        </p:txBody>
      </p:sp>
      <p:sp>
        <p:nvSpPr>
          <p:cNvPr id="27" name="d1404"/>
          <p:cNvSpPr/>
          <p:nvPr/>
        </p:nvSpPr>
        <p:spPr>
          <a:xfrm>
            <a:off x="7471680" y="1947672"/>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8" name="d1405"/>
          <p:cNvSpPr/>
          <p:nvPr/>
        </p:nvSpPr>
        <p:spPr>
          <a:xfrm>
            <a:off x="9271680" y="1947672"/>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514600"/>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14600"/>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39.3%</a:t>
            </a:r>
          </a:p>
        </p:txBody>
      </p:sp>
      <p:sp>
        <p:nvSpPr>
          <p:cNvPr id="31" name="d1412"/>
          <p:cNvSpPr/>
          <p:nvPr/>
        </p:nvSpPr>
        <p:spPr>
          <a:xfrm>
            <a:off x="3971680" y="2514600"/>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45.2%</a:t>
            </a:r>
          </a:p>
        </p:txBody>
      </p:sp>
      <p:sp>
        <p:nvSpPr>
          <p:cNvPr id="32" name="d1413"/>
          <p:cNvSpPr/>
          <p:nvPr/>
        </p:nvSpPr>
        <p:spPr>
          <a:xfrm>
            <a:off x="5771680" y="2514600"/>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47.7%</a:t>
            </a:r>
          </a:p>
        </p:txBody>
      </p:sp>
      <p:sp>
        <p:nvSpPr>
          <p:cNvPr id="33" name="d1414"/>
          <p:cNvSpPr/>
          <p:nvPr/>
        </p:nvSpPr>
        <p:spPr>
          <a:xfrm>
            <a:off x="7471680" y="2514600"/>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46.0%</a:t>
            </a:r>
          </a:p>
        </p:txBody>
      </p:sp>
      <p:sp>
        <p:nvSpPr>
          <p:cNvPr id="34" name="d1415"/>
          <p:cNvSpPr/>
          <p:nvPr/>
        </p:nvSpPr>
        <p:spPr>
          <a:xfrm>
            <a:off x="9271680" y="2514600"/>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3081528"/>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081528"/>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37.6%</a:t>
            </a:r>
          </a:p>
        </p:txBody>
      </p:sp>
      <p:sp>
        <p:nvSpPr>
          <p:cNvPr id="37" name="d1422"/>
          <p:cNvSpPr/>
          <p:nvPr/>
        </p:nvSpPr>
        <p:spPr>
          <a:xfrm>
            <a:off x="3971680" y="3081528"/>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49.6%</a:t>
            </a:r>
          </a:p>
        </p:txBody>
      </p:sp>
      <p:sp>
        <p:nvSpPr>
          <p:cNvPr id="38" name="d1423"/>
          <p:cNvSpPr/>
          <p:nvPr/>
        </p:nvSpPr>
        <p:spPr>
          <a:xfrm>
            <a:off x="5771680" y="3081528"/>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54.2%</a:t>
            </a:r>
          </a:p>
        </p:txBody>
      </p:sp>
      <p:sp>
        <p:nvSpPr>
          <p:cNvPr id="39" name="d1424"/>
          <p:cNvSpPr/>
          <p:nvPr/>
        </p:nvSpPr>
        <p:spPr>
          <a:xfrm>
            <a:off x="7471680" y="3081528"/>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51.1%</a:t>
            </a:r>
          </a:p>
        </p:txBody>
      </p:sp>
      <p:sp>
        <p:nvSpPr>
          <p:cNvPr id="40" name="d1425"/>
          <p:cNvSpPr/>
          <p:nvPr/>
        </p:nvSpPr>
        <p:spPr>
          <a:xfrm>
            <a:off x="9271680" y="3081528"/>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648456"/>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648456"/>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37.9%</a:t>
            </a:r>
          </a:p>
        </p:txBody>
      </p:sp>
      <p:sp>
        <p:nvSpPr>
          <p:cNvPr id="43" name="d1432"/>
          <p:cNvSpPr/>
          <p:nvPr/>
        </p:nvSpPr>
        <p:spPr>
          <a:xfrm>
            <a:off x="3971680" y="3648456"/>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50.0%</a:t>
            </a:r>
          </a:p>
        </p:txBody>
      </p:sp>
      <p:sp>
        <p:nvSpPr>
          <p:cNvPr id="44" name="d1433"/>
          <p:cNvSpPr/>
          <p:nvPr/>
        </p:nvSpPr>
        <p:spPr>
          <a:xfrm>
            <a:off x="5771680" y="3648456"/>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54.7%</a:t>
            </a:r>
          </a:p>
        </p:txBody>
      </p:sp>
      <p:sp>
        <p:nvSpPr>
          <p:cNvPr id="45" name="d1434"/>
          <p:cNvSpPr/>
          <p:nvPr/>
        </p:nvSpPr>
        <p:spPr>
          <a:xfrm>
            <a:off x="7471680" y="3648456"/>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51.5%</a:t>
            </a:r>
          </a:p>
        </p:txBody>
      </p:sp>
      <p:sp>
        <p:nvSpPr>
          <p:cNvPr id="46" name="d1435"/>
          <p:cNvSpPr/>
          <p:nvPr/>
        </p:nvSpPr>
        <p:spPr>
          <a:xfrm>
            <a:off x="9271680" y="3648456"/>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215383"/>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215383"/>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36.7%</a:t>
            </a:r>
          </a:p>
        </p:txBody>
      </p:sp>
      <p:sp>
        <p:nvSpPr>
          <p:cNvPr id="49" name="d1442"/>
          <p:cNvSpPr/>
          <p:nvPr/>
        </p:nvSpPr>
        <p:spPr>
          <a:xfrm>
            <a:off x="3971680" y="4215383"/>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48.4%</a:t>
            </a:r>
          </a:p>
        </p:txBody>
      </p:sp>
      <p:sp>
        <p:nvSpPr>
          <p:cNvPr id="50" name="d1443"/>
          <p:cNvSpPr/>
          <p:nvPr/>
        </p:nvSpPr>
        <p:spPr>
          <a:xfrm>
            <a:off x="5771680" y="4215383"/>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52.9%</a:t>
            </a:r>
          </a:p>
        </p:txBody>
      </p:sp>
      <p:sp>
        <p:nvSpPr>
          <p:cNvPr id="51" name="d1444"/>
          <p:cNvSpPr/>
          <p:nvPr/>
        </p:nvSpPr>
        <p:spPr>
          <a:xfrm>
            <a:off x="7471680" y="4215383"/>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49.9%</a:t>
            </a:r>
          </a:p>
        </p:txBody>
      </p:sp>
      <p:sp>
        <p:nvSpPr>
          <p:cNvPr id="52" name="d1445"/>
          <p:cNvSpPr/>
          <p:nvPr/>
        </p:nvSpPr>
        <p:spPr>
          <a:xfrm>
            <a:off x="9271680" y="4215383"/>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5075301"/>
            <a:ext cx="11048400" cy="143522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審議事項：農業集落排水はパターン②でR9に54.2%となり目標水準47%（目標②）を達成しますが、R11以降は有収水量の減少により低下します。次期改定（R12）での再設定を前提とした目標設定を提案します。</a:t>
            </a:r>
          </a:p>
          <a:p>
            <a:pPr algn="l"/>
            <a:r>
              <a:rPr lang="ja-JP" sz="1150" b="0" dirty="0">
                <a:solidFill>
                  <a:srgbClr val="78350F"/>
                </a:solidFill>
                <a:latin typeface="Noto Sans CJK JP"/>
                <a:cs typeface="Noto Sans CJK JP"/>
              </a:rPr>
              <a:t>※ 目標①（経常収支比率100%以上）は別の指標です。農業集落排水がこれを達成するにはR9で使用料収入36,672千円（②改定後の約1.7倍・20㎥換算で月額税込 約5,678円）が必要で、今回の改定幅では構造的に達成できません（03-2参照）。</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17,236千円）は分流式下水道等に要する経費でカバーされるため全額控除しています。R6決算の35.99%も同一基準（汚水処理費32,870千円）です。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03-7　経費回収率の見込み（農業集落排水・3か年改定）</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経費回収率の見込みと目標値（案）　農業集落排水・3か年改定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39.9%</a:t>
            </a:r>
          </a:p>
        </p:txBody>
      </p:sp>
      <p:sp>
        <p:nvSpPr>
          <p:cNvPr id="25" name="d1402"/>
          <p:cNvSpPr/>
          <p:nvPr/>
        </p:nvSpPr>
        <p:spPr>
          <a:xfrm>
            <a:off x="3971680" y="1947672"/>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6" name="d1403"/>
          <p:cNvSpPr/>
          <p:nvPr/>
        </p:nvSpPr>
        <p:spPr>
          <a:xfrm>
            <a:off x="5771680" y="1947672"/>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39.9%</a:t>
            </a:r>
          </a:p>
        </p:txBody>
      </p:sp>
      <p:sp>
        <p:nvSpPr>
          <p:cNvPr id="27" name="d1404"/>
          <p:cNvSpPr/>
          <p:nvPr/>
        </p:nvSpPr>
        <p:spPr>
          <a:xfrm>
            <a:off x="7471680" y="1947672"/>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8" name="d1405"/>
          <p:cNvSpPr/>
          <p:nvPr/>
        </p:nvSpPr>
        <p:spPr>
          <a:xfrm>
            <a:off x="9271680" y="1947672"/>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514600"/>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14600"/>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39.3%</a:t>
            </a:r>
          </a:p>
        </p:txBody>
      </p:sp>
      <p:sp>
        <p:nvSpPr>
          <p:cNvPr id="31" name="d1412"/>
          <p:cNvSpPr/>
          <p:nvPr/>
        </p:nvSpPr>
        <p:spPr>
          <a:xfrm>
            <a:off x="3971680" y="2514600"/>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43.1%</a:t>
            </a:r>
          </a:p>
        </p:txBody>
      </p:sp>
      <p:sp>
        <p:nvSpPr>
          <p:cNvPr id="32" name="d1413"/>
          <p:cNvSpPr/>
          <p:nvPr/>
        </p:nvSpPr>
        <p:spPr>
          <a:xfrm>
            <a:off x="5771680" y="2514600"/>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44.7%</a:t>
            </a:r>
          </a:p>
        </p:txBody>
      </p:sp>
      <p:sp>
        <p:nvSpPr>
          <p:cNvPr id="33" name="d1414"/>
          <p:cNvSpPr/>
          <p:nvPr/>
        </p:nvSpPr>
        <p:spPr>
          <a:xfrm>
            <a:off x="7471680" y="2514600"/>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43.3%</a:t>
            </a:r>
          </a:p>
        </p:txBody>
      </p:sp>
      <p:sp>
        <p:nvSpPr>
          <p:cNvPr id="34" name="d1415"/>
          <p:cNvSpPr/>
          <p:nvPr/>
        </p:nvSpPr>
        <p:spPr>
          <a:xfrm>
            <a:off x="9271680" y="2514600"/>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3081528"/>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081528"/>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37.6%</a:t>
            </a:r>
          </a:p>
        </p:txBody>
      </p:sp>
      <p:sp>
        <p:nvSpPr>
          <p:cNvPr id="37" name="d1422"/>
          <p:cNvSpPr/>
          <p:nvPr/>
        </p:nvSpPr>
        <p:spPr>
          <a:xfrm>
            <a:off x="3971680" y="3081528"/>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44.9%</a:t>
            </a:r>
          </a:p>
        </p:txBody>
      </p:sp>
      <p:sp>
        <p:nvSpPr>
          <p:cNvPr id="38" name="d1423"/>
          <p:cNvSpPr/>
          <p:nvPr/>
        </p:nvSpPr>
        <p:spPr>
          <a:xfrm>
            <a:off x="5771680" y="3081528"/>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48.1%</a:t>
            </a:r>
          </a:p>
        </p:txBody>
      </p:sp>
      <p:sp>
        <p:nvSpPr>
          <p:cNvPr id="39" name="d1424"/>
          <p:cNvSpPr/>
          <p:nvPr/>
        </p:nvSpPr>
        <p:spPr>
          <a:xfrm>
            <a:off x="7471680" y="3081528"/>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45.2%</a:t>
            </a:r>
          </a:p>
        </p:txBody>
      </p:sp>
      <p:sp>
        <p:nvSpPr>
          <p:cNvPr id="40" name="d1425"/>
          <p:cNvSpPr/>
          <p:nvPr/>
        </p:nvSpPr>
        <p:spPr>
          <a:xfrm>
            <a:off x="9271680" y="3081528"/>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648456"/>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648456"/>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37.9%</a:t>
            </a:r>
          </a:p>
        </p:txBody>
      </p:sp>
      <p:sp>
        <p:nvSpPr>
          <p:cNvPr id="43" name="d1432"/>
          <p:cNvSpPr/>
          <p:nvPr/>
        </p:nvSpPr>
        <p:spPr>
          <a:xfrm>
            <a:off x="3971680" y="3648456"/>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50.0%</a:t>
            </a:r>
          </a:p>
        </p:txBody>
      </p:sp>
      <p:sp>
        <p:nvSpPr>
          <p:cNvPr id="44" name="d1433"/>
          <p:cNvSpPr/>
          <p:nvPr/>
        </p:nvSpPr>
        <p:spPr>
          <a:xfrm>
            <a:off x="5771680" y="3648456"/>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54.7%</a:t>
            </a:r>
          </a:p>
        </p:txBody>
      </p:sp>
      <p:sp>
        <p:nvSpPr>
          <p:cNvPr id="45" name="d1434"/>
          <p:cNvSpPr/>
          <p:nvPr/>
        </p:nvSpPr>
        <p:spPr>
          <a:xfrm>
            <a:off x="7471680" y="3648456"/>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51.5%</a:t>
            </a:r>
          </a:p>
        </p:txBody>
      </p:sp>
      <p:sp>
        <p:nvSpPr>
          <p:cNvPr id="46" name="d1435"/>
          <p:cNvSpPr/>
          <p:nvPr/>
        </p:nvSpPr>
        <p:spPr>
          <a:xfrm>
            <a:off x="9271680" y="3648456"/>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215383"/>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215383"/>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36.7%</a:t>
            </a:r>
          </a:p>
        </p:txBody>
      </p:sp>
      <p:sp>
        <p:nvSpPr>
          <p:cNvPr id="49" name="d1442"/>
          <p:cNvSpPr/>
          <p:nvPr/>
        </p:nvSpPr>
        <p:spPr>
          <a:xfrm>
            <a:off x="3971680" y="4215383"/>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48.4%</a:t>
            </a:r>
          </a:p>
        </p:txBody>
      </p:sp>
      <p:sp>
        <p:nvSpPr>
          <p:cNvPr id="50" name="d1443"/>
          <p:cNvSpPr/>
          <p:nvPr/>
        </p:nvSpPr>
        <p:spPr>
          <a:xfrm>
            <a:off x="5771680" y="4215383"/>
            <a:ext cx="15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52.9%</a:t>
            </a:r>
          </a:p>
        </p:txBody>
      </p:sp>
      <p:sp>
        <p:nvSpPr>
          <p:cNvPr id="51" name="d1444"/>
          <p:cNvSpPr/>
          <p:nvPr/>
        </p:nvSpPr>
        <p:spPr>
          <a:xfrm>
            <a:off x="7471680" y="4215383"/>
            <a:ext cx="160000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49.9%</a:t>
            </a:r>
          </a:p>
        </p:txBody>
      </p:sp>
      <p:sp>
        <p:nvSpPr>
          <p:cNvPr id="52" name="d1445"/>
          <p:cNvSpPr/>
          <p:nvPr/>
        </p:nvSpPr>
        <p:spPr>
          <a:xfrm>
            <a:off x="9271680" y="4215383"/>
            <a:ext cx="1878320" cy="530352"/>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5100000"/>
            <a:ext cx="11048400" cy="1223454"/>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3か年改定では最終単価の適用がR10となるため、R9時点では44.9〜48.1%となり、目標水準47%を上回るのはパターン②のみです（2か年改定は②54.2%・④51.1%・①49.6%）。</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17,236千円）は分流式下水道等に要する経費でカバーされるため全額控除しています。</a:t>
            </a:r>
          </a:p>
          <a:p>
            <a:pPr algn="l"/>
            <a:r>
              <a:rPr lang="ja-JP" sz="1150" b="0" dirty="0">
                <a:solidFill>
                  <a:srgbClr val="78350F"/>
                </a:solidFill>
                <a:latin typeface="Noto Sans CJK JP"/>
                <a:cs typeface="Noto Sans CJK JP"/>
              </a:rPr>
              <a:t>※ R10以降の水準は2か年改定と同一に収束します。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財政健全化目標との整合性　03-8　全パターン指標比較（2か年改定）</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パターン別　経常収支比率・経費回収率の見込み比較（2か年改定）</a:t>
            </a:r>
          </a:p>
        </p:txBody>
      </p:sp>
      <p:sp>
        <p:nvSpPr>
          <p:cNvPr id="14" name="hcr"/>
          <p:cNvSpPr/>
          <p:nvPr/>
        </p:nvSpPr>
        <p:spPr>
          <a:xfrm>
            <a:off x="380000" y="138000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経常収支比率（目標：単年度100%以上）</a:t>
            </a:r>
          </a:p>
        </p:txBody>
      </p:sp>
      <p:sp>
        <p:nvSpPr>
          <p:cNvPr id="15" name="gpub"/>
          <p:cNvSpPr/>
          <p:nvPr/>
        </p:nvSpPr>
        <p:spPr>
          <a:xfrm>
            <a:off x="1280000" y="169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69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96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0" name="th3"/>
          <p:cNvSpPr/>
          <p:nvPr/>
        </p:nvSpPr>
        <p:spPr>
          <a:xfrm>
            <a:off x="43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1" name="th4"/>
          <p:cNvSpPr/>
          <p:nvPr/>
        </p:nvSpPr>
        <p:spPr>
          <a:xfrm>
            <a:off x="59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3" name="th6"/>
          <p:cNvSpPr/>
          <p:nvPr/>
        </p:nvSpPr>
        <p:spPr>
          <a:xfrm>
            <a:off x="9030000" y="196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4" name="cr00"/>
          <p:cNvSpPr/>
          <p:nvPr/>
        </p:nvSpPr>
        <p:spPr>
          <a:xfrm>
            <a:off x="380000" y="228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6" name="cr02"/>
          <p:cNvSpPr/>
          <p:nvPr/>
        </p:nvSpPr>
        <p:spPr>
          <a:xfrm>
            <a:off x="28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7" name="cr03"/>
          <p:cNvSpPr/>
          <p:nvPr/>
        </p:nvSpPr>
        <p:spPr>
          <a:xfrm>
            <a:off x="43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8" name="cr04"/>
          <p:cNvSpPr/>
          <p:nvPr/>
        </p:nvSpPr>
        <p:spPr>
          <a:xfrm>
            <a:off x="59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29" name="cr05"/>
          <p:cNvSpPr/>
          <p:nvPr/>
        </p:nvSpPr>
        <p:spPr>
          <a:xfrm>
            <a:off x="74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0" name="cr06"/>
          <p:cNvSpPr/>
          <p:nvPr/>
        </p:nvSpPr>
        <p:spPr>
          <a:xfrm>
            <a:off x="9030000" y="228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1" name="cr10"/>
          <p:cNvSpPr/>
          <p:nvPr/>
        </p:nvSpPr>
        <p:spPr>
          <a:xfrm>
            <a:off x="380000" y="260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32" name="cr11"/>
          <p:cNvSpPr/>
          <p:nvPr/>
        </p:nvSpPr>
        <p:spPr>
          <a:xfrm>
            <a:off x="12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97.6%</a:t>
            </a:r>
          </a:p>
        </p:txBody>
      </p:sp>
      <p:sp>
        <p:nvSpPr>
          <p:cNvPr id="33" name="cr12"/>
          <p:cNvSpPr/>
          <p:nvPr/>
        </p:nvSpPr>
        <p:spPr>
          <a:xfrm>
            <a:off x="28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98.1%</a:t>
            </a:r>
          </a:p>
        </p:txBody>
      </p:sp>
      <p:sp>
        <p:nvSpPr>
          <p:cNvPr id="34" name="cr13"/>
          <p:cNvSpPr/>
          <p:nvPr/>
        </p:nvSpPr>
        <p:spPr>
          <a:xfrm>
            <a:off x="43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97.8%</a:t>
            </a:r>
          </a:p>
        </p:txBody>
      </p:sp>
      <p:sp>
        <p:nvSpPr>
          <p:cNvPr id="35" name="cr14"/>
          <p:cNvSpPr/>
          <p:nvPr/>
        </p:nvSpPr>
        <p:spPr>
          <a:xfrm>
            <a:off x="59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83.4%</a:t>
            </a:r>
          </a:p>
        </p:txBody>
      </p:sp>
      <p:sp>
        <p:nvSpPr>
          <p:cNvPr id="36" name="cr15"/>
          <p:cNvSpPr/>
          <p:nvPr/>
        </p:nvSpPr>
        <p:spPr>
          <a:xfrm>
            <a:off x="74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84.2%</a:t>
            </a:r>
          </a:p>
        </p:txBody>
      </p:sp>
      <p:sp>
        <p:nvSpPr>
          <p:cNvPr id="37" name="cr16"/>
          <p:cNvSpPr/>
          <p:nvPr/>
        </p:nvSpPr>
        <p:spPr>
          <a:xfrm>
            <a:off x="9030000" y="260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83.7%</a:t>
            </a:r>
          </a:p>
        </p:txBody>
      </p:sp>
      <p:sp>
        <p:nvSpPr>
          <p:cNvPr id="38" name="cr20"/>
          <p:cNvSpPr/>
          <p:nvPr/>
        </p:nvSpPr>
        <p:spPr>
          <a:xfrm>
            <a:off x="380000" y="292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39" name="cr21"/>
          <p:cNvSpPr/>
          <p:nvPr/>
        </p:nvSpPr>
        <p:spPr>
          <a:xfrm>
            <a:off x="12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100.0%</a:t>
            </a:r>
          </a:p>
        </p:txBody>
      </p:sp>
      <p:sp>
        <p:nvSpPr>
          <p:cNvPr id="40" name="cr22"/>
          <p:cNvSpPr/>
          <p:nvPr/>
        </p:nvSpPr>
        <p:spPr>
          <a:xfrm>
            <a:off x="28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101.1%</a:t>
            </a:r>
          </a:p>
        </p:txBody>
      </p:sp>
      <p:sp>
        <p:nvSpPr>
          <p:cNvPr id="41" name="cr23"/>
          <p:cNvSpPr/>
          <p:nvPr/>
        </p:nvSpPr>
        <p:spPr>
          <a:xfrm>
            <a:off x="43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100.4%</a:t>
            </a:r>
          </a:p>
        </p:txBody>
      </p:sp>
      <p:sp>
        <p:nvSpPr>
          <p:cNvPr id="42" name="cr24"/>
          <p:cNvSpPr/>
          <p:nvPr/>
        </p:nvSpPr>
        <p:spPr>
          <a:xfrm>
            <a:off x="59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84.0%</a:t>
            </a:r>
          </a:p>
        </p:txBody>
      </p:sp>
      <p:sp>
        <p:nvSpPr>
          <p:cNvPr id="43" name="cr25"/>
          <p:cNvSpPr/>
          <p:nvPr/>
        </p:nvSpPr>
        <p:spPr>
          <a:xfrm>
            <a:off x="74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85.8%</a:t>
            </a:r>
          </a:p>
        </p:txBody>
      </p:sp>
      <p:sp>
        <p:nvSpPr>
          <p:cNvPr id="44" name="cr26"/>
          <p:cNvSpPr/>
          <p:nvPr/>
        </p:nvSpPr>
        <p:spPr>
          <a:xfrm>
            <a:off x="9030000" y="292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84.6%</a:t>
            </a:r>
          </a:p>
        </p:txBody>
      </p:sp>
      <p:sp>
        <p:nvSpPr>
          <p:cNvPr id="45" name="her"/>
          <p:cNvSpPr/>
          <p:nvPr/>
        </p:nvSpPr>
        <p:spPr>
          <a:xfrm>
            <a:off x="380000" y="333000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経費回収率（目標：47%以上）</a:t>
            </a:r>
          </a:p>
        </p:txBody>
      </p:sp>
      <p:sp>
        <p:nvSpPr>
          <p:cNvPr id="46" name="gpub2"/>
          <p:cNvSpPr/>
          <p:nvPr/>
        </p:nvSpPr>
        <p:spPr>
          <a:xfrm>
            <a:off x="1280000" y="364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64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91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1" name="th23"/>
          <p:cNvSpPr/>
          <p:nvPr/>
        </p:nvSpPr>
        <p:spPr>
          <a:xfrm>
            <a:off x="43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2" name="th24"/>
          <p:cNvSpPr/>
          <p:nvPr/>
        </p:nvSpPr>
        <p:spPr>
          <a:xfrm>
            <a:off x="59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4" name="th26"/>
          <p:cNvSpPr/>
          <p:nvPr/>
        </p:nvSpPr>
        <p:spPr>
          <a:xfrm>
            <a:off x="9030000" y="391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5" name="er00"/>
          <p:cNvSpPr/>
          <p:nvPr/>
        </p:nvSpPr>
        <p:spPr>
          <a:xfrm>
            <a:off x="380000" y="423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7" name="er02"/>
          <p:cNvSpPr/>
          <p:nvPr/>
        </p:nvSpPr>
        <p:spPr>
          <a:xfrm>
            <a:off x="28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8" name="er03"/>
          <p:cNvSpPr/>
          <p:nvPr/>
        </p:nvSpPr>
        <p:spPr>
          <a:xfrm>
            <a:off x="43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9" name="er04"/>
          <p:cNvSpPr/>
          <p:nvPr/>
        </p:nvSpPr>
        <p:spPr>
          <a:xfrm>
            <a:off x="59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0" name="er05"/>
          <p:cNvSpPr/>
          <p:nvPr/>
        </p:nvSpPr>
        <p:spPr>
          <a:xfrm>
            <a:off x="74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1" name="er06"/>
          <p:cNvSpPr/>
          <p:nvPr/>
        </p:nvSpPr>
        <p:spPr>
          <a:xfrm>
            <a:off x="9030000" y="423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2" name="er10"/>
          <p:cNvSpPr/>
          <p:nvPr/>
        </p:nvSpPr>
        <p:spPr>
          <a:xfrm>
            <a:off x="380000" y="455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63" name="er11"/>
          <p:cNvSpPr/>
          <p:nvPr/>
        </p:nvSpPr>
        <p:spPr>
          <a:xfrm>
            <a:off x="12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38.5%</a:t>
            </a:r>
          </a:p>
        </p:txBody>
      </p:sp>
      <p:sp>
        <p:nvSpPr>
          <p:cNvPr id="64" name="er12"/>
          <p:cNvSpPr/>
          <p:nvPr/>
        </p:nvSpPr>
        <p:spPr>
          <a:xfrm>
            <a:off x="28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40.0%</a:t>
            </a:r>
          </a:p>
        </p:txBody>
      </p:sp>
      <p:sp>
        <p:nvSpPr>
          <p:cNvPr id="65" name="er13"/>
          <p:cNvSpPr/>
          <p:nvPr/>
        </p:nvSpPr>
        <p:spPr>
          <a:xfrm>
            <a:off x="43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39.0%</a:t>
            </a:r>
          </a:p>
        </p:txBody>
      </p:sp>
      <p:sp>
        <p:nvSpPr>
          <p:cNvPr id="66" name="er14"/>
          <p:cNvSpPr/>
          <p:nvPr/>
        </p:nvSpPr>
        <p:spPr>
          <a:xfrm>
            <a:off x="59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45.2%</a:t>
            </a:r>
          </a:p>
        </p:txBody>
      </p:sp>
      <p:sp>
        <p:nvSpPr>
          <p:cNvPr id="67" name="er15"/>
          <p:cNvSpPr/>
          <p:nvPr/>
        </p:nvSpPr>
        <p:spPr>
          <a:xfrm>
            <a:off x="74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47.7%</a:t>
            </a:r>
          </a:p>
        </p:txBody>
      </p:sp>
      <p:sp>
        <p:nvSpPr>
          <p:cNvPr id="68" name="er16"/>
          <p:cNvSpPr/>
          <p:nvPr/>
        </p:nvSpPr>
        <p:spPr>
          <a:xfrm>
            <a:off x="9030000" y="455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46.0%</a:t>
            </a:r>
          </a:p>
        </p:txBody>
      </p:sp>
      <p:sp>
        <p:nvSpPr>
          <p:cNvPr id="69" name="er20"/>
          <p:cNvSpPr/>
          <p:nvPr/>
        </p:nvSpPr>
        <p:spPr>
          <a:xfrm>
            <a:off x="380000" y="487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70" name="er21"/>
          <p:cNvSpPr/>
          <p:nvPr/>
        </p:nvSpPr>
        <p:spPr>
          <a:xfrm>
            <a:off x="12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43.1%</a:t>
            </a:r>
          </a:p>
        </p:txBody>
      </p:sp>
      <p:sp>
        <p:nvSpPr>
          <p:cNvPr id="71" name="er22"/>
          <p:cNvSpPr/>
          <p:nvPr/>
        </p:nvSpPr>
        <p:spPr>
          <a:xfrm>
            <a:off x="28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46.1%</a:t>
            </a:r>
          </a:p>
        </p:txBody>
      </p:sp>
      <p:sp>
        <p:nvSpPr>
          <p:cNvPr id="72" name="er23"/>
          <p:cNvSpPr/>
          <p:nvPr/>
        </p:nvSpPr>
        <p:spPr>
          <a:xfrm>
            <a:off x="43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44.1%</a:t>
            </a:r>
          </a:p>
        </p:txBody>
      </p:sp>
      <p:sp>
        <p:nvSpPr>
          <p:cNvPr id="73" name="er24"/>
          <p:cNvSpPr/>
          <p:nvPr/>
        </p:nvSpPr>
        <p:spPr>
          <a:xfrm>
            <a:off x="59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49.6%</a:t>
            </a:r>
          </a:p>
        </p:txBody>
      </p:sp>
      <p:sp>
        <p:nvSpPr>
          <p:cNvPr id="74" name="er25"/>
          <p:cNvSpPr/>
          <p:nvPr/>
        </p:nvSpPr>
        <p:spPr>
          <a:xfrm>
            <a:off x="74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54.2%</a:t>
            </a:r>
          </a:p>
        </p:txBody>
      </p:sp>
      <p:sp>
        <p:nvSpPr>
          <p:cNvPr id="75" name="er26"/>
          <p:cNvSpPr/>
          <p:nvPr/>
        </p:nvSpPr>
        <p:spPr>
          <a:xfrm>
            <a:off x="9030000" y="487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51.1%</a:t>
            </a:r>
          </a:p>
        </p:txBody>
      </p:sp>
      <p:sp>
        <p:nvSpPr>
          <p:cNvPr id="76" name="note"/>
          <p:cNvSpPr/>
          <p:nvPr/>
        </p:nvSpPr>
        <p:spPr>
          <a:xfrm>
            <a:off x="380000" y="5243152"/>
            <a:ext cx="11431760" cy="938022"/>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使用料収入が最も大きいパターン②が両指標とも最良（R9：公共 経常101.1%・回収46.1%／農集 回収54.2%）。④・①がこれに続きます。公共下水道は3案ともR9に経常収支比率100%以上を達成する一方、農業集落排水は3案とも100%未満にとどまります。</a:t>
            </a:r>
          </a:p>
          <a:p>
            <a:pPr algn="l"/>
            <a:r>
              <a:rPr lang="ja-JP" sz="1050" b="0" dirty="0">
                <a:solidFill>
                  <a:srgbClr val="78350F"/>
                </a:solidFill>
                <a:latin typeface="Arial"/>
                <a:cs typeface="Noto Sans CJK JP"/>
              </a:rPr>
              <a:t>▶ 審議事項：農業集落排水の目標①（経常収支比率100%以上）は、今回改定では構造的に達成できないため（R9で36,672千円＝②改定後の約1.7倍の使用料収入が必要）、長期的な達成を目指す目標として位置付けることの可否をご審議ください。</a:t>
            </a:r>
          </a:p>
        </p:txBody>
      </p:sp>
      <p:sp>
        <p:nvSpPr>
          <p:cNvPr id="77"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財政健全化目標との整合性　03-9　全パターン指標比較（3か年改定）</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パターン別　経常収支比率・経費回収率の見込み比較（3か年改定）</a:t>
            </a:r>
          </a:p>
        </p:txBody>
      </p:sp>
      <p:sp>
        <p:nvSpPr>
          <p:cNvPr id="14" name="hcr"/>
          <p:cNvSpPr/>
          <p:nvPr/>
        </p:nvSpPr>
        <p:spPr>
          <a:xfrm>
            <a:off x="380000" y="138000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経常収支比率（目標：単年度100%以上）</a:t>
            </a:r>
          </a:p>
        </p:txBody>
      </p:sp>
      <p:sp>
        <p:nvSpPr>
          <p:cNvPr id="15" name="gpub"/>
          <p:cNvSpPr/>
          <p:nvPr/>
        </p:nvSpPr>
        <p:spPr>
          <a:xfrm>
            <a:off x="1280000" y="169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69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96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0" name="th3"/>
          <p:cNvSpPr/>
          <p:nvPr/>
        </p:nvSpPr>
        <p:spPr>
          <a:xfrm>
            <a:off x="43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1" name="th4"/>
          <p:cNvSpPr/>
          <p:nvPr/>
        </p:nvSpPr>
        <p:spPr>
          <a:xfrm>
            <a:off x="59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3" name="th6"/>
          <p:cNvSpPr/>
          <p:nvPr/>
        </p:nvSpPr>
        <p:spPr>
          <a:xfrm>
            <a:off x="9030000" y="196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4" name="cr00"/>
          <p:cNvSpPr/>
          <p:nvPr/>
        </p:nvSpPr>
        <p:spPr>
          <a:xfrm>
            <a:off x="380000" y="228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6" name="cr02"/>
          <p:cNvSpPr/>
          <p:nvPr/>
        </p:nvSpPr>
        <p:spPr>
          <a:xfrm>
            <a:off x="28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7" name="cr03"/>
          <p:cNvSpPr/>
          <p:nvPr/>
        </p:nvSpPr>
        <p:spPr>
          <a:xfrm>
            <a:off x="43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8" name="cr04"/>
          <p:cNvSpPr/>
          <p:nvPr/>
        </p:nvSpPr>
        <p:spPr>
          <a:xfrm>
            <a:off x="59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29" name="cr05"/>
          <p:cNvSpPr/>
          <p:nvPr/>
        </p:nvSpPr>
        <p:spPr>
          <a:xfrm>
            <a:off x="74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0" name="cr06"/>
          <p:cNvSpPr/>
          <p:nvPr/>
        </p:nvSpPr>
        <p:spPr>
          <a:xfrm>
            <a:off x="9030000" y="228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1" name="cr10"/>
          <p:cNvSpPr/>
          <p:nvPr/>
        </p:nvSpPr>
        <p:spPr>
          <a:xfrm>
            <a:off x="380000" y="260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32" name="cr11"/>
          <p:cNvSpPr/>
          <p:nvPr/>
        </p:nvSpPr>
        <p:spPr>
          <a:xfrm>
            <a:off x="12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97.1%</a:t>
            </a:r>
          </a:p>
        </p:txBody>
      </p:sp>
      <p:sp>
        <p:nvSpPr>
          <p:cNvPr id="33" name="cr12"/>
          <p:cNvSpPr/>
          <p:nvPr/>
        </p:nvSpPr>
        <p:spPr>
          <a:xfrm>
            <a:off x="28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97.4%</a:t>
            </a:r>
          </a:p>
        </p:txBody>
      </p:sp>
      <p:sp>
        <p:nvSpPr>
          <p:cNvPr id="34" name="cr13"/>
          <p:cNvSpPr/>
          <p:nvPr/>
        </p:nvSpPr>
        <p:spPr>
          <a:xfrm>
            <a:off x="43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97.1%</a:t>
            </a:r>
          </a:p>
        </p:txBody>
      </p:sp>
      <p:sp>
        <p:nvSpPr>
          <p:cNvPr id="35" name="cr14"/>
          <p:cNvSpPr/>
          <p:nvPr/>
        </p:nvSpPr>
        <p:spPr>
          <a:xfrm>
            <a:off x="59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82.7%</a:t>
            </a:r>
          </a:p>
        </p:txBody>
      </p:sp>
      <p:sp>
        <p:nvSpPr>
          <p:cNvPr id="36" name="cr15"/>
          <p:cNvSpPr/>
          <p:nvPr/>
        </p:nvSpPr>
        <p:spPr>
          <a:xfrm>
            <a:off x="74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83.2%</a:t>
            </a:r>
          </a:p>
        </p:txBody>
      </p:sp>
      <p:sp>
        <p:nvSpPr>
          <p:cNvPr id="37" name="cr16"/>
          <p:cNvSpPr/>
          <p:nvPr/>
        </p:nvSpPr>
        <p:spPr>
          <a:xfrm>
            <a:off x="9030000" y="260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82.7%</a:t>
            </a:r>
          </a:p>
        </p:txBody>
      </p:sp>
      <p:sp>
        <p:nvSpPr>
          <p:cNvPr id="38" name="cr20"/>
          <p:cNvSpPr/>
          <p:nvPr/>
        </p:nvSpPr>
        <p:spPr>
          <a:xfrm>
            <a:off x="380000" y="292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39" name="cr21"/>
          <p:cNvSpPr/>
          <p:nvPr/>
        </p:nvSpPr>
        <p:spPr>
          <a:xfrm>
            <a:off x="12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98.4%</a:t>
            </a:r>
          </a:p>
        </p:txBody>
      </p:sp>
      <p:sp>
        <p:nvSpPr>
          <p:cNvPr id="40" name="cr22"/>
          <p:cNvSpPr/>
          <p:nvPr/>
        </p:nvSpPr>
        <p:spPr>
          <a:xfrm>
            <a:off x="28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99.1%</a:t>
            </a:r>
          </a:p>
        </p:txBody>
      </p:sp>
      <p:sp>
        <p:nvSpPr>
          <p:cNvPr id="41" name="cr23"/>
          <p:cNvSpPr/>
          <p:nvPr/>
        </p:nvSpPr>
        <p:spPr>
          <a:xfrm>
            <a:off x="43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98.5%</a:t>
            </a:r>
          </a:p>
        </p:txBody>
      </p:sp>
      <p:sp>
        <p:nvSpPr>
          <p:cNvPr id="42" name="cr24"/>
          <p:cNvSpPr/>
          <p:nvPr/>
        </p:nvSpPr>
        <p:spPr>
          <a:xfrm>
            <a:off x="59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82.4%</a:t>
            </a:r>
          </a:p>
        </p:txBody>
      </p:sp>
      <p:sp>
        <p:nvSpPr>
          <p:cNvPr id="43" name="cr25"/>
          <p:cNvSpPr/>
          <p:nvPr/>
        </p:nvSpPr>
        <p:spPr>
          <a:xfrm>
            <a:off x="74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83.5%</a:t>
            </a:r>
          </a:p>
        </p:txBody>
      </p:sp>
      <p:sp>
        <p:nvSpPr>
          <p:cNvPr id="44" name="cr26"/>
          <p:cNvSpPr/>
          <p:nvPr/>
        </p:nvSpPr>
        <p:spPr>
          <a:xfrm>
            <a:off x="9030000" y="292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82.5%</a:t>
            </a:r>
          </a:p>
        </p:txBody>
      </p:sp>
      <p:sp>
        <p:nvSpPr>
          <p:cNvPr id="45" name="her"/>
          <p:cNvSpPr/>
          <p:nvPr/>
        </p:nvSpPr>
        <p:spPr>
          <a:xfrm>
            <a:off x="380000" y="333000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経費回収率（目標：47%以上）</a:t>
            </a:r>
          </a:p>
        </p:txBody>
      </p:sp>
      <p:sp>
        <p:nvSpPr>
          <p:cNvPr id="46" name="gpub2"/>
          <p:cNvSpPr/>
          <p:nvPr/>
        </p:nvSpPr>
        <p:spPr>
          <a:xfrm>
            <a:off x="1280000" y="364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64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91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1" name="th23"/>
          <p:cNvSpPr/>
          <p:nvPr/>
        </p:nvSpPr>
        <p:spPr>
          <a:xfrm>
            <a:off x="43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2" name="th24"/>
          <p:cNvSpPr/>
          <p:nvPr/>
        </p:nvSpPr>
        <p:spPr>
          <a:xfrm>
            <a:off x="59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4" name="th26"/>
          <p:cNvSpPr/>
          <p:nvPr/>
        </p:nvSpPr>
        <p:spPr>
          <a:xfrm>
            <a:off x="9030000" y="391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5" name="er00"/>
          <p:cNvSpPr/>
          <p:nvPr/>
        </p:nvSpPr>
        <p:spPr>
          <a:xfrm>
            <a:off x="380000" y="423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7" name="er02"/>
          <p:cNvSpPr/>
          <p:nvPr/>
        </p:nvSpPr>
        <p:spPr>
          <a:xfrm>
            <a:off x="28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8" name="er03"/>
          <p:cNvSpPr/>
          <p:nvPr/>
        </p:nvSpPr>
        <p:spPr>
          <a:xfrm>
            <a:off x="43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9" name="er04"/>
          <p:cNvSpPr/>
          <p:nvPr/>
        </p:nvSpPr>
        <p:spPr>
          <a:xfrm>
            <a:off x="59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0" name="er05"/>
          <p:cNvSpPr/>
          <p:nvPr/>
        </p:nvSpPr>
        <p:spPr>
          <a:xfrm>
            <a:off x="74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1" name="er06"/>
          <p:cNvSpPr/>
          <p:nvPr/>
        </p:nvSpPr>
        <p:spPr>
          <a:xfrm>
            <a:off x="9030000" y="423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2" name="er10"/>
          <p:cNvSpPr/>
          <p:nvPr/>
        </p:nvSpPr>
        <p:spPr>
          <a:xfrm>
            <a:off x="380000" y="455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63" name="er11"/>
          <p:cNvSpPr/>
          <p:nvPr/>
        </p:nvSpPr>
        <p:spPr>
          <a:xfrm>
            <a:off x="12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36.6%</a:t>
            </a:r>
          </a:p>
        </p:txBody>
      </p:sp>
      <p:sp>
        <p:nvSpPr>
          <p:cNvPr id="64" name="er12"/>
          <p:cNvSpPr/>
          <p:nvPr/>
        </p:nvSpPr>
        <p:spPr>
          <a:xfrm>
            <a:off x="28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37.6%</a:t>
            </a:r>
          </a:p>
        </p:txBody>
      </p:sp>
      <p:sp>
        <p:nvSpPr>
          <p:cNvPr id="65" name="er13"/>
          <p:cNvSpPr/>
          <p:nvPr/>
        </p:nvSpPr>
        <p:spPr>
          <a:xfrm>
            <a:off x="43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36.8%</a:t>
            </a:r>
          </a:p>
        </p:txBody>
      </p:sp>
      <p:sp>
        <p:nvSpPr>
          <p:cNvPr id="66" name="er14"/>
          <p:cNvSpPr/>
          <p:nvPr/>
        </p:nvSpPr>
        <p:spPr>
          <a:xfrm>
            <a:off x="59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43.1%</a:t>
            </a:r>
          </a:p>
        </p:txBody>
      </p:sp>
      <p:sp>
        <p:nvSpPr>
          <p:cNvPr id="67" name="er15"/>
          <p:cNvSpPr/>
          <p:nvPr/>
        </p:nvSpPr>
        <p:spPr>
          <a:xfrm>
            <a:off x="74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44.7%</a:t>
            </a:r>
          </a:p>
        </p:txBody>
      </p:sp>
      <p:sp>
        <p:nvSpPr>
          <p:cNvPr id="68" name="er16"/>
          <p:cNvSpPr/>
          <p:nvPr/>
        </p:nvSpPr>
        <p:spPr>
          <a:xfrm>
            <a:off x="9030000" y="455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43.3%</a:t>
            </a:r>
          </a:p>
        </p:txBody>
      </p:sp>
      <p:sp>
        <p:nvSpPr>
          <p:cNvPr id="69" name="er20"/>
          <p:cNvSpPr/>
          <p:nvPr/>
        </p:nvSpPr>
        <p:spPr>
          <a:xfrm>
            <a:off x="380000" y="487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70" name="er21"/>
          <p:cNvSpPr/>
          <p:nvPr/>
        </p:nvSpPr>
        <p:spPr>
          <a:xfrm>
            <a:off x="12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38.8%</a:t>
            </a:r>
          </a:p>
        </p:txBody>
      </p:sp>
      <p:sp>
        <p:nvSpPr>
          <p:cNvPr id="71" name="er22"/>
          <p:cNvSpPr/>
          <p:nvPr/>
        </p:nvSpPr>
        <p:spPr>
          <a:xfrm>
            <a:off x="28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40.8%</a:t>
            </a:r>
          </a:p>
        </p:txBody>
      </p:sp>
      <p:sp>
        <p:nvSpPr>
          <p:cNvPr id="72" name="er23"/>
          <p:cNvSpPr/>
          <p:nvPr/>
        </p:nvSpPr>
        <p:spPr>
          <a:xfrm>
            <a:off x="43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39.1%</a:t>
            </a:r>
          </a:p>
        </p:txBody>
      </p:sp>
      <p:sp>
        <p:nvSpPr>
          <p:cNvPr id="73" name="er24"/>
          <p:cNvSpPr/>
          <p:nvPr/>
        </p:nvSpPr>
        <p:spPr>
          <a:xfrm>
            <a:off x="59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44.9%</a:t>
            </a:r>
          </a:p>
        </p:txBody>
      </p:sp>
      <p:sp>
        <p:nvSpPr>
          <p:cNvPr id="74" name="er25"/>
          <p:cNvSpPr/>
          <p:nvPr/>
        </p:nvSpPr>
        <p:spPr>
          <a:xfrm>
            <a:off x="74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48.1%</a:t>
            </a:r>
          </a:p>
        </p:txBody>
      </p:sp>
      <p:sp>
        <p:nvSpPr>
          <p:cNvPr id="75" name="er26"/>
          <p:cNvSpPr/>
          <p:nvPr/>
        </p:nvSpPr>
        <p:spPr>
          <a:xfrm>
            <a:off x="9030000" y="487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45.2%</a:t>
            </a:r>
          </a:p>
        </p:txBody>
      </p:sp>
      <p:sp>
        <p:nvSpPr>
          <p:cNvPr id="76" name="note"/>
          <p:cNvSpPr/>
          <p:nvPr/>
        </p:nvSpPr>
        <p:spPr>
          <a:xfrm>
            <a:off x="380000" y="5243152"/>
            <a:ext cx="11431760" cy="74466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3か年改定では最終単価の適用がR10となるため、R9時点では公共の経常収支比率が98.4〜99.1%と100%に届かず、経費回収率も38.8〜40.8%にとどまります（2か年改定はR9で経常100.0〜101.1%・回収43.1〜46.1%）。</a:t>
            </a:r>
          </a:p>
          <a:p>
            <a:pPr algn="l"/>
            <a:r>
              <a:rPr lang="ja-JP" sz="1050" b="0" dirty="0">
                <a:solidFill>
                  <a:srgbClr val="78350F"/>
                </a:solidFill>
                <a:latin typeface="Arial"/>
                <a:cs typeface="Noto Sans CJK JP"/>
              </a:rPr>
              <a:t>▶ R10以降の水準は2か年改定と同一に収束します。パターン間の優劣（②＞④＞①）も2か年改定と同じです。</a:t>
            </a:r>
          </a:p>
        </p:txBody>
      </p:sp>
      <p:sp>
        <p:nvSpPr>
          <p:cNvPr id="77"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04</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住民への影響・説明対応</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本章では、改定パターン採用時の住民・事業所別影響額と、
住民説明会の実施計画（案）を整理します。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04-1　家庭・事業所別影響額（パターン①）</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月額影響額（パターン①・改定完了後・税込）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1,650円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＋550円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5,005円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＋1,265円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4" name="bh"/>
          <p:cNvSpPr/>
          <p:nvPr/>
        </p:nvSpPr>
        <p:spPr>
          <a:xfrm>
            <a:off x="6671680" y="1620000"/>
            <a:ext cx="512064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446520" y="197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50㎥（小規模店舗・事務所）</a:t>
            </a:r>
          </a:p>
        </p:txBody>
      </p:sp>
      <p:sp>
        <p:nvSpPr>
          <p:cNvPr id="36" name="br01"/>
          <p:cNvSpPr/>
          <p:nvPr/>
        </p:nvSpPr>
        <p:spPr>
          <a:xfrm>
            <a:off x="8549640" y="197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9601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8" name="br03"/>
          <p:cNvSpPr/>
          <p:nvPr/>
        </p:nvSpPr>
        <p:spPr>
          <a:xfrm>
            <a:off x="10744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9" name="br10"/>
          <p:cNvSpPr/>
          <p:nvPr/>
        </p:nvSpPr>
        <p:spPr>
          <a:xfrm>
            <a:off x="6446520" y="256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100㎥（飲食店・小売店）</a:t>
            </a:r>
          </a:p>
        </p:txBody>
      </p:sp>
      <p:sp>
        <p:nvSpPr>
          <p:cNvPr id="40" name="br11"/>
          <p:cNvSpPr/>
          <p:nvPr/>
        </p:nvSpPr>
        <p:spPr>
          <a:xfrm>
            <a:off x="8549640" y="256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9601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18,535円</a:t>
            </a:r>
          </a:p>
        </p:txBody>
      </p:sp>
      <p:sp>
        <p:nvSpPr>
          <p:cNvPr id="42" name="br13"/>
          <p:cNvSpPr/>
          <p:nvPr/>
        </p:nvSpPr>
        <p:spPr>
          <a:xfrm>
            <a:off x="10744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＋4,235円</a:t>
            </a:r>
          </a:p>
        </p:txBody>
      </p:sp>
      <p:sp>
        <p:nvSpPr>
          <p:cNvPr id="43" name="br20"/>
          <p:cNvSpPr/>
          <p:nvPr/>
        </p:nvSpPr>
        <p:spPr>
          <a:xfrm>
            <a:off x="6446520" y="315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200㎥（宿泊施設・小規模工場）</a:t>
            </a:r>
          </a:p>
        </p:txBody>
      </p:sp>
      <p:sp>
        <p:nvSpPr>
          <p:cNvPr id="44" name="br21"/>
          <p:cNvSpPr/>
          <p:nvPr/>
        </p:nvSpPr>
        <p:spPr>
          <a:xfrm>
            <a:off x="8549640" y="315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9601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42,185円</a:t>
            </a:r>
          </a:p>
        </p:txBody>
      </p:sp>
      <p:sp>
        <p:nvSpPr>
          <p:cNvPr id="46" name="br23"/>
          <p:cNvSpPr/>
          <p:nvPr/>
        </p:nvSpPr>
        <p:spPr>
          <a:xfrm>
            <a:off x="10744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＋11,385円</a:t>
            </a:r>
          </a:p>
        </p:txBody>
      </p:sp>
      <p:sp>
        <p:nvSpPr>
          <p:cNvPr id="47" name="br30"/>
          <p:cNvSpPr/>
          <p:nvPr/>
        </p:nvSpPr>
        <p:spPr>
          <a:xfrm>
            <a:off x="6446520" y="374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500㎥（学校・大型施設）</a:t>
            </a:r>
          </a:p>
        </p:txBody>
      </p:sp>
      <p:sp>
        <p:nvSpPr>
          <p:cNvPr id="48" name="br31"/>
          <p:cNvSpPr/>
          <p:nvPr/>
        </p:nvSpPr>
        <p:spPr>
          <a:xfrm>
            <a:off x="8549640" y="374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9601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116,435円</a:t>
            </a:r>
          </a:p>
        </p:txBody>
      </p:sp>
      <p:sp>
        <p:nvSpPr>
          <p:cNvPr id="50" name="br33"/>
          <p:cNvSpPr/>
          <p:nvPr/>
        </p:nvSpPr>
        <p:spPr>
          <a:xfrm>
            <a:off x="10744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＋32,835円</a:t>
            </a:r>
          </a:p>
        </p:txBody>
      </p:sp>
      <p:sp>
        <p:nvSpPr>
          <p:cNvPr id="51" name="nt16"/>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a:p>
            <a:pPr algn="l"/>
            <a:r>
              <a:rPr lang="ja-JP" sz="1150" b="0" dirty="0">
                <a:solidFill>
                  <a:srgbClr val="78350F"/>
                </a:solidFill>
                <a:latin typeface="Noto Sans CJK JP"/>
                <a:cs typeface="Noto Sans CJK JP"/>
              </a:rPr>
              <a:t>※ 改定完了後の最終単価による月額です（2か年改定はR9〜、3か年改定はR10〜。最終単価は2か年・3か年で共通）。</a:t>
            </a:r>
          </a:p>
          <a:p>
            <a:pPr algn="l"/>
            <a:r>
              <a:rPr lang="ja-JP" sz="1150" b="0" dirty="0">
                <a:solidFill>
                  <a:srgbClr val="78350F"/>
                </a:solidFill>
                <a:latin typeface="Noto Sans CJK JP"/>
                <a:cs typeface="Noto Sans CJK JP"/>
              </a:rPr>
              <a:t>※ 世帯人数・業種は使用水量の目安として例示したものであり、実際の使用量は世帯・事業所により異なります。</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04-2　家庭・事業所別影響額（パターン②）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月額影響額（パターン②・改定完了後・税込）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＋220円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5,335円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＋1,595円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4" name="bh"/>
          <p:cNvSpPr/>
          <p:nvPr/>
        </p:nvSpPr>
        <p:spPr>
          <a:xfrm>
            <a:off x="6671680" y="1620000"/>
            <a:ext cx="512064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446520" y="197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50㎥（小規模店舗・事務所）</a:t>
            </a:r>
          </a:p>
        </p:txBody>
      </p:sp>
      <p:sp>
        <p:nvSpPr>
          <p:cNvPr id="36" name="br01"/>
          <p:cNvSpPr/>
          <p:nvPr/>
        </p:nvSpPr>
        <p:spPr>
          <a:xfrm>
            <a:off x="8549640" y="197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9601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8" name="br03"/>
          <p:cNvSpPr/>
          <p:nvPr/>
        </p:nvSpPr>
        <p:spPr>
          <a:xfrm>
            <a:off x="10744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9" name="br10"/>
          <p:cNvSpPr/>
          <p:nvPr/>
        </p:nvSpPr>
        <p:spPr>
          <a:xfrm>
            <a:off x="6446520" y="256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100㎥（飲食店・小売店）</a:t>
            </a:r>
          </a:p>
        </p:txBody>
      </p:sp>
      <p:sp>
        <p:nvSpPr>
          <p:cNvPr id="40" name="br11"/>
          <p:cNvSpPr/>
          <p:nvPr/>
        </p:nvSpPr>
        <p:spPr>
          <a:xfrm>
            <a:off x="8549640" y="256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9601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21,175円</a:t>
            </a:r>
          </a:p>
        </p:txBody>
      </p:sp>
      <p:sp>
        <p:nvSpPr>
          <p:cNvPr id="42" name="br13"/>
          <p:cNvSpPr/>
          <p:nvPr/>
        </p:nvSpPr>
        <p:spPr>
          <a:xfrm>
            <a:off x="10744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＋6,875円</a:t>
            </a:r>
          </a:p>
        </p:txBody>
      </p:sp>
      <p:sp>
        <p:nvSpPr>
          <p:cNvPr id="43" name="br20"/>
          <p:cNvSpPr/>
          <p:nvPr/>
        </p:nvSpPr>
        <p:spPr>
          <a:xfrm>
            <a:off x="6446520" y="315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200㎥（宿泊施設・小規模工場）</a:t>
            </a:r>
          </a:p>
        </p:txBody>
      </p:sp>
      <p:sp>
        <p:nvSpPr>
          <p:cNvPr id="44" name="br21"/>
          <p:cNvSpPr/>
          <p:nvPr/>
        </p:nvSpPr>
        <p:spPr>
          <a:xfrm>
            <a:off x="8549640" y="315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9601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48,125円</a:t>
            </a:r>
          </a:p>
        </p:txBody>
      </p:sp>
      <p:sp>
        <p:nvSpPr>
          <p:cNvPr id="46" name="br23"/>
          <p:cNvSpPr/>
          <p:nvPr/>
        </p:nvSpPr>
        <p:spPr>
          <a:xfrm>
            <a:off x="10744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＋17,325円</a:t>
            </a:r>
          </a:p>
        </p:txBody>
      </p:sp>
      <p:sp>
        <p:nvSpPr>
          <p:cNvPr id="47" name="br30"/>
          <p:cNvSpPr/>
          <p:nvPr/>
        </p:nvSpPr>
        <p:spPr>
          <a:xfrm>
            <a:off x="6446520" y="374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500㎥（学校・大型施設）</a:t>
            </a:r>
          </a:p>
        </p:txBody>
      </p:sp>
      <p:sp>
        <p:nvSpPr>
          <p:cNvPr id="48" name="br31"/>
          <p:cNvSpPr/>
          <p:nvPr/>
        </p:nvSpPr>
        <p:spPr>
          <a:xfrm>
            <a:off x="8549640" y="374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9601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132,275円</a:t>
            </a:r>
          </a:p>
        </p:txBody>
      </p:sp>
      <p:sp>
        <p:nvSpPr>
          <p:cNvPr id="50" name="br33"/>
          <p:cNvSpPr/>
          <p:nvPr/>
        </p:nvSpPr>
        <p:spPr>
          <a:xfrm>
            <a:off x="10744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＋48,675円</a:t>
            </a:r>
          </a:p>
        </p:txBody>
      </p:sp>
      <p:sp>
        <p:nvSpPr>
          <p:cNvPr id="51" name="nt16"/>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a:p>
            <a:pPr algn="l"/>
            <a:r>
              <a:rPr lang="ja-JP" sz="1150" b="0" dirty="0">
                <a:solidFill>
                  <a:srgbClr val="78350F"/>
                </a:solidFill>
                <a:latin typeface="Noto Sans CJK JP"/>
                <a:cs typeface="Noto Sans CJK JP"/>
              </a:rPr>
              <a:t>※ 改定完了後の最終単価による月額です（2か年改定はR9〜、3か年改定はR10〜。最終単価は2か年・3か年で共通）。</a:t>
            </a:r>
          </a:p>
          <a:p>
            <a:pPr algn="l"/>
            <a:r>
              <a:rPr lang="ja-JP" sz="1150" b="0" dirty="0">
                <a:solidFill>
                  <a:srgbClr val="78350F"/>
                </a:solidFill>
                <a:latin typeface="Noto Sans CJK JP"/>
                <a:cs typeface="Noto Sans CJK JP"/>
              </a:rPr>
              <a:t>※ 世帯人数・業種は使用水量の目安として例示したものであり、実際の使用量は世帯・事業所により異なります。</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04-3　家庭・事業所別影響額（パターン④）</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月額影響額（パターン④・改定完了後・税込）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1,540円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＋440円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5,115円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＋1,375円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4" name="bh"/>
          <p:cNvSpPr/>
          <p:nvPr/>
        </p:nvSpPr>
        <p:spPr>
          <a:xfrm>
            <a:off x="6671680" y="1620000"/>
            <a:ext cx="512064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446520" y="197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50㎥（小規模店舗・事務所）</a:t>
            </a:r>
          </a:p>
        </p:txBody>
      </p:sp>
      <p:sp>
        <p:nvSpPr>
          <p:cNvPr id="36" name="br01"/>
          <p:cNvSpPr/>
          <p:nvPr/>
        </p:nvSpPr>
        <p:spPr>
          <a:xfrm>
            <a:off x="8549640" y="197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9601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8" name="br03"/>
          <p:cNvSpPr/>
          <p:nvPr/>
        </p:nvSpPr>
        <p:spPr>
          <a:xfrm>
            <a:off x="10744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9" name="br10"/>
          <p:cNvSpPr/>
          <p:nvPr/>
        </p:nvSpPr>
        <p:spPr>
          <a:xfrm>
            <a:off x="6446520" y="256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100㎥（飲食店・小売店）</a:t>
            </a:r>
          </a:p>
        </p:txBody>
      </p:sp>
      <p:sp>
        <p:nvSpPr>
          <p:cNvPr id="40" name="br11"/>
          <p:cNvSpPr/>
          <p:nvPr/>
        </p:nvSpPr>
        <p:spPr>
          <a:xfrm>
            <a:off x="8549640" y="256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9601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19,415円</a:t>
            </a:r>
          </a:p>
        </p:txBody>
      </p:sp>
      <p:sp>
        <p:nvSpPr>
          <p:cNvPr id="42" name="br13"/>
          <p:cNvSpPr/>
          <p:nvPr/>
        </p:nvSpPr>
        <p:spPr>
          <a:xfrm>
            <a:off x="10744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＋5,115円</a:t>
            </a:r>
          </a:p>
        </p:txBody>
      </p:sp>
      <p:sp>
        <p:nvSpPr>
          <p:cNvPr id="43" name="br20"/>
          <p:cNvSpPr/>
          <p:nvPr/>
        </p:nvSpPr>
        <p:spPr>
          <a:xfrm>
            <a:off x="6446520" y="315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200㎥（宿泊施設・小規模工場）</a:t>
            </a:r>
          </a:p>
        </p:txBody>
      </p:sp>
      <p:sp>
        <p:nvSpPr>
          <p:cNvPr id="44" name="br21"/>
          <p:cNvSpPr/>
          <p:nvPr/>
        </p:nvSpPr>
        <p:spPr>
          <a:xfrm>
            <a:off x="8549640" y="315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9601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44,165円</a:t>
            </a:r>
          </a:p>
        </p:txBody>
      </p:sp>
      <p:sp>
        <p:nvSpPr>
          <p:cNvPr id="46" name="br23"/>
          <p:cNvSpPr/>
          <p:nvPr/>
        </p:nvSpPr>
        <p:spPr>
          <a:xfrm>
            <a:off x="10744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＋13,365円</a:t>
            </a:r>
          </a:p>
        </p:txBody>
      </p:sp>
      <p:sp>
        <p:nvSpPr>
          <p:cNvPr id="47" name="br30"/>
          <p:cNvSpPr/>
          <p:nvPr/>
        </p:nvSpPr>
        <p:spPr>
          <a:xfrm>
            <a:off x="6446520" y="374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500㎥（学校・大型施設）</a:t>
            </a:r>
          </a:p>
        </p:txBody>
      </p:sp>
      <p:sp>
        <p:nvSpPr>
          <p:cNvPr id="48" name="br31"/>
          <p:cNvSpPr/>
          <p:nvPr/>
        </p:nvSpPr>
        <p:spPr>
          <a:xfrm>
            <a:off x="8549640" y="374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9601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121,715円</a:t>
            </a:r>
          </a:p>
        </p:txBody>
      </p:sp>
      <p:sp>
        <p:nvSpPr>
          <p:cNvPr id="50" name="br33"/>
          <p:cNvSpPr/>
          <p:nvPr/>
        </p:nvSpPr>
        <p:spPr>
          <a:xfrm>
            <a:off x="10744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＋38,115円</a:t>
            </a:r>
          </a:p>
        </p:txBody>
      </p:sp>
      <p:sp>
        <p:nvSpPr>
          <p:cNvPr id="51" name="nt16"/>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a:p>
            <a:pPr algn="l"/>
            <a:r>
              <a:rPr lang="ja-JP" sz="1150" b="0" dirty="0">
                <a:solidFill>
                  <a:srgbClr val="78350F"/>
                </a:solidFill>
                <a:latin typeface="Noto Sans CJK JP"/>
                <a:cs typeface="Noto Sans CJK JP"/>
              </a:rPr>
              <a:t>※ 改定完了後の最終単価による月額です（2か年改定はR9〜、3か年改定はR10〜。最終単価は2か年・3か年で共通）。</a:t>
            </a:r>
          </a:p>
          <a:p>
            <a:pPr algn="l"/>
            <a:r>
              <a:rPr lang="ja-JP" sz="1150" b="0" dirty="0">
                <a:solidFill>
                  <a:srgbClr val="78350F"/>
                </a:solidFill>
                <a:latin typeface="Noto Sans CJK JP"/>
                <a:cs typeface="Noto Sans CJK JP"/>
              </a:rPr>
              <a:t>※ 世帯人数・業種は使用水量の目安として例示したものであり、実際の使用量は世帯・事業所により異なります。</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住民への影響・説明対応　04-4　使用水量別月額使用料比較（改定完了後）</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50" b="0" dirty="0">
                <a:solidFill>
                  <a:srgbClr val="1E293B"/>
                </a:solidFill>
                <a:latin typeface="Arial"/>
                <a:cs typeface="Noto Sans CJK JP"/>
              </a:rPr>
              <a:t>使用水量別　月額使用料一覧（税込・改定完了後の最終単価）</a:t>
            </a:r>
          </a:p>
        </p:txBody>
      </p:sp>
      <p:sp>
        <p:nvSpPr>
          <p:cNvPr id="14" name="gl2"/>
          <p:cNvSpPr/>
          <p:nvPr/>
        </p:nvSpPr>
        <p:spPr>
          <a:xfrm>
            <a:off x="2510000" y="1316736"/>
            <a:ext cx="271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パターン①</a:t>
            </a:r>
          </a:p>
        </p:txBody>
      </p:sp>
      <p:sp>
        <p:nvSpPr>
          <p:cNvPr id="15" name="gl5"/>
          <p:cNvSpPr/>
          <p:nvPr/>
        </p:nvSpPr>
        <p:spPr>
          <a:xfrm>
            <a:off x="5220000" y="1316736"/>
            <a:ext cx="271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パターン②</a:t>
            </a:r>
          </a:p>
        </p:txBody>
      </p:sp>
      <p:sp>
        <p:nvSpPr>
          <p:cNvPr id="16" name="gl8"/>
          <p:cNvSpPr/>
          <p:nvPr/>
        </p:nvSpPr>
        <p:spPr>
          <a:xfrm>
            <a:off x="7930000" y="1316736"/>
            <a:ext cx="271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パターン④</a:t>
            </a:r>
          </a:p>
        </p:txBody>
      </p:sp>
      <p:sp>
        <p:nvSpPr>
          <p:cNvPr id="17" name="th0"/>
          <p:cNvSpPr/>
          <p:nvPr/>
        </p:nvSpPr>
        <p:spPr>
          <a:xfrm>
            <a:off x="380000" y="1554480"/>
            <a:ext cx="1200000" cy="2743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水量</a:t>
            </a:r>
          </a:p>
        </p:txBody>
      </p:sp>
      <p:sp>
        <p:nvSpPr>
          <p:cNvPr id="18" name="th1"/>
          <p:cNvSpPr/>
          <p:nvPr/>
        </p:nvSpPr>
        <p:spPr>
          <a:xfrm>
            <a:off x="158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現行（税込）</a:t>
            </a:r>
          </a:p>
        </p:txBody>
      </p:sp>
      <p:sp>
        <p:nvSpPr>
          <p:cNvPr id="19" name="th2"/>
          <p:cNvSpPr/>
          <p:nvPr/>
        </p:nvSpPr>
        <p:spPr>
          <a:xfrm>
            <a:off x="251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0" name="th3"/>
          <p:cNvSpPr/>
          <p:nvPr/>
        </p:nvSpPr>
        <p:spPr>
          <a:xfrm>
            <a:off x="3440000" y="1554480"/>
            <a:ext cx="950000" cy="27432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1" name="th4"/>
          <p:cNvSpPr/>
          <p:nvPr/>
        </p:nvSpPr>
        <p:spPr>
          <a:xfrm>
            <a:off x="4390000" y="1554480"/>
            <a:ext cx="830000" cy="27432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2" name="th5"/>
          <p:cNvSpPr/>
          <p:nvPr/>
        </p:nvSpPr>
        <p:spPr>
          <a:xfrm>
            <a:off x="522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3" name="th6"/>
          <p:cNvSpPr/>
          <p:nvPr/>
        </p:nvSpPr>
        <p:spPr>
          <a:xfrm>
            <a:off x="6150000" y="1554480"/>
            <a:ext cx="950000" cy="27432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4" name="th7"/>
          <p:cNvSpPr/>
          <p:nvPr/>
        </p:nvSpPr>
        <p:spPr>
          <a:xfrm>
            <a:off x="7100000" y="1554480"/>
            <a:ext cx="830000" cy="27432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5" name="th8"/>
          <p:cNvSpPr/>
          <p:nvPr/>
        </p:nvSpPr>
        <p:spPr>
          <a:xfrm>
            <a:off x="793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6" name="th9"/>
          <p:cNvSpPr/>
          <p:nvPr/>
        </p:nvSpPr>
        <p:spPr>
          <a:xfrm>
            <a:off x="8860000" y="1554480"/>
            <a:ext cx="950000" cy="27432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7" name="th10"/>
          <p:cNvSpPr/>
          <p:nvPr/>
        </p:nvSpPr>
        <p:spPr>
          <a:xfrm>
            <a:off x="9810000" y="1554480"/>
            <a:ext cx="830000" cy="27432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8" name="d00"/>
          <p:cNvSpPr/>
          <p:nvPr/>
        </p:nvSpPr>
        <p:spPr>
          <a:xfrm>
            <a:off x="380000" y="1792224"/>
            <a:ext cx="120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10㎥</a:t>
            </a:r>
          </a:p>
        </p:txBody>
      </p:sp>
      <p:sp>
        <p:nvSpPr>
          <p:cNvPr id="29" name="d01"/>
          <p:cNvSpPr/>
          <p:nvPr/>
        </p:nvSpPr>
        <p:spPr>
          <a:xfrm>
            <a:off x="158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1,100円</a:t>
            </a:r>
          </a:p>
        </p:txBody>
      </p:sp>
      <p:sp>
        <p:nvSpPr>
          <p:cNvPr id="30" name="d02"/>
          <p:cNvSpPr/>
          <p:nvPr/>
        </p:nvSpPr>
        <p:spPr>
          <a:xfrm>
            <a:off x="251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1,500円</a:t>
            </a:r>
          </a:p>
        </p:txBody>
      </p:sp>
      <p:sp>
        <p:nvSpPr>
          <p:cNvPr id="31" name="d03"/>
          <p:cNvSpPr/>
          <p:nvPr/>
        </p:nvSpPr>
        <p:spPr>
          <a:xfrm>
            <a:off x="3440000" y="1792224"/>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1,650円</a:t>
            </a:r>
          </a:p>
        </p:txBody>
      </p:sp>
      <p:sp>
        <p:nvSpPr>
          <p:cNvPr id="32" name="d04"/>
          <p:cNvSpPr/>
          <p:nvPr/>
        </p:nvSpPr>
        <p:spPr>
          <a:xfrm>
            <a:off x="4390000" y="1792224"/>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＋550円</a:t>
            </a:r>
          </a:p>
        </p:txBody>
      </p:sp>
      <p:sp>
        <p:nvSpPr>
          <p:cNvPr id="33" name="d05"/>
          <p:cNvSpPr/>
          <p:nvPr/>
        </p:nvSpPr>
        <p:spPr>
          <a:xfrm>
            <a:off x="522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1,200円</a:t>
            </a:r>
          </a:p>
        </p:txBody>
      </p:sp>
      <p:sp>
        <p:nvSpPr>
          <p:cNvPr id="34" name="d06"/>
          <p:cNvSpPr/>
          <p:nvPr/>
        </p:nvSpPr>
        <p:spPr>
          <a:xfrm>
            <a:off x="6150000" y="1792224"/>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1,320円</a:t>
            </a:r>
          </a:p>
        </p:txBody>
      </p:sp>
      <p:sp>
        <p:nvSpPr>
          <p:cNvPr id="35" name="d07"/>
          <p:cNvSpPr/>
          <p:nvPr/>
        </p:nvSpPr>
        <p:spPr>
          <a:xfrm>
            <a:off x="7100000" y="1792224"/>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＋220円</a:t>
            </a:r>
          </a:p>
        </p:txBody>
      </p:sp>
      <p:sp>
        <p:nvSpPr>
          <p:cNvPr id="36" name="d08"/>
          <p:cNvSpPr/>
          <p:nvPr/>
        </p:nvSpPr>
        <p:spPr>
          <a:xfrm>
            <a:off x="793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1,400円</a:t>
            </a:r>
          </a:p>
        </p:txBody>
      </p:sp>
      <p:sp>
        <p:nvSpPr>
          <p:cNvPr id="37" name="d09"/>
          <p:cNvSpPr/>
          <p:nvPr/>
        </p:nvSpPr>
        <p:spPr>
          <a:xfrm>
            <a:off x="8860000" y="1792224"/>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1,540円</a:t>
            </a:r>
          </a:p>
        </p:txBody>
      </p:sp>
      <p:sp>
        <p:nvSpPr>
          <p:cNvPr id="38" name="d010"/>
          <p:cNvSpPr/>
          <p:nvPr/>
        </p:nvSpPr>
        <p:spPr>
          <a:xfrm>
            <a:off x="9810000" y="1792224"/>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＋440円</a:t>
            </a:r>
          </a:p>
        </p:txBody>
      </p:sp>
      <p:sp>
        <p:nvSpPr>
          <p:cNvPr id="39" name="d10"/>
          <p:cNvSpPr/>
          <p:nvPr/>
        </p:nvSpPr>
        <p:spPr>
          <a:xfrm>
            <a:off x="380000" y="3090672"/>
            <a:ext cx="120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l"/>
            <a:r>
              <a:rPr lang="ja-JP" sz="1250" b="1" dirty="0">
                <a:solidFill>
                  <a:srgbClr val="1E293B"/>
                </a:solidFill>
                <a:latin typeface="Arial"/>
                <a:cs typeface="Noto Sans CJK JP"/>
              </a:rPr>
              <a:t>20㎥</a:t>
            </a:r>
          </a:p>
        </p:txBody>
      </p:sp>
      <p:sp>
        <p:nvSpPr>
          <p:cNvPr id="40" name="d11"/>
          <p:cNvSpPr/>
          <p:nvPr/>
        </p:nvSpPr>
        <p:spPr>
          <a:xfrm>
            <a:off x="158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475569"/>
                </a:solidFill>
                <a:latin typeface="Arial"/>
                <a:cs typeface="Noto Sans CJK JP"/>
              </a:rPr>
              <a:t>2,420円</a:t>
            </a:r>
          </a:p>
        </p:txBody>
      </p:sp>
      <p:sp>
        <p:nvSpPr>
          <p:cNvPr id="41" name="d12"/>
          <p:cNvSpPr/>
          <p:nvPr/>
        </p:nvSpPr>
        <p:spPr>
          <a:xfrm>
            <a:off x="251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3,000円</a:t>
            </a:r>
          </a:p>
        </p:txBody>
      </p:sp>
      <p:sp>
        <p:nvSpPr>
          <p:cNvPr id="42" name="d13"/>
          <p:cNvSpPr/>
          <p:nvPr/>
        </p:nvSpPr>
        <p:spPr>
          <a:xfrm>
            <a:off x="3440000" y="3090672"/>
            <a:ext cx="95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3,300円</a:t>
            </a:r>
          </a:p>
        </p:txBody>
      </p:sp>
      <p:sp>
        <p:nvSpPr>
          <p:cNvPr id="43" name="d14"/>
          <p:cNvSpPr/>
          <p:nvPr/>
        </p:nvSpPr>
        <p:spPr>
          <a:xfrm>
            <a:off x="4390000" y="3090672"/>
            <a:ext cx="8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4" name="d15"/>
          <p:cNvSpPr/>
          <p:nvPr/>
        </p:nvSpPr>
        <p:spPr>
          <a:xfrm>
            <a:off x="522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3,000円</a:t>
            </a:r>
          </a:p>
        </p:txBody>
      </p:sp>
      <p:sp>
        <p:nvSpPr>
          <p:cNvPr id="45" name="d16"/>
          <p:cNvSpPr/>
          <p:nvPr/>
        </p:nvSpPr>
        <p:spPr>
          <a:xfrm>
            <a:off x="6150000" y="3090672"/>
            <a:ext cx="95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3,300円</a:t>
            </a:r>
          </a:p>
        </p:txBody>
      </p:sp>
      <p:sp>
        <p:nvSpPr>
          <p:cNvPr id="46" name="d17"/>
          <p:cNvSpPr/>
          <p:nvPr/>
        </p:nvSpPr>
        <p:spPr>
          <a:xfrm>
            <a:off x="7100000" y="3090672"/>
            <a:ext cx="8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7" name="d18"/>
          <p:cNvSpPr/>
          <p:nvPr/>
        </p:nvSpPr>
        <p:spPr>
          <a:xfrm>
            <a:off x="793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3,000円</a:t>
            </a:r>
          </a:p>
        </p:txBody>
      </p:sp>
      <p:sp>
        <p:nvSpPr>
          <p:cNvPr id="48" name="d19"/>
          <p:cNvSpPr/>
          <p:nvPr/>
        </p:nvSpPr>
        <p:spPr>
          <a:xfrm>
            <a:off x="8860000" y="3090672"/>
            <a:ext cx="95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3,300円</a:t>
            </a:r>
          </a:p>
        </p:txBody>
      </p:sp>
      <p:sp>
        <p:nvSpPr>
          <p:cNvPr id="49" name="d110"/>
          <p:cNvSpPr/>
          <p:nvPr/>
        </p:nvSpPr>
        <p:spPr>
          <a:xfrm>
            <a:off x="9810000" y="3090672"/>
            <a:ext cx="8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50" name="d20"/>
          <p:cNvSpPr/>
          <p:nvPr/>
        </p:nvSpPr>
        <p:spPr>
          <a:xfrm>
            <a:off x="380000" y="2441448"/>
            <a:ext cx="120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15㎥</a:t>
            </a:r>
          </a:p>
        </p:txBody>
      </p:sp>
      <p:sp>
        <p:nvSpPr>
          <p:cNvPr id="51" name="d21"/>
          <p:cNvSpPr/>
          <p:nvPr/>
        </p:nvSpPr>
        <p:spPr>
          <a:xfrm>
            <a:off x="158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1,760円</a:t>
            </a:r>
          </a:p>
        </p:txBody>
      </p:sp>
      <p:sp>
        <p:nvSpPr>
          <p:cNvPr id="52" name="d22"/>
          <p:cNvSpPr/>
          <p:nvPr/>
        </p:nvSpPr>
        <p:spPr>
          <a:xfrm>
            <a:off x="251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2,250円</a:t>
            </a:r>
          </a:p>
        </p:txBody>
      </p:sp>
      <p:sp>
        <p:nvSpPr>
          <p:cNvPr id="53" name="d23"/>
          <p:cNvSpPr/>
          <p:nvPr/>
        </p:nvSpPr>
        <p:spPr>
          <a:xfrm>
            <a:off x="3440000" y="2441448"/>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2,475円</a:t>
            </a:r>
          </a:p>
        </p:txBody>
      </p:sp>
      <p:sp>
        <p:nvSpPr>
          <p:cNvPr id="54" name="d24"/>
          <p:cNvSpPr/>
          <p:nvPr/>
        </p:nvSpPr>
        <p:spPr>
          <a:xfrm>
            <a:off x="4390000" y="2441448"/>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＋715円</a:t>
            </a:r>
          </a:p>
        </p:txBody>
      </p:sp>
      <p:sp>
        <p:nvSpPr>
          <p:cNvPr id="55" name="d25"/>
          <p:cNvSpPr/>
          <p:nvPr/>
        </p:nvSpPr>
        <p:spPr>
          <a:xfrm>
            <a:off x="522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2,100円</a:t>
            </a:r>
          </a:p>
        </p:txBody>
      </p:sp>
      <p:sp>
        <p:nvSpPr>
          <p:cNvPr id="56" name="d26"/>
          <p:cNvSpPr/>
          <p:nvPr/>
        </p:nvSpPr>
        <p:spPr>
          <a:xfrm>
            <a:off x="6150000" y="2441448"/>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2,310円</a:t>
            </a:r>
          </a:p>
        </p:txBody>
      </p:sp>
      <p:sp>
        <p:nvSpPr>
          <p:cNvPr id="57" name="d27"/>
          <p:cNvSpPr/>
          <p:nvPr/>
        </p:nvSpPr>
        <p:spPr>
          <a:xfrm>
            <a:off x="7100000" y="2441448"/>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＋550円</a:t>
            </a:r>
          </a:p>
        </p:txBody>
      </p:sp>
      <p:sp>
        <p:nvSpPr>
          <p:cNvPr id="58" name="d28"/>
          <p:cNvSpPr/>
          <p:nvPr/>
        </p:nvSpPr>
        <p:spPr>
          <a:xfrm>
            <a:off x="793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2,200円</a:t>
            </a:r>
          </a:p>
        </p:txBody>
      </p:sp>
      <p:sp>
        <p:nvSpPr>
          <p:cNvPr id="59" name="d29"/>
          <p:cNvSpPr/>
          <p:nvPr/>
        </p:nvSpPr>
        <p:spPr>
          <a:xfrm>
            <a:off x="8860000" y="2441448"/>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2,420円</a:t>
            </a:r>
          </a:p>
        </p:txBody>
      </p:sp>
      <p:sp>
        <p:nvSpPr>
          <p:cNvPr id="60" name="d210"/>
          <p:cNvSpPr/>
          <p:nvPr/>
        </p:nvSpPr>
        <p:spPr>
          <a:xfrm>
            <a:off x="9810000" y="2441448"/>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＋660円</a:t>
            </a:r>
          </a:p>
        </p:txBody>
      </p:sp>
      <p:sp>
        <p:nvSpPr>
          <p:cNvPr id="61" name="d30"/>
          <p:cNvSpPr/>
          <p:nvPr/>
        </p:nvSpPr>
        <p:spPr>
          <a:xfrm>
            <a:off x="380000" y="3739896"/>
            <a:ext cx="120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30㎥</a:t>
            </a:r>
          </a:p>
        </p:txBody>
      </p:sp>
      <p:sp>
        <p:nvSpPr>
          <p:cNvPr id="62" name="d31"/>
          <p:cNvSpPr/>
          <p:nvPr/>
        </p:nvSpPr>
        <p:spPr>
          <a:xfrm>
            <a:off x="158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3,740円</a:t>
            </a:r>
          </a:p>
        </p:txBody>
      </p:sp>
      <p:sp>
        <p:nvSpPr>
          <p:cNvPr id="63" name="d32"/>
          <p:cNvSpPr/>
          <p:nvPr/>
        </p:nvSpPr>
        <p:spPr>
          <a:xfrm>
            <a:off x="251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4,550円</a:t>
            </a:r>
          </a:p>
        </p:txBody>
      </p:sp>
      <p:sp>
        <p:nvSpPr>
          <p:cNvPr id="64" name="d33"/>
          <p:cNvSpPr/>
          <p:nvPr/>
        </p:nvSpPr>
        <p:spPr>
          <a:xfrm>
            <a:off x="3440000" y="3739896"/>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5,005円</a:t>
            </a:r>
          </a:p>
        </p:txBody>
      </p:sp>
      <p:sp>
        <p:nvSpPr>
          <p:cNvPr id="65" name="d34"/>
          <p:cNvSpPr/>
          <p:nvPr/>
        </p:nvSpPr>
        <p:spPr>
          <a:xfrm>
            <a:off x="4390000" y="3739896"/>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＋1,265円</a:t>
            </a:r>
          </a:p>
        </p:txBody>
      </p:sp>
      <p:sp>
        <p:nvSpPr>
          <p:cNvPr id="66" name="d35"/>
          <p:cNvSpPr/>
          <p:nvPr/>
        </p:nvSpPr>
        <p:spPr>
          <a:xfrm>
            <a:off x="522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4,850円</a:t>
            </a:r>
          </a:p>
        </p:txBody>
      </p:sp>
      <p:sp>
        <p:nvSpPr>
          <p:cNvPr id="67" name="d36"/>
          <p:cNvSpPr/>
          <p:nvPr/>
        </p:nvSpPr>
        <p:spPr>
          <a:xfrm>
            <a:off x="6150000" y="3739896"/>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5,335円</a:t>
            </a:r>
          </a:p>
        </p:txBody>
      </p:sp>
      <p:sp>
        <p:nvSpPr>
          <p:cNvPr id="68" name="d37"/>
          <p:cNvSpPr/>
          <p:nvPr/>
        </p:nvSpPr>
        <p:spPr>
          <a:xfrm>
            <a:off x="7100000" y="3739896"/>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＋1,595円</a:t>
            </a:r>
          </a:p>
        </p:txBody>
      </p:sp>
      <p:sp>
        <p:nvSpPr>
          <p:cNvPr id="69" name="d38"/>
          <p:cNvSpPr/>
          <p:nvPr/>
        </p:nvSpPr>
        <p:spPr>
          <a:xfrm>
            <a:off x="793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4,650円</a:t>
            </a:r>
          </a:p>
        </p:txBody>
      </p:sp>
      <p:sp>
        <p:nvSpPr>
          <p:cNvPr id="70" name="d39"/>
          <p:cNvSpPr/>
          <p:nvPr/>
        </p:nvSpPr>
        <p:spPr>
          <a:xfrm>
            <a:off x="8860000" y="3739896"/>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5,115円</a:t>
            </a:r>
          </a:p>
        </p:txBody>
      </p:sp>
      <p:sp>
        <p:nvSpPr>
          <p:cNvPr id="71" name="d310"/>
          <p:cNvSpPr/>
          <p:nvPr/>
        </p:nvSpPr>
        <p:spPr>
          <a:xfrm>
            <a:off x="9810000" y="3739896"/>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＋1,375円</a:t>
            </a:r>
          </a:p>
        </p:txBody>
      </p:sp>
      <p:sp>
        <p:nvSpPr>
          <p:cNvPr id="72" name="note"/>
          <p:cNvSpPr/>
          <p:nvPr/>
        </p:nvSpPr>
        <p:spPr>
          <a:xfrm>
            <a:off x="380000" y="5765863"/>
            <a:ext cx="11431760" cy="74466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青枠20㎥が一般家庭の標準使用量。改定後の差額はいずれのパターンも月額＋880円（年間＋10,560円）。税込・1か月あたり。</a:t>
            </a:r>
          </a:p>
          <a:p>
            <a:pPr algn="l"/>
            <a:r>
              <a:rPr lang="ja-JP" sz="1050" b="0" dirty="0">
                <a:solidFill>
                  <a:srgbClr val="78350F"/>
                </a:solidFill>
                <a:latin typeface="Arial"/>
                <a:cs typeface="Noto Sans CJK JP"/>
              </a:rPr>
              <a:t>※ 改定完了後の最終単価による月額です（2か年改定はR9〜、3か年改定はR10〜。最終単価は2か年・3か年で共通）。</a:t>
            </a:r>
          </a:p>
          <a:p>
            <a:pPr algn="l"/>
            <a:r>
              <a:rPr lang="ja-JP" sz="1050" b="0" dirty="0">
                <a:solidFill>
                  <a:srgbClr val="78350F"/>
                </a:solidFill>
                <a:latin typeface="Arial"/>
                <a:cs typeface="Noto Sans CJK JP"/>
              </a:rPr>
              <a:t>※ 使用量の目安：10㎥＝1〜2人世帯、15〜20㎥＝2〜3人世帯、30㎥＝3〜4人世帯、50㎥＝4人以上の世帯・小規模事業所、100㎥＝飲食店・小売店等（あくまで目安）。</a:t>
            </a:r>
          </a:p>
        </p:txBody>
      </p:sp>
      <p:sp>
        <p:nvSpPr>
          <p:cNvPr id="73"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35</a:t>
            </a:r>
          </a:p>
        </p:txBody>
      </p:sp>
      <p:sp>
        <p:nvSpPr>
          <p:cNvPr id="74" name="d40"/>
          <p:cNvSpPr/>
          <p:nvPr/>
        </p:nvSpPr>
        <p:spPr>
          <a:xfrm>
            <a:off x="380000" y="4389120"/>
            <a:ext cx="120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50㎥</a:t>
            </a:r>
          </a:p>
        </p:txBody>
      </p:sp>
      <p:sp>
        <p:nvSpPr>
          <p:cNvPr id="75" name="d41"/>
          <p:cNvSpPr/>
          <p:nvPr/>
        </p:nvSpPr>
        <p:spPr>
          <a:xfrm>
            <a:off x="158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6,600円</a:t>
            </a:r>
          </a:p>
        </p:txBody>
      </p:sp>
      <p:sp>
        <p:nvSpPr>
          <p:cNvPr id="76" name="d42"/>
          <p:cNvSpPr/>
          <p:nvPr/>
        </p:nvSpPr>
        <p:spPr>
          <a:xfrm>
            <a:off x="251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7,800円</a:t>
            </a:r>
          </a:p>
        </p:txBody>
      </p:sp>
      <p:sp>
        <p:nvSpPr>
          <p:cNvPr id="77" name="d43"/>
          <p:cNvSpPr/>
          <p:nvPr/>
        </p:nvSpPr>
        <p:spPr>
          <a:xfrm>
            <a:off x="3440000" y="4389120"/>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8,580円</a:t>
            </a:r>
          </a:p>
        </p:txBody>
      </p:sp>
      <p:sp>
        <p:nvSpPr>
          <p:cNvPr id="78" name="d44"/>
          <p:cNvSpPr/>
          <p:nvPr/>
        </p:nvSpPr>
        <p:spPr>
          <a:xfrm>
            <a:off x="4390000" y="4389120"/>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＋1,980円</a:t>
            </a:r>
          </a:p>
        </p:txBody>
      </p:sp>
      <p:sp>
        <p:nvSpPr>
          <p:cNvPr id="79" name="d45"/>
          <p:cNvSpPr/>
          <p:nvPr/>
        </p:nvSpPr>
        <p:spPr>
          <a:xfrm>
            <a:off x="522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8,700円</a:t>
            </a:r>
          </a:p>
        </p:txBody>
      </p:sp>
      <p:sp>
        <p:nvSpPr>
          <p:cNvPr id="80" name="d46"/>
          <p:cNvSpPr/>
          <p:nvPr/>
        </p:nvSpPr>
        <p:spPr>
          <a:xfrm>
            <a:off x="6150000" y="4389120"/>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9,570円</a:t>
            </a:r>
          </a:p>
        </p:txBody>
      </p:sp>
      <p:sp>
        <p:nvSpPr>
          <p:cNvPr id="81" name="d47"/>
          <p:cNvSpPr/>
          <p:nvPr/>
        </p:nvSpPr>
        <p:spPr>
          <a:xfrm>
            <a:off x="7100000" y="4389120"/>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＋2,970円</a:t>
            </a:r>
          </a:p>
        </p:txBody>
      </p:sp>
      <p:sp>
        <p:nvSpPr>
          <p:cNvPr id="82" name="d48"/>
          <p:cNvSpPr/>
          <p:nvPr/>
        </p:nvSpPr>
        <p:spPr>
          <a:xfrm>
            <a:off x="793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8,100円</a:t>
            </a:r>
          </a:p>
        </p:txBody>
      </p:sp>
      <p:sp>
        <p:nvSpPr>
          <p:cNvPr id="83" name="d49"/>
          <p:cNvSpPr/>
          <p:nvPr/>
        </p:nvSpPr>
        <p:spPr>
          <a:xfrm>
            <a:off x="8860000" y="4389120"/>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8,910円</a:t>
            </a:r>
          </a:p>
        </p:txBody>
      </p:sp>
      <p:sp>
        <p:nvSpPr>
          <p:cNvPr id="84" name="d410"/>
          <p:cNvSpPr/>
          <p:nvPr/>
        </p:nvSpPr>
        <p:spPr>
          <a:xfrm>
            <a:off x="9810000" y="4389120"/>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＋2,310円</a:t>
            </a:r>
          </a:p>
        </p:txBody>
      </p:sp>
      <p:sp>
        <p:nvSpPr>
          <p:cNvPr id="85" name="d50"/>
          <p:cNvSpPr/>
          <p:nvPr/>
        </p:nvSpPr>
        <p:spPr>
          <a:xfrm>
            <a:off x="380000" y="5038344"/>
            <a:ext cx="120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100㎥</a:t>
            </a:r>
          </a:p>
        </p:txBody>
      </p:sp>
      <p:sp>
        <p:nvSpPr>
          <p:cNvPr id="86" name="d51"/>
          <p:cNvSpPr/>
          <p:nvPr/>
        </p:nvSpPr>
        <p:spPr>
          <a:xfrm>
            <a:off x="158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14,300円</a:t>
            </a:r>
          </a:p>
        </p:txBody>
      </p:sp>
      <p:sp>
        <p:nvSpPr>
          <p:cNvPr id="87" name="d52"/>
          <p:cNvSpPr/>
          <p:nvPr/>
        </p:nvSpPr>
        <p:spPr>
          <a:xfrm>
            <a:off x="251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16,850円</a:t>
            </a:r>
          </a:p>
        </p:txBody>
      </p:sp>
      <p:sp>
        <p:nvSpPr>
          <p:cNvPr id="88" name="d53"/>
          <p:cNvSpPr/>
          <p:nvPr/>
        </p:nvSpPr>
        <p:spPr>
          <a:xfrm>
            <a:off x="3440000" y="5038344"/>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18,535円</a:t>
            </a:r>
          </a:p>
        </p:txBody>
      </p:sp>
      <p:sp>
        <p:nvSpPr>
          <p:cNvPr id="89" name="d54"/>
          <p:cNvSpPr/>
          <p:nvPr/>
        </p:nvSpPr>
        <p:spPr>
          <a:xfrm>
            <a:off x="4390000" y="5038344"/>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＋4,235円</a:t>
            </a:r>
          </a:p>
        </p:txBody>
      </p:sp>
      <p:sp>
        <p:nvSpPr>
          <p:cNvPr id="90" name="d55"/>
          <p:cNvSpPr/>
          <p:nvPr/>
        </p:nvSpPr>
        <p:spPr>
          <a:xfrm>
            <a:off x="522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19,250円</a:t>
            </a:r>
          </a:p>
        </p:txBody>
      </p:sp>
      <p:sp>
        <p:nvSpPr>
          <p:cNvPr id="91" name="d56"/>
          <p:cNvSpPr/>
          <p:nvPr/>
        </p:nvSpPr>
        <p:spPr>
          <a:xfrm>
            <a:off x="6150000" y="5038344"/>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21,175円</a:t>
            </a:r>
          </a:p>
        </p:txBody>
      </p:sp>
      <p:sp>
        <p:nvSpPr>
          <p:cNvPr id="92" name="d57"/>
          <p:cNvSpPr/>
          <p:nvPr/>
        </p:nvSpPr>
        <p:spPr>
          <a:xfrm>
            <a:off x="7100000" y="5038344"/>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＋6,875円</a:t>
            </a:r>
          </a:p>
        </p:txBody>
      </p:sp>
      <p:sp>
        <p:nvSpPr>
          <p:cNvPr id="93" name="d58"/>
          <p:cNvSpPr/>
          <p:nvPr/>
        </p:nvSpPr>
        <p:spPr>
          <a:xfrm>
            <a:off x="793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17,650円</a:t>
            </a:r>
          </a:p>
        </p:txBody>
      </p:sp>
      <p:sp>
        <p:nvSpPr>
          <p:cNvPr id="94" name="d59"/>
          <p:cNvSpPr/>
          <p:nvPr/>
        </p:nvSpPr>
        <p:spPr>
          <a:xfrm>
            <a:off x="8860000" y="5038344"/>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19,415円</a:t>
            </a:r>
          </a:p>
        </p:txBody>
      </p:sp>
      <p:sp>
        <p:nvSpPr>
          <p:cNvPr id="95" name="d510"/>
          <p:cNvSpPr/>
          <p:nvPr/>
        </p:nvSpPr>
        <p:spPr>
          <a:xfrm>
            <a:off x="9810000" y="5038344"/>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＋5,115円</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04-5　住民説明会の実施計画（案）</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住民説明会　実施計画（案）</a:t>
            </a:r>
          </a:p>
        </p:txBody>
      </p:sp>
      <p:sp>
        <p:nvSpPr>
          <p:cNvPr id="17" name="py0"/>
          <p:cNvSpPr/>
          <p:nvPr/>
        </p:nvSpPr>
        <p:spPr>
          <a:xfrm>
            <a:off x="571680" y="16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R7年度
（令和7）</a:t>
            </a:r>
          </a:p>
        </p:txBody>
      </p:sp>
      <p:sp>
        <p:nvSpPr>
          <p:cNvPr id="18" name="pa0"/>
          <p:cNvSpPr/>
          <p:nvPr/>
        </p:nvSpPr>
        <p:spPr>
          <a:xfrm>
            <a:off x="2571680" y="16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審議会開催（第1〜3回）</a:t>
            </a:r>
          </a:p>
        </p:txBody>
      </p:sp>
      <p:sp>
        <p:nvSpPr>
          <p:cNvPr id="19" name="pd0"/>
          <p:cNvSpPr/>
          <p:nvPr/>
        </p:nvSpPr>
        <p:spPr>
          <a:xfrm>
            <a:off x="2571680" y="20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使用料改定の必要性検証・答申案策定を完了</a:t>
            </a:r>
          </a:p>
        </p:txBody>
      </p:sp>
      <p:sp>
        <p:nvSpPr>
          <p:cNvPr id="20" name="pb0"/>
          <p:cNvSpPr/>
          <p:nvPr/>
        </p:nvSpPr>
        <p:spPr>
          <a:xfrm>
            <a:off x="10919680" y="20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現在進行中</a:t>
            </a:r>
          </a:p>
        </p:txBody>
      </p:sp>
      <p:sp>
        <p:nvSpPr>
          <p:cNvPr id="21" name="py1"/>
          <p:cNvSpPr/>
          <p:nvPr/>
        </p:nvSpPr>
        <p:spPr>
          <a:xfrm>
            <a:off x="571680" y="28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R8年前半
（令和8・4〜8月）</a:t>
            </a:r>
          </a:p>
        </p:txBody>
      </p:sp>
      <p:sp>
        <p:nvSpPr>
          <p:cNvPr id="22" name="pa1"/>
          <p:cNvSpPr/>
          <p:nvPr/>
        </p:nvSpPr>
        <p:spPr>
          <a:xfrm>
            <a:off x="2571680" y="28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住民説明会の開催</a:t>
            </a:r>
          </a:p>
        </p:txBody>
      </p:sp>
      <p:sp>
        <p:nvSpPr>
          <p:cNvPr id="23" name="pd1"/>
          <p:cNvSpPr/>
          <p:nvPr/>
        </p:nvSpPr>
        <p:spPr>
          <a:xfrm>
            <a:off x="2571680" y="33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全地区・各集落での説明会実施（公共・農集別）</a:t>
            </a:r>
          </a:p>
        </p:txBody>
      </p:sp>
      <p:sp>
        <p:nvSpPr>
          <p:cNvPr id="24" name="pb1"/>
          <p:cNvSpPr/>
          <p:nvPr/>
        </p:nvSpPr>
        <p:spPr>
          <a:xfrm>
            <a:off x="10919680" y="33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5" name="py2"/>
          <p:cNvSpPr/>
          <p:nvPr/>
        </p:nvSpPr>
        <p:spPr>
          <a:xfrm>
            <a:off x="571680" y="41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R8年後半
（令和8・9〜12月）</a:t>
            </a:r>
          </a:p>
        </p:txBody>
      </p:sp>
      <p:sp>
        <p:nvSpPr>
          <p:cNvPr id="26" name="pa2"/>
          <p:cNvSpPr/>
          <p:nvPr/>
        </p:nvSpPr>
        <p:spPr>
          <a:xfrm>
            <a:off x="2571680" y="41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議会への提案・条例改正</a:t>
            </a:r>
          </a:p>
        </p:txBody>
      </p:sp>
      <p:sp>
        <p:nvSpPr>
          <p:cNvPr id="27" name="pd2"/>
          <p:cNvSpPr/>
          <p:nvPr/>
        </p:nvSpPr>
        <p:spPr>
          <a:xfrm>
            <a:off x="2571680" y="45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使用料条例の改正議案を議会に提出・決議</a:t>
            </a:r>
          </a:p>
        </p:txBody>
      </p:sp>
      <p:sp>
        <p:nvSpPr>
          <p:cNvPr id="28" name="pb2"/>
          <p:cNvSpPr/>
          <p:nvPr/>
        </p:nvSpPr>
        <p:spPr>
          <a:xfrm>
            <a:off x="10919680" y="45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9" name="py3"/>
          <p:cNvSpPr/>
          <p:nvPr/>
        </p:nvSpPr>
        <p:spPr>
          <a:xfrm>
            <a:off x="571680" y="53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R9年4月〜</a:t>
            </a:r>
          </a:p>
        </p:txBody>
      </p:sp>
      <p:sp>
        <p:nvSpPr>
          <p:cNvPr id="30" name="pa3"/>
          <p:cNvSpPr/>
          <p:nvPr/>
        </p:nvSpPr>
        <p:spPr>
          <a:xfrm>
            <a:off x="2571680" y="53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改定単価の適用開始</a:t>
            </a:r>
          </a:p>
        </p:txBody>
      </p:sp>
      <p:sp>
        <p:nvSpPr>
          <p:cNvPr id="31" name="pd3"/>
          <p:cNvSpPr/>
          <p:nvPr/>
        </p:nvSpPr>
        <p:spPr>
          <a:xfrm>
            <a:off x="2571680" y="58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新使用料体系での徴収開始・効果測定</a:t>
            </a:r>
          </a:p>
        </p:txBody>
      </p:sp>
      <p:sp>
        <p:nvSpPr>
          <p:cNvPr id="32" name="pb3"/>
          <p:cNvSpPr/>
          <p:nvPr/>
        </p:nvSpPr>
        <p:spPr>
          <a:xfrm>
            <a:off x="10919680" y="58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目標</a:t>
            </a:r>
          </a:p>
        </p:txBody>
      </p:sp>
      <p:sp>
        <p:nvSpPr>
          <p:cNvPr id="33"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次回（第3回）予定事項</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第3回審議会　審議予定事項</a:t>
            </a:r>
          </a:p>
        </p:txBody>
      </p:sp>
      <p:sp>
        <p:nvSpPr>
          <p:cNvPr id="17" name="ni0"/>
          <p:cNvSpPr/>
          <p:nvPr/>
        </p:nvSpPr>
        <p:spPr>
          <a:xfrm>
            <a:off x="571680" y="16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E40A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1</a:t>
            </a:r>
          </a:p>
        </p:txBody>
      </p:sp>
      <p:sp>
        <p:nvSpPr>
          <p:cNvPr id="18" name="nt0"/>
          <p:cNvSpPr/>
          <p:nvPr/>
        </p:nvSpPr>
        <p:spPr>
          <a:xfrm>
            <a:off x="1251680" y="16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40AF"/>
                </a:solidFill>
                <a:latin typeface="Noto Sans CJK JP"/>
                <a:cs typeface="Noto Sans CJK JP"/>
              </a:rPr>
              <a:t>基本料金・従量料金のバランス検討</a:t>
            </a:r>
          </a:p>
        </p:txBody>
      </p:sp>
      <p:sp>
        <p:nvSpPr>
          <p:cNvPr id="19" name="nb0"/>
          <p:cNvSpPr/>
          <p:nvPr/>
        </p:nvSpPr>
        <p:spPr>
          <a:xfrm>
            <a:off x="1251680" y="20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基本料金と従量料金の構成比率について、低所得・少量使用世帯への配慮と財政安定性のバランスを審議します。</a:t>
            </a:r>
          </a:p>
        </p:txBody>
      </p:sp>
      <p:sp>
        <p:nvSpPr>
          <p:cNvPr id="20" name="ni1"/>
          <p:cNvSpPr/>
          <p:nvPr/>
        </p:nvSpPr>
        <p:spPr>
          <a:xfrm>
            <a:off x="571680" y="28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2</a:t>
            </a:r>
          </a:p>
        </p:txBody>
      </p:sp>
      <p:sp>
        <p:nvSpPr>
          <p:cNvPr id="21" name="nt1"/>
          <p:cNvSpPr/>
          <p:nvPr/>
        </p:nvSpPr>
        <p:spPr>
          <a:xfrm>
            <a:off x="1251680" y="28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66534"/>
                </a:solidFill>
                <a:latin typeface="Noto Sans CJK JP"/>
                <a:cs typeface="Noto Sans CJK JP"/>
              </a:rPr>
              <a:t>料金体系の見直し（段階数・逓増度）</a:t>
            </a:r>
          </a:p>
        </p:txBody>
      </p:sp>
      <p:sp>
        <p:nvSpPr>
          <p:cNvPr id="22" name="nb1"/>
          <p:cNvSpPr/>
          <p:nvPr/>
        </p:nvSpPr>
        <p:spPr>
          <a:xfrm>
            <a:off x="1251680" y="32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現行9区分の水量区分の見直し、逓増傾斜の適正化について検討します。51㎥以上の区分整理を中心に議論します。</a:t>
            </a:r>
          </a:p>
        </p:txBody>
      </p:sp>
      <p:sp>
        <p:nvSpPr>
          <p:cNvPr id="23" name="ni2"/>
          <p:cNvSpPr/>
          <p:nvPr/>
        </p:nvSpPr>
        <p:spPr>
          <a:xfrm>
            <a:off x="571680" y="41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C241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3</a:t>
            </a:r>
          </a:p>
        </p:txBody>
      </p:sp>
      <p:sp>
        <p:nvSpPr>
          <p:cNvPr id="24" name="nt2"/>
          <p:cNvSpPr/>
          <p:nvPr/>
        </p:nvSpPr>
        <p:spPr>
          <a:xfrm>
            <a:off x="1251680" y="41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C2410C"/>
                </a:solidFill>
                <a:latin typeface="Noto Sans CJK JP"/>
                <a:cs typeface="Noto Sans CJK JP"/>
              </a:rPr>
              <a:t>答申案の策定・意見集約</a:t>
            </a:r>
          </a:p>
        </p:txBody>
      </p:sp>
      <p:sp>
        <p:nvSpPr>
          <p:cNvPr id="25" name="nb2"/>
          <p:cNvSpPr/>
          <p:nvPr/>
        </p:nvSpPr>
        <p:spPr>
          <a:xfrm>
            <a:off x="1251680" y="45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これまでの審議内容を踏まえ、使用料改定に関する答申案を策定します。委員全員の意見を集約し最終答申に向けた調整を行います。</a:t>
            </a:r>
          </a:p>
        </p:txBody>
      </p:sp>
      <p:sp>
        <p:nvSpPr>
          <p:cNvPr id="26" name="ni3"/>
          <p:cNvSpPr/>
          <p:nvPr/>
        </p:nvSpPr>
        <p:spPr>
          <a:xfrm>
            <a:off x="571680" y="53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7C3AED"/>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4</a:t>
            </a:r>
          </a:p>
        </p:txBody>
      </p:sp>
      <p:sp>
        <p:nvSpPr>
          <p:cNvPr id="27" name="nt3"/>
          <p:cNvSpPr/>
          <p:nvPr/>
        </p:nvSpPr>
        <p:spPr>
          <a:xfrm>
            <a:off x="1251680" y="53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7C3AED"/>
                </a:solidFill>
                <a:latin typeface="Noto Sans CJK JP"/>
                <a:cs typeface="Noto Sans CJK JP"/>
              </a:rPr>
              <a:t>住民説明会フィードバックの反映</a:t>
            </a:r>
          </a:p>
        </p:txBody>
      </p:sp>
      <p:sp>
        <p:nvSpPr>
          <p:cNvPr id="28" name="nb3"/>
          <p:cNvSpPr/>
          <p:nvPr/>
        </p:nvSpPr>
        <p:spPr>
          <a:xfrm>
            <a:off x="1251680" y="57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第2回審議後の住民説明会での意見・質問を踏まえ、必要に応じて改定案の微調整を行います。</a:t>
            </a:r>
          </a:p>
        </p:txBody>
      </p:sp>
      <p:sp>
        <p:nvSpPr>
          <p:cNvPr id="2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37</a:t>
            </a:r>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TotalTime>
  <Words>2181</Words>
  <Application>Microsoft Office PowerPoint</Application>
  <PresentationFormat>ワイド画面</PresentationFormat>
  <Paragraphs>390</Paragraphs>
  <Slides>18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18</vt:i4>
      </vt:variant>
    </vt:vector>
  </HeadingPairs>
  <TitlesOfParts>
    <vt:vector size="24" baseType="lpstr">
      <vt:lpstr>Noto Sans CJK JP</vt:lpstr>
      <vt:lpstr>Arial</vt:lpstr>
      <vt:lpstr>Symbol</vt:lpstr>
      <vt:lpstr>Wingdings</vt:lpstr>
      <vt:lpstr>Office</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若山諒太</dc:creator>
  <cp:lastModifiedBy>諒太 若山</cp:lastModifiedBy>
  <cp:revision>2</cp:revision>
  <dcterms:modified xsi:type="dcterms:W3CDTF">2026-06-02T08:07:21Z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大輔 松田</cp:lastModifiedBy>
  <dcterms:modified xsi:type="dcterms:W3CDTF">2026-04-07T21:33:30Z</dcterms:modified>
  <cp:revision>2</cp:revision>
  <dc:subject/>
  <dc:title/>
</cp:coreProperties>
</file>