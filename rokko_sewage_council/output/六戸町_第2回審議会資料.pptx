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ore0.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metadata/core-properties" Target="docProps/core0.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sldIdLst>
    <p:sldId id="256" r:id="rId3"/>
    <p:sldId id="257" r:id="rId4"/>
    <p:sldId id="258" r:id="rId5"/>
    <p:sldId id="259" r:id="rId6"/>
    <p:sldId id="260" r:id="rId42"/>
    <p:sldId id="261" r:id="rId7"/>
    <p:sldId id="262" r:id="rId29"/>
    <p:sldId id="263" r:id="rId8"/>
    <p:sldId id="264" r:id="rId30"/>
    <p:sldId id="265" r:id="rId9"/>
    <p:sldId id="266" r:id="rId10"/>
    <p:sldId id="267" r:id="rId43"/>
    <p:sldId id="268" r:id="rId11"/>
    <p:sldId id="269" r:id="rId12"/>
    <p:sldId id="270" r:id="rId31"/>
    <p:sldId id="271" r:id="rId13"/>
    <p:sldId id="272" r:id="rId32"/>
    <p:sldId id="273" r:id="rId14"/>
    <p:sldId id="274" r:id="rId38"/>
    <p:sldId id="275" r:id="rId15"/>
    <p:sldId id="276" r:id="rId16"/>
    <p:sldId id="277" r:id="rId33"/>
    <p:sldId id="278" r:id="rId17"/>
    <p:sldId id="279" r:id="rId34"/>
    <p:sldId id="280" r:id="rId18"/>
    <p:sldId id="281" r:id="rId39"/>
    <p:sldId id="282" r:id="rId35"/>
    <p:sldId id="283" r:id="rId40"/>
    <p:sldId id="284" r:id="rId19"/>
    <p:sldId id="285" r:id="rId41"/>
    <p:sldId id="286" r:id="rId20"/>
    <p:sldId id="287" r:id="rId36"/>
    <p:sldId id="288" r:id="rId25"/>
    <p:sldId id="289" r:id="rId37"/>
    <p:sldId id="290" r:id="rId26"/>
    <p:sldId id="291" r:id="rId27"/>
    <p:sldId id="292" r:id="rId28"/>
  </p:sldIdLst>
  <p:sldSz cx="12192000" cy="6858000"/>
  <p:notesSz cx="6858000" cy="12192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92" y="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10.xml"/><Relationship Id="rId10" Type="http://schemas.openxmlformats.org/officeDocument/2006/relationships/slide" Target="slides/slide11.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6.xml"/><Relationship Id="rId14" Type="http://schemas.openxmlformats.org/officeDocument/2006/relationships/slide" Target="slides/slide18.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3.xml"/><Relationship Id="rId18" Type="http://schemas.openxmlformats.org/officeDocument/2006/relationships/slide" Target="slides/slide25.xml"/><Relationship Id="rId19" Type="http://schemas.openxmlformats.org/officeDocument/2006/relationships/slide" Target="slides/slide29.xml"/><Relationship Id="rId20" Type="http://schemas.openxmlformats.org/officeDocument/2006/relationships/slide" Target="slides/slide3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33.xml"/><Relationship Id="rId26" Type="http://schemas.openxmlformats.org/officeDocument/2006/relationships/slide" Target="slides/slide35.xml"/><Relationship Id="rId27" Type="http://schemas.openxmlformats.org/officeDocument/2006/relationships/slide" Target="slides/slide36.xml"/><Relationship Id="rId28" Type="http://schemas.openxmlformats.org/officeDocument/2006/relationships/slide" Target="slides/slide37.xml"/><Relationship Id="rId29" Type="http://schemas.openxmlformats.org/officeDocument/2006/relationships/slide" Target="slides/slide7.xml"/><Relationship Id="rId30" Type="http://schemas.openxmlformats.org/officeDocument/2006/relationships/slide" Target="slides/slide9.xml"/><Relationship Id="rId31" Type="http://schemas.openxmlformats.org/officeDocument/2006/relationships/slide" Target="slides/slide15.xml"/><Relationship Id="rId32" Type="http://schemas.openxmlformats.org/officeDocument/2006/relationships/slide" Target="slides/slide17.xml"/><Relationship Id="rId33" Type="http://schemas.openxmlformats.org/officeDocument/2006/relationships/slide" Target="slides/slide22.xml"/><Relationship Id="rId34" Type="http://schemas.openxmlformats.org/officeDocument/2006/relationships/slide" Target="slides/slide24.xml"/><Relationship Id="rId35" Type="http://schemas.openxmlformats.org/officeDocument/2006/relationships/slide" Target="slides/slide27.xml"/><Relationship Id="rId36" Type="http://schemas.openxmlformats.org/officeDocument/2006/relationships/slide" Target="slides/slide32.xml"/><Relationship Id="rId37" Type="http://schemas.openxmlformats.org/officeDocument/2006/relationships/slide" Target="slides/slide34.xml"/><Relationship Id="rId38" Type="http://schemas.openxmlformats.org/officeDocument/2006/relationships/slide" Target="slides/slide19.xml"/><Relationship Id="rId39" Type="http://schemas.openxmlformats.org/officeDocument/2006/relationships/slide" Target="slides/slide26.xml"/><Relationship Id="rId40" Type="http://schemas.openxmlformats.org/officeDocument/2006/relationships/slide" Target="slides/slide28.xml"/><Relationship Id="rId41" Type="http://schemas.openxmlformats.org/officeDocument/2006/relationships/slide" Target="slides/slide30.xml"/><Relationship Id="rId42" Type="http://schemas.openxmlformats.org/officeDocument/2006/relationships/slide" Target="slides/slide5.xml"/><Relationship Id="rId43" Type="http://schemas.openxmlformats.org/officeDocument/2006/relationships/slide" Target="slides/slide12.xml"/><Relationship Id="rId4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【18:30〜18:32／2分】開会・資料確認</a:t>
            </a:r>
          </a:p>
          <a:p/>
          <a:p>
            <a:r>
              <a:t>定刻となりましたので、ただいまから第2回六戸町下水道使用料審議委員会を開会いたします。本日はお忙しいところ、また夜分にお集まりいただきありがとうございます。本日の会議は19時30分までの1時間を予定しております。</a:t>
            </a:r>
          </a:p>
          <a:p>
            <a:r>
              <a:t>お手元の資料をご確認ください。本編が37ページ、別紙が4ページの2点でございます。不足がございましたら事務局までお申し付けください。</a:t>
            </a:r>
          </a:p>
          <a:p/>
          <a:p>
            <a:r>
              <a:t>― 進行メモ ―</a:t>
            </a:r>
          </a:p>
          <a:p>
            <a:r>
              <a:t>・委員の出席状況（○名中○名出席、過半数により会議成立）を先に報告する</a:t>
            </a:r>
          </a:p>
          <a:p>
            <a:r>
              <a:t>・会長からのご挨拶をいただく場合はここで</a:t>
            </a:r>
          </a:p>
          <a:p>
            <a:r>
              <a:t>・配付資料：本編37ページ／別紙4ページ／（必要に応じ）第1回資料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【18:32〜18:33／1分】本日の進め方</a:t>
            </a:r>
          </a:p>
          <a:p/>
          <a:p>
            <a:r>
              <a:t>本日の進め方でございます。まず前回の振り返りをしたうえで、この8月に確定いたしました令和7年度決算のご報告を別紙で申し上げます。そのうえで、第1章で改定案の絞り込み、第2章で改定を何年かけて行うか、第3章で財政目標との関係、第4章で住民の皆さまへの影響と説明の進め方、という順にご説明いたします。</a:t>
            </a:r>
          </a:p>
          <a:p>
            <a:r>
              <a:t>本日ご審議いただきたいのは、推奨する改定パターン、改定年数、そして財政目標の設定の3点でございます。最後に10分ほど質疑のお時間をとっております。</a:t>
            </a:r>
          </a:p>
          <a:p/>
          <a:p>
            <a:r>
              <a:t>― 進行メモ ―</a:t>
            </a:r>
          </a:p>
          <a:p>
            <a:r>
              <a:t>・「本日の決定事項は3点」と先に示すと、委員が論点を追いやすい</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【18:33〜18:36／3分】前回審議の振り返り</a:t>
            </a:r>
          </a:p>
          <a:p/>
          <a:p>
            <a:r>
              <a:t>第1回の振り返りでございます。</a:t>
            </a:r>
          </a:p>
          <a:p>
            <a:r>
              <a:t>1点目、経営の現状です。令和6年度決算で、使用料でどれだけ費用を賄えているかを示す経費回収率が、公共下水道で47.11%、農業集落排水で35.99%と低い水準にあることを確認いたしました。</a:t>
            </a:r>
          </a:p>
          <a:p>
            <a:r>
              <a:t>2点目、財政目標です。目標①として経常収支比率100%以上、目標②として経費回収率47%以上を段階的に目指すことを設定いたしました。</a:t>
            </a:r>
          </a:p>
          <a:p>
            <a:r>
              <a:t>3点目、改定パターンです。パターン①標準型、②家庭軽減型、④段階累進型の3案を提示し、いずれも20㎥で税抜3,000円、税込3,300円となる設計でご確認いただきました。</a:t>
            </a:r>
          </a:p>
          <a:p>
            <a:r>
              <a:t>4点目、社会資本整備総合交付金の要件です。5年に1回、使用料改定の必要性を検証することが交付の要件で、今回の審議会がその検証にあたります。</a:t>
            </a:r>
          </a:p>
          <a:p>
            <a:r>
              <a:t>5点目、段階的な改定です。2か年と3か年の2通りの単価をお示しいたしました。</a:t>
            </a:r>
          </a:p>
          <a:p/>
          <a:p>
            <a:r>
              <a:t>― 進行メモ ―</a:t>
            </a:r>
          </a:p>
          <a:p>
            <a:r>
              <a:t>・前回は推奨案②のみを提示していたため、今回は3パターンすべてを同じ条件で並べたと補足する</a:t>
            </a:r>
          </a:p>
          <a:p>
            <a:r>
              <a:t>・経費回収率＝使用料収入 ÷ 汚水処理費（維持管理費分）。用語は都度かみくだく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【18:41〜18:41／0分30秒】第1章　使用料改定案の検討</a:t>
            </a:r>
          </a:p>
          <a:p/>
          <a:p>
            <a:r>
              <a:t>それでは第1章、改定案の検討に入ります。3つのパターンそれぞれの収支見通しをお示ししたうえで、推奨案とその理由をご説明いたします。</a:t>
            </a:r>
          </a:p>
          <a:p>
            <a:r>
              <a:t>なお第1章以降の数値は2か年改定を基本として記載し、3か年改定は括弧書きで併記しております。改定年数そのものは第2章でご審議いただきます。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【18:41〜18:43／2分】01-1　改定しない場合の影響</a:t>
            </a:r>
          </a:p>
          <a:p/>
          <a:p>
            <a:r>
              <a:t>まず、改定を行わなかった場合にどうなるかでございます。</a:t>
            </a:r>
          </a:p>
          <a:p>
            <a:r>
              <a:t>左が現状維持、右が推奨案②で2か年改定を行った場合です。</a:t>
            </a:r>
          </a:p>
          <a:p>
            <a:r>
              <a:t>改定しない場合、住民の皆さまの負担は現行のままですが、令和8年度から16年度までの9年間で、両事業合わせて約3億6,000万円の経常赤字が積み上がる見通しです。この赤字は、一般会計からの繰入、つまり町民全体の税で補うか、施設の更新や修繕を先送りするかのいずれかで吸収することになります。</a:t>
            </a:r>
          </a:p>
          <a:p>
            <a:r>
              <a:t>加えて、交付金の要件である使用料改定の検証とロードマップの策定を満たせず、施設の改築・更新に対する国の補助を受けられなくなるおそれがございます。</a:t>
            </a:r>
          </a:p>
          <a:p>
            <a:r>
              <a:t>改定した場合は、20㎥をお使いのご家庭で月額880円、年間1万560円のご負担増となりますが、公共下水道は令和9年度に単年度黒字に転じる見通しでございます。</a:t>
            </a:r>
          </a:p>
          <a:p/>
          <a:p>
            <a:r>
              <a:t>― 進行メモ ―</a:t>
            </a:r>
          </a:p>
          <a:p>
            <a:r>
              <a:t>・数字は経営戦略ベースの推計値である旨は表下の注記にも記載済み</a:t>
            </a:r>
          </a:p>
          <a:p>
            <a:r>
              <a:t>・「改定しない選択肢もあるが、そのコストはこれです」という立て付けで話す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【18:43〜18:46／3分】01-2　推奨パターンの絞り込み</a:t>
            </a:r>
          </a:p>
          <a:p/>
          <a:p>
            <a:r>
              <a:t>3つのパターンの比較でございます。事務局といたしましてはパターン②家庭軽減型を推奨いたします。理由は2点ございます。</a:t>
            </a:r>
          </a:p>
          <a:p>
            <a:r>
              <a:t>1点目、財政の改善効果が3案の中で最も大きいことです。令和9年度の使用料収入は8,153万円と3案で最大、公共下水道の経費回収率46.1%、経常収支比率101.1%、農業集落排水の経費回収率54.2%も、いずれも3案の中で最良となります。</a:t>
            </a:r>
          </a:p>
          <a:p>
            <a:r>
              <a:t>2点目、少量でお使いのご家庭への影響が最も小さいことです。月10㎥のご家庭では、パターン②は月220円の増加にとどまります。パターン①では550円、④では440円の増加となりますので、②が最も緩やかです。</a:t>
            </a:r>
          </a:p>
          <a:p>
            <a:r>
              <a:t>つまり、財政効果が最も大きい案が、同時に少量使用の世帯に最も配慮した案になっている、という関係でございます。</a:t>
            </a:r>
          </a:p>
          <a:p>
            <a:r>
              <a:t>ただし1点、正直に申し上げなければならないことがございます。推奨案②を採用しても、公共下水道の経費回収率は令和9年度で46.1%にとどまり、目標の47%には届きません。金額にして164万7,000円、率にして2%分の不足です。この点は第3章であらためてご審議をお願いいたします。</a:t>
            </a:r>
          </a:p>
          <a:p/>
          <a:p>
            <a:r>
              <a:t>― 進行メモ ―</a:t>
            </a:r>
          </a:p>
          <a:p>
            <a:r>
              <a:t>・★ 本日の中心ページ。ここは省略しない</a:t>
            </a:r>
          </a:p>
          <a:p>
            <a:r>
              <a:t>・「なぜ②が収入最大なのか」を聞かれたら、次の01-6の構造の説明へ進む</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【18:46〜18:47／0分50秒】01-3　パターン①の収支見通し</a:t>
            </a:r>
          </a:p>
          <a:p/>
          <a:p>
            <a:r>
              <a:t>ここから3ページは、パターンごとの収支見通しでございます。まずパターン①標準型です。公共下水道の経常収支比率は令和9年度に100.0%、経費回収率は43.1%となる見通しです。</a:t>
            </a:r>
          </a:p>
          <a:p/>
          <a:p>
            <a:r>
              <a:t>― 進行メモ ―</a:t>
            </a:r>
          </a:p>
          <a:p>
            <a:r>
              <a:t>・3ページはテンポよく。詳細は次の比較ページでまとめて示す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【18:47〜18:48／1分】01-4　パターン②の収支見通し</a:t>
            </a:r>
          </a:p>
          <a:p/>
          <a:p>
            <a:r>
              <a:t>推奨案のパターン②家庭軽減型です。公共下水道の経常収支比率は令和9年度に101.1%、経費回収率は46.1%となり、3案の中で最も高い水準です。農業集落排水も経費回収率54.2%と、目標の47%を上回ります。</a:t>
            </a:r>
          </a:p>
          <a:p/>
          <a:p>
            <a:r>
              <a:t>― 進行メモ ―</a:t>
            </a:r>
          </a:p>
          <a:p>
            <a:r>
              <a:t>・ここだけは少し丁寧に。推奨案の根拠ページ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【18:48〜18:48／0分30秒】01-5　パターン④の収支見通し</a:t>
            </a:r>
          </a:p>
          <a:p/>
          <a:p>
            <a:r>
              <a:t>パターン④段階累進型です。経常収支比率100.4%、経費回収率44.1%と、①と②の中間の水準になります。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【18:48〜18:50／2分】01-6　3案の比較</a:t>
            </a:r>
          </a:p>
          <a:p/>
          <a:p>
            <a:r>
              <a:t>3案を並べたものがこのページでございます。左から使用料収入の大きい順に、②、④、①と並べております。</a:t>
            </a:r>
          </a:p>
          <a:p>
            <a:r>
              <a:t>使用料収入、経費回収率、経常収支比率のいずれも、②が最も良い結果となります。</a:t>
            </a:r>
          </a:p>
          <a:p>
            <a:r>
              <a:t>なぜ基本料金が最も安いパターン②の収入が最大になるのか、という点を補足いたします。六戸町の使用料収入は、基本料金の部分が約27%、水量に応じた従量部分が約73%でございます。有収水量で見ますと、約72%が11㎥を超える従量部分にあたります。</a:t>
            </a:r>
          </a:p>
          <a:p>
            <a:r>
              <a:t>パターン②は基本料金を1,200円と最も低く抑える一方で、従量単価を最も高く設定しております。そのため、基本料金を抑えた分を従量部分の増収が上回り、結果として収入が最大になる、という構造でございます。</a:t>
            </a:r>
          </a:p>
          <a:p>
            <a:r>
              <a:t>なお20㎥では3案とも税抜3,000円で同額となります。</a:t>
            </a:r>
          </a:p>
          <a:p/>
          <a:p>
            <a:r>
              <a:t>― 進行メモ ―</a:t>
            </a:r>
          </a:p>
          <a:p>
            <a:r>
              <a:t>・構造の説明は口頭では伝わりにくい。表を指しながらゆっくり</a:t>
            </a:r>
          </a:p>
          <a:p>
            <a:r>
              <a:t>・この説明が「少量配慮と収入最大の両立」の裏付けになる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【18:50〜18:52／1分30秒】01-7　改定率の妥当性</a:t>
            </a:r>
          </a:p>
          <a:p/>
          <a:p>
            <a:r>
              <a:t>改定後の水準が妥当かどうかでございます。</a:t>
            </a:r>
          </a:p>
          <a:p>
            <a:r>
              <a:t>20㎥、税込で申し上げますと、現在の2,420円が3,300円となります。改定率は36.4%です。</a:t>
            </a:r>
          </a:p>
          <a:p>
            <a:r>
              <a:t>青森県内の平均は、公共下水道で3,063円、農業集落排水で2,912円ですので、改定後の3,300円は県内平均をやや上回る水準となります。</a:t>
            </a:r>
          </a:p>
          <a:p>
            <a:r>
              <a:t>ご家庭のご負担は年間で1万560円の増、1日あたりに直しますと約29円の増加でございます。</a:t>
            </a:r>
          </a:p>
          <a:p/>
          <a:p>
            <a:r>
              <a:t>― 進行メモ ―</a:t>
            </a:r>
          </a:p>
          <a:p>
            <a:r>
              <a:t>・「1日29円」は住民説明でも使える言い方。ここで一度出しておく</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【18:52〜18:53／1分30秒】01-8　近隣自治体との比較</a:t>
            </a:r>
          </a:p>
          <a:p/>
          <a:p>
            <a:r>
              <a:t>近隣自治体との比較でございます。20㎥、税込、令和6年3月31日現在の数字です。</a:t>
            </a:r>
          </a:p>
          <a:p>
            <a:r>
              <a:t>おいらせ町が3,655円、八戸市が3,383円、七戸町と東北町が3,300円、五戸町が2,640円でございます。六戸町の改定後3,300円は、七戸町・東北町と同額で、近隣の中では中位に位置いたします。</a:t>
            </a:r>
          </a:p>
          <a:p>
            <a:r>
              <a:t>なお東北町は令和6年に2,640円から3,300円へ改定済みでございます。</a:t>
            </a:r>
          </a:p>
          <a:p>
            <a:r>
              <a:t>農業集落排水は右の表のとおりで、黒石市の4,045円が県内最高、新郷村の1,760円が最安となっております。</a:t>
            </a:r>
          </a:p>
          <a:p>
            <a:r>
              <a:t>第1章のご説明は以上です。推奨案②について、この段階でご意見はございますでしょうか。</a:t>
            </a:r>
          </a:p>
          <a:p/>
          <a:p>
            <a:r>
              <a:t>― 進行メモ ―</a:t>
            </a:r>
          </a:p>
          <a:p>
            <a:r>
              <a:t>・★ 第1章の区切り。ここで一度、委員に振る</a:t>
            </a:r>
          </a:p>
          <a:p>
            <a:r>
              <a:t>・三沢市は第1回資料に掲載がなく未掲載。聞かれたら「照会中」と回答</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【18:53〜18:54／0分30秒】第2章　段階的値上げの検討</a:t>
            </a:r>
          </a:p>
          <a:p/>
          <a:p>
            <a:r>
              <a:t>第2章では、改定を2か年で行うか3か年で行うかをご審議いただきます。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【18:54〜18:56／2分30秒】02-1　2か年改定と3か年改定</a:t>
            </a:r>
          </a:p>
          <a:p/>
          <a:p>
            <a:r>
              <a:t>2か年改定は、令和8年度に中間の単価、令和9年度に最終の単価を適用するものです。3か年改定は、令和8年度に第1段、令和9年度に第2段、令和10年度に最終単価と、3段階で引き上げます。</a:t>
            </a:r>
          </a:p>
          <a:p>
            <a:r>
              <a:t>2か年改定の利点は、財政目標の達成が早いこと、収入確保の確実性が高いこと、手続きが簡素であることです。一方で、1回あたりの値上げ幅が大きくなります。</a:t>
            </a:r>
          </a:p>
          <a:p>
            <a:r>
              <a:t>3か年改定の利点は、ご負担が3段階に平準化され、1回あたりの上げ幅が小さく説明しやすいことです。一方で、目標の達成が令和10年度まで1年遅れ、交付金要件の充足も遅れます。また改定と告示の手続きが複数回必要になります。</a:t>
            </a:r>
          </a:p>
          <a:p>
            <a:r>
              <a:t>住民負担の平準化と財政健全化の早期達成、どちらを重視するかというご判断になります。ご意見をお願いいたします。</a:t>
            </a:r>
          </a:p>
          <a:p/>
          <a:p>
            <a:r>
              <a:t>― 進行メモ ―</a:t>
            </a:r>
          </a:p>
          <a:p>
            <a:r>
              <a:t>・★ 本日の審議事項2つ目。ここで委員の感触をつかむ</a:t>
            </a:r>
          </a:p>
          <a:p>
            <a:r>
              <a:t>・「事務局としては2か年を軸に考えている」と言うかどうかは事前に町と擦り合わせておく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【18:56〜18:57／0分30秒】02-2　段階単価一覧（パターン①）</a:t>
            </a:r>
          </a:p>
          <a:p/>
          <a:p>
            <a:r>
              <a:t>ここから3ページは、パターンごとの段階単価の一覧でございます。左が2か年、右が3か年の単価です。</a:t>
            </a:r>
          </a:p>
          <a:p/>
          <a:p>
            <a:r>
              <a:t>― 進行メモ ―</a:t>
            </a:r>
          </a:p>
          <a:p>
            <a:r>
              <a:t>・3ページはめくるだけでよい。数字は読み上げない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【18:57〜18:57／0分30秒】02-3　段階単価一覧（パターン②）</a:t>
            </a:r>
          </a:p>
          <a:p/>
          <a:p>
            <a:r>
              <a:t>推奨案のパターン②です。基本料金は現在の1,000円から、2か年であれば令和8年度に1,100円、令和9年度に1,200円となります。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【18:57〜18:58／0分15秒】02-4　段階単価一覧（パターン④）</a:t>
            </a:r>
          </a:p>
          <a:p/>
          <a:p>
            <a:r>
              <a:t>パターン④でございます。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【18:58〜18:59／1分30秒】02-5　段階単価比較（2か年）</a:t>
            </a:r>
          </a:p>
          <a:p/>
          <a:p>
            <a:r>
              <a:t>3案の段階単価を並べたものです。2か年改定の場合の中間単価と最終単価でございます。</a:t>
            </a:r>
          </a:p>
          <a:p>
            <a:r>
              <a:t>1点、事務的な確認事項がございます。中間単価は現行と最終の中間値として算出しておりますが、端数の処理について、算定上は四捨五入、第1回資料では切り捨てで表示しており、5つの区分で1円の差が生じております。条例の書きぶりとあわせて確定させていただきます。</a:t>
            </a:r>
          </a:p>
          <a:p/>
          <a:p>
            <a:r>
              <a:t>― 進行メモ ―</a:t>
            </a:r>
          </a:p>
          <a:p>
            <a:r>
              <a:t>・端数処理は事務手続きの話。委員の判断事項ではないので簡潔に</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【18:59〜19:00／1分】02-6　段階単価比較（3か年）</a:t>
            </a:r>
          </a:p>
          <a:p/>
          <a:p>
            <a:r>
              <a:t>3か年改定の場合の第1段、第2段の単価でございます。令和10年度の最終単価は2か年改定と同じ金額になります。各段階の上げ幅は小さくなりますが、最終単価の適用が1年遅れることになります。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【19:00〜19:02／1分30秒】02-7　改定ロードマップ</a:t>
            </a:r>
          </a:p>
          <a:p/>
          <a:p>
            <a:r>
              <a:t>改定のロードマップでございます。</a:t>
            </a:r>
          </a:p>
          <a:p>
            <a:r>
              <a:t>今回の改定は、経費回収率を34.4%から46.1%へ引き上げる第1段階の適正化と位置付けております。目標の47%以上は、次回改定とあわせて段階的に達成する想定です。</a:t>
            </a:r>
          </a:p>
          <a:p>
            <a:r>
              <a:t>次回の検証は令和12年度を予定しております。経営戦略の改定期にあたり、5年に1回という交付金の要件にも合致いたします。</a:t>
            </a:r>
          </a:p>
          <a:p>
            <a:r>
              <a:t>交付金につきましては、使用料の単価が1立方メートルあたり150円を下回る場合などが交付対象外の判定基準となっておりますが、今回の改定により127.8円から182.6円となり、この基準を明確に上回ることになります。</a:t>
            </a:r>
          </a:p>
          <a:p>
            <a:r>
              <a:t>第2章は以上です。2か年か3か年か、この場でご意見をいただければと存じます。</a:t>
            </a:r>
          </a:p>
          <a:p/>
          <a:p>
            <a:r>
              <a:t>― 進行メモ ―</a:t>
            </a:r>
          </a:p>
          <a:p>
            <a:r>
              <a:t>・★ 第2章の区切り。改定年数について委員に振る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【19:02〜19:02／0分30秒】第3章　財政健全化目標との整合性</a:t>
            </a:r>
          </a:p>
          <a:p/>
          <a:p>
            <a:r>
              <a:t>第3章では、第1回で設定した財政目標との関係を確認し、目標水準の設定についてご審議いただきます。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【19:02〜19:03／0分40秒】03-1　経常収支比率（パターン①）</a:t>
            </a:r>
          </a:p>
          <a:p/>
          <a:p>
            <a:r>
              <a:t>ここから3ページは、単年度の収支が黒字かどうかを示す経常収支比率の見通しでございます。</a:t>
            </a:r>
          </a:p>
          <a:p/>
          <a:p>
            <a:r>
              <a:t>― 進行メモ ―</a:t>
            </a:r>
          </a:p>
          <a:p>
            <a:r>
              <a:t>・3ページはまとめて。②のページで止める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【19:03〜19:04／1分20秒】03-2　経常収支比率（パターン②）</a:t>
            </a:r>
          </a:p>
          <a:p/>
          <a:p>
            <a:r>
              <a:t>推奨案②の場合、公共下水道は令和9年度に101.1%となり、目標の100%以上を達成する見通しです。</a:t>
            </a:r>
          </a:p>
          <a:p>
            <a:r>
              <a:t>一方、農業集落排水は令和10年度でも85.9%にとどまり、100%には届きません。この事業だけで100%を達成するには、使用料収入が年間3,667万円必要となり、これは改定後の約1.7倍、20㎥に換算すると月額税込で約5,700円に相当いたします。料金改定だけで達成することは構造的に困難であり、引き続き他会計からの繰入が前提となります。</a:t>
            </a:r>
          </a:p>
          <a:p/>
          <a:p>
            <a:r>
              <a:t>― 進行メモ ―</a:t>
            </a:r>
          </a:p>
          <a:p>
            <a:r>
              <a:t>・★ 「農集はなぜ100%に届かないのか」への答えを先回りして述べている</a:t>
            </a:r>
          </a:p>
          <a:p>
            <a:r>
              <a:t>・農集の経費回収率（目標②47%）は54.2%で達成済み。混同されやすいので必要に応じ補足</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【19:04〜19:05／0分30秒】03-3　経常収支比率（パターン④）</a:t>
            </a:r>
          </a:p>
          <a:p/>
          <a:p>
            <a:r>
              <a:t>パターン④の場合でございます。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【19:05〜19:07／2分30秒】03-4　経費回収率と目標値（公共・2か年）</a:t>
            </a:r>
          </a:p>
          <a:p/>
          <a:p>
            <a:r>
              <a:t>経費回収率の見通しと、目標水準の案でございます。</a:t>
            </a:r>
          </a:p>
          <a:p>
            <a:r>
              <a:t>目標水準の案は、令和9年度に47%以上、令和10年度に50%以上、令和12年度に55%以上としております。</a:t>
            </a:r>
          </a:p>
          <a:p>
            <a:r>
              <a:t>しかし今回の改定だけでは、令和9年度で43%から46%にとどまり、いずれのパターンでも47%には到達いたしません。推奨案②の場合、47%まで164万7,000円、令和10年度の50%までは626万8,000円、令和12年度の55%までは1,794万4,000円の増収が必要となります。</a:t>
            </a:r>
          </a:p>
          <a:p>
            <a:r>
              <a:t>つきましては、目標水準を今回の改定で達成可能な水準に見直すか、目標は維持したうえで次回改定とあわせた達成年次に改めるか、この点をご審議いただきたく存じます。</a:t>
            </a:r>
          </a:p>
          <a:p>
            <a:r>
              <a:t>なお、先ほど別紙でご説明したとおり、令和7年度決算では経費回収率が45.35%となっており、実績ベースで見ると目標にかなり近い水準にございます。この点も含めて、目標の置き方をご検討いただければと思います。</a:t>
            </a:r>
          </a:p>
          <a:p/>
          <a:p>
            <a:r>
              <a:t>― 進行メモ ―</a:t>
            </a:r>
          </a:p>
          <a:p>
            <a:r>
              <a:t>・★ 本日の審議事項3つ目。最も時間をかけるページ</a:t>
            </a:r>
          </a:p>
          <a:p>
            <a:r>
              <a:t>・本編（推計）と別紙（実績）の関係をここでもう一度つなぐ</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【19:07〜19:08／0分40秒】03-5　経費回収率と目標値（公共・3か年）</a:t>
            </a:r>
          </a:p>
          <a:p/>
          <a:p>
            <a:r>
              <a:t>3か年改定の場合でございます。最終単価の適用が令和10年度となるため、目標への到達がその分遅れます。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【19:08〜19:09／1分】03-6　経費回収率と目標値（農業集落排水・2か年）</a:t>
            </a:r>
          </a:p>
          <a:p/>
          <a:p>
            <a:r>
              <a:t>農業集落排水の経費回収率でございます。推奨案②であれば令和9年度に54.2%となり、目標の47%を達成する見通しです。公共下水道より高い水準になります。</a:t>
            </a:r>
          </a:p>
          <a:p>
            <a:r>
              <a:t>ただし令和11年度以降は、有収水量の減少により低下してまいります。</a:t>
            </a:r>
          </a:p>
          <a:p/>
          <a:p>
            <a:r>
              <a:t>― 進行メモ ―</a:t>
            </a:r>
          </a:p>
          <a:p>
            <a:r>
              <a:t>・先ほどの03-2（経常収支比率は未達）との違いを、聞かれたら丁寧に切り分ける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【19:09〜19:09／0分30秒】03-7　経費回収率と目標値（農業集落排水・3か年）</a:t>
            </a:r>
          </a:p>
          <a:p/>
          <a:p>
            <a:r>
              <a:t>3か年改定の場合でございます。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【19:09〜19:10／1分10秒】03-8　全パターン指標比較（2か年）</a:t>
            </a:r>
          </a:p>
          <a:p/>
          <a:p>
            <a:r>
              <a:t>2つの指標を3案・両事業でまとめた表でございます。使用料収入が最も大きいパターン②が、両指標とも最良となっております。</a:t>
            </a:r>
          </a:p>
          <a:p>
            <a:r>
              <a:t>農業集落排水の目標①、経常収支比率100%以上につきましては、今回の改定では構造的に達成できないため、長期的に目指す目標として位置付けることの可否をあわせてご審議いただきたく存じます。</a:t>
            </a:r>
          </a:p>
          <a:p/>
          <a:p>
            <a:r>
              <a:t>― 進行メモ ―</a:t>
            </a:r>
          </a:p>
          <a:p>
            <a:r>
              <a:t>・★ 農集の目標①の扱いも審議事項。ここで確認をとる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【19:10〜19:11／0分30秒】03-9　全パターン指標比較（3か年）</a:t>
            </a:r>
          </a:p>
          <a:p/>
          <a:p>
            <a:r>
              <a:t>3か年改定の場合でございます。令和10年度以降は2か年改定と同じ水準に収束いたします。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【19:11〜19:11／0分30秒】第4章　住民への影響・説明対応</a:t>
            </a:r>
          </a:p>
          <a:p/>
          <a:p>
            <a:r>
              <a:t>第4章では、住民の皆さまへの影響と、今後の説明の進め方についてご説明いたします。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【19:11〜19:12／0分40秒】04-1　影響額（パターン①）</a:t>
            </a:r>
          </a:p>
          <a:p/>
          <a:p>
            <a:r>
              <a:t>ここから3ページは、ご家庭と事業所それぞれの月額の変化でございます。改定完了後、税込の金額です。</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【19:12〜19:13／1分20秒】04-2　影響額（パターン②）</a:t>
            </a:r>
          </a:p>
          <a:p/>
          <a:p>
            <a:r>
              <a:t>推奨案②の場合でございます。</a:t>
            </a:r>
          </a:p>
          <a:p>
            <a:r>
              <a:t>20㎥の3人世帯で、現在の2,420円が3,300円、月額880円の増加となります。年間では1万560円、1日あたり約29円でございます。</a:t>
            </a:r>
          </a:p>
          <a:p>
            <a:r>
              <a:t>10㎥の少量でお使いのご家庭では、1,100円が1,320円、月額220円の増加にとどまります。</a:t>
            </a:r>
          </a:p>
          <a:p>
            <a:r>
              <a:t>事業所につきましては、100㎥をお使いの飲食店・小売店の例で、1万4,300円が2万1,175円、月額6,875円の増加となります。</a:t>
            </a:r>
          </a:p>
          <a:p/>
          <a:p>
            <a:r>
              <a:t>― 進行メモ ―</a:t>
            </a:r>
          </a:p>
          <a:p>
            <a:r>
              <a:t>・★ 住民説明で最も使うページ。ここは丁寧に</a:t>
            </a:r>
          </a:p>
          <a:p>
            <a:r>
              <a:t>・世帯人数・業種はあくまで水量の目安である旨、注記にも記載済み</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【19:13〜19:14／0分30秒】04-3　影響額（パターン④）</a:t>
            </a:r>
          </a:p>
          <a:p/>
          <a:p>
            <a:r>
              <a:t>パターン④の場合でございます。</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【19:14〜19:15／1分30秒】04-4　使用水量別の月額一覧</a:t>
            </a:r>
          </a:p>
          <a:p/>
          <a:p>
            <a:r>
              <a:t>使用水量ごとに3案を並べた一覧でございます。10㎥から100㎥まで6段階でお示ししております。</a:t>
            </a:r>
          </a:p>
          <a:p>
            <a:r>
              <a:t>青枠の20㎥が一般的なご家庭の使用量で、ここは3案とも税込3,300円、月額880円の増加で共通です。</a:t>
            </a:r>
          </a:p>
          <a:p>
            <a:r>
              <a:t>10㎥ではパターン②が最も緩やか、50㎥、100㎥といった多量使用では②が最も大きくなる、という関係がご覧いただけるかと思います。</a:t>
            </a:r>
          </a:p>
          <a:p/>
          <a:p>
            <a:r>
              <a:t>― 進行メモ ―</a:t>
            </a:r>
          </a:p>
          <a:p>
            <a:r>
              <a:t>・少量配慮と大口累進の両方が一目で見えるページ。指しながら説明する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【19:15〜19:17／2分】04-5　住民説明会の実施計画</a:t>
            </a:r>
          </a:p>
          <a:p/>
          <a:p>
            <a:r>
              <a:t>住民説明会の実施計画案でございます。</a:t>
            </a:r>
          </a:p>
          <a:p>
            <a:r>
              <a:t>改定の内容が固まりましたら、住民の皆さまへの説明を行ってまいります。説明会でのご意見・ご質問は、次回の審議会にフィードバックし、必要に応じて案の修正を検討いたします。</a:t>
            </a:r>
          </a:p>
          <a:p>
            <a:r>
              <a:t>説明の際に使う資料や、開催の回数・場所につきまして、ご意見がございましたらお願いいたします。</a:t>
            </a:r>
          </a:p>
          <a:p/>
          <a:p>
            <a:r>
              <a:t>― 進行メモ ―</a:t>
            </a:r>
          </a:p>
          <a:p>
            <a:r>
              <a:t>・開催時期・会場は町の予定に合わせて読み替える</a:t>
            </a:r>
          </a:p>
          <a:p>
            <a:r>
              <a:t>・「説明会の意見を次回に持ち帰る」ことを明言しておくと、委員の納得を得やすい</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【19:17〜19:19／1分30秒】次回（第3回）予定事項</a:t>
            </a:r>
          </a:p>
          <a:p/>
          <a:p>
            <a:r>
              <a:t>最後に次回のご案内でございます。</a:t>
            </a:r>
          </a:p>
          <a:p>
            <a:r>
              <a:t>第3回では、基本料金と従量料金のバランス、水量区分の見直し、答申案の策定、そして住民説明会でのご意見の反映についてご審議いただく予定でございます。</a:t>
            </a:r>
          </a:p>
          <a:p>
            <a:r>
              <a:t>本日ご審議いただいた推奨パターン、改定年数、財政目標につきましては、本日のご意見を踏まえて資料を整理し、次回お示しいたします。</a:t>
            </a:r>
          </a:p>
          <a:p>
            <a:r>
              <a:t>説明は以上でございます。ここからご質問・ご意見を頂戴できればと存じます。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Master1-Office-Them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1-Layout1-cust-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2556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2556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left_bar"/>
          <p:cNvSpPr/>
          <p:nvPr/>
        </p:nvSpPr>
        <p:spPr>
          <a:xfrm>
            <a:off x="9000" y="9000"/>
            <a:ext cx="228600" cy="68389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bottom_bar"/>
          <p:cNvSpPr/>
          <p:nvPr/>
        </p:nvSpPr>
        <p:spPr>
          <a:xfrm>
            <a:off x="9000" y="6734520"/>
            <a:ext cx="12173400" cy="11448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2" name="deco_circle"/>
          <p:cNvSpPr/>
          <p:nvPr/>
        </p:nvSpPr>
        <p:spPr>
          <a:xfrm>
            <a:off x="8848800" y="4466880"/>
            <a:ext cx="1904760" cy="190476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3" name="div_line"/>
          <p:cNvSpPr/>
          <p:nvPr/>
        </p:nvSpPr>
        <p:spPr>
          <a:xfrm>
            <a:off x="1152000" y="3696840"/>
            <a:ext cx="62481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org_name"/>
          <p:cNvSpPr/>
          <p:nvPr/>
        </p:nvSpPr>
        <p:spPr>
          <a:xfrm>
            <a:off x="1152000" y="1459440"/>
            <a:ext cx="640080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64748B"/>
                </a:solidFill>
                <a:latin typeface="Noto Sans CJK JP"/>
                <a:cs typeface="Noto Sans CJK JP"/>
              </a:rPr>
              <a:t>六戸町 下水道使用料審議委員会</a:t>
            </a:r>
          </a:p>
        </p:txBody>
      </p:sp>
      <p:sp>
        <p:nvSpPr>
          <p:cNvPr id="25" name="title1"/>
          <p:cNvSpPr/>
          <p:nvPr/>
        </p:nvSpPr>
        <p:spPr>
          <a:xfrm>
            <a:off x="1152000" y="1774080"/>
            <a:ext cx="4000000" cy="8769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1" dirty="0">
                <a:solidFill>
                  <a:srgbClr val="1E293B"/>
                </a:solidFill>
                <a:latin typeface="Arial"/>
                <a:cs typeface="Noto Sans CJK JP"/>
              </a:rPr>
              <a:t>第２回</a:t>
            </a:r>
          </a:p>
        </p:txBody>
      </p:sp>
      <p:sp>
        <p:nvSpPr>
          <p:cNvPr id="26" name="title2"/>
          <p:cNvSpPr/>
          <p:nvPr/>
        </p:nvSpPr>
        <p:spPr>
          <a:xfrm>
            <a:off x="1152000" y="2650000"/>
            <a:ext cx="7000000" cy="8769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1" dirty="0">
                <a:solidFill>
                  <a:srgbClr val="1E293B"/>
                </a:solidFill>
                <a:latin typeface="Arial"/>
                <a:cs typeface="Noto Sans CJK JP"/>
              </a:rPr>
              <a:t>審議会 資料</a:t>
            </a:r>
          </a:p>
        </p:txBody>
      </p:sp>
      <p:sp>
        <p:nvSpPr>
          <p:cNvPr id="27" name="date_icon"/>
          <p:cNvSpPr/>
          <p:nvPr/>
        </p:nvSpPr>
        <p:spPr>
          <a:xfrm>
            <a:off x="1152000" y="3900000"/>
            <a:ext cx="457200" cy="4572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8" name="date_txt"/>
          <p:cNvSpPr/>
          <p:nvPr/>
        </p:nvSpPr>
        <p:spPr>
          <a:xfrm>
            <a:off x="1837800" y="3930000"/>
            <a:ext cx="667512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475569"/>
                </a:solidFill>
                <a:latin typeface="Noto Sans CJK JP"/>
                <a:cs typeface="Noto Sans CJK JP"/>
              </a:rPr>
              <a:t>令和８年８月19日（水）　18:30〜</a:t>
            </a:r>
          </a:p>
        </p:txBody>
      </p:sp>
      <p:sp>
        <p:nvSpPr>
          <p:cNvPr id="29" name="loc_icon"/>
          <p:cNvSpPr/>
          <p:nvPr/>
        </p:nvSpPr>
        <p:spPr>
          <a:xfrm>
            <a:off x="1152000" y="4550000"/>
            <a:ext cx="457200" cy="4572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0" name="loc_txt"/>
          <p:cNvSpPr/>
          <p:nvPr/>
        </p:nvSpPr>
        <p:spPr>
          <a:xfrm>
            <a:off x="1837800" y="4570000"/>
            <a:ext cx="6675120" cy="38124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100" b="0" dirty="0">
                <a:solidFill>
                  <a:srgbClr val="475569"/>
                </a:solidFill>
                <a:latin typeface="Noto Sans CJK JP"/>
                <a:cs typeface="Noto Sans CJK JP"/>
              </a:rPr>
              <a:t>六戸町役場 ２階 小会議室</a:t>
            </a:r>
          </a:p>
        </p:txBody>
      </p:sp>
      <p:sp>
        <p:nvSpPr>
          <p:cNvPr id="4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hdr_bar"/>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hdr_line"/>
          <p:cNvSpPr/>
          <p:nvPr/>
        </p:nvSpPr>
        <p:spPr>
          <a:xfrm>
            <a:off x="0" y="72432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2" name="hdr_title"/>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5400" b="0" dirty="0">
                <a:solidFill>
                  <a:srgbClr val="FFFFFF"/>
                </a:solidFill>
                <a:latin typeface="Arial"/>
                <a:cs typeface="Noto Sans CJK JP"/>
              </a:rPr>
              <a:t>目次</a:t>
            </a:r>
          </a:p>
        </p:txBody>
      </p:sp>
      <p:sp>
        <p:nvSpPr>
          <p:cNvPr id="23" name="agenda_lbl"/>
          <p:cNvSpPr/>
          <p:nvPr/>
        </p:nvSpPr>
        <p:spPr>
          <a:xfrm>
            <a:off x="571680" y="780000"/>
            <a:ext cx="2000000" cy="32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500" b="0" dirty="0">
                <a:solidFill>
                  <a:srgbClr val="FFFFFF"/>
                </a:solidFill>
                <a:latin typeface="Noto Sans CJK JP"/>
                <a:cs typeface="Noto Sans CJK JP"/>
              </a:rPr>
              <a:t>AGENDA</a:t>
            </a:r>
          </a:p>
        </p:txBody>
      </p:sp>
      <p:sp>
        <p:nvSpPr>
          <p:cNvPr id="30" name="num_bg"/>
          <p:cNvSpPr/>
          <p:nvPr/>
        </p:nvSpPr>
        <p:spPr>
          <a:xfrm>
            <a:off x="571680" y="110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1" name="num_txt"/>
          <p:cNvSpPr/>
          <p:nvPr/>
        </p:nvSpPr>
        <p:spPr>
          <a:xfrm>
            <a:off x="571680" y="110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en-US" altLang="ja-JP" sz="4800" b="0" dirty="0">
                <a:solidFill>
                  <a:srgbClr val="CBD5E1"/>
                </a:solidFill>
                <a:latin typeface="Arial"/>
                <a:cs typeface="Noto Sans CJK JP"/>
              </a:rPr>
              <a:t>0</a:t>
            </a:r>
            <a:endParaRPr lang="ja-JP" sz="4800" b="0" dirty="0">
              <a:solidFill>
                <a:srgbClr val="CBD5E1"/>
              </a:solidFill>
              <a:latin typeface="Arial"/>
              <a:cs typeface="Noto Sans CJK JP"/>
            </a:endParaRPr>
          </a:p>
        </p:txBody>
      </p:sp>
      <p:sp>
        <p:nvSpPr>
          <p:cNvPr id="32" name="item_lbl"/>
          <p:cNvSpPr/>
          <p:nvPr/>
        </p:nvSpPr>
        <p:spPr>
          <a:xfrm>
            <a:off x="1524000" y="110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000" b="0" dirty="0">
                <a:solidFill>
                  <a:srgbClr val="64748B"/>
                </a:solidFill>
                <a:latin typeface="Noto Sans CJK JP"/>
                <a:cs typeface="Noto Sans CJK JP"/>
              </a:rPr>
              <a:t>前回審議の振り返り</a:t>
            </a:r>
          </a:p>
        </p:txBody>
      </p:sp>
      <p:sp>
        <p:nvSpPr>
          <p:cNvPr id="33" name="item_desc"/>
          <p:cNvSpPr/>
          <p:nvPr/>
        </p:nvSpPr>
        <p:spPr>
          <a:xfrm>
            <a:off x="4924000" y="110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第1回審議内容のまとめ・委員意見への対応方針</a:t>
            </a:r>
          </a:p>
        </p:txBody>
      </p:sp>
      <p:sp>
        <p:nvSpPr>
          <p:cNvPr id="34" name="num_bg"/>
          <p:cNvSpPr/>
          <p:nvPr/>
        </p:nvSpPr>
        <p:spPr>
          <a:xfrm>
            <a:off x="571680" y="201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5" name="num_txt"/>
          <p:cNvSpPr/>
          <p:nvPr/>
        </p:nvSpPr>
        <p:spPr>
          <a:xfrm>
            <a:off x="571680" y="201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01</a:t>
            </a:r>
          </a:p>
        </p:txBody>
      </p:sp>
      <p:sp>
        <p:nvSpPr>
          <p:cNvPr id="36" name="item_lbl"/>
          <p:cNvSpPr/>
          <p:nvPr/>
        </p:nvSpPr>
        <p:spPr>
          <a:xfrm>
            <a:off x="1524000" y="201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01</a:t>
            </a:r>
          </a:p>
        </p:txBody>
      </p:sp>
      <p:sp>
        <p:nvSpPr>
          <p:cNvPr id="37" name="item_desc"/>
          <p:cNvSpPr/>
          <p:nvPr/>
        </p:nvSpPr>
        <p:spPr>
          <a:xfrm>
            <a:off x="4924000" y="201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改定しない場合の影響・パターン①②④の収支シミュレーション・改定率の妥当性・近隣自治体比較</a:t>
            </a:r>
          </a:p>
        </p:txBody>
      </p:sp>
      <p:sp>
        <p:nvSpPr>
          <p:cNvPr id="38" name="num_bg"/>
          <p:cNvSpPr/>
          <p:nvPr/>
        </p:nvSpPr>
        <p:spPr>
          <a:xfrm>
            <a:off x="571680" y="292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9" name="num_txt"/>
          <p:cNvSpPr/>
          <p:nvPr/>
        </p:nvSpPr>
        <p:spPr>
          <a:xfrm>
            <a:off x="571680" y="292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02</a:t>
            </a:r>
          </a:p>
        </p:txBody>
      </p:sp>
      <p:sp>
        <p:nvSpPr>
          <p:cNvPr id="40" name="item_lbl"/>
          <p:cNvSpPr/>
          <p:nvPr/>
        </p:nvSpPr>
        <p:spPr>
          <a:xfrm>
            <a:off x="1524000" y="292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02</a:t>
            </a:r>
          </a:p>
        </p:txBody>
      </p:sp>
      <p:sp>
        <p:nvSpPr>
          <p:cNvPr id="41" name="item_desc"/>
          <p:cNvSpPr/>
          <p:nvPr/>
        </p:nvSpPr>
        <p:spPr>
          <a:xfrm>
            <a:off x="4924000" y="292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段階的値上げの検討（2か年vs3か年・パターン別段階単価一覧・改定ロードマップ）</a:t>
            </a:r>
          </a:p>
        </p:txBody>
      </p:sp>
      <p:sp>
        <p:nvSpPr>
          <p:cNvPr id="42" name="num_bg"/>
          <p:cNvSpPr/>
          <p:nvPr/>
        </p:nvSpPr>
        <p:spPr>
          <a:xfrm>
            <a:off x="571680" y="383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43" name="num_txt"/>
          <p:cNvSpPr/>
          <p:nvPr/>
        </p:nvSpPr>
        <p:spPr>
          <a:xfrm>
            <a:off x="571680" y="383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03</a:t>
            </a:r>
          </a:p>
        </p:txBody>
      </p:sp>
      <p:sp>
        <p:nvSpPr>
          <p:cNvPr id="44" name="item_lbl"/>
          <p:cNvSpPr/>
          <p:nvPr/>
        </p:nvSpPr>
        <p:spPr>
          <a:xfrm>
            <a:off x="1524000" y="383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03</a:t>
            </a:r>
          </a:p>
        </p:txBody>
      </p:sp>
      <p:sp>
        <p:nvSpPr>
          <p:cNvPr id="45" name="item_desc"/>
          <p:cNvSpPr/>
          <p:nvPr/>
        </p:nvSpPr>
        <p:spPr>
          <a:xfrm>
            <a:off x="4924000" y="383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財政健全化目標との整合性（経常収支比率・経費回収率・目標値設定）</a:t>
            </a:r>
          </a:p>
        </p:txBody>
      </p:sp>
      <p:sp>
        <p:nvSpPr>
          <p:cNvPr id="46" name="num_bg"/>
          <p:cNvSpPr/>
          <p:nvPr/>
        </p:nvSpPr>
        <p:spPr>
          <a:xfrm>
            <a:off x="571680" y="474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47" name="num_txt"/>
          <p:cNvSpPr/>
          <p:nvPr/>
        </p:nvSpPr>
        <p:spPr>
          <a:xfrm>
            <a:off x="571680" y="474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4000" b="0" dirty="0">
                <a:solidFill>
                  <a:srgbClr val="CBD5E1"/>
                </a:solidFill>
                <a:latin typeface="Arial"/>
                <a:cs typeface="Noto Sans CJK JP"/>
              </a:rPr>
              <a:t>04</a:t>
            </a:r>
          </a:p>
        </p:txBody>
      </p:sp>
      <p:sp>
        <p:nvSpPr>
          <p:cNvPr id="48" name="item_lbl"/>
          <p:cNvSpPr/>
          <p:nvPr/>
        </p:nvSpPr>
        <p:spPr>
          <a:xfrm>
            <a:off x="1524000" y="474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400" b="0" dirty="0">
                <a:solidFill>
                  <a:srgbClr val="1E293B"/>
                </a:solidFill>
                <a:latin typeface="Noto Sans CJK JP"/>
                <a:cs typeface="Noto Sans CJK JP"/>
              </a:rPr>
              <a:t>SECTION 04</a:t>
            </a:r>
          </a:p>
        </p:txBody>
      </p:sp>
      <p:sp>
        <p:nvSpPr>
          <p:cNvPr id="49" name="item_desc"/>
          <p:cNvSpPr/>
          <p:nvPr/>
        </p:nvSpPr>
        <p:spPr>
          <a:xfrm>
            <a:off x="4924000" y="474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住民への影響・説明対応（パターン別影響額・説明会計画）</a:t>
            </a:r>
          </a:p>
        </p:txBody>
      </p:sp>
      <p:sp>
        <p:nvSpPr>
          <p:cNvPr id="50" name="num_bg"/>
          <p:cNvSpPr/>
          <p:nvPr/>
        </p:nvSpPr>
        <p:spPr>
          <a:xfrm>
            <a:off x="571680" y="565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51" name="num_txt"/>
          <p:cNvSpPr/>
          <p:nvPr/>
        </p:nvSpPr>
        <p:spPr>
          <a:xfrm>
            <a:off x="571680" y="5650000"/>
            <a:ext cx="800000" cy="84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en-US" altLang="ja-JP" sz="4800" b="0" dirty="0">
                <a:solidFill>
                  <a:srgbClr val="CBD5E1"/>
                </a:solidFill>
                <a:latin typeface="Arial"/>
                <a:cs typeface="Noto Sans CJK JP"/>
              </a:rPr>
              <a:t>5</a:t>
            </a:r>
            <a:endParaRPr lang="ja-JP" sz="4800" b="0" dirty="0">
              <a:solidFill>
                <a:srgbClr val="CBD5E1"/>
              </a:solidFill>
              <a:latin typeface="Arial"/>
              <a:cs typeface="Noto Sans CJK JP"/>
            </a:endParaRPr>
          </a:p>
        </p:txBody>
      </p:sp>
      <p:sp>
        <p:nvSpPr>
          <p:cNvPr id="52" name="item_lbl"/>
          <p:cNvSpPr/>
          <p:nvPr/>
        </p:nvSpPr>
        <p:spPr>
          <a:xfrm>
            <a:off x="1524000" y="5650000"/>
            <a:ext cx="320000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2000" b="0" dirty="0">
                <a:solidFill>
                  <a:srgbClr val="64748B"/>
                </a:solidFill>
                <a:latin typeface="Noto Sans CJK JP"/>
                <a:cs typeface="Noto Sans CJK JP"/>
              </a:rPr>
              <a:t>次回（第3回）予定</a:t>
            </a:r>
          </a:p>
        </p:txBody>
      </p:sp>
      <p:sp>
        <p:nvSpPr>
          <p:cNvPr id="53" name="item_desc"/>
          <p:cNvSpPr/>
          <p:nvPr/>
        </p:nvSpPr>
        <p:spPr>
          <a:xfrm>
            <a:off x="4924000" y="5650000"/>
            <a:ext cx="7267760" cy="84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64748B"/>
                </a:solidFill>
                <a:latin typeface="Noto Sans CJK JP"/>
                <a:cs typeface="Noto Sans CJK JP"/>
              </a:rPr>
              <a:t>料金体系見直し・答申案策定・意見集約</a:t>
            </a:r>
          </a:p>
        </p:txBody>
      </p:sp>
      <p:sp>
        <p:nvSpPr>
          <p:cNvPr id="10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9435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第1回審議内容のまとめ</a:t>
            </a:r>
          </a:p>
        </p:txBody>
      </p:sp>
      <p:sp>
        <p:nvSpPr>
          <p:cNvPr id="17" name="pi"/>
          <p:cNvSpPr/>
          <p:nvPr/>
        </p:nvSpPr>
        <p:spPr>
          <a:xfrm>
            <a:off x="571680" y="195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8" name="pt"/>
          <p:cNvSpPr/>
          <p:nvPr/>
        </p:nvSpPr>
        <p:spPr>
          <a:xfrm>
            <a:off x="1100000" y="195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現状の経営状況</a:t>
            </a:r>
          </a:p>
        </p:txBody>
      </p:sp>
      <p:sp>
        <p:nvSpPr>
          <p:cNvPr id="19" name="pb"/>
          <p:cNvSpPr/>
          <p:nvPr/>
        </p:nvSpPr>
        <p:spPr>
          <a:xfrm>
            <a:off x="4200000" y="195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公共の経費回収率47.11%・農集35.99%（令和6年度決算）と低水準。使用料改定が必要。経営持続のための抜本的対策を確認した。</a:t>
            </a:r>
          </a:p>
        </p:txBody>
      </p:sp>
      <p:sp>
        <p:nvSpPr>
          <p:cNvPr id="20" name="pi"/>
          <p:cNvSpPr/>
          <p:nvPr/>
        </p:nvSpPr>
        <p:spPr>
          <a:xfrm>
            <a:off x="571680" y="277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pt"/>
          <p:cNvSpPr/>
          <p:nvPr/>
        </p:nvSpPr>
        <p:spPr>
          <a:xfrm>
            <a:off x="1100000" y="277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財政目標の確認</a:t>
            </a:r>
          </a:p>
        </p:txBody>
      </p:sp>
      <p:sp>
        <p:nvSpPr>
          <p:cNvPr id="22" name="pb"/>
          <p:cNvSpPr/>
          <p:nvPr/>
        </p:nvSpPr>
        <p:spPr>
          <a:xfrm>
            <a:off x="4200000" y="277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目標①経常収支比率100%以上、目標②経費回収率47%以上（段階的向上）を目標として設定した。</a:t>
            </a:r>
          </a:p>
        </p:txBody>
      </p:sp>
      <p:sp>
        <p:nvSpPr>
          <p:cNvPr id="23" name="pi"/>
          <p:cNvSpPr/>
          <p:nvPr/>
        </p:nvSpPr>
        <p:spPr>
          <a:xfrm>
            <a:off x="571680" y="359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pt"/>
          <p:cNvSpPr/>
          <p:nvPr/>
        </p:nvSpPr>
        <p:spPr>
          <a:xfrm>
            <a:off x="1100000" y="359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シミュレーション結果</a:t>
            </a:r>
          </a:p>
        </p:txBody>
      </p:sp>
      <p:sp>
        <p:nvSpPr>
          <p:cNvPr id="25" name="pb"/>
          <p:cNvSpPr/>
          <p:nvPr/>
        </p:nvSpPr>
        <p:spPr>
          <a:xfrm>
            <a:off x="4200000" y="359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パターン①②④を提示。20㎥で税抜3,000円・税込3,300円を達成。今回は3パターンすべての収支シミュレーションを提示する。</a:t>
            </a:r>
          </a:p>
        </p:txBody>
      </p:sp>
      <p:sp>
        <p:nvSpPr>
          <p:cNvPr id="26" name="pi"/>
          <p:cNvSpPr/>
          <p:nvPr/>
        </p:nvSpPr>
        <p:spPr>
          <a:xfrm>
            <a:off x="571680" y="441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pt"/>
          <p:cNvSpPr/>
          <p:nvPr/>
        </p:nvSpPr>
        <p:spPr>
          <a:xfrm>
            <a:off x="1100000" y="441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社会資本整備交付金要件</a:t>
            </a:r>
          </a:p>
        </p:txBody>
      </p:sp>
      <p:sp>
        <p:nvSpPr>
          <p:cNvPr id="28" name="pb"/>
          <p:cNvSpPr/>
          <p:nvPr/>
        </p:nvSpPr>
        <p:spPr>
          <a:xfrm>
            <a:off x="4200000" y="441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5年に1回の使用料改定検証が交付要件。未達成の場合は社会資本整備総合交付金の対象外となる。</a:t>
            </a:r>
          </a:p>
        </p:txBody>
      </p:sp>
      <p:sp>
        <p:nvSpPr>
          <p:cNvPr id="29" name="pi"/>
          <p:cNvSpPr/>
          <p:nvPr/>
        </p:nvSpPr>
        <p:spPr>
          <a:xfrm>
            <a:off x="571680" y="5230000"/>
            <a:ext cx="400680" cy="7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30" name="pt"/>
          <p:cNvSpPr/>
          <p:nvPr/>
        </p:nvSpPr>
        <p:spPr>
          <a:xfrm>
            <a:off x="1100000" y="5230000"/>
            <a:ext cx="30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300" b="0" dirty="0">
                <a:solidFill>
                  <a:srgbClr val="1E3A8A"/>
                </a:solidFill>
                <a:latin typeface="Noto Sans CJK JP"/>
                <a:cs typeface="Noto Sans CJK JP"/>
              </a:rPr>
              <a:t>段階的改定単価</a:t>
            </a:r>
          </a:p>
        </p:txBody>
      </p:sp>
      <p:sp>
        <p:nvSpPr>
          <p:cNvPr id="31" name="pb"/>
          <p:cNvSpPr/>
          <p:nvPr/>
        </p:nvSpPr>
        <p:spPr>
          <a:xfrm>
            <a:off x="4200000" y="5230000"/>
            <a:ext cx="7400000" cy="78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0">
            <a:no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2か年（R8中間→R9最終）および3か年（R8第1段→R9第2段→R10最終）の段階単価を提示・確認した。</a:t>
            </a:r>
          </a:p>
        </p:txBody>
      </p:sp>
      <p:sp>
        <p:nvSpPr>
          <p:cNvPr id="3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01</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使用料改定案の検討</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本章では、まず使用料改定を行わない場合の影響を確認したうえで、パターン①②④それぞれの収支シミュレーション結果を示し、推奨案の選定理由と改定率の妥当性について整理します。</a:t>
            </a:r>
          </a:p>
          <a:p>
            <a:pPr algn="l"/>
            <a:r>
              <a:rPr lang="ja-JP" sz="2200" b="0" dirty="0">
                <a:solidFill>
                  <a:srgbClr val="475569"/>
                </a:solidFill>
                <a:latin typeface="Noto Sans CJK JP"/>
                <a:cs typeface="Noto Sans CJK JP"/>
              </a:rPr>
              <a:t>なお本章以降の指標は2か年改定を主軸として記載し、3か年改定は括弧書きで併記しています。改定年数は第2章でご審議いただく事項です。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01-1　使用料改定を行わない場合（現状維持）と改定する場合の比較</a:t>
            </a:r>
          </a:p>
        </p:txBody>
      </p:sp>
      <p:sp>
        <p:nvSpPr>
          <p:cNvPr id="17" name="ch0"/>
          <p:cNvSpPr/>
          <p:nvPr/>
        </p:nvSpPr>
        <p:spPr>
          <a:xfrm>
            <a:off x="5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改定しない場合（現状維持）</a:t>
            </a:r>
          </a:p>
        </p:txBody>
      </p:sp>
      <p:sp>
        <p:nvSpPr>
          <p:cNvPr id="18" name="cs0"/>
          <p:cNvSpPr/>
          <p:nvPr/>
        </p:nvSpPr>
        <p:spPr>
          <a:xfrm>
            <a:off x="5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1D4ED8"/>
                </a:solidFill>
                <a:latin typeface="Noto Sans CJK JP"/>
                <a:cs typeface="Noto Sans CJK JP"/>
              </a:rPr>
              <a:t>使用料は現行のまま（基本1,000円／20㎥・税込2,420円）</a:t>
            </a:r>
          </a:p>
        </p:txBody>
      </p:sp>
      <p:sp>
        <p:nvSpPr>
          <p:cNvPr id="19" name="ph0"/>
          <p:cNvSpPr/>
          <p:nvPr/>
        </p:nvSpPr>
        <p:spPr>
          <a:xfrm>
            <a:off x="5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当面のメリット</a:t>
            </a:r>
          </a:p>
        </p:txBody>
      </p:sp>
      <p:sp>
        <p:nvSpPr>
          <p:cNvPr id="20" name="p00"/>
          <p:cNvSpPr/>
          <p:nvPr/>
        </p:nvSpPr>
        <p:spPr>
          <a:xfrm>
            <a:off x="5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住民の月額負担は現行のまま</a:t>
            </a:r>
          </a:p>
        </p:txBody>
      </p:sp>
      <p:sp>
        <p:nvSpPr>
          <p:cNvPr id="21" name="p01"/>
          <p:cNvSpPr/>
          <p:nvPr/>
        </p:nvSpPr>
        <p:spPr>
          <a:xfrm>
            <a:off x="5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条例改正・住民説明の手続きが不要</a:t>
            </a:r>
          </a:p>
        </p:txBody>
      </p:sp>
      <p:sp>
        <p:nvSpPr>
          <p:cNvPr id="22" name="p02"/>
          <p:cNvSpPr/>
          <p:nvPr/>
        </p:nvSpPr>
        <p:spPr>
          <a:xfrm>
            <a:off x="5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ただし効果は短期的なものにとどまる</a:t>
            </a:r>
          </a:p>
        </p:txBody>
      </p:sp>
      <p:sp>
        <p:nvSpPr>
          <p:cNvPr id="23" name="mh0"/>
          <p:cNvSpPr/>
          <p:nvPr/>
        </p:nvSpPr>
        <p:spPr>
          <a:xfrm>
            <a:off x="5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想定されるリスク</a:t>
            </a:r>
          </a:p>
        </p:txBody>
      </p:sp>
      <p:sp>
        <p:nvSpPr>
          <p:cNvPr id="24" name="m00"/>
          <p:cNvSpPr/>
          <p:nvPr/>
        </p:nvSpPr>
        <p:spPr>
          <a:xfrm>
            <a:off x="5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経常赤字が継続（R8〜R16累計 公共△159,715千円・農集△199,587千円）</a:t>
            </a:r>
          </a:p>
        </p:txBody>
      </p:sp>
      <p:sp>
        <p:nvSpPr>
          <p:cNvPr id="25" name="m01"/>
          <p:cNvSpPr/>
          <p:nvPr/>
        </p:nvSpPr>
        <p:spPr>
          <a:xfrm>
            <a:off x="5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一般会計繰入の増加／更新・修繕の先送り／交付金要件の未充足</a:t>
            </a:r>
          </a:p>
        </p:txBody>
      </p:sp>
      <p:sp>
        <p:nvSpPr>
          <p:cNvPr id="26" name="ch1"/>
          <p:cNvSpPr/>
          <p:nvPr/>
        </p:nvSpPr>
        <p:spPr>
          <a:xfrm>
            <a:off x="62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改定する場合（推奨案②・2か年改定）</a:t>
            </a:r>
          </a:p>
        </p:txBody>
      </p:sp>
      <p:sp>
        <p:nvSpPr>
          <p:cNvPr id="27" name="cs1"/>
          <p:cNvSpPr/>
          <p:nvPr/>
        </p:nvSpPr>
        <p:spPr>
          <a:xfrm>
            <a:off x="62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EA580C"/>
                </a:solidFill>
                <a:latin typeface="Noto Sans CJK JP"/>
                <a:cs typeface="Noto Sans CJK JP"/>
              </a:rPr>
              <a:t>R8：中間単価 → R9：最終単価（20㎥・税込3,300円）</a:t>
            </a:r>
          </a:p>
        </p:txBody>
      </p:sp>
      <p:sp>
        <p:nvSpPr>
          <p:cNvPr id="28" name="ph1"/>
          <p:cNvSpPr/>
          <p:nvPr/>
        </p:nvSpPr>
        <p:spPr>
          <a:xfrm>
            <a:off x="62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期待される効果</a:t>
            </a:r>
          </a:p>
        </p:txBody>
      </p:sp>
      <p:sp>
        <p:nvSpPr>
          <p:cNvPr id="29" name="p10"/>
          <p:cNvSpPr/>
          <p:nvPr/>
        </p:nvSpPr>
        <p:spPr>
          <a:xfrm>
            <a:off x="62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公共はR9に経常収支比率101.1%へ改善（単年度黒字化）</a:t>
            </a:r>
          </a:p>
        </p:txBody>
      </p:sp>
      <p:sp>
        <p:nvSpPr>
          <p:cNvPr id="30" name="p11"/>
          <p:cNvSpPr/>
          <p:nvPr/>
        </p:nvSpPr>
        <p:spPr>
          <a:xfrm>
            <a:off x="62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R8〜R16の経常損益は公共＋42,505千円（改定なし比＋202,220千円）</a:t>
            </a:r>
          </a:p>
        </p:txBody>
      </p:sp>
      <p:sp>
        <p:nvSpPr>
          <p:cNvPr id="31" name="p12"/>
          <p:cNvSpPr/>
          <p:nvPr/>
        </p:nvSpPr>
        <p:spPr>
          <a:xfrm>
            <a:off x="62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農集も赤字幅を年6,200〜6,500千円圧縮（累計＋54,165千円）</a:t>
            </a:r>
          </a:p>
        </p:txBody>
      </p:sp>
      <p:sp>
        <p:nvSpPr>
          <p:cNvPr id="32" name="mh1"/>
          <p:cNvSpPr/>
          <p:nvPr/>
        </p:nvSpPr>
        <p:spPr>
          <a:xfrm>
            <a:off x="62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住民への影響</a:t>
            </a:r>
          </a:p>
        </p:txBody>
      </p:sp>
      <p:sp>
        <p:nvSpPr>
          <p:cNvPr id="33" name="m10"/>
          <p:cNvSpPr/>
          <p:nvPr/>
        </p:nvSpPr>
        <p:spPr>
          <a:xfrm>
            <a:off x="62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20㎥（3人世帯）で月額＋880円・年間＋10,560円（1日あたり約29円）</a:t>
            </a:r>
          </a:p>
        </p:txBody>
      </p:sp>
      <p:sp>
        <p:nvSpPr>
          <p:cNvPr id="34" name="m11"/>
          <p:cNvSpPr/>
          <p:nvPr/>
        </p:nvSpPr>
        <p:spPr>
          <a:xfrm>
            <a:off x="62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10㎥の少量使用世帯でも月額＋220円（パターン②の場合）</a:t>
            </a:r>
          </a:p>
        </p:txBody>
      </p:sp>
      <p:sp>
        <p:nvSpPr>
          <p:cNvPr id="35" name="rec9"/>
          <p:cNvSpPr/>
          <p:nvPr/>
        </p:nvSpPr>
        <p:spPr>
          <a:xfrm>
            <a:off x="571680" y="4909566"/>
            <a:ext cx="11048400" cy="160096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改定しない場合、令和8〜16年度の9年間で両事業合計 約3.6億円の経常赤字が累積し、その補填は一般会計繰入（＝町民全体の税負担）に依存することになります。加えて社会資本整備総合交付金の交付要件（使用料改定の必要性検証・経費回収率向上ロードマップ）を満たせず、改築・更新事業の国庫補助を受けられなくなるおそれがあります。</a:t>
            </a:r>
          </a:p>
          <a:p>
            <a:pPr algn="l"/>
            <a:r>
              <a:rPr lang="ja-JP" sz="1300" b="0" dirty="0">
                <a:solidFill>
                  <a:srgbClr val="78350F"/>
                </a:solidFill>
                <a:latin typeface="Noto Sans CJK JP"/>
                <a:cs typeface="Noto Sans CJK JP"/>
              </a:rPr>
              <a:t>※ 金額は経営戦略ベースの推計値です。一般会計繰入金はいずれのケースも同額を前提としているため、上表の差は経常損益の差として現れます。令和7年度決算では両事業とも経常損益が黒字（公共＋20,260千円・農集＋13,048千円）で、推計との突合結果は別紙1・別紙2に示しています。</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571680" y="722376"/>
            <a:ext cx="11299975" cy="94356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01-2　推奨パターンの絞り込み　評価軸による比較</a:t>
            </a:r>
          </a:p>
        </p:txBody>
      </p:sp>
      <p:sp>
        <p:nvSpPr>
          <p:cNvPr id="17" name="th0"/>
          <p:cNvSpPr/>
          <p:nvPr/>
        </p:nvSpPr>
        <p:spPr>
          <a:xfrm>
            <a:off x="571680" y="1900000"/>
            <a:ext cx="25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評価軸</a:t>
            </a:r>
          </a:p>
        </p:txBody>
      </p:sp>
      <p:sp>
        <p:nvSpPr>
          <p:cNvPr id="18" name="th1"/>
          <p:cNvSpPr/>
          <p:nvPr/>
        </p:nvSpPr>
        <p:spPr>
          <a:xfrm>
            <a:off x="3271680" y="1900000"/>
            <a:ext cx="26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パターン①
標準型</a:t>
            </a:r>
          </a:p>
        </p:txBody>
      </p:sp>
      <p:sp>
        <p:nvSpPr>
          <p:cNvPr id="19" name="th2"/>
          <p:cNvSpPr/>
          <p:nvPr/>
        </p:nvSpPr>
        <p:spPr>
          <a:xfrm>
            <a:off x="6071680" y="190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パターン②
家庭軽減型</a:t>
            </a:r>
          </a:p>
        </p:txBody>
      </p:sp>
      <p:sp>
        <p:nvSpPr>
          <p:cNvPr id="20" name="th3"/>
          <p:cNvSpPr/>
          <p:nvPr/>
        </p:nvSpPr>
        <p:spPr>
          <a:xfrm>
            <a:off x="9071680" y="1900000"/>
            <a:ext cx="257832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100" b="0" dirty="0">
                <a:solidFill>
                  <a:srgbClr val="FFFFFF"/>
                </a:solidFill>
                <a:latin typeface="Noto Sans CJK JP"/>
                <a:cs typeface="Noto Sans CJK JP"/>
              </a:rPr>
              <a:t>パターン④
段階累進型</a:t>
            </a:r>
          </a:p>
        </p:txBody>
      </p:sp>
      <p:sp>
        <p:nvSpPr>
          <p:cNvPr id="21" name="r00"/>
          <p:cNvSpPr/>
          <p:nvPr/>
        </p:nvSpPr>
        <p:spPr>
          <a:xfrm>
            <a:off x="571680" y="2304288"/>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財政健全化への貢献度（R9使用料収入）</a:t>
            </a:r>
          </a:p>
        </p:txBody>
      </p:sp>
      <p:sp>
        <p:nvSpPr>
          <p:cNvPr id="22" name="r01"/>
          <p:cNvSpPr/>
          <p:nvPr/>
        </p:nvSpPr>
        <p:spPr>
          <a:xfrm>
            <a:off x="3271680" y="2304288"/>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76,277千円</a:t>
            </a:r>
          </a:p>
        </p:txBody>
      </p:sp>
      <p:sp>
        <p:nvSpPr>
          <p:cNvPr id="23" name="r02"/>
          <p:cNvSpPr/>
          <p:nvPr/>
        </p:nvSpPr>
        <p:spPr>
          <a:xfrm>
            <a:off x="6071680" y="2304288"/>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81,531千円</a:t>
            </a:r>
          </a:p>
        </p:txBody>
      </p:sp>
      <p:sp>
        <p:nvSpPr>
          <p:cNvPr id="24" name="r03"/>
          <p:cNvSpPr/>
          <p:nvPr/>
        </p:nvSpPr>
        <p:spPr>
          <a:xfrm>
            <a:off x="9071680" y="2304288"/>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78,028千円</a:t>
            </a:r>
          </a:p>
        </p:txBody>
      </p:sp>
      <p:sp>
        <p:nvSpPr>
          <p:cNvPr id="25" name="r10"/>
          <p:cNvSpPr/>
          <p:nvPr/>
        </p:nvSpPr>
        <p:spPr>
          <a:xfrm>
            <a:off x="571680" y="2761488"/>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目標達成（20㎥・税抜3,000円）</a:t>
            </a:r>
          </a:p>
        </p:txBody>
      </p:sp>
      <p:sp>
        <p:nvSpPr>
          <p:cNvPr id="26" name="r11"/>
          <p:cNvSpPr/>
          <p:nvPr/>
        </p:nvSpPr>
        <p:spPr>
          <a:xfrm>
            <a:off x="3271680" y="2761488"/>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B45309"/>
                </a:solidFill>
                <a:latin typeface="Noto Sans CJK JP"/>
                <a:cs typeface="Noto Sans CJK JP"/>
              </a:rPr>
              <a:t>◎ 達成</a:t>
            </a:r>
          </a:p>
        </p:txBody>
      </p:sp>
      <p:sp>
        <p:nvSpPr>
          <p:cNvPr id="27" name="r12"/>
          <p:cNvSpPr/>
          <p:nvPr/>
        </p:nvSpPr>
        <p:spPr>
          <a:xfrm>
            <a:off x="6071680" y="2761488"/>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達成</a:t>
            </a:r>
          </a:p>
        </p:txBody>
      </p:sp>
      <p:sp>
        <p:nvSpPr>
          <p:cNvPr id="28" name="r13"/>
          <p:cNvSpPr/>
          <p:nvPr/>
        </p:nvSpPr>
        <p:spPr>
          <a:xfrm>
            <a:off x="9071680" y="2761488"/>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B45309"/>
                </a:solidFill>
                <a:latin typeface="Noto Sans CJK JP"/>
                <a:cs typeface="Noto Sans CJK JP"/>
              </a:rPr>
              <a:t>◎ 達成</a:t>
            </a:r>
          </a:p>
        </p:txBody>
      </p:sp>
      <p:sp>
        <p:nvSpPr>
          <p:cNvPr id="29" name="r20"/>
          <p:cNvSpPr/>
          <p:nvPr/>
        </p:nvSpPr>
        <p:spPr>
          <a:xfrm>
            <a:off x="571680" y="3218688"/>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少量使用者への配慮（10㎥・月額増）</a:t>
            </a:r>
          </a:p>
        </p:txBody>
      </p:sp>
      <p:sp>
        <p:nvSpPr>
          <p:cNvPr id="30" name="r21"/>
          <p:cNvSpPr/>
          <p:nvPr/>
        </p:nvSpPr>
        <p:spPr>
          <a:xfrm>
            <a:off x="3271680" y="3218688"/>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＋550円</a:t>
            </a:r>
          </a:p>
        </p:txBody>
      </p:sp>
      <p:sp>
        <p:nvSpPr>
          <p:cNvPr id="31" name="r22"/>
          <p:cNvSpPr/>
          <p:nvPr/>
        </p:nvSpPr>
        <p:spPr>
          <a:xfrm>
            <a:off x="6071680" y="3218688"/>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＋220円</a:t>
            </a:r>
          </a:p>
        </p:txBody>
      </p:sp>
      <p:sp>
        <p:nvSpPr>
          <p:cNvPr id="32" name="r23"/>
          <p:cNvSpPr/>
          <p:nvPr/>
        </p:nvSpPr>
        <p:spPr>
          <a:xfrm>
            <a:off x="9071680" y="3218688"/>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＋440円</a:t>
            </a:r>
          </a:p>
        </p:txBody>
      </p:sp>
      <p:sp>
        <p:nvSpPr>
          <p:cNvPr id="33" name="r30"/>
          <p:cNvSpPr/>
          <p:nvPr/>
        </p:nvSpPr>
        <p:spPr>
          <a:xfrm>
            <a:off x="571680" y="3675887"/>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中量使用者の負担（30㎥・月額増）</a:t>
            </a:r>
          </a:p>
        </p:txBody>
      </p:sp>
      <p:sp>
        <p:nvSpPr>
          <p:cNvPr id="34" name="r31"/>
          <p:cNvSpPr/>
          <p:nvPr/>
        </p:nvSpPr>
        <p:spPr>
          <a:xfrm>
            <a:off x="3271680" y="3675887"/>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＋1,265円</a:t>
            </a:r>
          </a:p>
        </p:txBody>
      </p:sp>
      <p:sp>
        <p:nvSpPr>
          <p:cNvPr id="35" name="r32"/>
          <p:cNvSpPr/>
          <p:nvPr/>
        </p:nvSpPr>
        <p:spPr>
          <a:xfrm>
            <a:off x="6071680" y="3675887"/>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＋1,595円</a:t>
            </a:r>
          </a:p>
        </p:txBody>
      </p:sp>
      <p:sp>
        <p:nvSpPr>
          <p:cNvPr id="36" name="r33"/>
          <p:cNvSpPr/>
          <p:nvPr/>
        </p:nvSpPr>
        <p:spPr>
          <a:xfrm>
            <a:off x="9071680" y="3675887"/>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＋1,375円</a:t>
            </a:r>
          </a:p>
        </p:txBody>
      </p:sp>
      <p:sp>
        <p:nvSpPr>
          <p:cNvPr id="37" name="r40"/>
          <p:cNvSpPr/>
          <p:nvPr/>
        </p:nvSpPr>
        <p:spPr>
          <a:xfrm>
            <a:off x="571680" y="4133087"/>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0" dirty="0">
                <a:solidFill>
                  <a:srgbClr val="1E293B"/>
                </a:solidFill>
                <a:latin typeface="Noto Sans CJK JP"/>
                <a:cs typeface="Noto Sans CJK JP"/>
              </a:rPr>
              <a:t>大口使用者への累進性</a:t>
            </a:r>
          </a:p>
        </p:txBody>
      </p:sp>
      <p:sp>
        <p:nvSpPr>
          <p:cNvPr id="38" name="r41"/>
          <p:cNvSpPr/>
          <p:nvPr/>
        </p:nvSpPr>
        <p:spPr>
          <a:xfrm>
            <a:off x="3271680" y="4133087"/>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中程度</a:t>
            </a:r>
          </a:p>
        </p:txBody>
      </p:sp>
      <p:sp>
        <p:nvSpPr>
          <p:cNvPr id="39" name="r42"/>
          <p:cNvSpPr/>
          <p:nvPr/>
        </p:nvSpPr>
        <p:spPr>
          <a:xfrm>
            <a:off x="6071680" y="4133087"/>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E40AF"/>
                </a:solidFill>
                <a:latin typeface="Noto Sans CJK JP"/>
                <a:cs typeface="Noto Sans CJK JP"/>
              </a:rPr>
              <a:t>◎ 強い</a:t>
            </a:r>
          </a:p>
        </p:txBody>
      </p:sp>
      <p:sp>
        <p:nvSpPr>
          <p:cNvPr id="40" name="r43"/>
          <p:cNvSpPr/>
          <p:nvPr/>
        </p:nvSpPr>
        <p:spPr>
          <a:xfrm>
            <a:off x="9071680" y="4133087"/>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0" dirty="0">
                <a:solidFill>
                  <a:srgbClr val="166534"/>
                </a:solidFill>
                <a:latin typeface="Noto Sans CJK JP"/>
                <a:cs typeface="Noto Sans CJK JP"/>
              </a:rPr>
              <a:t>○ 中程度</a:t>
            </a:r>
          </a:p>
        </p:txBody>
      </p:sp>
      <p:sp>
        <p:nvSpPr>
          <p:cNvPr id="41" name="r50"/>
          <p:cNvSpPr/>
          <p:nvPr/>
        </p:nvSpPr>
        <p:spPr>
          <a:xfrm>
            <a:off x="571680" y="4590288"/>
            <a:ext cx="2500000" cy="420624"/>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l"/>
            <a:r>
              <a:rPr lang="ja-JP" sz="1100" b="1" dirty="0">
                <a:solidFill>
                  <a:srgbClr val="EF4444"/>
                </a:solidFill>
                <a:latin typeface="Noto Sans CJK JP"/>
                <a:cs typeface="Noto Sans CJK JP"/>
              </a:rPr>
              <a:t>総合評価</a:t>
            </a:r>
          </a:p>
        </p:txBody>
      </p:sp>
      <p:sp>
        <p:nvSpPr>
          <p:cNvPr id="42" name="r51"/>
          <p:cNvSpPr/>
          <p:nvPr/>
        </p:nvSpPr>
        <p:spPr>
          <a:xfrm>
            <a:off x="3271680" y="4590288"/>
            <a:ext cx="2600000" cy="420624"/>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475569"/>
                </a:solidFill>
                <a:latin typeface="Noto Sans CJK JP"/>
                <a:cs typeface="Noto Sans CJK JP"/>
              </a:rPr>
              <a:t>○</a:t>
            </a:r>
          </a:p>
        </p:txBody>
      </p:sp>
      <p:sp>
        <p:nvSpPr>
          <p:cNvPr id="43" name="r52"/>
          <p:cNvSpPr/>
          <p:nvPr/>
        </p:nvSpPr>
        <p:spPr>
          <a:xfrm>
            <a:off x="6071680" y="4590288"/>
            <a:ext cx="2800000" cy="420624"/>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EF4444"/>
                </a:solidFill>
                <a:latin typeface="Noto Sans CJK JP"/>
                <a:cs typeface="Noto Sans CJK JP"/>
              </a:rPr>
              <a:t>◎ 推奨</a:t>
            </a:r>
          </a:p>
        </p:txBody>
      </p:sp>
      <p:sp>
        <p:nvSpPr>
          <p:cNvPr id="44" name="r53"/>
          <p:cNvSpPr/>
          <p:nvPr/>
        </p:nvSpPr>
        <p:spPr>
          <a:xfrm>
            <a:off x="9071680" y="4590288"/>
            <a:ext cx="2578320" cy="420624"/>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30000" rIns="114300" bIns="30000" anchor="ctr">
            <a:noAutofit/>
          </a:bodyPr>
          <a:lstStyle/>
          <a:p>
            <a:pPr algn="ctr"/>
            <a:r>
              <a:rPr lang="ja-JP" sz="1100" b="1" dirty="0">
                <a:solidFill>
                  <a:srgbClr val="475569"/>
                </a:solidFill>
                <a:latin typeface="Noto Sans CJK JP"/>
                <a:cs typeface="Noto Sans CJK JP"/>
              </a:rPr>
              <a:t>○</a:t>
            </a:r>
          </a:p>
        </p:txBody>
      </p:sp>
      <p:sp>
        <p:nvSpPr>
          <p:cNvPr id="45" name="concl"/>
          <p:cNvSpPr/>
          <p:nvPr/>
        </p:nvSpPr>
        <p:spPr>
          <a:xfrm>
            <a:off x="571680" y="5148961"/>
            <a:ext cx="11048400" cy="1361566"/>
          </a:xfrm>
          <a:custGeom>
            <a:avLst/>
            <a:gdLst/>
            <a:ahLst/>
            <a:cxnLst/>
            <a:rect l="l" t="t" r="r" b="b"/>
            <a:pathLst>
              <a:path w="21600" h="21600">
                <a:moveTo>
                  <a:pt x="0" y="0"/>
                </a:moveTo>
                <a:lnTo>
                  <a:pt x="21600" y="0"/>
                </a:lnTo>
                <a:lnTo>
                  <a:pt x="21600" y="21600"/>
                </a:lnTo>
                <a:lnTo>
                  <a:pt x="0" y="21600"/>
                </a:lnTo>
                <a:close/>
              </a:path>
            </a:pathLst>
          </a:custGeom>
          <a:solidFill>
            <a:srgbClr val="FEF2F2"/>
          </a:solidFill>
          <a:ln w="19050">
            <a:solidFill>
              <a:srgbClr val="EF444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EF4444"/>
                </a:solidFill>
                <a:latin typeface="Noto Sans CJK JP"/>
                <a:cs typeface="Noto Sans CJK JP"/>
              </a:rPr>
              <a:t>▶ 推奨案：パターン②（家庭軽減型）　【選定理由①】財政改善効果が3案中で最大（R9使用料収入81,531千円／公共 経費回収率46.1%・経常収支比率101.1%／農集 経費回収率54.2%。いずれも3案中で最良）　【選定理由②】少量使用者（10㎥）の負担増が3案中で最小（月＋220円。①＋550円・④＋440円）</a:t>
            </a:r>
          </a:p>
          <a:p>
            <a:pPr algn="l"/>
            <a:r>
              <a:rPr lang="ja-JP" sz="1300" b="0" dirty="0">
                <a:solidFill>
                  <a:srgbClr val="EF4444"/>
                </a:solidFill>
                <a:latin typeface="Noto Sans CJK JP"/>
                <a:cs typeface="Noto Sans CJK JP"/>
              </a:rPr>
              <a:t>※ ただし公共下水道の経費回収率は目標水準47%に対しR9 46.1%で、今回改定のみでは目標に到達しません（使用料収入ベースで1,647千円・＋2.0%相当の不足）。R10以降の段階的適正化（次期改定：R12検証）とあわせた達成を想定しています（03-4参照）。</a:t>
            </a:r>
          </a:p>
        </p:txBody>
      </p:sp>
      <p:sp>
        <p:nvSpPr>
          <p:cNvPr id="4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01-3　パターン①（標準型）採用時の財政収支見込み</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g1h0"/>
          <p:cNvSpPr/>
          <p:nvPr/>
        </p:nvSpPr>
        <p:spPr>
          <a:xfrm>
            <a:off x="5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19" name="cr00"/>
          <p:cNvSpPr/>
          <p:nvPr/>
        </p:nvSpPr>
        <p:spPr>
          <a:xfrm>
            <a:off x="5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R7：98.5%</a:t>
            </a:r>
          </a:p>
        </p:txBody>
      </p:sp>
      <p:sp>
        <p:nvSpPr>
          <p:cNvPr id="20" name="cr01"/>
          <p:cNvSpPr/>
          <p:nvPr/>
        </p:nvSpPr>
        <p:spPr>
          <a:xfrm>
            <a:off x="5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R8：97.6%　（97.1%）</a:t>
            </a:r>
          </a:p>
        </p:txBody>
      </p:sp>
      <p:sp>
        <p:nvSpPr>
          <p:cNvPr id="21" name="cr02"/>
          <p:cNvSpPr/>
          <p:nvPr/>
        </p:nvSpPr>
        <p:spPr>
          <a:xfrm>
            <a:off x="5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R9：100.0%　（98.4%）</a:t>
            </a:r>
          </a:p>
        </p:txBody>
      </p:sp>
      <p:sp>
        <p:nvSpPr>
          <p:cNvPr id="22" name="g2h0"/>
          <p:cNvSpPr/>
          <p:nvPr/>
        </p:nvSpPr>
        <p:spPr>
          <a:xfrm>
            <a:off x="5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23" name="er00"/>
          <p:cNvSpPr/>
          <p:nvPr/>
        </p:nvSpPr>
        <p:spPr>
          <a:xfrm>
            <a:off x="5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R7：34.4%</a:t>
            </a:r>
          </a:p>
        </p:txBody>
      </p:sp>
      <p:sp>
        <p:nvSpPr>
          <p:cNvPr id="24" name="er01"/>
          <p:cNvSpPr/>
          <p:nvPr/>
        </p:nvSpPr>
        <p:spPr>
          <a:xfrm>
            <a:off x="5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R8：38.5%　（36.6%）</a:t>
            </a:r>
          </a:p>
        </p:txBody>
      </p:sp>
      <p:sp>
        <p:nvSpPr>
          <p:cNvPr id="25" name="er02"/>
          <p:cNvSpPr/>
          <p:nvPr/>
        </p:nvSpPr>
        <p:spPr>
          <a:xfrm>
            <a:off x="5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R9：43.1%　（38.8%）</a:t>
            </a:r>
          </a:p>
        </p:txBody>
      </p:sp>
      <p:sp>
        <p:nvSpPr>
          <p:cNvPr id="26"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7" name="g1h1"/>
          <p:cNvSpPr/>
          <p:nvPr/>
        </p:nvSpPr>
        <p:spPr>
          <a:xfrm>
            <a:off x="62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28" name="cr10"/>
          <p:cNvSpPr/>
          <p:nvPr/>
        </p:nvSpPr>
        <p:spPr>
          <a:xfrm>
            <a:off x="62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R7：82.0%</a:t>
            </a:r>
          </a:p>
        </p:txBody>
      </p:sp>
      <p:sp>
        <p:nvSpPr>
          <p:cNvPr id="29" name="cr11"/>
          <p:cNvSpPr/>
          <p:nvPr/>
        </p:nvSpPr>
        <p:spPr>
          <a:xfrm>
            <a:off x="62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R8：83.4%　（82.7%）</a:t>
            </a:r>
          </a:p>
        </p:txBody>
      </p:sp>
      <p:sp>
        <p:nvSpPr>
          <p:cNvPr id="30" name="cr12"/>
          <p:cNvSpPr/>
          <p:nvPr/>
        </p:nvSpPr>
        <p:spPr>
          <a:xfrm>
            <a:off x="62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R9：84.0%　（82.4%）</a:t>
            </a:r>
          </a:p>
        </p:txBody>
      </p:sp>
      <p:sp>
        <p:nvSpPr>
          <p:cNvPr id="31" name="g2h1"/>
          <p:cNvSpPr/>
          <p:nvPr/>
        </p:nvSpPr>
        <p:spPr>
          <a:xfrm>
            <a:off x="62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32" name="er10"/>
          <p:cNvSpPr/>
          <p:nvPr/>
        </p:nvSpPr>
        <p:spPr>
          <a:xfrm>
            <a:off x="62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R7：39.9%</a:t>
            </a:r>
          </a:p>
        </p:txBody>
      </p:sp>
      <p:sp>
        <p:nvSpPr>
          <p:cNvPr id="33" name="er11"/>
          <p:cNvSpPr/>
          <p:nvPr/>
        </p:nvSpPr>
        <p:spPr>
          <a:xfrm>
            <a:off x="62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R8：45.2%　（43.1%）</a:t>
            </a:r>
          </a:p>
        </p:txBody>
      </p:sp>
      <p:sp>
        <p:nvSpPr>
          <p:cNvPr id="34" name="er12"/>
          <p:cNvSpPr/>
          <p:nvPr/>
        </p:nvSpPr>
        <p:spPr>
          <a:xfrm>
            <a:off x="62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R9：49.6%　（44.9%）</a:t>
            </a:r>
          </a:p>
        </p:txBody>
      </p:sp>
      <p:sp>
        <p:nvSpPr>
          <p:cNvPr id="35" name="concl6"/>
          <p:cNvSpPr/>
          <p:nvPr/>
        </p:nvSpPr>
        <p:spPr>
          <a:xfrm>
            <a:off x="571680" y="4680000"/>
            <a:ext cx="11048400" cy="170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パターン①（標準型）を2か年改定で採用した場合、公共下水道は経常収支比率がR9に100.0%（R10以降 101.1%）となり、目標①の100%以上を達成する見込みです。経費回収率は現行34.4%からR9 43.1%・R10 43.4%へ改善しますが、目標②の47%には6,901千円（＋9.0%）不足し、次期改定とあわせた段階的な達成となります。</a:t>
            </a:r>
          </a:p>
          <a:p>
            <a:pPr algn="l"/>
            <a:r>
              <a:rPr lang="ja-JP" sz="1200" b="0" dirty="0">
                <a:solidFill>
                  <a:srgbClr val="166534"/>
                </a:solidFill>
                <a:latin typeface="Noto Sans CJK JP"/>
                <a:cs typeface="Noto Sans CJK JP"/>
              </a:rPr>
              <a:t>農業集落排水は経費回収率がR9 49.6%・R10 50.0%へ改善し目標②を達成する一方、経常収支比率（目標①）はR10で84.2%にとどまり、引き続き他会計繰入等による補填が必要となる見込みです。</a:t>
            </a:r>
          </a:p>
          <a:p>
            <a:pPr algn="l"/>
            <a:r>
              <a:rPr lang="ja-JP" sz="1200" b="0" dirty="0">
                <a:solidFill>
                  <a:srgbClr val="166534"/>
                </a:solidFill>
                <a:latin typeface="Noto Sans CJK JP"/>
                <a:cs typeface="Noto Sans CJK JP"/>
              </a:rPr>
              <a:t>3か年改定とした場合は最終単価の適用がR10となるため、目標達成が1年遅れます（上表（ ）内）。</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01-4　パターン②（家庭軽減型）採用時の財政収支見込み</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g1h0"/>
          <p:cNvSpPr/>
          <p:nvPr/>
        </p:nvSpPr>
        <p:spPr>
          <a:xfrm>
            <a:off x="5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19" name="cr00"/>
          <p:cNvSpPr/>
          <p:nvPr/>
        </p:nvSpPr>
        <p:spPr>
          <a:xfrm>
            <a:off x="5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R7：98.5%</a:t>
            </a:r>
          </a:p>
        </p:txBody>
      </p:sp>
      <p:sp>
        <p:nvSpPr>
          <p:cNvPr id="20" name="cr01"/>
          <p:cNvSpPr/>
          <p:nvPr/>
        </p:nvSpPr>
        <p:spPr>
          <a:xfrm>
            <a:off x="5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R8：98.1%　（97.4%）</a:t>
            </a:r>
          </a:p>
        </p:txBody>
      </p:sp>
      <p:sp>
        <p:nvSpPr>
          <p:cNvPr id="21" name="cr02"/>
          <p:cNvSpPr/>
          <p:nvPr/>
        </p:nvSpPr>
        <p:spPr>
          <a:xfrm>
            <a:off x="5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R9：101.1%　（99.1%）</a:t>
            </a:r>
          </a:p>
        </p:txBody>
      </p:sp>
      <p:sp>
        <p:nvSpPr>
          <p:cNvPr id="22" name="g2h0"/>
          <p:cNvSpPr/>
          <p:nvPr/>
        </p:nvSpPr>
        <p:spPr>
          <a:xfrm>
            <a:off x="5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23" name="er00"/>
          <p:cNvSpPr/>
          <p:nvPr/>
        </p:nvSpPr>
        <p:spPr>
          <a:xfrm>
            <a:off x="5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R7：34.4%</a:t>
            </a:r>
          </a:p>
        </p:txBody>
      </p:sp>
      <p:sp>
        <p:nvSpPr>
          <p:cNvPr id="24" name="er01"/>
          <p:cNvSpPr/>
          <p:nvPr/>
        </p:nvSpPr>
        <p:spPr>
          <a:xfrm>
            <a:off x="5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R8：40.0%　（37.6%）</a:t>
            </a:r>
          </a:p>
        </p:txBody>
      </p:sp>
      <p:sp>
        <p:nvSpPr>
          <p:cNvPr id="25" name="er02"/>
          <p:cNvSpPr/>
          <p:nvPr/>
        </p:nvSpPr>
        <p:spPr>
          <a:xfrm>
            <a:off x="5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R9：46.1%　（40.8%）</a:t>
            </a:r>
          </a:p>
        </p:txBody>
      </p:sp>
      <p:sp>
        <p:nvSpPr>
          <p:cNvPr id="26"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7" name="g1h1"/>
          <p:cNvSpPr/>
          <p:nvPr/>
        </p:nvSpPr>
        <p:spPr>
          <a:xfrm>
            <a:off x="62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28" name="cr10"/>
          <p:cNvSpPr/>
          <p:nvPr/>
        </p:nvSpPr>
        <p:spPr>
          <a:xfrm>
            <a:off x="62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R7：82.0%</a:t>
            </a:r>
          </a:p>
        </p:txBody>
      </p:sp>
      <p:sp>
        <p:nvSpPr>
          <p:cNvPr id="29" name="cr11"/>
          <p:cNvSpPr/>
          <p:nvPr/>
        </p:nvSpPr>
        <p:spPr>
          <a:xfrm>
            <a:off x="62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R8：84.2%　（83.2%）</a:t>
            </a:r>
          </a:p>
        </p:txBody>
      </p:sp>
      <p:sp>
        <p:nvSpPr>
          <p:cNvPr id="30" name="cr12"/>
          <p:cNvSpPr/>
          <p:nvPr/>
        </p:nvSpPr>
        <p:spPr>
          <a:xfrm>
            <a:off x="62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R9：85.8%　（83.5%）</a:t>
            </a:r>
          </a:p>
        </p:txBody>
      </p:sp>
      <p:sp>
        <p:nvSpPr>
          <p:cNvPr id="31" name="g2h1"/>
          <p:cNvSpPr/>
          <p:nvPr/>
        </p:nvSpPr>
        <p:spPr>
          <a:xfrm>
            <a:off x="62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32" name="er10"/>
          <p:cNvSpPr/>
          <p:nvPr/>
        </p:nvSpPr>
        <p:spPr>
          <a:xfrm>
            <a:off x="62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R7：39.9%</a:t>
            </a:r>
          </a:p>
        </p:txBody>
      </p:sp>
      <p:sp>
        <p:nvSpPr>
          <p:cNvPr id="33" name="er11"/>
          <p:cNvSpPr/>
          <p:nvPr/>
        </p:nvSpPr>
        <p:spPr>
          <a:xfrm>
            <a:off x="62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R8：47.7%　（44.7%）</a:t>
            </a:r>
          </a:p>
        </p:txBody>
      </p:sp>
      <p:sp>
        <p:nvSpPr>
          <p:cNvPr id="34" name="er12"/>
          <p:cNvSpPr/>
          <p:nvPr/>
        </p:nvSpPr>
        <p:spPr>
          <a:xfrm>
            <a:off x="62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R9：54.2%　（48.1%）</a:t>
            </a:r>
          </a:p>
        </p:txBody>
      </p:sp>
      <p:sp>
        <p:nvSpPr>
          <p:cNvPr id="35" name="concl6"/>
          <p:cNvSpPr/>
          <p:nvPr/>
        </p:nvSpPr>
        <p:spPr>
          <a:xfrm>
            <a:off x="571680" y="4680000"/>
            <a:ext cx="11048400" cy="170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パターン②（家庭軽減型）を2か年改定で採用した場合、公共下水道は経常収支比率がR9に101.1%（R10以降 102.4%）となり、目標①の100%以上を達成する見込みです。経費回収率は現行34.4%からR9 46.1%・R10 46.4%へ改善しますが、目標②の47%には1,647千円（＋2.0%）不足し、次期改定とあわせた段階的な達成となります。</a:t>
            </a:r>
          </a:p>
          <a:p>
            <a:pPr algn="l"/>
            <a:r>
              <a:rPr lang="ja-JP" sz="1200" b="0" dirty="0">
                <a:solidFill>
                  <a:srgbClr val="166534"/>
                </a:solidFill>
                <a:latin typeface="Noto Sans CJK JP"/>
                <a:cs typeface="Noto Sans CJK JP"/>
              </a:rPr>
              <a:t>農業集落排水は経費回収率がR9 54.2%・R10 54.7%へ改善し目標②を達成する一方、経常収支比率（目標①）はR10で85.9%にとどまり、引き続き他会計繰入等による補填が必要となる見込みです。</a:t>
            </a:r>
          </a:p>
          <a:p>
            <a:pPr algn="l"/>
            <a:r>
              <a:rPr lang="ja-JP" sz="1200" b="0" dirty="0">
                <a:solidFill>
                  <a:srgbClr val="166534"/>
                </a:solidFill>
                <a:latin typeface="Noto Sans CJK JP"/>
                <a:cs typeface="Noto Sans CJK JP"/>
              </a:rPr>
              <a:t>3か年改定とした場合は最終単価の適用がR10となるため、目標達成が1年遅れます（上表（ ）内）。</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01-5　パターン④（段階累進型）採用時の財政収支見込み</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g1h0"/>
          <p:cNvSpPr/>
          <p:nvPr/>
        </p:nvSpPr>
        <p:spPr>
          <a:xfrm>
            <a:off x="5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19" name="cr00"/>
          <p:cNvSpPr/>
          <p:nvPr/>
        </p:nvSpPr>
        <p:spPr>
          <a:xfrm>
            <a:off x="5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R7：98.5%</a:t>
            </a:r>
          </a:p>
        </p:txBody>
      </p:sp>
      <p:sp>
        <p:nvSpPr>
          <p:cNvPr id="20" name="cr01"/>
          <p:cNvSpPr/>
          <p:nvPr/>
        </p:nvSpPr>
        <p:spPr>
          <a:xfrm>
            <a:off x="5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R8：97.8%　（97.1%）</a:t>
            </a:r>
          </a:p>
        </p:txBody>
      </p:sp>
      <p:sp>
        <p:nvSpPr>
          <p:cNvPr id="21" name="cr02"/>
          <p:cNvSpPr/>
          <p:nvPr/>
        </p:nvSpPr>
        <p:spPr>
          <a:xfrm>
            <a:off x="5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R9：100.4%　（98.5%）</a:t>
            </a:r>
          </a:p>
        </p:txBody>
      </p:sp>
      <p:sp>
        <p:nvSpPr>
          <p:cNvPr id="22" name="g2h0"/>
          <p:cNvSpPr/>
          <p:nvPr/>
        </p:nvSpPr>
        <p:spPr>
          <a:xfrm>
            <a:off x="5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23" name="er00"/>
          <p:cNvSpPr/>
          <p:nvPr/>
        </p:nvSpPr>
        <p:spPr>
          <a:xfrm>
            <a:off x="5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R7：34.4%</a:t>
            </a:r>
          </a:p>
        </p:txBody>
      </p:sp>
      <p:sp>
        <p:nvSpPr>
          <p:cNvPr id="24" name="er01"/>
          <p:cNvSpPr/>
          <p:nvPr/>
        </p:nvSpPr>
        <p:spPr>
          <a:xfrm>
            <a:off x="5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R8：39.0%　（36.8%）</a:t>
            </a:r>
          </a:p>
        </p:txBody>
      </p:sp>
      <p:sp>
        <p:nvSpPr>
          <p:cNvPr id="25" name="er02"/>
          <p:cNvSpPr/>
          <p:nvPr/>
        </p:nvSpPr>
        <p:spPr>
          <a:xfrm>
            <a:off x="5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R9：44.1%　（39.1%）</a:t>
            </a:r>
          </a:p>
        </p:txBody>
      </p:sp>
      <p:sp>
        <p:nvSpPr>
          <p:cNvPr id="26"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7" name="g1h1"/>
          <p:cNvSpPr/>
          <p:nvPr/>
        </p:nvSpPr>
        <p:spPr>
          <a:xfrm>
            <a:off x="6271680" y="19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目標① 経常収支比率（100%以上）　※（ ）内は3か年改定</a:t>
            </a:r>
          </a:p>
        </p:txBody>
      </p:sp>
      <p:sp>
        <p:nvSpPr>
          <p:cNvPr id="28" name="cr10"/>
          <p:cNvSpPr/>
          <p:nvPr/>
        </p:nvSpPr>
        <p:spPr>
          <a:xfrm>
            <a:off x="6271680" y="22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R7：82.0%</a:t>
            </a:r>
          </a:p>
        </p:txBody>
      </p:sp>
      <p:sp>
        <p:nvSpPr>
          <p:cNvPr id="29" name="cr11"/>
          <p:cNvSpPr/>
          <p:nvPr/>
        </p:nvSpPr>
        <p:spPr>
          <a:xfrm>
            <a:off x="6271680" y="25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R8：83.7%　（82.7%）</a:t>
            </a:r>
          </a:p>
        </p:txBody>
      </p:sp>
      <p:sp>
        <p:nvSpPr>
          <p:cNvPr id="30" name="cr12"/>
          <p:cNvSpPr/>
          <p:nvPr/>
        </p:nvSpPr>
        <p:spPr>
          <a:xfrm>
            <a:off x="6271680" y="29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R9：84.6%　（82.5%）</a:t>
            </a:r>
          </a:p>
        </p:txBody>
      </p:sp>
      <p:sp>
        <p:nvSpPr>
          <p:cNvPr id="31" name="g2h1"/>
          <p:cNvSpPr/>
          <p:nvPr/>
        </p:nvSpPr>
        <p:spPr>
          <a:xfrm>
            <a:off x="6271680" y="326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目標② 経費回収率（47%以上）　※（ ）内は3か年改定</a:t>
            </a:r>
          </a:p>
        </p:txBody>
      </p:sp>
      <p:sp>
        <p:nvSpPr>
          <p:cNvPr id="32" name="er10"/>
          <p:cNvSpPr/>
          <p:nvPr/>
        </p:nvSpPr>
        <p:spPr>
          <a:xfrm>
            <a:off x="6271680" y="357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R7：39.9%</a:t>
            </a:r>
          </a:p>
        </p:txBody>
      </p:sp>
      <p:sp>
        <p:nvSpPr>
          <p:cNvPr id="33" name="er11"/>
          <p:cNvSpPr/>
          <p:nvPr/>
        </p:nvSpPr>
        <p:spPr>
          <a:xfrm>
            <a:off x="6271680" y="389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E293B"/>
                </a:solidFill>
                <a:latin typeface="Noto Sans CJK JP"/>
                <a:cs typeface="Noto Sans CJK JP"/>
              </a:rPr>
              <a:t>  R8：46.0%　（43.3%）</a:t>
            </a:r>
          </a:p>
        </p:txBody>
      </p:sp>
      <p:sp>
        <p:nvSpPr>
          <p:cNvPr id="34" name="er12"/>
          <p:cNvSpPr/>
          <p:nvPr/>
        </p:nvSpPr>
        <p:spPr>
          <a:xfrm>
            <a:off x="6271680" y="421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1" dirty="0">
                <a:solidFill>
                  <a:srgbClr val="1E293B"/>
                </a:solidFill>
                <a:latin typeface="Noto Sans CJK JP"/>
                <a:cs typeface="Noto Sans CJK JP"/>
              </a:rPr>
              <a:t>  R9：51.1%　（45.2%）</a:t>
            </a:r>
          </a:p>
        </p:txBody>
      </p:sp>
      <p:sp>
        <p:nvSpPr>
          <p:cNvPr id="35" name="concl6"/>
          <p:cNvSpPr/>
          <p:nvPr/>
        </p:nvSpPr>
        <p:spPr>
          <a:xfrm>
            <a:off x="571680" y="4680000"/>
            <a:ext cx="11048400" cy="170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パターン④（段階累進型）を2か年改定で採用した場合、公共下水道は経常収支比率がR9に100.4%（R10以降 101.6%）となり、目標①の100%以上を達成する見込みです。経費回収率は現行34.4%からR9 44.1%・R10 44.4%へ改善しますが、目標②の47%には5,150千円（＋6.6%）不足し、次期改定とあわせた段階的な達成となります。</a:t>
            </a:r>
          </a:p>
          <a:p>
            <a:pPr algn="l"/>
            <a:r>
              <a:rPr lang="ja-JP" sz="1200" b="0" dirty="0">
                <a:solidFill>
                  <a:srgbClr val="166534"/>
                </a:solidFill>
                <a:latin typeface="Noto Sans CJK JP"/>
                <a:cs typeface="Noto Sans CJK JP"/>
              </a:rPr>
              <a:t>農業集落排水は経費回収率がR9 51.1%・R10 51.5%へ改善し目標②を達成する一方、経常収支比率（目標①）はR10で84.8%にとどまり、引き続き他会計繰入等による補填が必要となる見込みです。</a:t>
            </a:r>
          </a:p>
          <a:p>
            <a:pPr algn="l"/>
            <a:r>
              <a:rPr lang="ja-JP" sz="1200" b="0" dirty="0">
                <a:solidFill>
                  <a:srgbClr val="166534"/>
                </a:solidFill>
                <a:latin typeface="Noto Sans CJK JP"/>
                <a:cs typeface="Noto Sans CJK JP"/>
              </a:rPr>
              <a:t>3か年改定とした場合は最終単価の適用がR10となるため、目標達成が1年遅れます（上表（ ）内）。</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299975" cy="53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100" b="0" dirty="0">
                <a:solidFill>
                  <a:srgbClr val="1E293B"/>
                </a:solidFill>
                <a:latin typeface="Arial"/>
                <a:cs typeface="Noto Sans CJK JP"/>
              </a:rPr>
              <a:t>01-6　パターン別　財政収支見込み比較（公共下水道・農業集落排水）　2か年改定ベース</a:t>
            </a:r>
          </a:p>
        </p:txBody>
      </p:sp>
      <p:sp>
        <p:nvSpPr>
          <p:cNvPr id="14" name="ph0"/>
          <p:cNvSpPr/>
          <p:nvPr/>
        </p:nvSpPr>
        <p:spPr>
          <a:xfrm>
            <a:off x="380000" y="1371600"/>
            <a:ext cx="3696960" cy="301752"/>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パターン②（家庭軽減型）</a:t>
            </a:r>
          </a:p>
        </p:txBody>
      </p:sp>
      <p:sp>
        <p:nvSpPr>
          <p:cNvPr id="15" name="pub0"/>
          <p:cNvSpPr/>
          <p:nvPr/>
        </p:nvSpPr>
        <p:spPr>
          <a:xfrm>
            <a:off x="380000" y="1691640"/>
            <a:ext cx="3696960" cy="2286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ch0"/>
          <p:cNvSpPr/>
          <p:nvPr/>
        </p:nvSpPr>
        <p:spPr>
          <a:xfrm>
            <a:off x="380000" y="1947672"/>
            <a:ext cx="3696960" cy="219456"/>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17" name="cpr00"/>
          <p:cNvSpPr/>
          <p:nvPr/>
        </p:nvSpPr>
        <p:spPr>
          <a:xfrm>
            <a:off x="380000" y="2194560"/>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R7：98.5%</a:t>
            </a:r>
          </a:p>
        </p:txBody>
      </p:sp>
      <p:sp>
        <p:nvSpPr>
          <p:cNvPr id="18" name="cpr01"/>
          <p:cNvSpPr/>
          <p:nvPr/>
        </p:nvSpPr>
        <p:spPr>
          <a:xfrm>
            <a:off x="380000" y="2450592"/>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R8：98.1%</a:t>
            </a:r>
          </a:p>
        </p:txBody>
      </p:sp>
      <p:sp>
        <p:nvSpPr>
          <p:cNvPr id="19" name="cpr02"/>
          <p:cNvSpPr/>
          <p:nvPr/>
        </p:nvSpPr>
        <p:spPr>
          <a:xfrm>
            <a:off x="380000" y="2706624"/>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R9：101.1%</a:t>
            </a:r>
          </a:p>
        </p:txBody>
      </p:sp>
      <p:sp>
        <p:nvSpPr>
          <p:cNvPr id="20" name="eh0"/>
          <p:cNvSpPr/>
          <p:nvPr/>
        </p:nvSpPr>
        <p:spPr>
          <a:xfrm>
            <a:off x="380000" y="297180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21" name="epr00"/>
          <p:cNvSpPr/>
          <p:nvPr/>
        </p:nvSpPr>
        <p:spPr>
          <a:xfrm>
            <a:off x="380000" y="321868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R7：34.4%</a:t>
            </a:r>
          </a:p>
        </p:txBody>
      </p:sp>
      <p:sp>
        <p:nvSpPr>
          <p:cNvPr id="22" name="epr01"/>
          <p:cNvSpPr/>
          <p:nvPr/>
        </p:nvSpPr>
        <p:spPr>
          <a:xfrm>
            <a:off x="380000" y="347472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R8：40.0%</a:t>
            </a:r>
          </a:p>
        </p:txBody>
      </p:sp>
      <p:sp>
        <p:nvSpPr>
          <p:cNvPr id="23" name="epr02"/>
          <p:cNvSpPr/>
          <p:nvPr/>
        </p:nvSpPr>
        <p:spPr>
          <a:xfrm>
            <a:off x="380000" y="373075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R9：46.1%</a:t>
            </a:r>
          </a:p>
        </p:txBody>
      </p:sp>
      <p:sp>
        <p:nvSpPr>
          <p:cNvPr id="24" name="agr0"/>
          <p:cNvSpPr/>
          <p:nvPr/>
        </p:nvSpPr>
        <p:spPr>
          <a:xfrm>
            <a:off x="380000" y="3995928"/>
            <a:ext cx="3696960" cy="2286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25" name="ach0"/>
          <p:cNvSpPr/>
          <p:nvPr/>
        </p:nvSpPr>
        <p:spPr>
          <a:xfrm>
            <a:off x="380000" y="425196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経費回収率／経常収支比率</a:t>
            </a:r>
          </a:p>
        </p:txBody>
      </p:sp>
      <p:sp>
        <p:nvSpPr>
          <p:cNvPr id="26" name="ar00"/>
          <p:cNvSpPr/>
          <p:nvPr/>
        </p:nvSpPr>
        <p:spPr>
          <a:xfrm>
            <a:off x="380000" y="449884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R7：39.9% / 82.0%</a:t>
            </a:r>
          </a:p>
        </p:txBody>
      </p:sp>
      <p:sp>
        <p:nvSpPr>
          <p:cNvPr id="27" name="ar01"/>
          <p:cNvSpPr/>
          <p:nvPr/>
        </p:nvSpPr>
        <p:spPr>
          <a:xfrm>
            <a:off x="380000" y="475488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R8：47.7% / 84.2%</a:t>
            </a:r>
          </a:p>
        </p:txBody>
      </p:sp>
      <p:sp>
        <p:nvSpPr>
          <p:cNvPr id="28" name="ar02"/>
          <p:cNvSpPr/>
          <p:nvPr/>
        </p:nvSpPr>
        <p:spPr>
          <a:xfrm>
            <a:off x="380000" y="501091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R9：54.2% / 85.8%</a:t>
            </a:r>
          </a:p>
        </p:txBody>
      </p:sp>
      <p:sp>
        <p:nvSpPr>
          <p:cNvPr id="29" name="ph1"/>
          <p:cNvSpPr/>
          <p:nvPr/>
        </p:nvSpPr>
        <p:spPr>
          <a:xfrm>
            <a:off x="4146960" y="1371600"/>
            <a:ext cx="3696960" cy="301752"/>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パターン④（段階累進型）</a:t>
            </a:r>
          </a:p>
        </p:txBody>
      </p:sp>
      <p:sp>
        <p:nvSpPr>
          <p:cNvPr id="30" name="pub1"/>
          <p:cNvSpPr/>
          <p:nvPr/>
        </p:nvSpPr>
        <p:spPr>
          <a:xfrm>
            <a:off x="4146960" y="1691640"/>
            <a:ext cx="3696960" cy="2286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31" name="ch1"/>
          <p:cNvSpPr/>
          <p:nvPr/>
        </p:nvSpPr>
        <p:spPr>
          <a:xfrm>
            <a:off x="4146960" y="1947672"/>
            <a:ext cx="3696960" cy="219456"/>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32" name="cpr10"/>
          <p:cNvSpPr/>
          <p:nvPr/>
        </p:nvSpPr>
        <p:spPr>
          <a:xfrm>
            <a:off x="4146960" y="2194560"/>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R7：98.5%</a:t>
            </a:r>
          </a:p>
        </p:txBody>
      </p:sp>
      <p:sp>
        <p:nvSpPr>
          <p:cNvPr id="33" name="cpr11"/>
          <p:cNvSpPr/>
          <p:nvPr/>
        </p:nvSpPr>
        <p:spPr>
          <a:xfrm>
            <a:off x="4146960" y="2450592"/>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R8：97.8%</a:t>
            </a:r>
          </a:p>
        </p:txBody>
      </p:sp>
      <p:sp>
        <p:nvSpPr>
          <p:cNvPr id="34" name="cpr12"/>
          <p:cNvSpPr/>
          <p:nvPr/>
        </p:nvSpPr>
        <p:spPr>
          <a:xfrm>
            <a:off x="4146960" y="2706624"/>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R9：100.4%</a:t>
            </a:r>
          </a:p>
        </p:txBody>
      </p:sp>
      <p:sp>
        <p:nvSpPr>
          <p:cNvPr id="35" name="eh1"/>
          <p:cNvSpPr/>
          <p:nvPr/>
        </p:nvSpPr>
        <p:spPr>
          <a:xfrm>
            <a:off x="4146960" y="297180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36" name="epr10"/>
          <p:cNvSpPr/>
          <p:nvPr/>
        </p:nvSpPr>
        <p:spPr>
          <a:xfrm>
            <a:off x="4146960" y="321868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R7：34.4%</a:t>
            </a:r>
          </a:p>
        </p:txBody>
      </p:sp>
      <p:sp>
        <p:nvSpPr>
          <p:cNvPr id="37" name="epr11"/>
          <p:cNvSpPr/>
          <p:nvPr/>
        </p:nvSpPr>
        <p:spPr>
          <a:xfrm>
            <a:off x="4146960" y="347472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R8：39.0%</a:t>
            </a:r>
          </a:p>
        </p:txBody>
      </p:sp>
      <p:sp>
        <p:nvSpPr>
          <p:cNvPr id="38" name="epr12"/>
          <p:cNvSpPr/>
          <p:nvPr/>
        </p:nvSpPr>
        <p:spPr>
          <a:xfrm>
            <a:off x="4146960" y="373075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R9：44.1%</a:t>
            </a:r>
          </a:p>
        </p:txBody>
      </p:sp>
      <p:sp>
        <p:nvSpPr>
          <p:cNvPr id="39" name="agr1"/>
          <p:cNvSpPr/>
          <p:nvPr/>
        </p:nvSpPr>
        <p:spPr>
          <a:xfrm>
            <a:off x="4146960" y="3995928"/>
            <a:ext cx="3696960" cy="2286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0" name="ach1"/>
          <p:cNvSpPr/>
          <p:nvPr/>
        </p:nvSpPr>
        <p:spPr>
          <a:xfrm>
            <a:off x="4146960" y="425196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経費回収率／経常収支比率</a:t>
            </a:r>
          </a:p>
        </p:txBody>
      </p:sp>
      <p:sp>
        <p:nvSpPr>
          <p:cNvPr id="41" name="ar10"/>
          <p:cNvSpPr/>
          <p:nvPr/>
        </p:nvSpPr>
        <p:spPr>
          <a:xfrm>
            <a:off x="4146960" y="449884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R7：39.9% / 82.0%</a:t>
            </a:r>
          </a:p>
        </p:txBody>
      </p:sp>
      <p:sp>
        <p:nvSpPr>
          <p:cNvPr id="42" name="ar11"/>
          <p:cNvSpPr/>
          <p:nvPr/>
        </p:nvSpPr>
        <p:spPr>
          <a:xfrm>
            <a:off x="4146960" y="475488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R8：46.0% / 83.7%</a:t>
            </a:r>
          </a:p>
        </p:txBody>
      </p:sp>
      <p:sp>
        <p:nvSpPr>
          <p:cNvPr id="43" name="ar12"/>
          <p:cNvSpPr/>
          <p:nvPr/>
        </p:nvSpPr>
        <p:spPr>
          <a:xfrm>
            <a:off x="4146960" y="501091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R9：51.1% / 84.6%</a:t>
            </a:r>
          </a:p>
        </p:txBody>
      </p:sp>
      <p:sp>
        <p:nvSpPr>
          <p:cNvPr id="44" name="ph2"/>
          <p:cNvSpPr/>
          <p:nvPr/>
        </p:nvSpPr>
        <p:spPr>
          <a:xfrm>
            <a:off x="7913920" y="1371600"/>
            <a:ext cx="3696960" cy="301752"/>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1100" b="0" dirty="0">
                <a:solidFill>
                  <a:srgbClr val="FFFFFF"/>
                </a:solidFill>
                <a:latin typeface="Arial"/>
                <a:cs typeface="Noto Sans CJK JP"/>
              </a:rPr>
              <a:t>パターン①（標準型）</a:t>
            </a:r>
          </a:p>
        </p:txBody>
      </p:sp>
      <p:sp>
        <p:nvSpPr>
          <p:cNvPr id="45" name="pub2"/>
          <p:cNvSpPr/>
          <p:nvPr/>
        </p:nvSpPr>
        <p:spPr>
          <a:xfrm>
            <a:off x="7913920" y="1691640"/>
            <a:ext cx="3696960" cy="2286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6" name="ch2"/>
          <p:cNvSpPr/>
          <p:nvPr/>
        </p:nvSpPr>
        <p:spPr>
          <a:xfrm>
            <a:off x="7913920" y="1947672"/>
            <a:ext cx="3696960" cy="219456"/>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60000" rIns="91440" anchor="ctr">
            <a:noAutofit/>
          </a:bodyPr>
          <a:p>
            <a:pPr algn="l"/>
            <a:r>
              <a:rPr lang="ja-JP" sz="870" b="0" dirty="0">
                <a:solidFill>
                  <a:srgbClr val="1E40AF"/>
                </a:solidFill>
                <a:latin typeface="Arial"/>
                <a:cs typeface="Noto Sans CJK JP"/>
              </a:rPr>
              <a:t>経常収支比率（目標100%以上）</a:t>
            </a:r>
          </a:p>
        </p:txBody>
      </p:sp>
      <p:sp>
        <p:nvSpPr>
          <p:cNvPr id="47" name="cpr20"/>
          <p:cNvSpPr/>
          <p:nvPr/>
        </p:nvSpPr>
        <p:spPr>
          <a:xfrm>
            <a:off x="7913920" y="2194560"/>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R7：98.5%</a:t>
            </a:r>
          </a:p>
        </p:txBody>
      </p:sp>
      <p:sp>
        <p:nvSpPr>
          <p:cNvPr id="48" name="cpr21"/>
          <p:cNvSpPr/>
          <p:nvPr/>
        </p:nvSpPr>
        <p:spPr>
          <a:xfrm>
            <a:off x="7913920" y="2450592"/>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R8：97.6%</a:t>
            </a:r>
          </a:p>
        </p:txBody>
      </p:sp>
      <p:sp>
        <p:nvSpPr>
          <p:cNvPr id="49" name="cpr22"/>
          <p:cNvSpPr/>
          <p:nvPr/>
        </p:nvSpPr>
        <p:spPr>
          <a:xfrm>
            <a:off x="7913920" y="2706624"/>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R9：100.0%</a:t>
            </a:r>
          </a:p>
        </p:txBody>
      </p:sp>
      <p:sp>
        <p:nvSpPr>
          <p:cNvPr id="50" name="eh2"/>
          <p:cNvSpPr/>
          <p:nvPr/>
        </p:nvSpPr>
        <p:spPr>
          <a:xfrm>
            <a:off x="7913920" y="297180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経費回収率（目標47%以上）</a:t>
            </a:r>
          </a:p>
        </p:txBody>
      </p:sp>
      <p:sp>
        <p:nvSpPr>
          <p:cNvPr id="51" name="epr20"/>
          <p:cNvSpPr/>
          <p:nvPr/>
        </p:nvSpPr>
        <p:spPr>
          <a:xfrm>
            <a:off x="7913920" y="321868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R7：34.4%</a:t>
            </a:r>
          </a:p>
        </p:txBody>
      </p:sp>
      <p:sp>
        <p:nvSpPr>
          <p:cNvPr id="52" name="epr21"/>
          <p:cNvSpPr/>
          <p:nvPr/>
        </p:nvSpPr>
        <p:spPr>
          <a:xfrm>
            <a:off x="7913920" y="347472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R8：38.5%</a:t>
            </a:r>
          </a:p>
        </p:txBody>
      </p:sp>
      <p:sp>
        <p:nvSpPr>
          <p:cNvPr id="53" name="epr22"/>
          <p:cNvSpPr/>
          <p:nvPr/>
        </p:nvSpPr>
        <p:spPr>
          <a:xfrm>
            <a:off x="7913920" y="373075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R9：43.1%</a:t>
            </a:r>
          </a:p>
        </p:txBody>
      </p:sp>
      <p:sp>
        <p:nvSpPr>
          <p:cNvPr id="54" name="agr2"/>
          <p:cNvSpPr/>
          <p:nvPr/>
        </p:nvSpPr>
        <p:spPr>
          <a:xfrm>
            <a:off x="7913920" y="3995928"/>
            <a:ext cx="3696960" cy="2286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55" name="ach2"/>
          <p:cNvSpPr/>
          <p:nvPr/>
        </p:nvSpPr>
        <p:spPr>
          <a:xfrm>
            <a:off x="7913920" y="4251960"/>
            <a:ext cx="3696960" cy="219456"/>
          </a:xfrm>
          <a:custGeom>
            <a:avLst/>
            <a:gdLst/>
            <a:ahLst/>
            <a:rect l="l" t="t" r="r" b="b"/>
            <a:pathLst>
              <a:path w="21600" h="21600">
                <a:moveTo>
                  <a:pt x="0" y="0"/>
                </a:moveTo>
                <a:lnTo>
                  <a:pt x="21600" y="0"/>
                </a:lnTo>
                <a:lnTo>
                  <a:pt x="21600" y="21600"/>
                </a:lnTo>
                <a:lnTo>
                  <a:pt x="0" y="21600"/>
                </a:lnTo>
                <a:close/>
              </a:path>
            </a:pathLst>
          </a:custGeom>
          <a:solidFill>
            <a:srgbClr val="F0FDF4"/>
          </a:solidFill>
          <a:ln w="9525">
            <a:solidFill>
              <a:srgbClr val="4ADE80"/>
            </a:solidFill>
          </a:ln>
        </p:spPr>
        <p:style>
          <a:lnRef idx="0"/>
          <a:fillRef idx="0"/>
          <a:effectRef idx="0"/>
          <a:fontRef idx="minor"/>
        </p:style>
        <p:txBody>
          <a:bodyPr tIns="45720" bIns="45720" lIns="60000" rIns="91440" anchor="ctr">
            <a:noAutofit/>
          </a:bodyPr>
          <a:p>
            <a:pPr algn="l"/>
            <a:r>
              <a:rPr lang="ja-JP" sz="870" b="0" dirty="0">
                <a:solidFill>
                  <a:srgbClr val="166534"/>
                </a:solidFill>
                <a:latin typeface="Arial"/>
                <a:cs typeface="Noto Sans CJK JP"/>
              </a:rPr>
              <a:t>経費回収率／経常収支比率</a:t>
            </a:r>
          </a:p>
        </p:txBody>
      </p:sp>
      <p:sp>
        <p:nvSpPr>
          <p:cNvPr id="56" name="ar20"/>
          <p:cNvSpPr/>
          <p:nvPr/>
        </p:nvSpPr>
        <p:spPr>
          <a:xfrm>
            <a:off x="7913920" y="4498848"/>
            <a:ext cx="3696960" cy="237744"/>
          </a:xfrm>
          <a:custGeom>
            <a:avLst/>
            <a:gdLst/>
            <a:ah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R7：39.9% / 82.0%</a:t>
            </a:r>
          </a:p>
        </p:txBody>
      </p:sp>
      <p:sp>
        <p:nvSpPr>
          <p:cNvPr id="57" name="ar21"/>
          <p:cNvSpPr/>
          <p:nvPr/>
        </p:nvSpPr>
        <p:spPr>
          <a:xfrm>
            <a:off x="7913920" y="4754880"/>
            <a:ext cx="3696960" cy="23774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fillRef idx="0"/>
          <a:effectRef idx="0"/>
          <a:fontRef idx="minor"/>
        </p:style>
        <p:txBody>
          <a:bodyPr tIns="45720" bIns="45720" lIns="60000" rIns="91440" anchor="ctr">
            <a:noAutofit/>
          </a:bodyPr>
          <a:p>
            <a:pPr algn="l"/>
            <a:r>
              <a:rPr lang="ja-JP" sz="1050" b="0" dirty="0">
                <a:solidFill>
                  <a:srgbClr val="374151"/>
                </a:solidFill>
                <a:latin typeface="Arial"/>
                <a:cs typeface="Noto Sans CJK JP"/>
              </a:rPr>
              <a:t>  R8：45.2% / 83.4%</a:t>
            </a:r>
          </a:p>
        </p:txBody>
      </p:sp>
      <p:sp>
        <p:nvSpPr>
          <p:cNvPr id="58" name="ar22"/>
          <p:cNvSpPr/>
          <p:nvPr/>
        </p:nvSpPr>
        <p:spPr>
          <a:xfrm>
            <a:off x="7913920" y="5010912"/>
            <a:ext cx="3696960" cy="237744"/>
          </a:xfrm>
          <a:custGeom>
            <a:avLst/>
            <a:gdLst/>
            <a:ah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fillRef idx="0"/>
          <a:effectRef idx="0"/>
          <a:fontRef idx="minor"/>
        </p:style>
        <p:txBody>
          <a:bodyPr tIns="45720" bIns="45720" lIns="60000" rIns="91440" anchor="ctr">
            <a:noAutofit/>
          </a:bodyPr>
          <a:p>
            <a:pPr algn="l"/>
            <a:r>
              <a:rPr lang="ja-JP" sz="1050" b="1" dirty="0">
                <a:solidFill>
                  <a:srgbClr val="374151"/>
                </a:solidFill>
                <a:latin typeface="Arial"/>
                <a:cs typeface="Noto Sans CJK JP"/>
              </a:rPr>
              <a:t>  R9：49.6% / 84.0%</a:t>
            </a:r>
          </a:p>
        </p:txBody>
      </p:sp>
      <p:sp>
        <p:nvSpPr>
          <p:cNvPr id="59" name="note"/>
          <p:cNvSpPr/>
          <p:nvPr/>
        </p:nvSpPr>
        <p:spPr>
          <a:xfrm>
            <a:off x="380000" y="5333111"/>
            <a:ext cx="11431760" cy="1177417"/>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100" b="0" dirty="0">
                <a:solidFill>
                  <a:srgbClr val="78350F"/>
                </a:solidFill>
                <a:latin typeface="Arial"/>
                <a:cs typeface="Noto Sans CJK JP"/>
              </a:rPr>
              <a:t>▶ 使用料収入は②＞④＞①の順に大きく、公共下水道の経費回収率もR9で②46.1%＞④44.1%＞①43.1%。経常収支比率は3案ともR9に100%以上を達成する見込みです。農業集落排水は経費回収率が大きく改善する一方、経常収支比率は3案とも100%未満（R9で84〜86%）にとどまります。</a:t>
            </a:r>
          </a:p>
          <a:p>
            <a:pPr algn="l"/>
            <a:r>
              <a:rPr lang="ja-JP" sz="1100" b="0" dirty="0">
                <a:solidFill>
                  <a:srgbClr val="78350F"/>
                </a:solidFill>
                <a:latin typeface="Arial"/>
                <a:cs typeface="Noto Sans CJK JP"/>
              </a:rPr>
              <a:t>▶ 収入差の理由：使用料収入は基本使用料が約27%・超過（従量）使用料が約73%で、有収水量の約72%が11㎥以上の従量部分です。②は基本料金を最も低く（1,200円）抑える一方で従量単価を最も高く設定しているため、基本料金の抑制分を従量部分の増収が上回り収入が最大になります（20㎥は3案とも税抜3,000円で同額）。</a:t>
            </a:r>
          </a:p>
          <a:p>
            <a:pPr algn="l"/>
            <a:r>
              <a:rPr lang="ja-JP" sz="1100" b="0" dirty="0">
                <a:solidFill>
                  <a:srgbClr val="78350F"/>
                </a:solidFill>
                <a:latin typeface="Arial"/>
                <a:cs typeface="Noto Sans CJK JP"/>
              </a:rPr>
              <a:t>▶ ②でも公共の経費回収率は目標47%に対しR9 46.1%で、1,647千円（＋2.0%）の増収が不足します（01-2・03-4参照）。</a:t>
            </a:r>
          </a:p>
        </p:txBody>
      </p:sp>
      <p:sp>
        <p:nvSpPr>
          <p:cNvPr id="60"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01-7　改定率の妥当性評価</a:t>
            </a:r>
          </a:p>
        </p:txBody>
      </p:sp>
      <p:sp>
        <p:nvSpPr>
          <p:cNvPr id="17" name="lh7"/>
          <p:cNvSpPr/>
          <p:nvPr/>
        </p:nvSpPr>
        <p:spPr>
          <a:xfrm>
            <a:off x="571680" y="1620000"/>
            <a:ext cx="54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青森県内自治体との比較（20㎥・税込）</a:t>
            </a:r>
          </a:p>
        </p:txBody>
      </p:sp>
      <p:sp>
        <p:nvSpPr>
          <p:cNvPr id="18" name="cn0"/>
          <p:cNvSpPr/>
          <p:nvPr/>
        </p:nvSpPr>
        <p:spPr>
          <a:xfrm>
            <a:off x="571680" y="197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六戸町（改定前）</a:t>
            </a:r>
          </a:p>
        </p:txBody>
      </p:sp>
      <p:sp>
        <p:nvSpPr>
          <p:cNvPr id="19" name="cp0"/>
          <p:cNvSpPr/>
          <p:nvPr/>
        </p:nvSpPr>
        <p:spPr>
          <a:xfrm>
            <a:off x="3171680" y="197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2,420円</a:t>
            </a:r>
          </a:p>
        </p:txBody>
      </p:sp>
      <p:sp>
        <p:nvSpPr>
          <p:cNvPr id="20" name="cr0"/>
          <p:cNvSpPr/>
          <p:nvPr/>
        </p:nvSpPr>
        <p:spPr>
          <a:xfrm>
            <a:off x="4671680" y="197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a:t>
            </a:r>
          </a:p>
        </p:txBody>
      </p:sp>
      <p:sp>
        <p:nvSpPr>
          <p:cNvPr id="21" name="cn1"/>
          <p:cNvSpPr/>
          <p:nvPr/>
        </p:nvSpPr>
        <p:spPr>
          <a:xfrm>
            <a:off x="571680" y="243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EF4444"/>
                </a:solidFill>
                <a:latin typeface="Noto Sans CJK JP"/>
                <a:cs typeface="Noto Sans CJK JP"/>
              </a:rPr>
              <a:t>六戸町（改定後・共通）</a:t>
            </a:r>
          </a:p>
        </p:txBody>
      </p:sp>
      <p:sp>
        <p:nvSpPr>
          <p:cNvPr id="22" name="cp1"/>
          <p:cNvSpPr/>
          <p:nvPr/>
        </p:nvSpPr>
        <p:spPr>
          <a:xfrm>
            <a:off x="3171680" y="243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3,300円</a:t>
            </a:r>
          </a:p>
        </p:txBody>
      </p:sp>
      <p:sp>
        <p:nvSpPr>
          <p:cNvPr id="23" name="cr1"/>
          <p:cNvSpPr/>
          <p:nvPr/>
        </p:nvSpPr>
        <p:spPr>
          <a:xfrm>
            <a:off x="4671680" y="243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＋36.4%</a:t>
            </a:r>
          </a:p>
        </p:txBody>
      </p:sp>
      <p:sp>
        <p:nvSpPr>
          <p:cNvPr id="24" name="cn2"/>
          <p:cNvSpPr/>
          <p:nvPr/>
        </p:nvSpPr>
        <p:spPr>
          <a:xfrm>
            <a:off x="571680" y="289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40AF"/>
                </a:solidFill>
                <a:latin typeface="Noto Sans CJK JP"/>
                <a:cs typeface="Noto Sans CJK JP"/>
              </a:rPr>
              <a:t>八戸市</a:t>
            </a:r>
          </a:p>
        </p:txBody>
      </p:sp>
      <p:sp>
        <p:nvSpPr>
          <p:cNvPr id="25" name="cp2"/>
          <p:cNvSpPr/>
          <p:nvPr/>
        </p:nvSpPr>
        <p:spPr>
          <a:xfrm>
            <a:off x="3171680" y="289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3,383円</a:t>
            </a:r>
          </a:p>
        </p:txBody>
      </p:sp>
      <p:sp>
        <p:nvSpPr>
          <p:cNvPr id="26" name="cr2"/>
          <p:cNvSpPr/>
          <p:nvPr/>
        </p:nvSpPr>
        <p:spPr>
          <a:xfrm>
            <a:off x="4671680" y="289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a:t>
            </a:r>
          </a:p>
        </p:txBody>
      </p:sp>
      <p:sp>
        <p:nvSpPr>
          <p:cNvPr id="27" name="cn3"/>
          <p:cNvSpPr/>
          <p:nvPr/>
        </p:nvSpPr>
        <p:spPr>
          <a:xfrm>
            <a:off x="571680" y="335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40AF"/>
                </a:solidFill>
                <a:latin typeface="Noto Sans CJK JP"/>
                <a:cs typeface="Noto Sans CJK JP"/>
              </a:rPr>
              <a:t>県内平均（公共）</a:t>
            </a:r>
          </a:p>
        </p:txBody>
      </p:sp>
      <p:sp>
        <p:nvSpPr>
          <p:cNvPr id="28" name="cp3"/>
          <p:cNvSpPr/>
          <p:nvPr/>
        </p:nvSpPr>
        <p:spPr>
          <a:xfrm>
            <a:off x="3171680" y="335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3,063円</a:t>
            </a:r>
          </a:p>
        </p:txBody>
      </p:sp>
      <p:sp>
        <p:nvSpPr>
          <p:cNvPr id="29" name="cr3"/>
          <p:cNvSpPr/>
          <p:nvPr/>
        </p:nvSpPr>
        <p:spPr>
          <a:xfrm>
            <a:off x="4671680" y="335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a:t>
            </a:r>
          </a:p>
        </p:txBody>
      </p:sp>
      <p:sp>
        <p:nvSpPr>
          <p:cNvPr id="30" name="cn4"/>
          <p:cNvSpPr/>
          <p:nvPr/>
        </p:nvSpPr>
        <p:spPr>
          <a:xfrm>
            <a:off x="571680" y="3810000"/>
            <a:ext cx="25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64748B"/>
                </a:solidFill>
                <a:latin typeface="Noto Sans CJK JP"/>
                <a:cs typeface="Noto Sans CJK JP"/>
              </a:rPr>
              <a:t>県内平均（農集）</a:t>
            </a:r>
          </a:p>
        </p:txBody>
      </p:sp>
      <p:sp>
        <p:nvSpPr>
          <p:cNvPr id="31" name="cp4"/>
          <p:cNvSpPr/>
          <p:nvPr/>
        </p:nvSpPr>
        <p:spPr>
          <a:xfrm>
            <a:off x="3171680" y="3810000"/>
            <a:ext cx="14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64748B"/>
                </a:solidFill>
                <a:latin typeface="Arial"/>
                <a:cs typeface="Noto Sans CJK JP"/>
              </a:rPr>
              <a:t>2,912円</a:t>
            </a:r>
          </a:p>
        </p:txBody>
      </p:sp>
      <p:sp>
        <p:nvSpPr>
          <p:cNvPr id="32" name="cr4"/>
          <p:cNvSpPr/>
          <p:nvPr/>
        </p:nvSpPr>
        <p:spPr>
          <a:xfrm>
            <a:off x="4671680" y="3810000"/>
            <a:ext cx="70000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64748B"/>
                </a:solidFill>
                <a:latin typeface="Arial"/>
                <a:cs typeface="Noto Sans CJK JP"/>
              </a:rPr>
              <a:t>—</a:t>
            </a:r>
          </a:p>
        </p:txBody>
      </p:sp>
      <p:sp>
        <p:nvSpPr>
          <p:cNvPr id="33" name="rh7"/>
          <p:cNvSpPr/>
          <p:nvPr/>
        </p:nvSpPr>
        <p:spPr>
          <a:xfrm>
            <a:off x="6471680" y="1620000"/>
            <a:ext cx="514932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住民負担指標</a:t>
            </a:r>
          </a:p>
        </p:txBody>
      </p:sp>
      <p:sp>
        <p:nvSpPr>
          <p:cNvPr id="34" name="bi0"/>
          <p:cNvSpPr/>
          <p:nvPr/>
        </p:nvSpPr>
        <p:spPr>
          <a:xfrm>
            <a:off x="6471680" y="197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1E293B"/>
                </a:solidFill>
                <a:latin typeface="Noto Sans CJK JP"/>
                <a:cs typeface="Noto Sans CJK JP"/>
              </a:rPr>
              <a:t>改定後月額（20㎥・税込）</a:t>
            </a:r>
          </a:p>
        </p:txBody>
      </p:sp>
      <p:sp>
        <p:nvSpPr>
          <p:cNvPr id="35" name="bv0"/>
          <p:cNvSpPr/>
          <p:nvPr/>
        </p:nvSpPr>
        <p:spPr>
          <a:xfrm>
            <a:off x="10177272" y="197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C2410C"/>
                </a:solidFill>
                <a:latin typeface="Arial"/>
                <a:cs typeface="Noto Sans CJK JP"/>
              </a:rPr>
              <a:t>3,300円</a:t>
            </a:r>
          </a:p>
        </p:txBody>
      </p:sp>
      <p:sp>
        <p:nvSpPr>
          <p:cNvPr id="36" name="bi1"/>
          <p:cNvSpPr/>
          <p:nvPr/>
        </p:nvSpPr>
        <p:spPr>
          <a:xfrm>
            <a:off x="6471680" y="243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1E293B"/>
                </a:solidFill>
                <a:latin typeface="Noto Sans CJK JP"/>
                <a:cs typeface="Noto Sans CJK JP"/>
              </a:rPr>
              <a:t>年間負担増加額</a:t>
            </a:r>
          </a:p>
        </p:txBody>
      </p:sp>
      <p:sp>
        <p:nvSpPr>
          <p:cNvPr id="37" name="bv1"/>
          <p:cNvSpPr/>
          <p:nvPr/>
        </p:nvSpPr>
        <p:spPr>
          <a:xfrm>
            <a:off x="10177272" y="243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EF4444"/>
                </a:solidFill>
                <a:latin typeface="Arial"/>
                <a:cs typeface="Noto Sans CJK JP"/>
              </a:rPr>
              <a:t>＋10,560円/年</a:t>
            </a:r>
          </a:p>
        </p:txBody>
      </p:sp>
      <p:sp>
        <p:nvSpPr>
          <p:cNvPr id="38" name="bi2"/>
          <p:cNvSpPr/>
          <p:nvPr/>
        </p:nvSpPr>
        <p:spPr>
          <a:xfrm>
            <a:off x="6471680" y="289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1日あたり負担増</a:t>
            </a:r>
          </a:p>
        </p:txBody>
      </p:sp>
      <p:sp>
        <p:nvSpPr>
          <p:cNvPr id="39" name="bv2"/>
          <p:cNvSpPr/>
          <p:nvPr/>
        </p:nvSpPr>
        <p:spPr>
          <a:xfrm>
            <a:off x="10177272" y="289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293B"/>
                </a:solidFill>
                <a:latin typeface="Arial"/>
                <a:cs typeface="Noto Sans CJK JP"/>
              </a:rPr>
              <a:t>約29円</a:t>
            </a:r>
          </a:p>
        </p:txBody>
      </p:sp>
      <p:sp>
        <p:nvSpPr>
          <p:cNvPr id="40" name="bi3"/>
          <p:cNvSpPr/>
          <p:nvPr/>
        </p:nvSpPr>
        <p:spPr>
          <a:xfrm>
            <a:off x="6471680" y="335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現行比の改定率</a:t>
            </a:r>
          </a:p>
        </p:txBody>
      </p:sp>
      <p:sp>
        <p:nvSpPr>
          <p:cNvPr id="41" name="bv3"/>
          <p:cNvSpPr/>
          <p:nvPr/>
        </p:nvSpPr>
        <p:spPr>
          <a:xfrm>
            <a:off x="10177272" y="335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＋36.4%</a:t>
            </a:r>
          </a:p>
        </p:txBody>
      </p:sp>
      <p:sp>
        <p:nvSpPr>
          <p:cNvPr id="42" name="bi4"/>
          <p:cNvSpPr/>
          <p:nvPr/>
        </p:nvSpPr>
        <p:spPr>
          <a:xfrm>
            <a:off x="6471680" y="381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293B"/>
                </a:solidFill>
                <a:latin typeface="Noto Sans CJK JP"/>
                <a:cs typeface="Noto Sans CJK JP"/>
              </a:rPr>
              <a:t>県内平均との差</a:t>
            </a:r>
          </a:p>
        </p:txBody>
      </p:sp>
      <p:sp>
        <p:nvSpPr>
          <p:cNvPr id="43" name="bv4"/>
          <p:cNvSpPr/>
          <p:nvPr/>
        </p:nvSpPr>
        <p:spPr>
          <a:xfrm>
            <a:off x="10177272" y="381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40AF"/>
                </a:solidFill>
                <a:latin typeface="Arial"/>
                <a:cs typeface="Noto Sans CJK JP"/>
              </a:rPr>
              <a:t>＋237円</a:t>
            </a:r>
          </a:p>
        </p:txBody>
      </p:sp>
      <p:sp>
        <p:nvSpPr>
          <p:cNvPr id="44" name="eval7"/>
          <p:cNvSpPr/>
          <p:nvPr/>
        </p:nvSpPr>
        <p:spPr>
          <a:xfrm>
            <a:off x="571680" y="4680000"/>
            <a:ext cx="11048400" cy="643381"/>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改定後の水準（税込3,300円）は青森県内平均（公共3,063円・農集2,912円）と概ね同水準。1日あたりの負担増は約29円で、住民への影響は許容範囲内と評価されます。近隣自治体との個別比較は01-8をご覧ください。</a:t>
            </a:r>
          </a:p>
        </p:txBody>
      </p:sp>
      <p:sp>
        <p:nvSpPr>
          <p:cNvPr id="45"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01-8　近隣自治体との使用料比較（一般家庭 20㎥／月・税込）</a:t>
            </a:r>
          </a:p>
        </p:txBody>
      </p:sp>
      <p:sp>
        <p:nvSpPr>
          <p:cNvPr id="17" name="lh7"/>
          <p:cNvSpPr/>
          <p:nvPr/>
        </p:nvSpPr>
        <p:spPr>
          <a:xfrm>
            <a:off x="571680" y="1620000"/>
            <a:ext cx="54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公共下水道　右列＝六戸町（改定後3,300円）との差</a:t>
            </a:r>
          </a:p>
        </p:txBody>
      </p:sp>
      <p:sp>
        <p:nvSpPr>
          <p:cNvPr id="18" name="cn0"/>
          <p:cNvSpPr/>
          <p:nvPr/>
        </p:nvSpPr>
        <p:spPr>
          <a:xfrm>
            <a:off x="576072" y="1970000"/>
            <a:ext cx="22402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B91C1C"/>
                </a:solidFill>
                <a:latin typeface="Noto Sans CJK JP"/>
                <a:cs typeface="Noto Sans CJK JP"/>
              </a:rPr>
              <a:t>おいらせ町</a:t>
            </a:r>
          </a:p>
        </p:txBody>
      </p:sp>
      <p:sp>
        <p:nvSpPr>
          <p:cNvPr id="19" name="cp0"/>
          <p:cNvSpPr/>
          <p:nvPr/>
        </p:nvSpPr>
        <p:spPr>
          <a:xfrm>
            <a:off x="2926080" y="1970000"/>
            <a:ext cx="123444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B91C1C"/>
                </a:solidFill>
                <a:latin typeface="Arial"/>
                <a:cs typeface="Noto Sans CJK JP"/>
              </a:rPr>
              <a:t>3,655円</a:t>
            </a:r>
          </a:p>
        </p:txBody>
      </p:sp>
      <p:sp>
        <p:nvSpPr>
          <p:cNvPr id="20" name="cr0"/>
          <p:cNvSpPr/>
          <p:nvPr/>
        </p:nvSpPr>
        <p:spPr>
          <a:xfrm>
            <a:off x="4233672" y="1970000"/>
            <a:ext cx="117043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B91C1C"/>
                </a:solidFill>
                <a:latin typeface="Arial"/>
                <a:cs typeface="Noto Sans CJK JP"/>
              </a:rPr>
              <a:t>＋355円</a:t>
            </a:r>
          </a:p>
        </p:txBody>
      </p:sp>
      <p:sp>
        <p:nvSpPr>
          <p:cNvPr id="21" name="cn1"/>
          <p:cNvSpPr/>
          <p:nvPr/>
        </p:nvSpPr>
        <p:spPr>
          <a:xfrm>
            <a:off x="576072" y="2430000"/>
            <a:ext cx="224028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B91C1C"/>
                </a:solidFill>
                <a:latin typeface="Noto Sans CJK JP"/>
                <a:cs typeface="Noto Sans CJK JP"/>
              </a:rPr>
              <a:t>八戸市</a:t>
            </a:r>
          </a:p>
        </p:txBody>
      </p:sp>
      <p:sp>
        <p:nvSpPr>
          <p:cNvPr id="22" name="cp1"/>
          <p:cNvSpPr/>
          <p:nvPr/>
        </p:nvSpPr>
        <p:spPr>
          <a:xfrm>
            <a:off x="2926080" y="2430000"/>
            <a:ext cx="1234440"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B91C1C"/>
                </a:solidFill>
                <a:latin typeface="Arial"/>
                <a:cs typeface="Noto Sans CJK JP"/>
              </a:rPr>
              <a:t>3,383円</a:t>
            </a:r>
          </a:p>
        </p:txBody>
      </p:sp>
      <p:sp>
        <p:nvSpPr>
          <p:cNvPr id="23" name="cr1"/>
          <p:cNvSpPr/>
          <p:nvPr/>
        </p:nvSpPr>
        <p:spPr>
          <a:xfrm>
            <a:off x="4233672" y="2430000"/>
            <a:ext cx="1170432" cy="43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B91C1C"/>
                </a:solidFill>
                <a:latin typeface="Arial"/>
                <a:cs typeface="Noto Sans CJK JP"/>
              </a:rPr>
              <a:t>＋83円</a:t>
            </a:r>
          </a:p>
        </p:txBody>
      </p:sp>
      <p:sp>
        <p:nvSpPr>
          <p:cNvPr id="24" name="cn2"/>
          <p:cNvSpPr/>
          <p:nvPr/>
        </p:nvSpPr>
        <p:spPr>
          <a:xfrm>
            <a:off x="576072" y="2890000"/>
            <a:ext cx="22402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七戸町</a:t>
            </a:r>
          </a:p>
        </p:txBody>
      </p:sp>
      <p:sp>
        <p:nvSpPr>
          <p:cNvPr id="25" name="cp2"/>
          <p:cNvSpPr/>
          <p:nvPr/>
        </p:nvSpPr>
        <p:spPr>
          <a:xfrm>
            <a:off x="2926080" y="2890000"/>
            <a:ext cx="123444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3A8A"/>
                </a:solidFill>
                <a:latin typeface="Arial"/>
                <a:cs typeface="Noto Sans CJK JP"/>
              </a:rPr>
              <a:t>3,300円</a:t>
            </a:r>
          </a:p>
        </p:txBody>
      </p:sp>
      <p:sp>
        <p:nvSpPr>
          <p:cNvPr id="26" name="cr2"/>
          <p:cNvSpPr/>
          <p:nvPr/>
        </p:nvSpPr>
        <p:spPr>
          <a:xfrm>
            <a:off x="4233672" y="2890000"/>
            <a:ext cx="117043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3A8A"/>
                </a:solidFill>
                <a:latin typeface="Arial"/>
                <a:cs typeface="Noto Sans CJK JP"/>
              </a:rPr>
              <a:t>±0円</a:t>
            </a:r>
          </a:p>
        </p:txBody>
      </p:sp>
      <p:sp>
        <p:nvSpPr>
          <p:cNvPr id="27" name="cn3"/>
          <p:cNvSpPr/>
          <p:nvPr/>
        </p:nvSpPr>
        <p:spPr>
          <a:xfrm>
            <a:off x="576072" y="3350000"/>
            <a:ext cx="224028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東北町</a:t>
            </a:r>
          </a:p>
        </p:txBody>
      </p:sp>
      <p:sp>
        <p:nvSpPr>
          <p:cNvPr id="28" name="cp3"/>
          <p:cNvSpPr/>
          <p:nvPr/>
        </p:nvSpPr>
        <p:spPr>
          <a:xfrm>
            <a:off x="2926080" y="3350000"/>
            <a:ext cx="1234440"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3A8A"/>
                </a:solidFill>
                <a:latin typeface="Arial"/>
                <a:cs typeface="Noto Sans CJK JP"/>
              </a:rPr>
              <a:t>3,300円</a:t>
            </a:r>
          </a:p>
        </p:txBody>
      </p:sp>
      <p:sp>
        <p:nvSpPr>
          <p:cNvPr id="29" name="cr3"/>
          <p:cNvSpPr/>
          <p:nvPr/>
        </p:nvSpPr>
        <p:spPr>
          <a:xfrm>
            <a:off x="4233672" y="3350000"/>
            <a:ext cx="1170432" cy="43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3A8A"/>
                </a:solidFill>
                <a:latin typeface="Arial"/>
                <a:cs typeface="Noto Sans CJK JP"/>
              </a:rPr>
              <a:t>±0円</a:t>
            </a:r>
          </a:p>
        </p:txBody>
      </p:sp>
      <p:sp>
        <p:nvSpPr>
          <p:cNvPr id="30" name="cn4"/>
          <p:cNvSpPr/>
          <p:nvPr/>
        </p:nvSpPr>
        <p:spPr>
          <a:xfrm>
            <a:off x="576072" y="3810000"/>
            <a:ext cx="22402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五戸町</a:t>
            </a:r>
          </a:p>
        </p:txBody>
      </p:sp>
      <p:sp>
        <p:nvSpPr>
          <p:cNvPr id="31" name="cp4"/>
          <p:cNvSpPr/>
          <p:nvPr/>
        </p:nvSpPr>
        <p:spPr>
          <a:xfrm>
            <a:off x="2926080" y="3810000"/>
            <a:ext cx="123444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2,640円</a:t>
            </a:r>
          </a:p>
        </p:txBody>
      </p:sp>
      <p:sp>
        <p:nvSpPr>
          <p:cNvPr id="32" name="cr4"/>
          <p:cNvSpPr/>
          <p:nvPr/>
        </p:nvSpPr>
        <p:spPr>
          <a:xfrm>
            <a:off x="4233672" y="3810000"/>
            <a:ext cx="117043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△660円</a:t>
            </a:r>
          </a:p>
        </p:txBody>
      </p:sp>
      <p:sp>
        <p:nvSpPr>
          <p:cNvPr id="33" name="rh7"/>
          <p:cNvSpPr/>
          <p:nvPr/>
        </p:nvSpPr>
        <p:spPr>
          <a:xfrm>
            <a:off x="6471680" y="1620000"/>
            <a:ext cx="514932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農業集落排水（20㎥・税込）</a:t>
            </a:r>
          </a:p>
        </p:txBody>
      </p:sp>
      <p:sp>
        <p:nvSpPr>
          <p:cNvPr id="34" name="bi0"/>
          <p:cNvSpPr/>
          <p:nvPr/>
        </p:nvSpPr>
        <p:spPr>
          <a:xfrm>
            <a:off x="6471680" y="197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B91C1C"/>
                </a:solidFill>
                <a:latin typeface="Noto Sans CJK JP"/>
                <a:cs typeface="Noto Sans CJK JP"/>
              </a:rPr>
              <a:t>黒石市（県内最高）</a:t>
            </a:r>
          </a:p>
        </p:txBody>
      </p:sp>
      <p:sp>
        <p:nvSpPr>
          <p:cNvPr id="35" name="bv0"/>
          <p:cNvSpPr/>
          <p:nvPr/>
        </p:nvSpPr>
        <p:spPr>
          <a:xfrm>
            <a:off x="10177272" y="197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B91C1C"/>
                </a:solidFill>
                <a:latin typeface="Arial"/>
                <a:cs typeface="Noto Sans CJK JP"/>
              </a:rPr>
              <a:t>4,045円</a:t>
            </a:r>
          </a:p>
        </p:txBody>
      </p:sp>
      <p:sp>
        <p:nvSpPr>
          <p:cNvPr id="36" name="bi1"/>
          <p:cNvSpPr/>
          <p:nvPr/>
        </p:nvSpPr>
        <p:spPr>
          <a:xfrm>
            <a:off x="6471680" y="243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1" dirty="0">
                <a:solidFill>
                  <a:srgbClr val="B91C1C"/>
                </a:solidFill>
                <a:latin typeface="Noto Sans CJK JP"/>
                <a:cs typeface="Noto Sans CJK JP"/>
              </a:rPr>
              <a:t>おいらせ町</a:t>
            </a:r>
          </a:p>
        </p:txBody>
      </p:sp>
      <p:sp>
        <p:nvSpPr>
          <p:cNvPr id="37" name="bv1"/>
          <p:cNvSpPr/>
          <p:nvPr/>
        </p:nvSpPr>
        <p:spPr>
          <a:xfrm>
            <a:off x="10177272" y="243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FF7ED"/>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1" dirty="0">
                <a:solidFill>
                  <a:srgbClr val="B91C1C"/>
                </a:solidFill>
                <a:latin typeface="Arial"/>
                <a:cs typeface="Noto Sans CJK JP"/>
              </a:rPr>
              <a:t>3,655円</a:t>
            </a:r>
          </a:p>
        </p:txBody>
      </p:sp>
      <p:sp>
        <p:nvSpPr>
          <p:cNvPr id="38" name="bi2"/>
          <p:cNvSpPr/>
          <p:nvPr/>
        </p:nvSpPr>
        <p:spPr>
          <a:xfrm>
            <a:off x="6471680" y="289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E3A8A"/>
                </a:solidFill>
                <a:latin typeface="Noto Sans CJK JP"/>
                <a:cs typeface="Noto Sans CJK JP"/>
              </a:rPr>
              <a:t>七戸町・東北町</a:t>
            </a:r>
          </a:p>
        </p:txBody>
      </p:sp>
      <p:sp>
        <p:nvSpPr>
          <p:cNvPr id="39" name="bv2"/>
          <p:cNvSpPr/>
          <p:nvPr/>
        </p:nvSpPr>
        <p:spPr>
          <a:xfrm>
            <a:off x="10177272" y="289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E3A8A"/>
                </a:solidFill>
                <a:latin typeface="Arial"/>
                <a:cs typeface="Noto Sans CJK JP"/>
              </a:rPr>
              <a:t>3,300円</a:t>
            </a:r>
          </a:p>
        </p:txBody>
      </p:sp>
      <p:sp>
        <p:nvSpPr>
          <p:cNvPr id="40" name="bi3"/>
          <p:cNvSpPr/>
          <p:nvPr/>
        </p:nvSpPr>
        <p:spPr>
          <a:xfrm>
            <a:off x="6471680" y="335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板柳町</a:t>
            </a:r>
          </a:p>
        </p:txBody>
      </p:sp>
      <p:sp>
        <p:nvSpPr>
          <p:cNvPr id="41" name="bv3"/>
          <p:cNvSpPr/>
          <p:nvPr/>
        </p:nvSpPr>
        <p:spPr>
          <a:xfrm>
            <a:off x="10177272" y="335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2,920円</a:t>
            </a:r>
          </a:p>
        </p:txBody>
      </p:sp>
      <p:sp>
        <p:nvSpPr>
          <p:cNvPr id="42" name="bi4"/>
          <p:cNvSpPr/>
          <p:nvPr/>
        </p:nvSpPr>
        <p:spPr>
          <a:xfrm>
            <a:off x="6471680" y="3810000"/>
            <a:ext cx="3611880"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新郷村（県内最安）</a:t>
            </a:r>
          </a:p>
        </p:txBody>
      </p:sp>
      <p:sp>
        <p:nvSpPr>
          <p:cNvPr id="43" name="bv4"/>
          <p:cNvSpPr/>
          <p:nvPr/>
        </p:nvSpPr>
        <p:spPr>
          <a:xfrm>
            <a:off x="10177272" y="3810000"/>
            <a:ext cx="1947672" cy="43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166534"/>
                </a:solidFill>
                <a:latin typeface="Arial"/>
                <a:cs typeface="Noto Sans CJK JP"/>
              </a:rPr>
              <a:t>1,760円</a:t>
            </a:r>
          </a:p>
        </p:txBody>
      </p:sp>
      <p:sp>
        <p:nvSpPr>
          <p:cNvPr id="44" name="eval7"/>
          <p:cNvSpPr/>
          <p:nvPr/>
        </p:nvSpPr>
        <p:spPr>
          <a:xfrm>
            <a:off x="571680" y="4680000"/>
            <a:ext cx="11048400" cy="1361566"/>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六戸町の改定後（税込3,300円）は近隣自治体の中位に位置し、七戸町・東北町と同額、八戸市（3,383円）・おいらせ町（3,655円）を下回ります。東北町は令和6年に2,640円→3,300円へ改定済みです。県内平均は公共3,063円・農集2,912円（01-7）で、改定後もこれを大きく超える水準ではありません。</a:t>
            </a:r>
          </a:p>
          <a:p>
            <a:pPr algn="l"/>
            <a:r>
              <a:rPr lang="ja-JP" sz="1300" b="0" dirty="0">
                <a:solidFill>
                  <a:srgbClr val="78350F"/>
                </a:solidFill>
                <a:latin typeface="Noto Sans CJK JP"/>
                <a:cs typeface="Noto Sans CJK JP"/>
              </a:rPr>
              <a:t>※ 文字色は六戸町の改定後3,300円との比較（赤＝高い／青＝同額／緑＝低い）。出所：第1回審議会資料「青森県内 下水道使用料比較」（令和6年3月31日現在・20㎥・税込）。三沢市は第1回資料に掲載がないため未掲載です（照会中）。</a:t>
            </a:r>
          </a:p>
        </p:txBody>
      </p:sp>
      <p:sp>
        <p:nvSpPr>
          <p:cNvPr id="45"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02</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段階的値上げの検討</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本章では、2か年・3か年の改定方式の比較、段階単価一覧の確認、および推奨ロードマップ案を整理します。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02-1　2か年改定 vs 3か年改定　論点整理</a:t>
            </a:r>
          </a:p>
        </p:txBody>
      </p:sp>
      <p:sp>
        <p:nvSpPr>
          <p:cNvPr id="17" name="ch0"/>
          <p:cNvSpPr/>
          <p:nvPr/>
        </p:nvSpPr>
        <p:spPr>
          <a:xfrm>
            <a:off x="5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2か年改定</a:t>
            </a:r>
          </a:p>
        </p:txBody>
      </p:sp>
      <p:sp>
        <p:nvSpPr>
          <p:cNvPr id="18" name="cs0"/>
          <p:cNvSpPr/>
          <p:nvPr/>
        </p:nvSpPr>
        <p:spPr>
          <a:xfrm>
            <a:off x="5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1D4ED8"/>
                </a:solidFill>
                <a:latin typeface="Noto Sans CJK JP"/>
                <a:cs typeface="Noto Sans CJK JP"/>
              </a:rPr>
              <a:t>改定スケジュール：R8：中間単価 → R9：最終単価</a:t>
            </a:r>
          </a:p>
        </p:txBody>
      </p:sp>
      <p:sp>
        <p:nvSpPr>
          <p:cNvPr id="19" name="ph0"/>
          <p:cNvSpPr/>
          <p:nvPr/>
        </p:nvSpPr>
        <p:spPr>
          <a:xfrm>
            <a:off x="5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メリット</a:t>
            </a:r>
          </a:p>
        </p:txBody>
      </p:sp>
      <p:sp>
        <p:nvSpPr>
          <p:cNvPr id="20" name="p00"/>
          <p:cNvSpPr/>
          <p:nvPr/>
        </p:nvSpPr>
        <p:spPr>
          <a:xfrm>
            <a:off x="5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早期に財政健全化目標を達成</a:t>
            </a:r>
          </a:p>
        </p:txBody>
      </p:sp>
      <p:sp>
        <p:nvSpPr>
          <p:cNvPr id="21" name="p01"/>
          <p:cNvSpPr/>
          <p:nvPr/>
        </p:nvSpPr>
        <p:spPr>
          <a:xfrm>
            <a:off x="5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収入確保の確実性が高い</a:t>
            </a:r>
          </a:p>
        </p:txBody>
      </p:sp>
      <p:sp>
        <p:nvSpPr>
          <p:cNvPr id="22" name="p02"/>
          <p:cNvSpPr/>
          <p:nvPr/>
        </p:nvSpPr>
        <p:spPr>
          <a:xfrm>
            <a:off x="5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行政手続きがシンプル</a:t>
            </a:r>
          </a:p>
        </p:txBody>
      </p:sp>
      <p:sp>
        <p:nvSpPr>
          <p:cNvPr id="23" name="mh0"/>
          <p:cNvSpPr/>
          <p:nvPr/>
        </p:nvSpPr>
        <p:spPr>
          <a:xfrm>
            <a:off x="5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デメリット</a:t>
            </a:r>
          </a:p>
        </p:txBody>
      </p:sp>
      <p:sp>
        <p:nvSpPr>
          <p:cNvPr id="24" name="m00"/>
          <p:cNvSpPr/>
          <p:nvPr/>
        </p:nvSpPr>
        <p:spPr>
          <a:xfrm>
            <a:off x="5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1回の値上げ幅が大きい（基本料+100〜250円）</a:t>
            </a:r>
          </a:p>
        </p:txBody>
      </p:sp>
      <p:sp>
        <p:nvSpPr>
          <p:cNvPr id="25" name="m01"/>
          <p:cNvSpPr/>
          <p:nvPr/>
        </p:nvSpPr>
        <p:spPr>
          <a:xfrm>
            <a:off x="5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住民への急激な負担増加</a:t>
            </a:r>
          </a:p>
        </p:txBody>
      </p:sp>
      <p:sp>
        <p:nvSpPr>
          <p:cNvPr id="26" name="ch1"/>
          <p:cNvSpPr/>
          <p:nvPr/>
        </p:nvSpPr>
        <p:spPr>
          <a:xfrm>
            <a:off x="6271680" y="16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500" b="0" dirty="0">
                <a:solidFill>
                  <a:srgbClr val="FFFFFF"/>
                </a:solidFill>
                <a:latin typeface="Noto Sans CJK JP"/>
                <a:cs typeface="Noto Sans CJK JP"/>
              </a:rPr>
              <a:t>3か年改定</a:t>
            </a:r>
          </a:p>
        </p:txBody>
      </p:sp>
      <p:sp>
        <p:nvSpPr>
          <p:cNvPr id="27" name="cs1"/>
          <p:cNvSpPr/>
          <p:nvPr/>
        </p:nvSpPr>
        <p:spPr>
          <a:xfrm>
            <a:off x="6271680" y="2000000"/>
            <a:ext cx="5500000" cy="24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ctr"/>
            <a:r>
              <a:rPr lang="ja-JP" sz="1000" b="0" dirty="0">
                <a:solidFill>
                  <a:srgbClr val="EA580C"/>
                </a:solidFill>
                <a:latin typeface="Noto Sans CJK JP"/>
                <a:cs typeface="Noto Sans CJK JP"/>
              </a:rPr>
              <a:t>改定スケジュール：R8：第1段 → R9：第2段 → R10：最終</a:t>
            </a:r>
          </a:p>
        </p:txBody>
      </p:sp>
      <p:sp>
        <p:nvSpPr>
          <p:cNvPr id="28" name="ph1"/>
          <p:cNvSpPr/>
          <p:nvPr/>
        </p:nvSpPr>
        <p:spPr>
          <a:xfrm>
            <a:off x="6271680" y="229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メリット</a:t>
            </a:r>
          </a:p>
        </p:txBody>
      </p:sp>
      <p:sp>
        <p:nvSpPr>
          <p:cNvPr id="29" name="p10"/>
          <p:cNvSpPr/>
          <p:nvPr/>
        </p:nvSpPr>
        <p:spPr>
          <a:xfrm>
            <a:off x="6271680" y="260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住民負担を3段階に平準化</a:t>
            </a:r>
          </a:p>
        </p:txBody>
      </p:sp>
      <p:sp>
        <p:nvSpPr>
          <p:cNvPr id="30" name="p11"/>
          <p:cNvSpPr/>
          <p:nvPr/>
        </p:nvSpPr>
        <p:spPr>
          <a:xfrm>
            <a:off x="6271680" y="296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各段階の値上げ幅が小さく説明容易</a:t>
            </a:r>
          </a:p>
        </p:txBody>
      </p:sp>
      <p:sp>
        <p:nvSpPr>
          <p:cNvPr id="31" name="p12"/>
          <p:cNvSpPr/>
          <p:nvPr/>
        </p:nvSpPr>
        <p:spPr>
          <a:xfrm>
            <a:off x="6271680" y="332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166534"/>
                </a:solidFill>
                <a:latin typeface="Noto Sans CJK JP"/>
                <a:cs typeface="Noto Sans CJK JP"/>
              </a:rPr>
              <a:t>  • 柔軟な段階適正化が可能</a:t>
            </a:r>
          </a:p>
        </p:txBody>
      </p:sp>
      <p:sp>
        <p:nvSpPr>
          <p:cNvPr id="32" name="mh1"/>
          <p:cNvSpPr/>
          <p:nvPr/>
        </p:nvSpPr>
        <p:spPr>
          <a:xfrm>
            <a:off x="6271680" y="3700000"/>
            <a:ext cx="5500000" cy="27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FFFFFF"/>
                </a:solidFill>
                <a:latin typeface="Noto Sans CJK JP"/>
                <a:cs typeface="Noto Sans CJK JP"/>
              </a:rPr>
              <a:t>✖ デメリット</a:t>
            </a:r>
          </a:p>
        </p:txBody>
      </p:sp>
      <p:sp>
        <p:nvSpPr>
          <p:cNvPr id="33" name="m10"/>
          <p:cNvSpPr/>
          <p:nvPr/>
        </p:nvSpPr>
        <p:spPr>
          <a:xfrm>
            <a:off x="6271680" y="401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目標達成がR10まで遅延（交付金要件の充足も遅延）</a:t>
            </a:r>
          </a:p>
        </p:txBody>
      </p:sp>
      <p:sp>
        <p:nvSpPr>
          <p:cNvPr id="34" name="m11"/>
          <p:cNvSpPr/>
          <p:nvPr/>
        </p:nvSpPr>
        <p:spPr>
          <a:xfrm>
            <a:off x="6271680" y="4370000"/>
            <a:ext cx="5500000" cy="34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00" b="0" dirty="0">
                <a:solidFill>
                  <a:srgbClr val="EF4444"/>
                </a:solidFill>
                <a:latin typeface="Noto Sans CJK JP"/>
                <a:cs typeface="Noto Sans CJK JP"/>
              </a:rPr>
              <a:t>  • 改定・告示作業が複数回必要</a:t>
            </a:r>
          </a:p>
        </p:txBody>
      </p:sp>
      <p:sp>
        <p:nvSpPr>
          <p:cNvPr id="35" name="rec9"/>
          <p:cNvSpPr/>
          <p:nvPr/>
        </p:nvSpPr>
        <p:spPr>
          <a:xfrm>
            <a:off x="571680" y="4930000"/>
            <a:ext cx="11048400" cy="403986"/>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300" b="0" dirty="0">
                <a:solidFill>
                  <a:srgbClr val="78350F"/>
                </a:solidFill>
                <a:latin typeface="Noto Sans CJK JP"/>
                <a:cs typeface="Noto Sans CJK JP"/>
              </a:rPr>
              <a:t>▶ 審議ポイント：住民負担の平準化と財政健全化の早期達成のバランスについて審議をお願いします。</a:t>
            </a:r>
          </a:p>
        </p:txBody>
      </p:sp>
      <p:sp>
        <p:nvSpPr>
          <p:cNvPr id="36"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02-2　パターン①（標準型）の段階単価一覧</a:t>
            </a:r>
          </a:p>
        </p:txBody>
      </p:sp>
      <p:sp>
        <p:nvSpPr>
          <p:cNvPr id="17" name="g2yr"/>
          <p:cNvSpPr/>
          <p:nvPr/>
        </p:nvSpPr>
        <p:spPr>
          <a:xfrm>
            <a:off x="4221680" y="1536192"/>
            <a:ext cx="2800000" cy="230000"/>
          </a:xfrm>
          <a:custGeom>
            <a:avLst/>
            <a:gdLst/>
            <a:ahLst/>
            <a:cxnLst/>
            <a:rect l="l" t="t" r="r" b="b"/>
            <a:pathLst>
              <a:path w="21600" h="21600">
                <a:moveTo>
                  <a:pt x="0" y="0"/>
                </a:moveTo>
                <a:lnTo>
                  <a:pt x="21600" y="0"/>
                </a:lnTo>
                <a:lnTo>
                  <a:pt x="21600" y="21600"/>
                </a:lnTo>
                <a:lnTo>
                  <a:pt x="0" y="21600"/>
                </a:lnTo>
                <a:close/>
              </a:path>
            </a:pathLst>
          </a:custGeom>
          <a:solidFill>
            <a:srgbClr val="2563E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2か年改定</a:t>
            </a:r>
          </a:p>
        </p:txBody>
      </p:sp>
      <p:sp>
        <p:nvSpPr>
          <p:cNvPr id="18" name="g3yr"/>
          <p:cNvSpPr/>
          <p:nvPr/>
        </p:nvSpPr>
        <p:spPr>
          <a:xfrm>
            <a:off x="7621680" y="1536192"/>
            <a:ext cx="4369320" cy="23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3か年改定</a:t>
            </a:r>
          </a:p>
        </p:txBody>
      </p:sp>
      <p:sp>
        <p:nvSpPr>
          <p:cNvPr id="19" name="th"/>
          <p:cNvSpPr/>
          <p:nvPr/>
        </p:nvSpPr>
        <p:spPr>
          <a:xfrm>
            <a:off x="571680" y="1801368"/>
            <a:ext cx="2000000" cy="41148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水量区分</a:t>
            </a:r>
          </a:p>
        </p:txBody>
      </p:sp>
      <p:sp>
        <p:nvSpPr>
          <p:cNvPr id="20" name="th"/>
          <p:cNvSpPr/>
          <p:nvPr/>
        </p:nvSpPr>
        <p:spPr>
          <a:xfrm>
            <a:off x="2771680" y="1801368"/>
            <a:ext cx="1250000" cy="411480"/>
          </a:xfrm>
          <a:custGeom>
            <a:avLst/>
            <a:gdLst/>
            <a:ahLst/>
            <a:cxnLst/>
            <a:rect l="l" t="t" r="r" b="b"/>
            <a:pathLst>
              <a:path w="21600" h="21600">
                <a:moveTo>
                  <a:pt x="0" y="0"/>
                </a:moveTo>
                <a:lnTo>
                  <a:pt x="21600" y="0"/>
                </a:lnTo>
                <a:lnTo>
                  <a:pt x="21600" y="21600"/>
                </a:lnTo>
                <a:lnTo>
                  <a:pt x="0" y="21600"/>
                </a:lnTo>
                <a:close/>
              </a:path>
            </a:pathLst>
          </a:custGeom>
          <a:solidFill>
            <a:srgbClr val="47556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現行</a:t>
            </a:r>
          </a:p>
        </p:txBody>
      </p:sp>
      <p:sp>
        <p:nvSpPr>
          <p:cNvPr id="21" name="th"/>
          <p:cNvSpPr/>
          <p:nvPr/>
        </p:nvSpPr>
        <p:spPr>
          <a:xfrm>
            <a:off x="42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中間</a:t>
            </a:r>
          </a:p>
        </p:txBody>
      </p:sp>
      <p:sp>
        <p:nvSpPr>
          <p:cNvPr id="22" name="th"/>
          <p:cNvSpPr/>
          <p:nvPr/>
        </p:nvSpPr>
        <p:spPr>
          <a:xfrm>
            <a:off x="5871680" y="1801368"/>
            <a:ext cx="15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最終
（2か年）</a:t>
            </a:r>
          </a:p>
        </p:txBody>
      </p:sp>
      <p:sp>
        <p:nvSpPr>
          <p:cNvPr id="23" name="th"/>
          <p:cNvSpPr/>
          <p:nvPr/>
        </p:nvSpPr>
        <p:spPr>
          <a:xfrm>
            <a:off x="76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第1段</a:t>
            </a:r>
          </a:p>
        </p:txBody>
      </p:sp>
      <p:sp>
        <p:nvSpPr>
          <p:cNvPr id="24" name="th"/>
          <p:cNvSpPr/>
          <p:nvPr/>
        </p:nvSpPr>
        <p:spPr>
          <a:xfrm>
            <a:off x="927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第2段</a:t>
            </a:r>
          </a:p>
        </p:txBody>
      </p:sp>
      <p:sp>
        <p:nvSpPr>
          <p:cNvPr id="25" name="th"/>
          <p:cNvSpPr/>
          <p:nvPr/>
        </p:nvSpPr>
        <p:spPr>
          <a:xfrm>
            <a:off x="10921680" y="1801368"/>
            <a:ext cx="1069320" cy="411480"/>
          </a:xfrm>
          <a:custGeom>
            <a:avLst/>
            <a:gdLst/>
            <a:ahLst/>
            <a:cxnLst/>
            <a:rect l="l" t="t" r="r" b="b"/>
            <a:pathLst>
              <a:path w="21600" h="21600">
                <a:moveTo>
                  <a:pt x="0" y="0"/>
                </a:moveTo>
                <a:lnTo>
                  <a:pt x="21600" y="0"/>
                </a:lnTo>
                <a:lnTo>
                  <a:pt x="21600" y="21600"/>
                </a:lnTo>
                <a:lnTo>
                  <a:pt x="0" y="21600"/>
                </a:lnTo>
                <a:close/>
              </a:path>
            </a:pathLst>
          </a:custGeom>
          <a:solidFill>
            <a:srgbClr val="92400E"/>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R10 最終
（3か年）</a:t>
            </a:r>
          </a:p>
        </p:txBody>
      </p:sp>
      <p:sp>
        <p:nvSpPr>
          <p:cNvPr id="26" name="d00"/>
          <p:cNvSpPr/>
          <p:nvPr/>
        </p:nvSpPr>
        <p:spPr>
          <a:xfrm>
            <a:off x="571680" y="22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基本(0〜10㎥)</a:t>
            </a:r>
          </a:p>
        </p:txBody>
      </p:sp>
      <p:sp>
        <p:nvSpPr>
          <p:cNvPr id="27" name="d01"/>
          <p:cNvSpPr/>
          <p:nvPr/>
        </p:nvSpPr>
        <p:spPr>
          <a:xfrm>
            <a:off x="2771680" y="22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1,000</a:t>
            </a:r>
          </a:p>
        </p:txBody>
      </p:sp>
      <p:sp>
        <p:nvSpPr>
          <p:cNvPr id="28" name="d02"/>
          <p:cNvSpPr/>
          <p:nvPr/>
        </p:nvSpPr>
        <p:spPr>
          <a:xfrm>
            <a:off x="42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1,250</a:t>
            </a:r>
          </a:p>
        </p:txBody>
      </p:sp>
      <p:sp>
        <p:nvSpPr>
          <p:cNvPr id="29" name="d03"/>
          <p:cNvSpPr/>
          <p:nvPr/>
        </p:nvSpPr>
        <p:spPr>
          <a:xfrm>
            <a:off x="5871680" y="22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1,500</a:t>
            </a:r>
          </a:p>
        </p:txBody>
      </p:sp>
      <p:sp>
        <p:nvSpPr>
          <p:cNvPr id="30" name="d04"/>
          <p:cNvSpPr/>
          <p:nvPr/>
        </p:nvSpPr>
        <p:spPr>
          <a:xfrm>
            <a:off x="76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1,150</a:t>
            </a:r>
          </a:p>
        </p:txBody>
      </p:sp>
      <p:sp>
        <p:nvSpPr>
          <p:cNvPr id="31" name="d05"/>
          <p:cNvSpPr/>
          <p:nvPr/>
        </p:nvSpPr>
        <p:spPr>
          <a:xfrm>
            <a:off x="927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1,300</a:t>
            </a:r>
          </a:p>
        </p:txBody>
      </p:sp>
      <p:sp>
        <p:nvSpPr>
          <p:cNvPr id="32" name="d06"/>
          <p:cNvSpPr/>
          <p:nvPr/>
        </p:nvSpPr>
        <p:spPr>
          <a:xfrm>
            <a:off x="10921680" y="22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1,500</a:t>
            </a:r>
          </a:p>
        </p:txBody>
      </p:sp>
      <p:sp>
        <p:nvSpPr>
          <p:cNvPr id="33" name="d10"/>
          <p:cNvSpPr/>
          <p:nvPr/>
        </p:nvSpPr>
        <p:spPr>
          <a:xfrm>
            <a:off x="571680" y="26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11〜20㎥</a:t>
            </a:r>
          </a:p>
        </p:txBody>
      </p:sp>
      <p:sp>
        <p:nvSpPr>
          <p:cNvPr id="34" name="d11"/>
          <p:cNvSpPr/>
          <p:nvPr/>
        </p:nvSpPr>
        <p:spPr>
          <a:xfrm>
            <a:off x="2771680" y="26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35" name="d12"/>
          <p:cNvSpPr/>
          <p:nvPr/>
        </p:nvSpPr>
        <p:spPr>
          <a:xfrm>
            <a:off x="42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135</a:t>
            </a:r>
          </a:p>
        </p:txBody>
      </p:sp>
      <p:sp>
        <p:nvSpPr>
          <p:cNvPr id="36" name="d13"/>
          <p:cNvSpPr/>
          <p:nvPr/>
        </p:nvSpPr>
        <p:spPr>
          <a:xfrm>
            <a:off x="5871680" y="26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150</a:t>
            </a:r>
          </a:p>
        </p:txBody>
      </p:sp>
      <p:sp>
        <p:nvSpPr>
          <p:cNvPr id="37" name="d14"/>
          <p:cNvSpPr/>
          <p:nvPr/>
        </p:nvSpPr>
        <p:spPr>
          <a:xfrm>
            <a:off x="76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130</a:t>
            </a:r>
          </a:p>
        </p:txBody>
      </p:sp>
      <p:sp>
        <p:nvSpPr>
          <p:cNvPr id="38" name="d15"/>
          <p:cNvSpPr/>
          <p:nvPr/>
        </p:nvSpPr>
        <p:spPr>
          <a:xfrm>
            <a:off x="927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39" name="d16"/>
          <p:cNvSpPr/>
          <p:nvPr/>
        </p:nvSpPr>
        <p:spPr>
          <a:xfrm>
            <a:off x="10921680" y="26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150</a:t>
            </a:r>
          </a:p>
        </p:txBody>
      </p:sp>
      <p:sp>
        <p:nvSpPr>
          <p:cNvPr id="40" name="d20"/>
          <p:cNvSpPr/>
          <p:nvPr/>
        </p:nvSpPr>
        <p:spPr>
          <a:xfrm>
            <a:off x="571680" y="31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21〜30㎥</a:t>
            </a:r>
          </a:p>
        </p:txBody>
      </p:sp>
      <p:sp>
        <p:nvSpPr>
          <p:cNvPr id="41" name="d21"/>
          <p:cNvSpPr/>
          <p:nvPr/>
        </p:nvSpPr>
        <p:spPr>
          <a:xfrm>
            <a:off x="2771680" y="31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42" name="d22"/>
          <p:cNvSpPr/>
          <p:nvPr/>
        </p:nvSpPr>
        <p:spPr>
          <a:xfrm>
            <a:off x="42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138</a:t>
            </a:r>
          </a:p>
        </p:txBody>
      </p:sp>
      <p:sp>
        <p:nvSpPr>
          <p:cNvPr id="43" name="d23"/>
          <p:cNvSpPr/>
          <p:nvPr/>
        </p:nvSpPr>
        <p:spPr>
          <a:xfrm>
            <a:off x="5871680" y="31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155</a:t>
            </a:r>
          </a:p>
        </p:txBody>
      </p:sp>
      <p:sp>
        <p:nvSpPr>
          <p:cNvPr id="44" name="d24"/>
          <p:cNvSpPr/>
          <p:nvPr/>
        </p:nvSpPr>
        <p:spPr>
          <a:xfrm>
            <a:off x="76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130</a:t>
            </a:r>
          </a:p>
        </p:txBody>
      </p:sp>
      <p:sp>
        <p:nvSpPr>
          <p:cNvPr id="45" name="d25"/>
          <p:cNvSpPr/>
          <p:nvPr/>
        </p:nvSpPr>
        <p:spPr>
          <a:xfrm>
            <a:off x="927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46" name="d26"/>
          <p:cNvSpPr/>
          <p:nvPr/>
        </p:nvSpPr>
        <p:spPr>
          <a:xfrm>
            <a:off x="10921680" y="31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155</a:t>
            </a:r>
          </a:p>
        </p:txBody>
      </p:sp>
      <p:sp>
        <p:nvSpPr>
          <p:cNvPr id="47" name="d30"/>
          <p:cNvSpPr/>
          <p:nvPr/>
        </p:nvSpPr>
        <p:spPr>
          <a:xfrm>
            <a:off x="571680" y="36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31〜40㎥</a:t>
            </a:r>
          </a:p>
        </p:txBody>
      </p:sp>
      <p:sp>
        <p:nvSpPr>
          <p:cNvPr id="48" name="d31"/>
          <p:cNvSpPr/>
          <p:nvPr/>
        </p:nvSpPr>
        <p:spPr>
          <a:xfrm>
            <a:off x="2771680" y="36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49" name="d32"/>
          <p:cNvSpPr/>
          <p:nvPr/>
        </p:nvSpPr>
        <p:spPr>
          <a:xfrm>
            <a:off x="42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145</a:t>
            </a:r>
          </a:p>
        </p:txBody>
      </p:sp>
      <p:sp>
        <p:nvSpPr>
          <p:cNvPr id="50" name="d33"/>
          <p:cNvSpPr/>
          <p:nvPr/>
        </p:nvSpPr>
        <p:spPr>
          <a:xfrm>
            <a:off x="5871680" y="36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160</a:t>
            </a:r>
          </a:p>
        </p:txBody>
      </p:sp>
      <p:sp>
        <p:nvSpPr>
          <p:cNvPr id="51" name="d34"/>
          <p:cNvSpPr/>
          <p:nvPr/>
        </p:nvSpPr>
        <p:spPr>
          <a:xfrm>
            <a:off x="76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52" name="d35"/>
          <p:cNvSpPr/>
          <p:nvPr/>
        </p:nvSpPr>
        <p:spPr>
          <a:xfrm>
            <a:off x="927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3" name="d36"/>
          <p:cNvSpPr/>
          <p:nvPr/>
        </p:nvSpPr>
        <p:spPr>
          <a:xfrm>
            <a:off x="10921680" y="36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160</a:t>
            </a:r>
          </a:p>
        </p:txBody>
      </p:sp>
      <p:sp>
        <p:nvSpPr>
          <p:cNvPr id="54" name="d40"/>
          <p:cNvSpPr/>
          <p:nvPr/>
        </p:nvSpPr>
        <p:spPr>
          <a:xfrm>
            <a:off x="571680" y="413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41〜50㎥</a:t>
            </a:r>
          </a:p>
        </p:txBody>
      </p:sp>
      <p:sp>
        <p:nvSpPr>
          <p:cNvPr id="55" name="d41"/>
          <p:cNvSpPr/>
          <p:nvPr/>
        </p:nvSpPr>
        <p:spPr>
          <a:xfrm>
            <a:off x="2771680" y="413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56" name="d42"/>
          <p:cNvSpPr/>
          <p:nvPr/>
        </p:nvSpPr>
        <p:spPr>
          <a:xfrm>
            <a:off x="42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148</a:t>
            </a:r>
          </a:p>
        </p:txBody>
      </p:sp>
      <p:sp>
        <p:nvSpPr>
          <p:cNvPr id="57" name="d43"/>
          <p:cNvSpPr/>
          <p:nvPr/>
        </p:nvSpPr>
        <p:spPr>
          <a:xfrm>
            <a:off x="5871680" y="413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165</a:t>
            </a:r>
          </a:p>
        </p:txBody>
      </p:sp>
      <p:sp>
        <p:nvSpPr>
          <p:cNvPr id="58" name="d44"/>
          <p:cNvSpPr/>
          <p:nvPr/>
        </p:nvSpPr>
        <p:spPr>
          <a:xfrm>
            <a:off x="76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59" name="d45"/>
          <p:cNvSpPr/>
          <p:nvPr/>
        </p:nvSpPr>
        <p:spPr>
          <a:xfrm>
            <a:off x="927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60" name="d46"/>
          <p:cNvSpPr/>
          <p:nvPr/>
        </p:nvSpPr>
        <p:spPr>
          <a:xfrm>
            <a:off x="10921680" y="413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165</a:t>
            </a:r>
          </a:p>
        </p:txBody>
      </p:sp>
      <p:sp>
        <p:nvSpPr>
          <p:cNvPr id="61" name="d50"/>
          <p:cNvSpPr/>
          <p:nvPr/>
        </p:nvSpPr>
        <p:spPr>
          <a:xfrm>
            <a:off x="571680" y="46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51〜70㎥</a:t>
            </a:r>
          </a:p>
        </p:txBody>
      </p:sp>
      <p:sp>
        <p:nvSpPr>
          <p:cNvPr id="62" name="d51"/>
          <p:cNvSpPr/>
          <p:nvPr/>
        </p:nvSpPr>
        <p:spPr>
          <a:xfrm>
            <a:off x="2771680" y="46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63" name="d52"/>
          <p:cNvSpPr/>
          <p:nvPr/>
        </p:nvSpPr>
        <p:spPr>
          <a:xfrm>
            <a:off x="42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158</a:t>
            </a:r>
          </a:p>
        </p:txBody>
      </p:sp>
      <p:sp>
        <p:nvSpPr>
          <p:cNvPr id="64" name="d53"/>
          <p:cNvSpPr/>
          <p:nvPr/>
        </p:nvSpPr>
        <p:spPr>
          <a:xfrm>
            <a:off x="5871680" y="46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175</a:t>
            </a:r>
          </a:p>
        </p:txBody>
      </p:sp>
      <p:sp>
        <p:nvSpPr>
          <p:cNvPr id="65" name="d54"/>
          <p:cNvSpPr/>
          <p:nvPr/>
        </p:nvSpPr>
        <p:spPr>
          <a:xfrm>
            <a:off x="76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66" name="d55"/>
          <p:cNvSpPr/>
          <p:nvPr/>
        </p:nvSpPr>
        <p:spPr>
          <a:xfrm>
            <a:off x="927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67" name="d56"/>
          <p:cNvSpPr/>
          <p:nvPr/>
        </p:nvSpPr>
        <p:spPr>
          <a:xfrm>
            <a:off x="10921680" y="46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175</a:t>
            </a:r>
          </a:p>
        </p:txBody>
      </p:sp>
      <p:sp>
        <p:nvSpPr>
          <p:cNvPr id="68" name="d60"/>
          <p:cNvSpPr/>
          <p:nvPr/>
        </p:nvSpPr>
        <p:spPr>
          <a:xfrm>
            <a:off x="571680" y="50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71〜100㎥</a:t>
            </a:r>
          </a:p>
        </p:txBody>
      </p:sp>
      <p:sp>
        <p:nvSpPr>
          <p:cNvPr id="69" name="d61"/>
          <p:cNvSpPr/>
          <p:nvPr/>
        </p:nvSpPr>
        <p:spPr>
          <a:xfrm>
            <a:off x="2771680" y="50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0" name="d62"/>
          <p:cNvSpPr/>
          <p:nvPr/>
        </p:nvSpPr>
        <p:spPr>
          <a:xfrm>
            <a:off x="42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163</a:t>
            </a:r>
          </a:p>
        </p:txBody>
      </p:sp>
      <p:sp>
        <p:nvSpPr>
          <p:cNvPr id="71" name="d63"/>
          <p:cNvSpPr/>
          <p:nvPr/>
        </p:nvSpPr>
        <p:spPr>
          <a:xfrm>
            <a:off x="5871680" y="50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185</a:t>
            </a:r>
          </a:p>
        </p:txBody>
      </p:sp>
      <p:sp>
        <p:nvSpPr>
          <p:cNvPr id="72" name="d64"/>
          <p:cNvSpPr/>
          <p:nvPr/>
        </p:nvSpPr>
        <p:spPr>
          <a:xfrm>
            <a:off x="76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155</a:t>
            </a:r>
          </a:p>
        </p:txBody>
      </p:sp>
      <p:sp>
        <p:nvSpPr>
          <p:cNvPr id="73" name="d65"/>
          <p:cNvSpPr/>
          <p:nvPr/>
        </p:nvSpPr>
        <p:spPr>
          <a:xfrm>
            <a:off x="927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74" name="d66"/>
          <p:cNvSpPr/>
          <p:nvPr/>
        </p:nvSpPr>
        <p:spPr>
          <a:xfrm>
            <a:off x="10921680" y="50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185</a:t>
            </a:r>
          </a:p>
        </p:txBody>
      </p:sp>
      <p:sp>
        <p:nvSpPr>
          <p:cNvPr id="75" name="d70"/>
          <p:cNvSpPr/>
          <p:nvPr/>
        </p:nvSpPr>
        <p:spPr>
          <a:xfrm>
            <a:off x="571680" y="55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101〜150㎥</a:t>
            </a:r>
          </a:p>
        </p:txBody>
      </p:sp>
      <p:sp>
        <p:nvSpPr>
          <p:cNvPr id="76" name="d71"/>
          <p:cNvSpPr/>
          <p:nvPr/>
        </p:nvSpPr>
        <p:spPr>
          <a:xfrm>
            <a:off x="2771680" y="55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7" name="d72"/>
          <p:cNvSpPr/>
          <p:nvPr/>
        </p:nvSpPr>
        <p:spPr>
          <a:xfrm>
            <a:off x="42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173</a:t>
            </a:r>
          </a:p>
        </p:txBody>
      </p:sp>
      <p:sp>
        <p:nvSpPr>
          <p:cNvPr id="78" name="d73"/>
          <p:cNvSpPr/>
          <p:nvPr/>
        </p:nvSpPr>
        <p:spPr>
          <a:xfrm>
            <a:off x="5871680" y="55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205</a:t>
            </a:r>
          </a:p>
        </p:txBody>
      </p:sp>
      <p:sp>
        <p:nvSpPr>
          <p:cNvPr id="79" name="d74"/>
          <p:cNvSpPr/>
          <p:nvPr/>
        </p:nvSpPr>
        <p:spPr>
          <a:xfrm>
            <a:off x="76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80" name="d75"/>
          <p:cNvSpPr/>
          <p:nvPr/>
        </p:nvSpPr>
        <p:spPr>
          <a:xfrm>
            <a:off x="927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180</a:t>
            </a:r>
          </a:p>
        </p:txBody>
      </p:sp>
      <p:sp>
        <p:nvSpPr>
          <p:cNvPr id="81" name="d76"/>
          <p:cNvSpPr/>
          <p:nvPr/>
        </p:nvSpPr>
        <p:spPr>
          <a:xfrm>
            <a:off x="10921680" y="55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205</a:t>
            </a:r>
          </a:p>
        </p:txBody>
      </p:sp>
      <p:sp>
        <p:nvSpPr>
          <p:cNvPr id="82" name="d80"/>
          <p:cNvSpPr/>
          <p:nvPr/>
        </p:nvSpPr>
        <p:spPr>
          <a:xfrm>
            <a:off x="571680" y="60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151㎥〜</a:t>
            </a:r>
          </a:p>
        </p:txBody>
      </p:sp>
      <p:sp>
        <p:nvSpPr>
          <p:cNvPr id="83" name="d81"/>
          <p:cNvSpPr/>
          <p:nvPr/>
        </p:nvSpPr>
        <p:spPr>
          <a:xfrm>
            <a:off x="2771680" y="60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160</a:t>
            </a:r>
          </a:p>
        </p:txBody>
      </p:sp>
      <p:sp>
        <p:nvSpPr>
          <p:cNvPr id="84" name="d82"/>
          <p:cNvSpPr/>
          <p:nvPr/>
        </p:nvSpPr>
        <p:spPr>
          <a:xfrm>
            <a:off x="42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193</a:t>
            </a:r>
          </a:p>
        </p:txBody>
      </p:sp>
      <p:sp>
        <p:nvSpPr>
          <p:cNvPr id="85" name="d83"/>
          <p:cNvSpPr/>
          <p:nvPr/>
        </p:nvSpPr>
        <p:spPr>
          <a:xfrm>
            <a:off x="5871680" y="60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225</a:t>
            </a:r>
          </a:p>
        </p:txBody>
      </p:sp>
      <p:sp>
        <p:nvSpPr>
          <p:cNvPr id="86" name="d84"/>
          <p:cNvSpPr/>
          <p:nvPr/>
        </p:nvSpPr>
        <p:spPr>
          <a:xfrm>
            <a:off x="76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180</a:t>
            </a:r>
          </a:p>
        </p:txBody>
      </p:sp>
      <p:sp>
        <p:nvSpPr>
          <p:cNvPr id="87" name="d85"/>
          <p:cNvSpPr/>
          <p:nvPr/>
        </p:nvSpPr>
        <p:spPr>
          <a:xfrm>
            <a:off x="927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200</a:t>
            </a:r>
          </a:p>
        </p:txBody>
      </p:sp>
      <p:sp>
        <p:nvSpPr>
          <p:cNvPr id="88" name="d86"/>
          <p:cNvSpPr/>
          <p:nvPr/>
        </p:nvSpPr>
        <p:spPr>
          <a:xfrm>
            <a:off x="10921680" y="60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225</a:t>
            </a:r>
          </a:p>
        </p:txBody>
      </p:sp>
      <p:sp>
        <p:nvSpPr>
          <p:cNvPr id="8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02-3　推奨案（パターン②）の段階単価一覧</a:t>
            </a:r>
          </a:p>
        </p:txBody>
      </p:sp>
      <p:sp>
        <p:nvSpPr>
          <p:cNvPr id="17" name="g2yr"/>
          <p:cNvSpPr/>
          <p:nvPr/>
        </p:nvSpPr>
        <p:spPr>
          <a:xfrm>
            <a:off x="4221680" y="1536192"/>
            <a:ext cx="2800000" cy="230000"/>
          </a:xfrm>
          <a:custGeom>
            <a:avLst/>
            <a:gdLst/>
            <a:ahLst/>
            <a:cxnLst/>
            <a:rect l="l" t="t" r="r" b="b"/>
            <a:pathLst>
              <a:path w="21600" h="21600">
                <a:moveTo>
                  <a:pt x="0" y="0"/>
                </a:moveTo>
                <a:lnTo>
                  <a:pt x="21600" y="0"/>
                </a:lnTo>
                <a:lnTo>
                  <a:pt x="21600" y="21600"/>
                </a:lnTo>
                <a:lnTo>
                  <a:pt x="0" y="21600"/>
                </a:lnTo>
                <a:close/>
              </a:path>
            </a:pathLst>
          </a:custGeom>
          <a:solidFill>
            <a:srgbClr val="2563E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2か年改定</a:t>
            </a:r>
          </a:p>
        </p:txBody>
      </p:sp>
      <p:sp>
        <p:nvSpPr>
          <p:cNvPr id="18" name="g3yr"/>
          <p:cNvSpPr/>
          <p:nvPr/>
        </p:nvSpPr>
        <p:spPr>
          <a:xfrm>
            <a:off x="7621680" y="1536192"/>
            <a:ext cx="4369320" cy="23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3か年改定</a:t>
            </a:r>
          </a:p>
        </p:txBody>
      </p:sp>
      <p:sp>
        <p:nvSpPr>
          <p:cNvPr id="19" name="th"/>
          <p:cNvSpPr/>
          <p:nvPr/>
        </p:nvSpPr>
        <p:spPr>
          <a:xfrm>
            <a:off x="571680" y="1801368"/>
            <a:ext cx="2000000" cy="41148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水量区分</a:t>
            </a:r>
          </a:p>
        </p:txBody>
      </p:sp>
      <p:sp>
        <p:nvSpPr>
          <p:cNvPr id="20" name="th"/>
          <p:cNvSpPr/>
          <p:nvPr/>
        </p:nvSpPr>
        <p:spPr>
          <a:xfrm>
            <a:off x="2771680" y="1801368"/>
            <a:ext cx="1250000" cy="411480"/>
          </a:xfrm>
          <a:custGeom>
            <a:avLst/>
            <a:gdLst/>
            <a:ahLst/>
            <a:cxnLst/>
            <a:rect l="l" t="t" r="r" b="b"/>
            <a:pathLst>
              <a:path w="21600" h="21600">
                <a:moveTo>
                  <a:pt x="0" y="0"/>
                </a:moveTo>
                <a:lnTo>
                  <a:pt x="21600" y="0"/>
                </a:lnTo>
                <a:lnTo>
                  <a:pt x="21600" y="21600"/>
                </a:lnTo>
                <a:lnTo>
                  <a:pt x="0" y="21600"/>
                </a:lnTo>
                <a:close/>
              </a:path>
            </a:pathLst>
          </a:custGeom>
          <a:solidFill>
            <a:srgbClr val="47556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現行</a:t>
            </a:r>
          </a:p>
        </p:txBody>
      </p:sp>
      <p:sp>
        <p:nvSpPr>
          <p:cNvPr id="21" name="th"/>
          <p:cNvSpPr/>
          <p:nvPr/>
        </p:nvSpPr>
        <p:spPr>
          <a:xfrm>
            <a:off x="42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中間</a:t>
            </a:r>
          </a:p>
        </p:txBody>
      </p:sp>
      <p:sp>
        <p:nvSpPr>
          <p:cNvPr id="22" name="th"/>
          <p:cNvSpPr/>
          <p:nvPr/>
        </p:nvSpPr>
        <p:spPr>
          <a:xfrm>
            <a:off x="5871680" y="1801368"/>
            <a:ext cx="15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最終
（2か年）</a:t>
            </a:r>
          </a:p>
        </p:txBody>
      </p:sp>
      <p:sp>
        <p:nvSpPr>
          <p:cNvPr id="23" name="th"/>
          <p:cNvSpPr/>
          <p:nvPr/>
        </p:nvSpPr>
        <p:spPr>
          <a:xfrm>
            <a:off x="76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第1段</a:t>
            </a:r>
          </a:p>
        </p:txBody>
      </p:sp>
      <p:sp>
        <p:nvSpPr>
          <p:cNvPr id="24" name="th"/>
          <p:cNvSpPr/>
          <p:nvPr/>
        </p:nvSpPr>
        <p:spPr>
          <a:xfrm>
            <a:off x="927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第2段</a:t>
            </a:r>
          </a:p>
        </p:txBody>
      </p:sp>
      <p:sp>
        <p:nvSpPr>
          <p:cNvPr id="25" name="th"/>
          <p:cNvSpPr/>
          <p:nvPr/>
        </p:nvSpPr>
        <p:spPr>
          <a:xfrm>
            <a:off x="10921680" y="1801368"/>
            <a:ext cx="1069320" cy="411480"/>
          </a:xfrm>
          <a:custGeom>
            <a:avLst/>
            <a:gdLst/>
            <a:ahLst/>
            <a:cxnLst/>
            <a:rect l="l" t="t" r="r" b="b"/>
            <a:pathLst>
              <a:path w="21600" h="21600">
                <a:moveTo>
                  <a:pt x="0" y="0"/>
                </a:moveTo>
                <a:lnTo>
                  <a:pt x="21600" y="0"/>
                </a:lnTo>
                <a:lnTo>
                  <a:pt x="21600" y="21600"/>
                </a:lnTo>
                <a:lnTo>
                  <a:pt x="0" y="21600"/>
                </a:lnTo>
                <a:close/>
              </a:path>
            </a:pathLst>
          </a:custGeom>
          <a:solidFill>
            <a:srgbClr val="92400E"/>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R10 最終
（3か年）</a:t>
            </a:r>
          </a:p>
        </p:txBody>
      </p:sp>
      <p:sp>
        <p:nvSpPr>
          <p:cNvPr id="26" name="d00"/>
          <p:cNvSpPr/>
          <p:nvPr/>
        </p:nvSpPr>
        <p:spPr>
          <a:xfrm>
            <a:off x="571680" y="22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基本(0〜10㎥)</a:t>
            </a:r>
          </a:p>
        </p:txBody>
      </p:sp>
      <p:sp>
        <p:nvSpPr>
          <p:cNvPr id="27" name="d01"/>
          <p:cNvSpPr/>
          <p:nvPr/>
        </p:nvSpPr>
        <p:spPr>
          <a:xfrm>
            <a:off x="2771680" y="22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1,000</a:t>
            </a:r>
          </a:p>
        </p:txBody>
      </p:sp>
      <p:sp>
        <p:nvSpPr>
          <p:cNvPr id="28" name="d02"/>
          <p:cNvSpPr/>
          <p:nvPr/>
        </p:nvSpPr>
        <p:spPr>
          <a:xfrm>
            <a:off x="42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1,100</a:t>
            </a:r>
          </a:p>
        </p:txBody>
      </p:sp>
      <p:sp>
        <p:nvSpPr>
          <p:cNvPr id="29" name="d03"/>
          <p:cNvSpPr/>
          <p:nvPr/>
        </p:nvSpPr>
        <p:spPr>
          <a:xfrm>
            <a:off x="5871680" y="22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1,200</a:t>
            </a:r>
          </a:p>
        </p:txBody>
      </p:sp>
      <p:sp>
        <p:nvSpPr>
          <p:cNvPr id="30" name="d04"/>
          <p:cNvSpPr/>
          <p:nvPr/>
        </p:nvSpPr>
        <p:spPr>
          <a:xfrm>
            <a:off x="76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1,050</a:t>
            </a:r>
          </a:p>
        </p:txBody>
      </p:sp>
      <p:sp>
        <p:nvSpPr>
          <p:cNvPr id="31" name="d05"/>
          <p:cNvSpPr/>
          <p:nvPr/>
        </p:nvSpPr>
        <p:spPr>
          <a:xfrm>
            <a:off x="927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1,100</a:t>
            </a:r>
          </a:p>
        </p:txBody>
      </p:sp>
      <p:sp>
        <p:nvSpPr>
          <p:cNvPr id="32" name="d06"/>
          <p:cNvSpPr/>
          <p:nvPr/>
        </p:nvSpPr>
        <p:spPr>
          <a:xfrm>
            <a:off x="10921680" y="22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1,200</a:t>
            </a:r>
          </a:p>
        </p:txBody>
      </p:sp>
      <p:sp>
        <p:nvSpPr>
          <p:cNvPr id="33" name="d10"/>
          <p:cNvSpPr/>
          <p:nvPr/>
        </p:nvSpPr>
        <p:spPr>
          <a:xfrm>
            <a:off x="571680" y="26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11〜20㎥</a:t>
            </a:r>
          </a:p>
        </p:txBody>
      </p:sp>
      <p:sp>
        <p:nvSpPr>
          <p:cNvPr id="34" name="d11"/>
          <p:cNvSpPr/>
          <p:nvPr/>
        </p:nvSpPr>
        <p:spPr>
          <a:xfrm>
            <a:off x="2771680" y="26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35" name="d12"/>
          <p:cNvSpPr/>
          <p:nvPr/>
        </p:nvSpPr>
        <p:spPr>
          <a:xfrm>
            <a:off x="42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150</a:t>
            </a:r>
          </a:p>
        </p:txBody>
      </p:sp>
      <p:sp>
        <p:nvSpPr>
          <p:cNvPr id="36" name="d13"/>
          <p:cNvSpPr/>
          <p:nvPr/>
        </p:nvSpPr>
        <p:spPr>
          <a:xfrm>
            <a:off x="5871680" y="26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180</a:t>
            </a:r>
          </a:p>
        </p:txBody>
      </p:sp>
      <p:sp>
        <p:nvSpPr>
          <p:cNvPr id="37" name="d14"/>
          <p:cNvSpPr/>
          <p:nvPr/>
        </p:nvSpPr>
        <p:spPr>
          <a:xfrm>
            <a:off x="76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38" name="d15"/>
          <p:cNvSpPr/>
          <p:nvPr/>
        </p:nvSpPr>
        <p:spPr>
          <a:xfrm>
            <a:off x="927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39" name="d16"/>
          <p:cNvSpPr/>
          <p:nvPr/>
        </p:nvSpPr>
        <p:spPr>
          <a:xfrm>
            <a:off x="10921680" y="26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180</a:t>
            </a:r>
          </a:p>
        </p:txBody>
      </p:sp>
      <p:sp>
        <p:nvSpPr>
          <p:cNvPr id="40" name="d20"/>
          <p:cNvSpPr/>
          <p:nvPr/>
        </p:nvSpPr>
        <p:spPr>
          <a:xfrm>
            <a:off x="571680" y="31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21〜30㎥</a:t>
            </a:r>
          </a:p>
        </p:txBody>
      </p:sp>
      <p:sp>
        <p:nvSpPr>
          <p:cNvPr id="41" name="d21"/>
          <p:cNvSpPr/>
          <p:nvPr/>
        </p:nvSpPr>
        <p:spPr>
          <a:xfrm>
            <a:off x="2771680" y="31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42" name="d22"/>
          <p:cNvSpPr/>
          <p:nvPr/>
        </p:nvSpPr>
        <p:spPr>
          <a:xfrm>
            <a:off x="42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153</a:t>
            </a:r>
          </a:p>
        </p:txBody>
      </p:sp>
      <p:sp>
        <p:nvSpPr>
          <p:cNvPr id="43" name="d23"/>
          <p:cNvSpPr/>
          <p:nvPr/>
        </p:nvSpPr>
        <p:spPr>
          <a:xfrm>
            <a:off x="5871680" y="31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185</a:t>
            </a:r>
          </a:p>
        </p:txBody>
      </p:sp>
      <p:sp>
        <p:nvSpPr>
          <p:cNvPr id="44" name="d24"/>
          <p:cNvSpPr/>
          <p:nvPr/>
        </p:nvSpPr>
        <p:spPr>
          <a:xfrm>
            <a:off x="76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45" name="d25"/>
          <p:cNvSpPr/>
          <p:nvPr/>
        </p:nvSpPr>
        <p:spPr>
          <a:xfrm>
            <a:off x="927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46" name="d26"/>
          <p:cNvSpPr/>
          <p:nvPr/>
        </p:nvSpPr>
        <p:spPr>
          <a:xfrm>
            <a:off x="10921680" y="31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185</a:t>
            </a:r>
          </a:p>
        </p:txBody>
      </p:sp>
      <p:sp>
        <p:nvSpPr>
          <p:cNvPr id="47" name="d30"/>
          <p:cNvSpPr/>
          <p:nvPr/>
        </p:nvSpPr>
        <p:spPr>
          <a:xfrm>
            <a:off x="571680" y="36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31〜40㎥</a:t>
            </a:r>
          </a:p>
        </p:txBody>
      </p:sp>
      <p:sp>
        <p:nvSpPr>
          <p:cNvPr id="48" name="d31"/>
          <p:cNvSpPr/>
          <p:nvPr/>
        </p:nvSpPr>
        <p:spPr>
          <a:xfrm>
            <a:off x="2771680" y="36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49" name="d32"/>
          <p:cNvSpPr/>
          <p:nvPr/>
        </p:nvSpPr>
        <p:spPr>
          <a:xfrm>
            <a:off x="42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160</a:t>
            </a:r>
          </a:p>
        </p:txBody>
      </p:sp>
      <p:sp>
        <p:nvSpPr>
          <p:cNvPr id="50" name="d33"/>
          <p:cNvSpPr/>
          <p:nvPr/>
        </p:nvSpPr>
        <p:spPr>
          <a:xfrm>
            <a:off x="5871680" y="36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190</a:t>
            </a:r>
          </a:p>
        </p:txBody>
      </p:sp>
      <p:sp>
        <p:nvSpPr>
          <p:cNvPr id="51" name="d34"/>
          <p:cNvSpPr/>
          <p:nvPr/>
        </p:nvSpPr>
        <p:spPr>
          <a:xfrm>
            <a:off x="76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2" name="d35"/>
          <p:cNvSpPr/>
          <p:nvPr/>
        </p:nvSpPr>
        <p:spPr>
          <a:xfrm>
            <a:off x="927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53" name="d36"/>
          <p:cNvSpPr/>
          <p:nvPr/>
        </p:nvSpPr>
        <p:spPr>
          <a:xfrm>
            <a:off x="10921680" y="36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190</a:t>
            </a:r>
          </a:p>
        </p:txBody>
      </p:sp>
      <p:sp>
        <p:nvSpPr>
          <p:cNvPr id="54" name="d40"/>
          <p:cNvSpPr/>
          <p:nvPr/>
        </p:nvSpPr>
        <p:spPr>
          <a:xfrm>
            <a:off x="571680" y="413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41〜50㎥</a:t>
            </a:r>
          </a:p>
        </p:txBody>
      </p:sp>
      <p:sp>
        <p:nvSpPr>
          <p:cNvPr id="55" name="d41"/>
          <p:cNvSpPr/>
          <p:nvPr/>
        </p:nvSpPr>
        <p:spPr>
          <a:xfrm>
            <a:off x="2771680" y="413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56" name="d42"/>
          <p:cNvSpPr/>
          <p:nvPr/>
        </p:nvSpPr>
        <p:spPr>
          <a:xfrm>
            <a:off x="42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163</a:t>
            </a:r>
          </a:p>
        </p:txBody>
      </p:sp>
      <p:sp>
        <p:nvSpPr>
          <p:cNvPr id="57" name="d43"/>
          <p:cNvSpPr/>
          <p:nvPr/>
        </p:nvSpPr>
        <p:spPr>
          <a:xfrm>
            <a:off x="5871680" y="413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195</a:t>
            </a:r>
          </a:p>
        </p:txBody>
      </p:sp>
      <p:sp>
        <p:nvSpPr>
          <p:cNvPr id="58" name="d44"/>
          <p:cNvSpPr/>
          <p:nvPr/>
        </p:nvSpPr>
        <p:spPr>
          <a:xfrm>
            <a:off x="76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9" name="d45"/>
          <p:cNvSpPr/>
          <p:nvPr/>
        </p:nvSpPr>
        <p:spPr>
          <a:xfrm>
            <a:off x="927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60" name="d46"/>
          <p:cNvSpPr/>
          <p:nvPr/>
        </p:nvSpPr>
        <p:spPr>
          <a:xfrm>
            <a:off x="10921680" y="413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195</a:t>
            </a:r>
          </a:p>
        </p:txBody>
      </p:sp>
      <p:sp>
        <p:nvSpPr>
          <p:cNvPr id="61" name="d50"/>
          <p:cNvSpPr/>
          <p:nvPr/>
        </p:nvSpPr>
        <p:spPr>
          <a:xfrm>
            <a:off x="571680" y="46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51〜70㎥</a:t>
            </a:r>
          </a:p>
        </p:txBody>
      </p:sp>
      <p:sp>
        <p:nvSpPr>
          <p:cNvPr id="62" name="d51"/>
          <p:cNvSpPr/>
          <p:nvPr/>
        </p:nvSpPr>
        <p:spPr>
          <a:xfrm>
            <a:off x="2771680" y="46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63" name="d52"/>
          <p:cNvSpPr/>
          <p:nvPr/>
        </p:nvSpPr>
        <p:spPr>
          <a:xfrm>
            <a:off x="42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173</a:t>
            </a:r>
          </a:p>
        </p:txBody>
      </p:sp>
      <p:sp>
        <p:nvSpPr>
          <p:cNvPr id="64" name="d53"/>
          <p:cNvSpPr/>
          <p:nvPr/>
        </p:nvSpPr>
        <p:spPr>
          <a:xfrm>
            <a:off x="5871680" y="46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205</a:t>
            </a:r>
          </a:p>
        </p:txBody>
      </p:sp>
      <p:sp>
        <p:nvSpPr>
          <p:cNvPr id="65" name="d54"/>
          <p:cNvSpPr/>
          <p:nvPr/>
        </p:nvSpPr>
        <p:spPr>
          <a:xfrm>
            <a:off x="76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66" name="d55"/>
          <p:cNvSpPr/>
          <p:nvPr/>
        </p:nvSpPr>
        <p:spPr>
          <a:xfrm>
            <a:off x="927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180</a:t>
            </a:r>
          </a:p>
        </p:txBody>
      </p:sp>
      <p:sp>
        <p:nvSpPr>
          <p:cNvPr id="67" name="d56"/>
          <p:cNvSpPr/>
          <p:nvPr/>
        </p:nvSpPr>
        <p:spPr>
          <a:xfrm>
            <a:off x="10921680" y="46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205</a:t>
            </a:r>
          </a:p>
        </p:txBody>
      </p:sp>
      <p:sp>
        <p:nvSpPr>
          <p:cNvPr id="68" name="d60"/>
          <p:cNvSpPr/>
          <p:nvPr/>
        </p:nvSpPr>
        <p:spPr>
          <a:xfrm>
            <a:off x="571680" y="50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71〜100㎥</a:t>
            </a:r>
          </a:p>
        </p:txBody>
      </p:sp>
      <p:sp>
        <p:nvSpPr>
          <p:cNvPr id="69" name="d61"/>
          <p:cNvSpPr/>
          <p:nvPr/>
        </p:nvSpPr>
        <p:spPr>
          <a:xfrm>
            <a:off x="2771680" y="50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0" name="d62"/>
          <p:cNvSpPr/>
          <p:nvPr/>
        </p:nvSpPr>
        <p:spPr>
          <a:xfrm>
            <a:off x="42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178</a:t>
            </a:r>
          </a:p>
        </p:txBody>
      </p:sp>
      <p:sp>
        <p:nvSpPr>
          <p:cNvPr id="71" name="d63"/>
          <p:cNvSpPr/>
          <p:nvPr/>
        </p:nvSpPr>
        <p:spPr>
          <a:xfrm>
            <a:off x="5871680" y="50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215</a:t>
            </a:r>
          </a:p>
        </p:txBody>
      </p:sp>
      <p:sp>
        <p:nvSpPr>
          <p:cNvPr id="72" name="d64"/>
          <p:cNvSpPr/>
          <p:nvPr/>
        </p:nvSpPr>
        <p:spPr>
          <a:xfrm>
            <a:off x="76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165</a:t>
            </a:r>
          </a:p>
        </p:txBody>
      </p:sp>
      <p:sp>
        <p:nvSpPr>
          <p:cNvPr id="73" name="d65"/>
          <p:cNvSpPr/>
          <p:nvPr/>
        </p:nvSpPr>
        <p:spPr>
          <a:xfrm>
            <a:off x="927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190</a:t>
            </a:r>
          </a:p>
        </p:txBody>
      </p:sp>
      <p:sp>
        <p:nvSpPr>
          <p:cNvPr id="74" name="d66"/>
          <p:cNvSpPr/>
          <p:nvPr/>
        </p:nvSpPr>
        <p:spPr>
          <a:xfrm>
            <a:off x="10921680" y="50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215</a:t>
            </a:r>
          </a:p>
        </p:txBody>
      </p:sp>
      <p:sp>
        <p:nvSpPr>
          <p:cNvPr id="75" name="d70"/>
          <p:cNvSpPr/>
          <p:nvPr/>
        </p:nvSpPr>
        <p:spPr>
          <a:xfrm>
            <a:off x="571680" y="55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101〜150㎥</a:t>
            </a:r>
          </a:p>
        </p:txBody>
      </p:sp>
      <p:sp>
        <p:nvSpPr>
          <p:cNvPr id="76" name="d71"/>
          <p:cNvSpPr/>
          <p:nvPr/>
        </p:nvSpPr>
        <p:spPr>
          <a:xfrm>
            <a:off x="2771680" y="55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7" name="d72"/>
          <p:cNvSpPr/>
          <p:nvPr/>
        </p:nvSpPr>
        <p:spPr>
          <a:xfrm>
            <a:off x="42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188</a:t>
            </a:r>
          </a:p>
        </p:txBody>
      </p:sp>
      <p:sp>
        <p:nvSpPr>
          <p:cNvPr id="78" name="d73"/>
          <p:cNvSpPr/>
          <p:nvPr/>
        </p:nvSpPr>
        <p:spPr>
          <a:xfrm>
            <a:off x="5871680" y="55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235</a:t>
            </a:r>
          </a:p>
        </p:txBody>
      </p:sp>
      <p:sp>
        <p:nvSpPr>
          <p:cNvPr id="79" name="d74"/>
          <p:cNvSpPr/>
          <p:nvPr/>
        </p:nvSpPr>
        <p:spPr>
          <a:xfrm>
            <a:off x="76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80" name="d75"/>
          <p:cNvSpPr/>
          <p:nvPr/>
        </p:nvSpPr>
        <p:spPr>
          <a:xfrm>
            <a:off x="927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200</a:t>
            </a:r>
          </a:p>
        </p:txBody>
      </p:sp>
      <p:sp>
        <p:nvSpPr>
          <p:cNvPr id="81" name="d76"/>
          <p:cNvSpPr/>
          <p:nvPr/>
        </p:nvSpPr>
        <p:spPr>
          <a:xfrm>
            <a:off x="10921680" y="55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235</a:t>
            </a:r>
          </a:p>
        </p:txBody>
      </p:sp>
      <p:sp>
        <p:nvSpPr>
          <p:cNvPr id="82" name="d80"/>
          <p:cNvSpPr/>
          <p:nvPr/>
        </p:nvSpPr>
        <p:spPr>
          <a:xfrm>
            <a:off x="571680" y="60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151㎥〜</a:t>
            </a:r>
          </a:p>
        </p:txBody>
      </p:sp>
      <p:sp>
        <p:nvSpPr>
          <p:cNvPr id="83" name="d81"/>
          <p:cNvSpPr/>
          <p:nvPr/>
        </p:nvSpPr>
        <p:spPr>
          <a:xfrm>
            <a:off x="2771680" y="60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160</a:t>
            </a:r>
          </a:p>
        </p:txBody>
      </p:sp>
      <p:sp>
        <p:nvSpPr>
          <p:cNvPr id="84" name="d82"/>
          <p:cNvSpPr/>
          <p:nvPr/>
        </p:nvSpPr>
        <p:spPr>
          <a:xfrm>
            <a:off x="42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208</a:t>
            </a:r>
          </a:p>
        </p:txBody>
      </p:sp>
      <p:sp>
        <p:nvSpPr>
          <p:cNvPr id="85" name="d83"/>
          <p:cNvSpPr/>
          <p:nvPr/>
        </p:nvSpPr>
        <p:spPr>
          <a:xfrm>
            <a:off x="5871680" y="60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255</a:t>
            </a:r>
          </a:p>
        </p:txBody>
      </p:sp>
      <p:sp>
        <p:nvSpPr>
          <p:cNvPr id="86" name="d84"/>
          <p:cNvSpPr/>
          <p:nvPr/>
        </p:nvSpPr>
        <p:spPr>
          <a:xfrm>
            <a:off x="76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190</a:t>
            </a:r>
          </a:p>
        </p:txBody>
      </p:sp>
      <p:sp>
        <p:nvSpPr>
          <p:cNvPr id="87" name="d85"/>
          <p:cNvSpPr/>
          <p:nvPr/>
        </p:nvSpPr>
        <p:spPr>
          <a:xfrm>
            <a:off x="927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220</a:t>
            </a:r>
          </a:p>
        </p:txBody>
      </p:sp>
      <p:sp>
        <p:nvSpPr>
          <p:cNvPr id="88" name="d86"/>
          <p:cNvSpPr/>
          <p:nvPr/>
        </p:nvSpPr>
        <p:spPr>
          <a:xfrm>
            <a:off x="10921680" y="60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255</a:t>
            </a:r>
          </a:p>
        </p:txBody>
      </p:sp>
      <p:sp>
        <p:nvSpPr>
          <p:cNvPr id="8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02-4　パターン④（段階累進型）の段階単価一覧</a:t>
            </a:r>
          </a:p>
        </p:txBody>
      </p:sp>
      <p:sp>
        <p:nvSpPr>
          <p:cNvPr id="17" name="g2yr"/>
          <p:cNvSpPr/>
          <p:nvPr/>
        </p:nvSpPr>
        <p:spPr>
          <a:xfrm>
            <a:off x="4221680" y="1536192"/>
            <a:ext cx="2800000" cy="230000"/>
          </a:xfrm>
          <a:custGeom>
            <a:avLst/>
            <a:gdLst/>
            <a:ahLst/>
            <a:cxnLst/>
            <a:rect l="l" t="t" r="r" b="b"/>
            <a:pathLst>
              <a:path w="21600" h="21600">
                <a:moveTo>
                  <a:pt x="0" y="0"/>
                </a:moveTo>
                <a:lnTo>
                  <a:pt x="21600" y="0"/>
                </a:lnTo>
                <a:lnTo>
                  <a:pt x="21600" y="21600"/>
                </a:lnTo>
                <a:lnTo>
                  <a:pt x="0" y="21600"/>
                </a:lnTo>
                <a:close/>
              </a:path>
            </a:pathLst>
          </a:custGeom>
          <a:solidFill>
            <a:srgbClr val="2563E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2か年改定</a:t>
            </a:r>
          </a:p>
        </p:txBody>
      </p:sp>
      <p:sp>
        <p:nvSpPr>
          <p:cNvPr id="18" name="g3yr"/>
          <p:cNvSpPr/>
          <p:nvPr/>
        </p:nvSpPr>
        <p:spPr>
          <a:xfrm>
            <a:off x="7621680" y="1536192"/>
            <a:ext cx="4369320" cy="230000"/>
          </a:xfrm>
          <a:custGeom>
            <a:avLst/>
            <a:gdLst/>
            <a:ahLst/>
            <a:cxnLst/>
            <a:rect l="l" t="t" r="r" b="b"/>
            <a:pathLst>
              <a:path w="21600" h="21600">
                <a:moveTo>
                  <a:pt x="0" y="0"/>
                </a:moveTo>
                <a:lnTo>
                  <a:pt x="21600" y="0"/>
                </a:lnTo>
                <a:lnTo>
                  <a:pt x="21600" y="21600"/>
                </a:lnTo>
                <a:lnTo>
                  <a:pt x="0" y="21600"/>
                </a:lnTo>
                <a:close/>
              </a:path>
            </a:pathLst>
          </a:custGeom>
          <a:solidFill>
            <a:srgbClr val="EA58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 3か年改定</a:t>
            </a:r>
          </a:p>
        </p:txBody>
      </p:sp>
      <p:sp>
        <p:nvSpPr>
          <p:cNvPr id="19" name="th"/>
          <p:cNvSpPr/>
          <p:nvPr/>
        </p:nvSpPr>
        <p:spPr>
          <a:xfrm>
            <a:off x="571680" y="1801368"/>
            <a:ext cx="2000000" cy="41148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水量区分</a:t>
            </a:r>
          </a:p>
        </p:txBody>
      </p:sp>
      <p:sp>
        <p:nvSpPr>
          <p:cNvPr id="20" name="th"/>
          <p:cNvSpPr/>
          <p:nvPr/>
        </p:nvSpPr>
        <p:spPr>
          <a:xfrm>
            <a:off x="2771680" y="1801368"/>
            <a:ext cx="1250000" cy="411480"/>
          </a:xfrm>
          <a:custGeom>
            <a:avLst/>
            <a:gdLst/>
            <a:ahLst/>
            <a:cxnLst/>
            <a:rect l="l" t="t" r="r" b="b"/>
            <a:pathLst>
              <a:path w="21600" h="21600">
                <a:moveTo>
                  <a:pt x="0" y="0"/>
                </a:moveTo>
                <a:lnTo>
                  <a:pt x="21600" y="0"/>
                </a:lnTo>
                <a:lnTo>
                  <a:pt x="21600" y="21600"/>
                </a:lnTo>
                <a:lnTo>
                  <a:pt x="0" y="21600"/>
                </a:lnTo>
                <a:close/>
              </a:path>
            </a:pathLst>
          </a:custGeom>
          <a:solidFill>
            <a:srgbClr val="47556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現行</a:t>
            </a:r>
          </a:p>
        </p:txBody>
      </p:sp>
      <p:sp>
        <p:nvSpPr>
          <p:cNvPr id="21" name="th"/>
          <p:cNvSpPr/>
          <p:nvPr/>
        </p:nvSpPr>
        <p:spPr>
          <a:xfrm>
            <a:off x="42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中間</a:t>
            </a:r>
          </a:p>
        </p:txBody>
      </p:sp>
      <p:sp>
        <p:nvSpPr>
          <p:cNvPr id="22" name="th"/>
          <p:cNvSpPr/>
          <p:nvPr/>
        </p:nvSpPr>
        <p:spPr>
          <a:xfrm>
            <a:off x="5871680" y="1801368"/>
            <a:ext cx="1550000" cy="41148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最終
（2か年）</a:t>
            </a:r>
          </a:p>
        </p:txBody>
      </p:sp>
      <p:sp>
        <p:nvSpPr>
          <p:cNvPr id="23" name="th"/>
          <p:cNvSpPr/>
          <p:nvPr/>
        </p:nvSpPr>
        <p:spPr>
          <a:xfrm>
            <a:off x="762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R8 第1段</a:t>
            </a:r>
          </a:p>
        </p:txBody>
      </p:sp>
      <p:sp>
        <p:nvSpPr>
          <p:cNvPr id="24" name="th"/>
          <p:cNvSpPr/>
          <p:nvPr/>
        </p:nvSpPr>
        <p:spPr>
          <a:xfrm>
            <a:off x="9271680" y="1801368"/>
            <a:ext cx="1450000" cy="411480"/>
          </a:xfrm>
          <a:custGeom>
            <a:avLst/>
            <a:gdLst/>
            <a:ahLst/>
            <a:cxnLst/>
            <a:rect l="l" t="t" r="r" b="b"/>
            <a:pathLst>
              <a:path w="21600" h="21600">
                <a:moveTo>
                  <a:pt x="0" y="0"/>
                </a:moveTo>
                <a:lnTo>
                  <a:pt x="21600" y="0"/>
                </a:lnTo>
                <a:lnTo>
                  <a:pt x="21600" y="21600"/>
                </a:lnTo>
                <a:lnTo>
                  <a:pt x="0" y="21600"/>
                </a:lnTo>
                <a:close/>
              </a:path>
            </a:pathLst>
          </a:custGeom>
          <a:solidFill>
            <a:srgbClr val="B45309"/>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R9 第2段</a:t>
            </a:r>
          </a:p>
        </p:txBody>
      </p:sp>
      <p:sp>
        <p:nvSpPr>
          <p:cNvPr id="25" name="th"/>
          <p:cNvSpPr/>
          <p:nvPr/>
        </p:nvSpPr>
        <p:spPr>
          <a:xfrm>
            <a:off x="10921680" y="1801368"/>
            <a:ext cx="1069320" cy="411480"/>
          </a:xfrm>
          <a:custGeom>
            <a:avLst/>
            <a:gdLst/>
            <a:ahLst/>
            <a:cxnLst/>
            <a:rect l="l" t="t" r="r" b="b"/>
            <a:pathLst>
              <a:path w="21600" h="21600">
                <a:moveTo>
                  <a:pt x="0" y="0"/>
                </a:moveTo>
                <a:lnTo>
                  <a:pt x="21600" y="0"/>
                </a:lnTo>
                <a:lnTo>
                  <a:pt x="21600" y="21600"/>
                </a:lnTo>
                <a:lnTo>
                  <a:pt x="0" y="21600"/>
                </a:lnTo>
                <a:close/>
              </a:path>
            </a:pathLst>
          </a:custGeom>
          <a:solidFill>
            <a:srgbClr val="92400E"/>
          </a:solidFill>
          <a:ln w="0">
            <a:noFill/>
          </a:ln>
        </p:spPr>
        <p:style>
          <a:lnRef idx="0">
            <a:scrgbClr r="0" g="0" b="0"/>
          </a:lnRef>
          <a:fillRef idx="0">
            <a:scrgbClr r="0" g="0" b="0"/>
          </a:fillRef>
          <a:effectRef idx="0">
            <a:scrgbClr r="0" g="0" b="0"/>
          </a:effectRef>
          <a:fontRef idx="minor"/>
        </p:style>
        <p:txBody>
          <a:bodyPr lIns="20000" tIns="15000" rIns="114300" bIns="15000" anchor="ctr">
            <a:noAutofit/>
          </a:bodyPr>
          <a:lstStyle/>
          <a:p>
            <a:pPr algn="ctr"/>
            <a:r>
              <a:rPr lang="ja-JP" sz="900" b="0" dirty="0">
                <a:solidFill>
                  <a:srgbClr val="FFFFFF"/>
                </a:solidFill>
                <a:latin typeface="Noto Sans CJK JP"/>
                <a:cs typeface="Noto Sans CJK JP"/>
              </a:rPr>
              <a:t>R10 最終
（3か年）</a:t>
            </a:r>
          </a:p>
        </p:txBody>
      </p:sp>
      <p:sp>
        <p:nvSpPr>
          <p:cNvPr id="26" name="d00"/>
          <p:cNvSpPr/>
          <p:nvPr/>
        </p:nvSpPr>
        <p:spPr>
          <a:xfrm>
            <a:off x="571680" y="22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基本(0〜10㎥)</a:t>
            </a:r>
          </a:p>
        </p:txBody>
      </p:sp>
      <p:sp>
        <p:nvSpPr>
          <p:cNvPr id="27" name="d01"/>
          <p:cNvSpPr/>
          <p:nvPr/>
        </p:nvSpPr>
        <p:spPr>
          <a:xfrm>
            <a:off x="2771680" y="22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1,000</a:t>
            </a:r>
          </a:p>
        </p:txBody>
      </p:sp>
      <p:sp>
        <p:nvSpPr>
          <p:cNvPr id="28" name="d02"/>
          <p:cNvSpPr/>
          <p:nvPr/>
        </p:nvSpPr>
        <p:spPr>
          <a:xfrm>
            <a:off x="42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1,200</a:t>
            </a:r>
          </a:p>
        </p:txBody>
      </p:sp>
      <p:sp>
        <p:nvSpPr>
          <p:cNvPr id="29" name="d03"/>
          <p:cNvSpPr/>
          <p:nvPr/>
        </p:nvSpPr>
        <p:spPr>
          <a:xfrm>
            <a:off x="5871680" y="22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1,400</a:t>
            </a:r>
          </a:p>
        </p:txBody>
      </p:sp>
      <p:sp>
        <p:nvSpPr>
          <p:cNvPr id="30" name="d04"/>
          <p:cNvSpPr/>
          <p:nvPr/>
        </p:nvSpPr>
        <p:spPr>
          <a:xfrm>
            <a:off x="762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1,100</a:t>
            </a:r>
          </a:p>
        </p:txBody>
      </p:sp>
      <p:sp>
        <p:nvSpPr>
          <p:cNvPr id="31" name="d05"/>
          <p:cNvSpPr/>
          <p:nvPr/>
        </p:nvSpPr>
        <p:spPr>
          <a:xfrm>
            <a:off x="9271680" y="22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1,200</a:t>
            </a:r>
          </a:p>
        </p:txBody>
      </p:sp>
      <p:sp>
        <p:nvSpPr>
          <p:cNvPr id="32" name="d06"/>
          <p:cNvSpPr/>
          <p:nvPr/>
        </p:nvSpPr>
        <p:spPr>
          <a:xfrm>
            <a:off x="10921680" y="22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1,400</a:t>
            </a:r>
          </a:p>
        </p:txBody>
      </p:sp>
      <p:sp>
        <p:nvSpPr>
          <p:cNvPr id="33" name="d10"/>
          <p:cNvSpPr/>
          <p:nvPr/>
        </p:nvSpPr>
        <p:spPr>
          <a:xfrm>
            <a:off x="571680" y="26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11〜20㎥</a:t>
            </a:r>
          </a:p>
        </p:txBody>
      </p:sp>
      <p:sp>
        <p:nvSpPr>
          <p:cNvPr id="34" name="d11"/>
          <p:cNvSpPr/>
          <p:nvPr/>
        </p:nvSpPr>
        <p:spPr>
          <a:xfrm>
            <a:off x="2771680" y="26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35" name="d12"/>
          <p:cNvSpPr/>
          <p:nvPr/>
        </p:nvSpPr>
        <p:spPr>
          <a:xfrm>
            <a:off x="42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140</a:t>
            </a:r>
          </a:p>
        </p:txBody>
      </p:sp>
      <p:sp>
        <p:nvSpPr>
          <p:cNvPr id="36" name="d13"/>
          <p:cNvSpPr/>
          <p:nvPr/>
        </p:nvSpPr>
        <p:spPr>
          <a:xfrm>
            <a:off x="5871680" y="26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160</a:t>
            </a:r>
          </a:p>
        </p:txBody>
      </p:sp>
      <p:sp>
        <p:nvSpPr>
          <p:cNvPr id="37" name="d14"/>
          <p:cNvSpPr/>
          <p:nvPr/>
        </p:nvSpPr>
        <p:spPr>
          <a:xfrm>
            <a:off x="762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130</a:t>
            </a:r>
          </a:p>
        </p:txBody>
      </p:sp>
      <p:sp>
        <p:nvSpPr>
          <p:cNvPr id="38" name="d15"/>
          <p:cNvSpPr/>
          <p:nvPr/>
        </p:nvSpPr>
        <p:spPr>
          <a:xfrm>
            <a:off x="9271680" y="26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39" name="d16"/>
          <p:cNvSpPr/>
          <p:nvPr/>
        </p:nvSpPr>
        <p:spPr>
          <a:xfrm>
            <a:off x="10921680" y="26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160</a:t>
            </a:r>
          </a:p>
        </p:txBody>
      </p:sp>
      <p:sp>
        <p:nvSpPr>
          <p:cNvPr id="40" name="d20"/>
          <p:cNvSpPr/>
          <p:nvPr/>
        </p:nvSpPr>
        <p:spPr>
          <a:xfrm>
            <a:off x="571680" y="31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21〜30㎥</a:t>
            </a:r>
          </a:p>
        </p:txBody>
      </p:sp>
      <p:sp>
        <p:nvSpPr>
          <p:cNvPr id="41" name="d21"/>
          <p:cNvSpPr/>
          <p:nvPr/>
        </p:nvSpPr>
        <p:spPr>
          <a:xfrm>
            <a:off x="2771680" y="31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120</a:t>
            </a:r>
          </a:p>
        </p:txBody>
      </p:sp>
      <p:sp>
        <p:nvSpPr>
          <p:cNvPr id="42" name="d22"/>
          <p:cNvSpPr/>
          <p:nvPr/>
        </p:nvSpPr>
        <p:spPr>
          <a:xfrm>
            <a:off x="42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143</a:t>
            </a:r>
          </a:p>
        </p:txBody>
      </p:sp>
      <p:sp>
        <p:nvSpPr>
          <p:cNvPr id="43" name="d23"/>
          <p:cNvSpPr/>
          <p:nvPr/>
        </p:nvSpPr>
        <p:spPr>
          <a:xfrm>
            <a:off x="5871680" y="31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165</a:t>
            </a:r>
          </a:p>
        </p:txBody>
      </p:sp>
      <p:sp>
        <p:nvSpPr>
          <p:cNvPr id="44" name="d24"/>
          <p:cNvSpPr/>
          <p:nvPr/>
        </p:nvSpPr>
        <p:spPr>
          <a:xfrm>
            <a:off x="762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135</a:t>
            </a:r>
          </a:p>
        </p:txBody>
      </p:sp>
      <p:sp>
        <p:nvSpPr>
          <p:cNvPr id="45" name="d25"/>
          <p:cNvSpPr/>
          <p:nvPr/>
        </p:nvSpPr>
        <p:spPr>
          <a:xfrm>
            <a:off x="9271680" y="31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46" name="d26"/>
          <p:cNvSpPr/>
          <p:nvPr/>
        </p:nvSpPr>
        <p:spPr>
          <a:xfrm>
            <a:off x="10921680" y="31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165</a:t>
            </a:r>
          </a:p>
        </p:txBody>
      </p:sp>
      <p:sp>
        <p:nvSpPr>
          <p:cNvPr id="47" name="d30"/>
          <p:cNvSpPr/>
          <p:nvPr/>
        </p:nvSpPr>
        <p:spPr>
          <a:xfrm>
            <a:off x="571680" y="36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31〜40㎥</a:t>
            </a:r>
          </a:p>
        </p:txBody>
      </p:sp>
      <p:sp>
        <p:nvSpPr>
          <p:cNvPr id="48" name="d31"/>
          <p:cNvSpPr/>
          <p:nvPr/>
        </p:nvSpPr>
        <p:spPr>
          <a:xfrm>
            <a:off x="2771680" y="36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49" name="d32"/>
          <p:cNvSpPr/>
          <p:nvPr/>
        </p:nvSpPr>
        <p:spPr>
          <a:xfrm>
            <a:off x="42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150</a:t>
            </a:r>
          </a:p>
        </p:txBody>
      </p:sp>
      <p:sp>
        <p:nvSpPr>
          <p:cNvPr id="50" name="d33"/>
          <p:cNvSpPr/>
          <p:nvPr/>
        </p:nvSpPr>
        <p:spPr>
          <a:xfrm>
            <a:off x="5871680" y="36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170</a:t>
            </a:r>
          </a:p>
        </p:txBody>
      </p:sp>
      <p:sp>
        <p:nvSpPr>
          <p:cNvPr id="51" name="d34"/>
          <p:cNvSpPr/>
          <p:nvPr/>
        </p:nvSpPr>
        <p:spPr>
          <a:xfrm>
            <a:off x="762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140</a:t>
            </a:r>
          </a:p>
        </p:txBody>
      </p:sp>
      <p:sp>
        <p:nvSpPr>
          <p:cNvPr id="52" name="d35"/>
          <p:cNvSpPr/>
          <p:nvPr/>
        </p:nvSpPr>
        <p:spPr>
          <a:xfrm>
            <a:off x="9271680" y="36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150</a:t>
            </a:r>
          </a:p>
        </p:txBody>
      </p:sp>
      <p:sp>
        <p:nvSpPr>
          <p:cNvPr id="53" name="d36"/>
          <p:cNvSpPr/>
          <p:nvPr/>
        </p:nvSpPr>
        <p:spPr>
          <a:xfrm>
            <a:off x="10921680" y="36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170</a:t>
            </a:r>
          </a:p>
        </p:txBody>
      </p:sp>
      <p:sp>
        <p:nvSpPr>
          <p:cNvPr id="54" name="d40"/>
          <p:cNvSpPr/>
          <p:nvPr/>
        </p:nvSpPr>
        <p:spPr>
          <a:xfrm>
            <a:off x="571680" y="413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41〜50㎥</a:t>
            </a:r>
          </a:p>
        </p:txBody>
      </p:sp>
      <p:sp>
        <p:nvSpPr>
          <p:cNvPr id="55" name="d41"/>
          <p:cNvSpPr/>
          <p:nvPr/>
        </p:nvSpPr>
        <p:spPr>
          <a:xfrm>
            <a:off x="2771680" y="413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130</a:t>
            </a:r>
          </a:p>
        </p:txBody>
      </p:sp>
      <p:sp>
        <p:nvSpPr>
          <p:cNvPr id="56" name="d42"/>
          <p:cNvSpPr/>
          <p:nvPr/>
        </p:nvSpPr>
        <p:spPr>
          <a:xfrm>
            <a:off x="42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153</a:t>
            </a:r>
          </a:p>
        </p:txBody>
      </p:sp>
      <p:sp>
        <p:nvSpPr>
          <p:cNvPr id="57" name="d43"/>
          <p:cNvSpPr/>
          <p:nvPr/>
        </p:nvSpPr>
        <p:spPr>
          <a:xfrm>
            <a:off x="5871680" y="413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175</a:t>
            </a:r>
          </a:p>
        </p:txBody>
      </p:sp>
      <p:sp>
        <p:nvSpPr>
          <p:cNvPr id="58" name="d44"/>
          <p:cNvSpPr/>
          <p:nvPr/>
        </p:nvSpPr>
        <p:spPr>
          <a:xfrm>
            <a:off x="762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145</a:t>
            </a:r>
          </a:p>
        </p:txBody>
      </p:sp>
      <p:sp>
        <p:nvSpPr>
          <p:cNvPr id="59" name="d45"/>
          <p:cNvSpPr/>
          <p:nvPr/>
        </p:nvSpPr>
        <p:spPr>
          <a:xfrm>
            <a:off x="9271680" y="413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160</a:t>
            </a:r>
          </a:p>
        </p:txBody>
      </p:sp>
      <p:sp>
        <p:nvSpPr>
          <p:cNvPr id="60" name="d46"/>
          <p:cNvSpPr/>
          <p:nvPr/>
        </p:nvSpPr>
        <p:spPr>
          <a:xfrm>
            <a:off x="10921680" y="413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175</a:t>
            </a:r>
          </a:p>
        </p:txBody>
      </p:sp>
      <p:sp>
        <p:nvSpPr>
          <p:cNvPr id="61" name="d50"/>
          <p:cNvSpPr/>
          <p:nvPr/>
        </p:nvSpPr>
        <p:spPr>
          <a:xfrm>
            <a:off x="571680" y="461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51〜70㎥</a:t>
            </a:r>
          </a:p>
        </p:txBody>
      </p:sp>
      <p:sp>
        <p:nvSpPr>
          <p:cNvPr id="62" name="d51"/>
          <p:cNvSpPr/>
          <p:nvPr/>
        </p:nvSpPr>
        <p:spPr>
          <a:xfrm>
            <a:off x="2771680" y="461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63" name="d52"/>
          <p:cNvSpPr/>
          <p:nvPr/>
        </p:nvSpPr>
        <p:spPr>
          <a:xfrm>
            <a:off x="42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163</a:t>
            </a:r>
          </a:p>
        </p:txBody>
      </p:sp>
      <p:sp>
        <p:nvSpPr>
          <p:cNvPr id="64" name="d53"/>
          <p:cNvSpPr/>
          <p:nvPr/>
        </p:nvSpPr>
        <p:spPr>
          <a:xfrm>
            <a:off x="5871680" y="461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185</a:t>
            </a:r>
          </a:p>
        </p:txBody>
      </p:sp>
      <p:sp>
        <p:nvSpPr>
          <p:cNvPr id="65" name="d54"/>
          <p:cNvSpPr/>
          <p:nvPr/>
        </p:nvSpPr>
        <p:spPr>
          <a:xfrm>
            <a:off x="762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155</a:t>
            </a:r>
          </a:p>
        </p:txBody>
      </p:sp>
      <p:sp>
        <p:nvSpPr>
          <p:cNvPr id="66" name="d55"/>
          <p:cNvSpPr/>
          <p:nvPr/>
        </p:nvSpPr>
        <p:spPr>
          <a:xfrm>
            <a:off x="9271680" y="461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67" name="d56"/>
          <p:cNvSpPr/>
          <p:nvPr/>
        </p:nvSpPr>
        <p:spPr>
          <a:xfrm>
            <a:off x="10921680" y="461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185</a:t>
            </a:r>
          </a:p>
        </p:txBody>
      </p:sp>
      <p:sp>
        <p:nvSpPr>
          <p:cNvPr id="68" name="d60"/>
          <p:cNvSpPr/>
          <p:nvPr/>
        </p:nvSpPr>
        <p:spPr>
          <a:xfrm>
            <a:off x="571680" y="509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71〜100㎥</a:t>
            </a:r>
          </a:p>
        </p:txBody>
      </p:sp>
      <p:sp>
        <p:nvSpPr>
          <p:cNvPr id="69" name="d61"/>
          <p:cNvSpPr/>
          <p:nvPr/>
        </p:nvSpPr>
        <p:spPr>
          <a:xfrm>
            <a:off x="2771680" y="509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0" name="d62"/>
          <p:cNvSpPr/>
          <p:nvPr/>
        </p:nvSpPr>
        <p:spPr>
          <a:xfrm>
            <a:off x="42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168</a:t>
            </a:r>
          </a:p>
        </p:txBody>
      </p:sp>
      <p:sp>
        <p:nvSpPr>
          <p:cNvPr id="71" name="d63"/>
          <p:cNvSpPr/>
          <p:nvPr/>
        </p:nvSpPr>
        <p:spPr>
          <a:xfrm>
            <a:off x="5871680" y="509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195</a:t>
            </a:r>
          </a:p>
        </p:txBody>
      </p:sp>
      <p:sp>
        <p:nvSpPr>
          <p:cNvPr id="72" name="d64"/>
          <p:cNvSpPr/>
          <p:nvPr/>
        </p:nvSpPr>
        <p:spPr>
          <a:xfrm>
            <a:off x="762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155</a:t>
            </a:r>
          </a:p>
        </p:txBody>
      </p:sp>
      <p:sp>
        <p:nvSpPr>
          <p:cNvPr id="73" name="d65"/>
          <p:cNvSpPr/>
          <p:nvPr/>
        </p:nvSpPr>
        <p:spPr>
          <a:xfrm>
            <a:off x="9271680" y="509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170</a:t>
            </a:r>
          </a:p>
        </p:txBody>
      </p:sp>
      <p:sp>
        <p:nvSpPr>
          <p:cNvPr id="74" name="d66"/>
          <p:cNvSpPr/>
          <p:nvPr/>
        </p:nvSpPr>
        <p:spPr>
          <a:xfrm>
            <a:off x="10921680" y="509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195</a:t>
            </a:r>
          </a:p>
        </p:txBody>
      </p:sp>
      <p:sp>
        <p:nvSpPr>
          <p:cNvPr id="75" name="d70"/>
          <p:cNvSpPr/>
          <p:nvPr/>
        </p:nvSpPr>
        <p:spPr>
          <a:xfrm>
            <a:off x="571680" y="557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101〜150㎥</a:t>
            </a:r>
          </a:p>
        </p:txBody>
      </p:sp>
      <p:sp>
        <p:nvSpPr>
          <p:cNvPr id="76" name="d71"/>
          <p:cNvSpPr/>
          <p:nvPr/>
        </p:nvSpPr>
        <p:spPr>
          <a:xfrm>
            <a:off x="2771680" y="557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140</a:t>
            </a:r>
          </a:p>
        </p:txBody>
      </p:sp>
      <p:sp>
        <p:nvSpPr>
          <p:cNvPr id="77" name="d72"/>
          <p:cNvSpPr/>
          <p:nvPr/>
        </p:nvSpPr>
        <p:spPr>
          <a:xfrm>
            <a:off x="42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178</a:t>
            </a:r>
          </a:p>
        </p:txBody>
      </p:sp>
      <p:sp>
        <p:nvSpPr>
          <p:cNvPr id="78" name="d73"/>
          <p:cNvSpPr/>
          <p:nvPr/>
        </p:nvSpPr>
        <p:spPr>
          <a:xfrm>
            <a:off x="5871680" y="557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215</a:t>
            </a:r>
          </a:p>
        </p:txBody>
      </p:sp>
      <p:sp>
        <p:nvSpPr>
          <p:cNvPr id="79" name="d74"/>
          <p:cNvSpPr/>
          <p:nvPr/>
        </p:nvSpPr>
        <p:spPr>
          <a:xfrm>
            <a:off x="762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165</a:t>
            </a:r>
          </a:p>
        </p:txBody>
      </p:sp>
      <p:sp>
        <p:nvSpPr>
          <p:cNvPr id="80" name="d75"/>
          <p:cNvSpPr/>
          <p:nvPr/>
        </p:nvSpPr>
        <p:spPr>
          <a:xfrm>
            <a:off x="9271680" y="557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190</a:t>
            </a:r>
          </a:p>
        </p:txBody>
      </p:sp>
      <p:sp>
        <p:nvSpPr>
          <p:cNvPr id="81" name="d76"/>
          <p:cNvSpPr/>
          <p:nvPr/>
        </p:nvSpPr>
        <p:spPr>
          <a:xfrm>
            <a:off x="10921680" y="557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215</a:t>
            </a:r>
          </a:p>
        </p:txBody>
      </p:sp>
      <p:sp>
        <p:nvSpPr>
          <p:cNvPr id="82" name="d80"/>
          <p:cNvSpPr/>
          <p:nvPr/>
        </p:nvSpPr>
        <p:spPr>
          <a:xfrm>
            <a:off x="571680" y="6050000"/>
            <a:ext cx="200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l"/>
            <a:r>
              <a:rPr lang="ja-JP" sz="1000" b="0" dirty="0">
                <a:solidFill>
                  <a:srgbClr val="475569"/>
                </a:solidFill>
                <a:latin typeface="Noto Sans CJK JP"/>
                <a:cs typeface="Noto Sans CJK JP"/>
              </a:rPr>
              <a:t>151㎥〜</a:t>
            </a:r>
          </a:p>
        </p:txBody>
      </p:sp>
      <p:sp>
        <p:nvSpPr>
          <p:cNvPr id="83" name="d81"/>
          <p:cNvSpPr/>
          <p:nvPr/>
        </p:nvSpPr>
        <p:spPr>
          <a:xfrm>
            <a:off x="2771680" y="6050000"/>
            <a:ext cx="12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475569"/>
                </a:solidFill>
                <a:latin typeface="Arial"/>
                <a:cs typeface="Noto Sans CJK JP"/>
              </a:rPr>
              <a:t>160</a:t>
            </a:r>
          </a:p>
        </p:txBody>
      </p:sp>
      <p:sp>
        <p:nvSpPr>
          <p:cNvPr id="84" name="d82"/>
          <p:cNvSpPr/>
          <p:nvPr/>
        </p:nvSpPr>
        <p:spPr>
          <a:xfrm>
            <a:off x="42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1D4ED8"/>
                </a:solidFill>
                <a:latin typeface="Arial"/>
                <a:cs typeface="Noto Sans CJK JP"/>
              </a:rPr>
              <a:t>198</a:t>
            </a:r>
          </a:p>
        </p:txBody>
      </p:sp>
      <p:sp>
        <p:nvSpPr>
          <p:cNvPr id="85" name="d83"/>
          <p:cNvSpPr/>
          <p:nvPr/>
        </p:nvSpPr>
        <p:spPr>
          <a:xfrm>
            <a:off x="5871680" y="6050000"/>
            <a:ext cx="15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1E3A8A"/>
                </a:solidFill>
                <a:latin typeface="Arial"/>
                <a:cs typeface="Noto Sans CJK JP"/>
              </a:rPr>
              <a:t>235</a:t>
            </a:r>
          </a:p>
        </p:txBody>
      </p:sp>
      <p:sp>
        <p:nvSpPr>
          <p:cNvPr id="86" name="d84"/>
          <p:cNvSpPr/>
          <p:nvPr/>
        </p:nvSpPr>
        <p:spPr>
          <a:xfrm>
            <a:off x="762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185</a:t>
            </a:r>
          </a:p>
        </p:txBody>
      </p:sp>
      <p:sp>
        <p:nvSpPr>
          <p:cNvPr id="87" name="d85"/>
          <p:cNvSpPr/>
          <p:nvPr/>
        </p:nvSpPr>
        <p:spPr>
          <a:xfrm>
            <a:off x="9271680" y="6050000"/>
            <a:ext cx="145000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0" dirty="0">
                <a:solidFill>
                  <a:srgbClr val="B45309"/>
                </a:solidFill>
                <a:latin typeface="Arial"/>
                <a:cs typeface="Noto Sans CJK JP"/>
              </a:rPr>
              <a:t>210</a:t>
            </a:r>
          </a:p>
        </p:txBody>
      </p:sp>
      <p:sp>
        <p:nvSpPr>
          <p:cNvPr id="88" name="d86"/>
          <p:cNvSpPr/>
          <p:nvPr/>
        </p:nvSpPr>
        <p:spPr>
          <a:xfrm>
            <a:off x="10921680" y="6050000"/>
            <a:ext cx="1069320" cy="455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40000" tIns="10000" rIns="114300" bIns="10000" anchor="ctr">
            <a:noAutofit/>
          </a:bodyPr>
          <a:lstStyle/>
          <a:p>
            <a:pPr algn="ctr"/>
            <a:r>
              <a:rPr lang="ja-JP" sz="1000" b="1" dirty="0">
                <a:solidFill>
                  <a:srgbClr val="92400E"/>
                </a:solidFill>
                <a:latin typeface="Arial"/>
                <a:cs typeface="Noto Sans CJK JP"/>
              </a:rPr>
              <a:t>235</a:t>
            </a:r>
          </a:p>
        </p:txBody>
      </p:sp>
      <p:sp>
        <p:nvSpPr>
          <p:cNvPr id="8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00" b="0" dirty="0">
                <a:solidFill>
                  <a:srgbClr val="1E293B"/>
                </a:solidFill>
                <a:latin typeface="Arial"/>
                <a:cs typeface="Noto Sans CJK JP"/>
              </a:rPr>
              <a:t>02-5　段階単価　パターン別比較（税抜き・円）　2か年改定：R8中間→R9最終</a:t>
            </a:r>
          </a:p>
        </p:txBody>
      </p:sp>
      <p:sp>
        <p:nvSpPr>
          <p:cNvPr id="14" name="gl2"/>
          <p:cNvSpPr/>
          <p:nvPr/>
        </p:nvSpPr>
        <p:spPr>
          <a:xfrm>
            <a:off x="310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①標準型 2か年</a:t>
            </a:r>
          </a:p>
        </p:txBody>
      </p:sp>
      <p:sp>
        <p:nvSpPr>
          <p:cNvPr id="15" name="gl4"/>
          <p:cNvSpPr/>
          <p:nvPr/>
        </p:nvSpPr>
        <p:spPr>
          <a:xfrm>
            <a:off x="484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②家庭軽減型 2か年</a:t>
            </a:r>
          </a:p>
        </p:txBody>
      </p:sp>
      <p:sp>
        <p:nvSpPr>
          <p:cNvPr id="16" name="gl6"/>
          <p:cNvSpPr/>
          <p:nvPr/>
        </p:nvSpPr>
        <p:spPr>
          <a:xfrm>
            <a:off x="658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④段階累進型 2か年</a:t>
            </a:r>
          </a:p>
        </p:txBody>
      </p:sp>
      <p:sp>
        <p:nvSpPr>
          <p:cNvPr id="17" name="th0"/>
          <p:cNvSpPr/>
          <p:nvPr/>
        </p:nvSpPr>
        <p:spPr>
          <a:xfrm>
            <a:off x="380000" y="1610000"/>
            <a:ext cx="190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水量区分</a:t>
            </a:r>
          </a:p>
        </p:txBody>
      </p:sp>
      <p:sp>
        <p:nvSpPr>
          <p:cNvPr id="18" name="th1"/>
          <p:cNvSpPr/>
          <p:nvPr/>
        </p:nvSpPr>
        <p:spPr>
          <a:xfrm>
            <a:off x="2280000" y="1610000"/>
            <a:ext cx="820000" cy="30000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現行</a:t>
            </a:r>
          </a:p>
        </p:txBody>
      </p:sp>
      <p:sp>
        <p:nvSpPr>
          <p:cNvPr id="19" name="th2"/>
          <p:cNvSpPr/>
          <p:nvPr/>
        </p:nvSpPr>
        <p:spPr>
          <a:xfrm>
            <a:off x="310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①R8中間</a:t>
            </a:r>
          </a:p>
        </p:txBody>
      </p:sp>
      <p:sp>
        <p:nvSpPr>
          <p:cNvPr id="20" name="th3"/>
          <p:cNvSpPr/>
          <p:nvPr/>
        </p:nvSpPr>
        <p:spPr>
          <a:xfrm>
            <a:off x="397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①R9最終</a:t>
            </a:r>
          </a:p>
        </p:txBody>
      </p:sp>
      <p:sp>
        <p:nvSpPr>
          <p:cNvPr id="21" name="th4"/>
          <p:cNvSpPr/>
          <p:nvPr/>
        </p:nvSpPr>
        <p:spPr>
          <a:xfrm>
            <a:off x="484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②R8中間</a:t>
            </a:r>
          </a:p>
        </p:txBody>
      </p:sp>
      <p:sp>
        <p:nvSpPr>
          <p:cNvPr id="22" name="th5"/>
          <p:cNvSpPr/>
          <p:nvPr/>
        </p:nvSpPr>
        <p:spPr>
          <a:xfrm>
            <a:off x="571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②R9最終</a:t>
            </a:r>
          </a:p>
        </p:txBody>
      </p:sp>
      <p:sp>
        <p:nvSpPr>
          <p:cNvPr id="23" name="th6"/>
          <p:cNvSpPr/>
          <p:nvPr/>
        </p:nvSpPr>
        <p:spPr>
          <a:xfrm>
            <a:off x="658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④R8中間</a:t>
            </a:r>
          </a:p>
        </p:txBody>
      </p:sp>
      <p:sp>
        <p:nvSpPr>
          <p:cNvPr id="24" name="th7"/>
          <p:cNvSpPr/>
          <p:nvPr/>
        </p:nvSpPr>
        <p:spPr>
          <a:xfrm>
            <a:off x="745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92400E"/>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④R9最終</a:t>
            </a:r>
          </a:p>
        </p:txBody>
      </p:sp>
      <p:sp>
        <p:nvSpPr>
          <p:cNvPr id="25" name="d00"/>
          <p:cNvSpPr/>
          <p:nvPr/>
        </p:nvSpPr>
        <p:spPr>
          <a:xfrm>
            <a:off x="380000" y="1947672"/>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基本(0〜10㎥)</a:t>
            </a:r>
          </a:p>
        </p:txBody>
      </p:sp>
      <p:sp>
        <p:nvSpPr>
          <p:cNvPr id="26" name="d01"/>
          <p:cNvSpPr/>
          <p:nvPr/>
        </p:nvSpPr>
        <p:spPr>
          <a:xfrm>
            <a:off x="2280000" y="1947672"/>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1,000</a:t>
            </a:r>
          </a:p>
        </p:txBody>
      </p:sp>
      <p:sp>
        <p:nvSpPr>
          <p:cNvPr id="27" name="d02"/>
          <p:cNvSpPr/>
          <p:nvPr/>
        </p:nvSpPr>
        <p:spPr>
          <a:xfrm>
            <a:off x="310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1,250</a:t>
            </a:r>
          </a:p>
        </p:txBody>
      </p:sp>
      <p:sp>
        <p:nvSpPr>
          <p:cNvPr id="28" name="d03"/>
          <p:cNvSpPr/>
          <p:nvPr/>
        </p:nvSpPr>
        <p:spPr>
          <a:xfrm>
            <a:off x="397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1,500</a:t>
            </a:r>
          </a:p>
        </p:txBody>
      </p:sp>
      <p:sp>
        <p:nvSpPr>
          <p:cNvPr id="29" name="d04"/>
          <p:cNvSpPr/>
          <p:nvPr/>
        </p:nvSpPr>
        <p:spPr>
          <a:xfrm>
            <a:off x="484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1,100</a:t>
            </a:r>
          </a:p>
        </p:txBody>
      </p:sp>
      <p:sp>
        <p:nvSpPr>
          <p:cNvPr id="30" name="d05"/>
          <p:cNvSpPr/>
          <p:nvPr/>
        </p:nvSpPr>
        <p:spPr>
          <a:xfrm>
            <a:off x="571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1,200</a:t>
            </a:r>
          </a:p>
        </p:txBody>
      </p:sp>
      <p:sp>
        <p:nvSpPr>
          <p:cNvPr id="31" name="d06"/>
          <p:cNvSpPr/>
          <p:nvPr/>
        </p:nvSpPr>
        <p:spPr>
          <a:xfrm>
            <a:off x="658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1,200</a:t>
            </a:r>
          </a:p>
        </p:txBody>
      </p:sp>
      <p:sp>
        <p:nvSpPr>
          <p:cNvPr id="32" name="d07"/>
          <p:cNvSpPr/>
          <p:nvPr/>
        </p:nvSpPr>
        <p:spPr>
          <a:xfrm>
            <a:off x="745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1,400</a:t>
            </a:r>
          </a:p>
        </p:txBody>
      </p:sp>
      <p:sp>
        <p:nvSpPr>
          <p:cNvPr id="33" name="d10"/>
          <p:cNvSpPr/>
          <p:nvPr/>
        </p:nvSpPr>
        <p:spPr>
          <a:xfrm>
            <a:off x="380000" y="2377439"/>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11〜20㎥</a:t>
            </a:r>
          </a:p>
        </p:txBody>
      </p:sp>
      <p:sp>
        <p:nvSpPr>
          <p:cNvPr id="34" name="d11"/>
          <p:cNvSpPr/>
          <p:nvPr/>
        </p:nvSpPr>
        <p:spPr>
          <a:xfrm>
            <a:off x="2280000" y="2377439"/>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35" name="d12"/>
          <p:cNvSpPr/>
          <p:nvPr/>
        </p:nvSpPr>
        <p:spPr>
          <a:xfrm>
            <a:off x="310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135</a:t>
            </a:r>
          </a:p>
        </p:txBody>
      </p:sp>
      <p:sp>
        <p:nvSpPr>
          <p:cNvPr id="36" name="d13"/>
          <p:cNvSpPr/>
          <p:nvPr/>
        </p:nvSpPr>
        <p:spPr>
          <a:xfrm>
            <a:off x="397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a:t>
            </a:r>
          </a:p>
        </p:txBody>
      </p:sp>
      <p:sp>
        <p:nvSpPr>
          <p:cNvPr id="37" name="d14"/>
          <p:cNvSpPr/>
          <p:nvPr/>
        </p:nvSpPr>
        <p:spPr>
          <a:xfrm>
            <a:off x="484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150</a:t>
            </a:r>
          </a:p>
        </p:txBody>
      </p:sp>
      <p:sp>
        <p:nvSpPr>
          <p:cNvPr id="38" name="d15"/>
          <p:cNvSpPr/>
          <p:nvPr/>
        </p:nvSpPr>
        <p:spPr>
          <a:xfrm>
            <a:off x="571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180</a:t>
            </a:r>
          </a:p>
        </p:txBody>
      </p:sp>
      <p:sp>
        <p:nvSpPr>
          <p:cNvPr id="39" name="d16"/>
          <p:cNvSpPr/>
          <p:nvPr/>
        </p:nvSpPr>
        <p:spPr>
          <a:xfrm>
            <a:off x="658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140</a:t>
            </a:r>
          </a:p>
        </p:txBody>
      </p:sp>
      <p:sp>
        <p:nvSpPr>
          <p:cNvPr id="40" name="d17"/>
          <p:cNvSpPr/>
          <p:nvPr/>
        </p:nvSpPr>
        <p:spPr>
          <a:xfrm>
            <a:off x="745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160</a:t>
            </a:r>
          </a:p>
        </p:txBody>
      </p:sp>
      <p:sp>
        <p:nvSpPr>
          <p:cNvPr id="41" name="d20"/>
          <p:cNvSpPr/>
          <p:nvPr/>
        </p:nvSpPr>
        <p:spPr>
          <a:xfrm>
            <a:off x="380000" y="2807208"/>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21〜30㎥</a:t>
            </a:r>
          </a:p>
        </p:txBody>
      </p:sp>
      <p:sp>
        <p:nvSpPr>
          <p:cNvPr id="42" name="d21"/>
          <p:cNvSpPr/>
          <p:nvPr/>
        </p:nvSpPr>
        <p:spPr>
          <a:xfrm>
            <a:off x="2280000" y="2807208"/>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43" name="d22"/>
          <p:cNvSpPr/>
          <p:nvPr/>
        </p:nvSpPr>
        <p:spPr>
          <a:xfrm>
            <a:off x="310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138</a:t>
            </a:r>
          </a:p>
        </p:txBody>
      </p:sp>
      <p:sp>
        <p:nvSpPr>
          <p:cNvPr id="44" name="d23"/>
          <p:cNvSpPr/>
          <p:nvPr/>
        </p:nvSpPr>
        <p:spPr>
          <a:xfrm>
            <a:off x="397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155</a:t>
            </a:r>
          </a:p>
        </p:txBody>
      </p:sp>
      <p:sp>
        <p:nvSpPr>
          <p:cNvPr id="45" name="d24"/>
          <p:cNvSpPr/>
          <p:nvPr/>
        </p:nvSpPr>
        <p:spPr>
          <a:xfrm>
            <a:off x="484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153</a:t>
            </a:r>
          </a:p>
        </p:txBody>
      </p:sp>
      <p:sp>
        <p:nvSpPr>
          <p:cNvPr id="46" name="d25"/>
          <p:cNvSpPr/>
          <p:nvPr/>
        </p:nvSpPr>
        <p:spPr>
          <a:xfrm>
            <a:off x="571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185</a:t>
            </a:r>
          </a:p>
        </p:txBody>
      </p:sp>
      <p:sp>
        <p:nvSpPr>
          <p:cNvPr id="47" name="d26"/>
          <p:cNvSpPr/>
          <p:nvPr/>
        </p:nvSpPr>
        <p:spPr>
          <a:xfrm>
            <a:off x="658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143</a:t>
            </a:r>
          </a:p>
        </p:txBody>
      </p:sp>
      <p:sp>
        <p:nvSpPr>
          <p:cNvPr id="48" name="d27"/>
          <p:cNvSpPr/>
          <p:nvPr/>
        </p:nvSpPr>
        <p:spPr>
          <a:xfrm>
            <a:off x="745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165</a:t>
            </a:r>
          </a:p>
        </p:txBody>
      </p:sp>
      <p:sp>
        <p:nvSpPr>
          <p:cNvPr id="49" name="d30"/>
          <p:cNvSpPr/>
          <p:nvPr/>
        </p:nvSpPr>
        <p:spPr>
          <a:xfrm>
            <a:off x="380000" y="3236976"/>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31〜40㎥</a:t>
            </a:r>
          </a:p>
        </p:txBody>
      </p:sp>
      <p:sp>
        <p:nvSpPr>
          <p:cNvPr id="50" name="d31"/>
          <p:cNvSpPr/>
          <p:nvPr/>
        </p:nvSpPr>
        <p:spPr>
          <a:xfrm>
            <a:off x="2280000" y="3236976"/>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1" name="d32"/>
          <p:cNvSpPr/>
          <p:nvPr/>
        </p:nvSpPr>
        <p:spPr>
          <a:xfrm>
            <a:off x="310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145</a:t>
            </a:r>
          </a:p>
        </p:txBody>
      </p:sp>
      <p:sp>
        <p:nvSpPr>
          <p:cNvPr id="52" name="d33"/>
          <p:cNvSpPr/>
          <p:nvPr/>
        </p:nvSpPr>
        <p:spPr>
          <a:xfrm>
            <a:off x="397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160</a:t>
            </a:r>
          </a:p>
        </p:txBody>
      </p:sp>
      <p:sp>
        <p:nvSpPr>
          <p:cNvPr id="53" name="d34"/>
          <p:cNvSpPr/>
          <p:nvPr/>
        </p:nvSpPr>
        <p:spPr>
          <a:xfrm>
            <a:off x="484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160</a:t>
            </a:r>
          </a:p>
        </p:txBody>
      </p:sp>
      <p:sp>
        <p:nvSpPr>
          <p:cNvPr id="54" name="d35"/>
          <p:cNvSpPr/>
          <p:nvPr/>
        </p:nvSpPr>
        <p:spPr>
          <a:xfrm>
            <a:off x="571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190</a:t>
            </a:r>
          </a:p>
        </p:txBody>
      </p:sp>
      <p:sp>
        <p:nvSpPr>
          <p:cNvPr id="55" name="d36"/>
          <p:cNvSpPr/>
          <p:nvPr/>
        </p:nvSpPr>
        <p:spPr>
          <a:xfrm>
            <a:off x="658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150</a:t>
            </a:r>
          </a:p>
        </p:txBody>
      </p:sp>
      <p:sp>
        <p:nvSpPr>
          <p:cNvPr id="56" name="d37"/>
          <p:cNvSpPr/>
          <p:nvPr/>
        </p:nvSpPr>
        <p:spPr>
          <a:xfrm>
            <a:off x="745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170</a:t>
            </a:r>
          </a:p>
        </p:txBody>
      </p:sp>
      <p:sp>
        <p:nvSpPr>
          <p:cNvPr id="57" name="d40"/>
          <p:cNvSpPr/>
          <p:nvPr/>
        </p:nvSpPr>
        <p:spPr>
          <a:xfrm>
            <a:off x="380000" y="3666744"/>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41〜50㎥</a:t>
            </a:r>
          </a:p>
        </p:txBody>
      </p:sp>
      <p:sp>
        <p:nvSpPr>
          <p:cNvPr id="58" name="d41"/>
          <p:cNvSpPr/>
          <p:nvPr/>
        </p:nvSpPr>
        <p:spPr>
          <a:xfrm>
            <a:off x="2280000" y="3666744"/>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9" name="d42"/>
          <p:cNvSpPr/>
          <p:nvPr/>
        </p:nvSpPr>
        <p:spPr>
          <a:xfrm>
            <a:off x="310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148</a:t>
            </a:r>
          </a:p>
        </p:txBody>
      </p:sp>
      <p:sp>
        <p:nvSpPr>
          <p:cNvPr id="60" name="d43"/>
          <p:cNvSpPr/>
          <p:nvPr/>
        </p:nvSpPr>
        <p:spPr>
          <a:xfrm>
            <a:off x="397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165</a:t>
            </a:r>
          </a:p>
        </p:txBody>
      </p:sp>
      <p:sp>
        <p:nvSpPr>
          <p:cNvPr id="61" name="d44"/>
          <p:cNvSpPr/>
          <p:nvPr/>
        </p:nvSpPr>
        <p:spPr>
          <a:xfrm>
            <a:off x="484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163</a:t>
            </a:r>
          </a:p>
        </p:txBody>
      </p:sp>
      <p:sp>
        <p:nvSpPr>
          <p:cNvPr id="62" name="d45"/>
          <p:cNvSpPr/>
          <p:nvPr/>
        </p:nvSpPr>
        <p:spPr>
          <a:xfrm>
            <a:off x="571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195</a:t>
            </a:r>
          </a:p>
        </p:txBody>
      </p:sp>
      <p:sp>
        <p:nvSpPr>
          <p:cNvPr id="63" name="d46"/>
          <p:cNvSpPr/>
          <p:nvPr/>
        </p:nvSpPr>
        <p:spPr>
          <a:xfrm>
            <a:off x="658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153</a:t>
            </a:r>
          </a:p>
        </p:txBody>
      </p:sp>
      <p:sp>
        <p:nvSpPr>
          <p:cNvPr id="64" name="d47"/>
          <p:cNvSpPr/>
          <p:nvPr/>
        </p:nvSpPr>
        <p:spPr>
          <a:xfrm>
            <a:off x="745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175</a:t>
            </a:r>
          </a:p>
        </p:txBody>
      </p:sp>
      <p:sp>
        <p:nvSpPr>
          <p:cNvPr id="65" name="d50"/>
          <p:cNvSpPr/>
          <p:nvPr/>
        </p:nvSpPr>
        <p:spPr>
          <a:xfrm>
            <a:off x="380000" y="4096511"/>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51〜70㎥</a:t>
            </a:r>
          </a:p>
        </p:txBody>
      </p:sp>
      <p:sp>
        <p:nvSpPr>
          <p:cNvPr id="66" name="d51"/>
          <p:cNvSpPr/>
          <p:nvPr/>
        </p:nvSpPr>
        <p:spPr>
          <a:xfrm>
            <a:off x="2280000" y="4096511"/>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67" name="d52"/>
          <p:cNvSpPr/>
          <p:nvPr/>
        </p:nvSpPr>
        <p:spPr>
          <a:xfrm>
            <a:off x="310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158</a:t>
            </a:r>
          </a:p>
        </p:txBody>
      </p:sp>
      <p:sp>
        <p:nvSpPr>
          <p:cNvPr id="68" name="d53"/>
          <p:cNvSpPr/>
          <p:nvPr/>
        </p:nvSpPr>
        <p:spPr>
          <a:xfrm>
            <a:off x="397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175</a:t>
            </a:r>
          </a:p>
        </p:txBody>
      </p:sp>
      <p:sp>
        <p:nvSpPr>
          <p:cNvPr id="69" name="d54"/>
          <p:cNvSpPr/>
          <p:nvPr/>
        </p:nvSpPr>
        <p:spPr>
          <a:xfrm>
            <a:off x="484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173</a:t>
            </a:r>
          </a:p>
        </p:txBody>
      </p:sp>
      <p:sp>
        <p:nvSpPr>
          <p:cNvPr id="70" name="d55"/>
          <p:cNvSpPr/>
          <p:nvPr/>
        </p:nvSpPr>
        <p:spPr>
          <a:xfrm>
            <a:off x="571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205</a:t>
            </a:r>
          </a:p>
        </p:txBody>
      </p:sp>
      <p:sp>
        <p:nvSpPr>
          <p:cNvPr id="71" name="d56"/>
          <p:cNvSpPr/>
          <p:nvPr/>
        </p:nvSpPr>
        <p:spPr>
          <a:xfrm>
            <a:off x="658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163</a:t>
            </a:r>
          </a:p>
        </p:txBody>
      </p:sp>
      <p:sp>
        <p:nvSpPr>
          <p:cNvPr id="72" name="d57"/>
          <p:cNvSpPr/>
          <p:nvPr/>
        </p:nvSpPr>
        <p:spPr>
          <a:xfrm>
            <a:off x="745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185</a:t>
            </a:r>
          </a:p>
        </p:txBody>
      </p:sp>
      <p:sp>
        <p:nvSpPr>
          <p:cNvPr id="73" name="d60"/>
          <p:cNvSpPr/>
          <p:nvPr/>
        </p:nvSpPr>
        <p:spPr>
          <a:xfrm>
            <a:off x="380000" y="4526279"/>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71〜100㎥</a:t>
            </a:r>
          </a:p>
        </p:txBody>
      </p:sp>
      <p:sp>
        <p:nvSpPr>
          <p:cNvPr id="74" name="d61"/>
          <p:cNvSpPr/>
          <p:nvPr/>
        </p:nvSpPr>
        <p:spPr>
          <a:xfrm>
            <a:off x="2280000" y="4526279"/>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75" name="d62"/>
          <p:cNvSpPr/>
          <p:nvPr/>
        </p:nvSpPr>
        <p:spPr>
          <a:xfrm>
            <a:off x="310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163</a:t>
            </a:r>
          </a:p>
        </p:txBody>
      </p:sp>
      <p:sp>
        <p:nvSpPr>
          <p:cNvPr id="76" name="d63"/>
          <p:cNvSpPr/>
          <p:nvPr/>
        </p:nvSpPr>
        <p:spPr>
          <a:xfrm>
            <a:off x="397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185</a:t>
            </a:r>
          </a:p>
        </p:txBody>
      </p:sp>
      <p:sp>
        <p:nvSpPr>
          <p:cNvPr id="77" name="d64"/>
          <p:cNvSpPr/>
          <p:nvPr/>
        </p:nvSpPr>
        <p:spPr>
          <a:xfrm>
            <a:off x="484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178</a:t>
            </a:r>
          </a:p>
        </p:txBody>
      </p:sp>
      <p:sp>
        <p:nvSpPr>
          <p:cNvPr id="78" name="d65"/>
          <p:cNvSpPr/>
          <p:nvPr/>
        </p:nvSpPr>
        <p:spPr>
          <a:xfrm>
            <a:off x="571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215</a:t>
            </a:r>
          </a:p>
        </p:txBody>
      </p:sp>
      <p:sp>
        <p:nvSpPr>
          <p:cNvPr id="79" name="d66"/>
          <p:cNvSpPr/>
          <p:nvPr/>
        </p:nvSpPr>
        <p:spPr>
          <a:xfrm>
            <a:off x="658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168</a:t>
            </a:r>
          </a:p>
        </p:txBody>
      </p:sp>
      <p:sp>
        <p:nvSpPr>
          <p:cNvPr id="80" name="d67"/>
          <p:cNvSpPr/>
          <p:nvPr/>
        </p:nvSpPr>
        <p:spPr>
          <a:xfrm>
            <a:off x="745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195</a:t>
            </a:r>
          </a:p>
        </p:txBody>
      </p:sp>
      <p:sp>
        <p:nvSpPr>
          <p:cNvPr id="81" name="d70"/>
          <p:cNvSpPr/>
          <p:nvPr/>
        </p:nvSpPr>
        <p:spPr>
          <a:xfrm>
            <a:off x="380000" y="4956048"/>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101〜150㎥</a:t>
            </a:r>
          </a:p>
        </p:txBody>
      </p:sp>
      <p:sp>
        <p:nvSpPr>
          <p:cNvPr id="82" name="d71"/>
          <p:cNvSpPr/>
          <p:nvPr/>
        </p:nvSpPr>
        <p:spPr>
          <a:xfrm>
            <a:off x="2280000" y="4956048"/>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83" name="d72"/>
          <p:cNvSpPr/>
          <p:nvPr/>
        </p:nvSpPr>
        <p:spPr>
          <a:xfrm>
            <a:off x="310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173</a:t>
            </a:r>
          </a:p>
        </p:txBody>
      </p:sp>
      <p:sp>
        <p:nvSpPr>
          <p:cNvPr id="84" name="d73"/>
          <p:cNvSpPr/>
          <p:nvPr/>
        </p:nvSpPr>
        <p:spPr>
          <a:xfrm>
            <a:off x="397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205</a:t>
            </a:r>
          </a:p>
        </p:txBody>
      </p:sp>
      <p:sp>
        <p:nvSpPr>
          <p:cNvPr id="85" name="d74"/>
          <p:cNvSpPr/>
          <p:nvPr/>
        </p:nvSpPr>
        <p:spPr>
          <a:xfrm>
            <a:off x="484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188</a:t>
            </a:r>
          </a:p>
        </p:txBody>
      </p:sp>
      <p:sp>
        <p:nvSpPr>
          <p:cNvPr id="86" name="d75"/>
          <p:cNvSpPr/>
          <p:nvPr/>
        </p:nvSpPr>
        <p:spPr>
          <a:xfrm>
            <a:off x="571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235</a:t>
            </a:r>
          </a:p>
        </p:txBody>
      </p:sp>
      <p:sp>
        <p:nvSpPr>
          <p:cNvPr id="87" name="d76"/>
          <p:cNvSpPr/>
          <p:nvPr/>
        </p:nvSpPr>
        <p:spPr>
          <a:xfrm>
            <a:off x="658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178</a:t>
            </a:r>
          </a:p>
        </p:txBody>
      </p:sp>
      <p:sp>
        <p:nvSpPr>
          <p:cNvPr id="88" name="d77"/>
          <p:cNvSpPr/>
          <p:nvPr/>
        </p:nvSpPr>
        <p:spPr>
          <a:xfrm>
            <a:off x="745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215</a:t>
            </a:r>
          </a:p>
        </p:txBody>
      </p:sp>
      <p:sp>
        <p:nvSpPr>
          <p:cNvPr id="89" name="d80"/>
          <p:cNvSpPr/>
          <p:nvPr/>
        </p:nvSpPr>
        <p:spPr>
          <a:xfrm>
            <a:off x="380000" y="5385816"/>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151㎥〜</a:t>
            </a:r>
          </a:p>
        </p:txBody>
      </p:sp>
      <p:sp>
        <p:nvSpPr>
          <p:cNvPr id="90" name="d81"/>
          <p:cNvSpPr/>
          <p:nvPr/>
        </p:nvSpPr>
        <p:spPr>
          <a:xfrm>
            <a:off x="2280000" y="5385816"/>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160</a:t>
            </a:r>
          </a:p>
        </p:txBody>
      </p:sp>
      <p:sp>
        <p:nvSpPr>
          <p:cNvPr id="91" name="d82"/>
          <p:cNvSpPr/>
          <p:nvPr/>
        </p:nvSpPr>
        <p:spPr>
          <a:xfrm>
            <a:off x="310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193</a:t>
            </a:r>
          </a:p>
        </p:txBody>
      </p:sp>
      <p:sp>
        <p:nvSpPr>
          <p:cNvPr id="92" name="d83"/>
          <p:cNvSpPr/>
          <p:nvPr/>
        </p:nvSpPr>
        <p:spPr>
          <a:xfrm>
            <a:off x="397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225</a:t>
            </a:r>
          </a:p>
        </p:txBody>
      </p:sp>
      <p:sp>
        <p:nvSpPr>
          <p:cNvPr id="93" name="d84"/>
          <p:cNvSpPr/>
          <p:nvPr/>
        </p:nvSpPr>
        <p:spPr>
          <a:xfrm>
            <a:off x="484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208</a:t>
            </a:r>
          </a:p>
        </p:txBody>
      </p:sp>
      <p:sp>
        <p:nvSpPr>
          <p:cNvPr id="94" name="d85"/>
          <p:cNvSpPr/>
          <p:nvPr/>
        </p:nvSpPr>
        <p:spPr>
          <a:xfrm>
            <a:off x="571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255</a:t>
            </a:r>
          </a:p>
        </p:txBody>
      </p:sp>
      <p:sp>
        <p:nvSpPr>
          <p:cNvPr id="95" name="d86"/>
          <p:cNvSpPr/>
          <p:nvPr/>
        </p:nvSpPr>
        <p:spPr>
          <a:xfrm>
            <a:off x="658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198</a:t>
            </a:r>
          </a:p>
        </p:txBody>
      </p:sp>
      <p:sp>
        <p:nvSpPr>
          <p:cNvPr id="96" name="d87"/>
          <p:cNvSpPr/>
          <p:nvPr/>
        </p:nvSpPr>
        <p:spPr>
          <a:xfrm>
            <a:off x="745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235</a:t>
            </a:r>
          </a:p>
        </p:txBody>
      </p:sp>
      <p:sp>
        <p:nvSpPr>
          <p:cNvPr id="97" name="note"/>
          <p:cNvSpPr/>
          <p:nvPr/>
        </p:nvSpPr>
        <p:spPr>
          <a:xfrm>
            <a:off x="380000" y="5959221"/>
            <a:ext cx="11431760" cy="551307"/>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182880" rIns="91440" anchor="ctr">
            <a:noAutofit/>
          </a:bodyPr>
          <a:p>
            <a:pPr algn="l"/>
            <a:r>
              <a:rPr lang="ja-JP" sz="1050" b="0" dirty="0">
                <a:solidFill>
                  <a:srgbClr val="1E40AF"/>
                </a:solidFill>
                <a:latin typeface="Arial"/>
                <a:cs typeface="Noto Sans CJK JP"/>
              </a:rPr>
              <a:t>※ 20㎥での最終月額（税抜）は3案とも3,000円で共通。R8中間単価は算定ブックの数式どおり（現行＋最終）÷2の四捨五入。</a:t>
            </a:r>
          </a:p>
          <a:p>
            <a:pPr algn="l"/>
            <a:r>
              <a:rPr lang="ja-JP" sz="1050" b="0" dirty="0">
                <a:solidFill>
                  <a:srgbClr val="1E40AF"/>
                </a:solidFill>
                <a:latin typeface="Arial"/>
                <a:cs typeface="Noto Sans CJK JP"/>
              </a:rPr>
              <a:t>　 第1回資料は切り捨てで提示しており（①71〜100㎥＝162円 等）、5区分で1円の差があります。条例上の端数処理とあわせて確定が必要です。</a:t>
            </a:r>
          </a:p>
        </p:txBody>
      </p:sp>
      <p:sp>
        <p:nvSpPr>
          <p:cNvPr id="98"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00" b="0" dirty="0">
                <a:solidFill>
                  <a:srgbClr val="1E293B"/>
                </a:solidFill>
                <a:latin typeface="Arial"/>
                <a:cs typeface="Noto Sans CJK JP"/>
              </a:rPr>
              <a:t>02-6　段階単価　パターン別比較（税抜き・円）　3か年改定：R8第1段→R9第2段→R10最終</a:t>
            </a:r>
          </a:p>
        </p:txBody>
      </p:sp>
      <p:sp>
        <p:nvSpPr>
          <p:cNvPr id="14" name="gl2"/>
          <p:cNvSpPr/>
          <p:nvPr/>
        </p:nvSpPr>
        <p:spPr>
          <a:xfrm>
            <a:off x="310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①標準型 3か年</a:t>
            </a:r>
          </a:p>
        </p:txBody>
      </p:sp>
      <p:sp>
        <p:nvSpPr>
          <p:cNvPr id="15" name="gl4"/>
          <p:cNvSpPr/>
          <p:nvPr/>
        </p:nvSpPr>
        <p:spPr>
          <a:xfrm>
            <a:off x="484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②家庭軽減型 3か年</a:t>
            </a:r>
          </a:p>
        </p:txBody>
      </p:sp>
      <p:sp>
        <p:nvSpPr>
          <p:cNvPr id="16" name="gl6"/>
          <p:cNvSpPr/>
          <p:nvPr/>
        </p:nvSpPr>
        <p:spPr>
          <a:xfrm>
            <a:off x="6580000" y="1390000"/>
            <a:ext cx="1740000" cy="22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850" b="0" dirty="0">
                <a:solidFill>
                  <a:srgbClr val="FFFFFF"/>
                </a:solidFill>
                <a:latin typeface="Arial"/>
                <a:cs typeface="Noto Sans CJK JP"/>
              </a:rPr>
              <a:t>← ④段階累進型 3か年</a:t>
            </a:r>
          </a:p>
        </p:txBody>
      </p:sp>
      <p:sp>
        <p:nvSpPr>
          <p:cNvPr id="17" name="th0"/>
          <p:cNvSpPr/>
          <p:nvPr/>
        </p:nvSpPr>
        <p:spPr>
          <a:xfrm>
            <a:off x="380000" y="1610000"/>
            <a:ext cx="190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水量区分</a:t>
            </a:r>
          </a:p>
        </p:txBody>
      </p:sp>
      <p:sp>
        <p:nvSpPr>
          <p:cNvPr id="18" name="th1"/>
          <p:cNvSpPr/>
          <p:nvPr/>
        </p:nvSpPr>
        <p:spPr>
          <a:xfrm>
            <a:off x="2280000" y="1610000"/>
            <a:ext cx="820000" cy="30000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現行</a:t>
            </a:r>
          </a:p>
        </p:txBody>
      </p:sp>
      <p:sp>
        <p:nvSpPr>
          <p:cNvPr id="19" name="th2"/>
          <p:cNvSpPr/>
          <p:nvPr/>
        </p:nvSpPr>
        <p:spPr>
          <a:xfrm>
            <a:off x="310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①R8第1段</a:t>
            </a:r>
          </a:p>
        </p:txBody>
      </p:sp>
      <p:sp>
        <p:nvSpPr>
          <p:cNvPr id="20" name="th3"/>
          <p:cNvSpPr/>
          <p:nvPr/>
        </p:nvSpPr>
        <p:spPr>
          <a:xfrm>
            <a:off x="397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①R9第2段</a:t>
            </a:r>
          </a:p>
        </p:txBody>
      </p:sp>
      <p:sp>
        <p:nvSpPr>
          <p:cNvPr id="21" name="th4"/>
          <p:cNvSpPr/>
          <p:nvPr/>
        </p:nvSpPr>
        <p:spPr>
          <a:xfrm>
            <a:off x="484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②R8第1段</a:t>
            </a:r>
          </a:p>
        </p:txBody>
      </p:sp>
      <p:sp>
        <p:nvSpPr>
          <p:cNvPr id="22" name="th5"/>
          <p:cNvSpPr/>
          <p:nvPr/>
        </p:nvSpPr>
        <p:spPr>
          <a:xfrm>
            <a:off x="571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②R9第2段</a:t>
            </a:r>
          </a:p>
        </p:txBody>
      </p:sp>
      <p:sp>
        <p:nvSpPr>
          <p:cNvPr id="23" name="th6"/>
          <p:cNvSpPr/>
          <p:nvPr/>
        </p:nvSpPr>
        <p:spPr>
          <a:xfrm>
            <a:off x="658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④R8第1段</a:t>
            </a:r>
          </a:p>
        </p:txBody>
      </p:sp>
      <p:sp>
        <p:nvSpPr>
          <p:cNvPr id="24" name="th7"/>
          <p:cNvSpPr/>
          <p:nvPr/>
        </p:nvSpPr>
        <p:spPr>
          <a:xfrm>
            <a:off x="7450000" y="1610000"/>
            <a:ext cx="870000" cy="300000"/>
          </a:xfrm>
          <a:custGeom>
            <a:avLst/>
            <a:gdLst/>
            <a:ahLst/>
            <a:rect l="l" t="t" r="r" b="b"/>
            <a:pathLst>
              <a:path w="21600" h="21600">
                <a:moveTo>
                  <a:pt x="0" y="0"/>
                </a:moveTo>
                <a:lnTo>
                  <a:pt x="21600" y="0"/>
                </a:lnTo>
                <a:lnTo>
                  <a:pt x="21600" y="21600"/>
                </a:lnTo>
                <a:lnTo>
                  <a:pt x="0" y="21600"/>
                </a:lnTo>
                <a:close/>
              </a:path>
            </a:pathLst>
          </a:custGeom>
          <a:solidFill>
            <a:srgbClr val="92400E"/>
          </a:solidFill>
          <a:ln w="0">
            <a:noFill/>
          </a:ln>
        </p:spPr>
        <p:style>
          <a:lnRef idx="0"/>
          <a:fillRef idx="0"/>
          <a:effectRef idx="0"/>
          <a:fontRef idx="minor"/>
        </p:style>
        <p:txBody>
          <a:bodyPr tIns="15000" bIns="15000" lIns="15000" rIns="15000" anchor="ctr">
            <a:noAutofit/>
          </a:bodyPr>
          <a:p>
            <a:pPr algn="ctr"/>
            <a:r>
              <a:rPr lang="ja-JP" sz="880" b="0" dirty="0">
                <a:solidFill>
                  <a:srgbClr val="FFFFFF"/>
                </a:solidFill>
                <a:latin typeface="Arial"/>
                <a:cs typeface="Noto Sans CJK JP"/>
              </a:rPr>
              <a:t>④R9第2段</a:t>
            </a:r>
          </a:p>
        </p:txBody>
      </p:sp>
      <p:sp>
        <p:nvSpPr>
          <p:cNvPr id="25" name="d00"/>
          <p:cNvSpPr/>
          <p:nvPr/>
        </p:nvSpPr>
        <p:spPr>
          <a:xfrm>
            <a:off x="380000" y="1947672"/>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基本(0〜10㎥)</a:t>
            </a:r>
          </a:p>
        </p:txBody>
      </p:sp>
      <p:sp>
        <p:nvSpPr>
          <p:cNvPr id="26" name="d01"/>
          <p:cNvSpPr/>
          <p:nvPr/>
        </p:nvSpPr>
        <p:spPr>
          <a:xfrm>
            <a:off x="2280000" y="1947672"/>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1,000</a:t>
            </a:r>
          </a:p>
        </p:txBody>
      </p:sp>
      <p:sp>
        <p:nvSpPr>
          <p:cNvPr id="27" name="d02"/>
          <p:cNvSpPr/>
          <p:nvPr/>
        </p:nvSpPr>
        <p:spPr>
          <a:xfrm>
            <a:off x="310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1,150</a:t>
            </a:r>
          </a:p>
        </p:txBody>
      </p:sp>
      <p:sp>
        <p:nvSpPr>
          <p:cNvPr id="28" name="d03"/>
          <p:cNvSpPr/>
          <p:nvPr/>
        </p:nvSpPr>
        <p:spPr>
          <a:xfrm>
            <a:off x="397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1,300</a:t>
            </a:r>
          </a:p>
        </p:txBody>
      </p:sp>
      <p:sp>
        <p:nvSpPr>
          <p:cNvPr id="29" name="d04"/>
          <p:cNvSpPr/>
          <p:nvPr/>
        </p:nvSpPr>
        <p:spPr>
          <a:xfrm>
            <a:off x="484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1,050</a:t>
            </a:r>
          </a:p>
        </p:txBody>
      </p:sp>
      <p:sp>
        <p:nvSpPr>
          <p:cNvPr id="30" name="d05"/>
          <p:cNvSpPr/>
          <p:nvPr/>
        </p:nvSpPr>
        <p:spPr>
          <a:xfrm>
            <a:off x="571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1,100</a:t>
            </a:r>
          </a:p>
        </p:txBody>
      </p:sp>
      <p:sp>
        <p:nvSpPr>
          <p:cNvPr id="31" name="d06"/>
          <p:cNvSpPr/>
          <p:nvPr/>
        </p:nvSpPr>
        <p:spPr>
          <a:xfrm>
            <a:off x="658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1,100</a:t>
            </a:r>
          </a:p>
        </p:txBody>
      </p:sp>
      <p:sp>
        <p:nvSpPr>
          <p:cNvPr id="32" name="d07"/>
          <p:cNvSpPr/>
          <p:nvPr/>
        </p:nvSpPr>
        <p:spPr>
          <a:xfrm>
            <a:off x="7450000" y="1947672"/>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1,200</a:t>
            </a:r>
          </a:p>
        </p:txBody>
      </p:sp>
      <p:sp>
        <p:nvSpPr>
          <p:cNvPr id="33" name="d10"/>
          <p:cNvSpPr/>
          <p:nvPr/>
        </p:nvSpPr>
        <p:spPr>
          <a:xfrm>
            <a:off x="380000" y="2377439"/>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11〜20㎥</a:t>
            </a:r>
          </a:p>
        </p:txBody>
      </p:sp>
      <p:sp>
        <p:nvSpPr>
          <p:cNvPr id="34" name="d11"/>
          <p:cNvSpPr/>
          <p:nvPr/>
        </p:nvSpPr>
        <p:spPr>
          <a:xfrm>
            <a:off x="2280000" y="2377439"/>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35" name="d12"/>
          <p:cNvSpPr/>
          <p:nvPr/>
        </p:nvSpPr>
        <p:spPr>
          <a:xfrm>
            <a:off x="310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130</a:t>
            </a:r>
          </a:p>
        </p:txBody>
      </p:sp>
      <p:sp>
        <p:nvSpPr>
          <p:cNvPr id="36" name="d13"/>
          <p:cNvSpPr/>
          <p:nvPr/>
        </p:nvSpPr>
        <p:spPr>
          <a:xfrm>
            <a:off x="397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140</a:t>
            </a:r>
          </a:p>
        </p:txBody>
      </p:sp>
      <p:sp>
        <p:nvSpPr>
          <p:cNvPr id="37" name="d14"/>
          <p:cNvSpPr/>
          <p:nvPr/>
        </p:nvSpPr>
        <p:spPr>
          <a:xfrm>
            <a:off x="484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140</a:t>
            </a:r>
          </a:p>
        </p:txBody>
      </p:sp>
      <p:sp>
        <p:nvSpPr>
          <p:cNvPr id="38" name="d15"/>
          <p:cNvSpPr/>
          <p:nvPr/>
        </p:nvSpPr>
        <p:spPr>
          <a:xfrm>
            <a:off x="571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160</a:t>
            </a:r>
          </a:p>
        </p:txBody>
      </p:sp>
      <p:sp>
        <p:nvSpPr>
          <p:cNvPr id="39" name="d16"/>
          <p:cNvSpPr/>
          <p:nvPr/>
        </p:nvSpPr>
        <p:spPr>
          <a:xfrm>
            <a:off x="658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130</a:t>
            </a:r>
          </a:p>
        </p:txBody>
      </p:sp>
      <p:sp>
        <p:nvSpPr>
          <p:cNvPr id="40" name="d17"/>
          <p:cNvSpPr/>
          <p:nvPr/>
        </p:nvSpPr>
        <p:spPr>
          <a:xfrm>
            <a:off x="7450000" y="2377439"/>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140</a:t>
            </a:r>
          </a:p>
        </p:txBody>
      </p:sp>
      <p:sp>
        <p:nvSpPr>
          <p:cNvPr id="41" name="d20"/>
          <p:cNvSpPr/>
          <p:nvPr/>
        </p:nvSpPr>
        <p:spPr>
          <a:xfrm>
            <a:off x="380000" y="2807208"/>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21〜30㎥</a:t>
            </a:r>
          </a:p>
        </p:txBody>
      </p:sp>
      <p:sp>
        <p:nvSpPr>
          <p:cNvPr id="42" name="d21"/>
          <p:cNvSpPr/>
          <p:nvPr/>
        </p:nvSpPr>
        <p:spPr>
          <a:xfrm>
            <a:off x="2280000" y="2807208"/>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120</a:t>
            </a:r>
          </a:p>
        </p:txBody>
      </p:sp>
      <p:sp>
        <p:nvSpPr>
          <p:cNvPr id="43" name="d22"/>
          <p:cNvSpPr/>
          <p:nvPr/>
        </p:nvSpPr>
        <p:spPr>
          <a:xfrm>
            <a:off x="310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130</a:t>
            </a:r>
          </a:p>
        </p:txBody>
      </p:sp>
      <p:sp>
        <p:nvSpPr>
          <p:cNvPr id="44" name="d23"/>
          <p:cNvSpPr/>
          <p:nvPr/>
        </p:nvSpPr>
        <p:spPr>
          <a:xfrm>
            <a:off x="397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140</a:t>
            </a:r>
          </a:p>
        </p:txBody>
      </p:sp>
      <p:sp>
        <p:nvSpPr>
          <p:cNvPr id="45" name="d24"/>
          <p:cNvSpPr/>
          <p:nvPr/>
        </p:nvSpPr>
        <p:spPr>
          <a:xfrm>
            <a:off x="484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140</a:t>
            </a:r>
          </a:p>
        </p:txBody>
      </p:sp>
      <p:sp>
        <p:nvSpPr>
          <p:cNvPr id="46" name="d25"/>
          <p:cNvSpPr/>
          <p:nvPr/>
        </p:nvSpPr>
        <p:spPr>
          <a:xfrm>
            <a:off x="571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160</a:t>
            </a:r>
          </a:p>
        </p:txBody>
      </p:sp>
      <p:sp>
        <p:nvSpPr>
          <p:cNvPr id="47" name="d26"/>
          <p:cNvSpPr/>
          <p:nvPr/>
        </p:nvSpPr>
        <p:spPr>
          <a:xfrm>
            <a:off x="658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135</a:t>
            </a:r>
          </a:p>
        </p:txBody>
      </p:sp>
      <p:sp>
        <p:nvSpPr>
          <p:cNvPr id="48" name="d27"/>
          <p:cNvSpPr/>
          <p:nvPr/>
        </p:nvSpPr>
        <p:spPr>
          <a:xfrm>
            <a:off x="7450000" y="2807208"/>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150</a:t>
            </a:r>
          </a:p>
        </p:txBody>
      </p:sp>
      <p:sp>
        <p:nvSpPr>
          <p:cNvPr id="49" name="d30"/>
          <p:cNvSpPr/>
          <p:nvPr/>
        </p:nvSpPr>
        <p:spPr>
          <a:xfrm>
            <a:off x="380000" y="3236976"/>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31〜40㎥</a:t>
            </a:r>
          </a:p>
        </p:txBody>
      </p:sp>
      <p:sp>
        <p:nvSpPr>
          <p:cNvPr id="50" name="d31"/>
          <p:cNvSpPr/>
          <p:nvPr/>
        </p:nvSpPr>
        <p:spPr>
          <a:xfrm>
            <a:off x="2280000" y="3236976"/>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1" name="d32"/>
          <p:cNvSpPr/>
          <p:nvPr/>
        </p:nvSpPr>
        <p:spPr>
          <a:xfrm>
            <a:off x="310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140</a:t>
            </a:r>
          </a:p>
        </p:txBody>
      </p:sp>
      <p:sp>
        <p:nvSpPr>
          <p:cNvPr id="52" name="d33"/>
          <p:cNvSpPr/>
          <p:nvPr/>
        </p:nvSpPr>
        <p:spPr>
          <a:xfrm>
            <a:off x="397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a:t>
            </a:r>
          </a:p>
        </p:txBody>
      </p:sp>
      <p:sp>
        <p:nvSpPr>
          <p:cNvPr id="53" name="d34"/>
          <p:cNvSpPr/>
          <p:nvPr/>
        </p:nvSpPr>
        <p:spPr>
          <a:xfrm>
            <a:off x="484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150</a:t>
            </a:r>
          </a:p>
        </p:txBody>
      </p:sp>
      <p:sp>
        <p:nvSpPr>
          <p:cNvPr id="54" name="d35"/>
          <p:cNvSpPr/>
          <p:nvPr/>
        </p:nvSpPr>
        <p:spPr>
          <a:xfrm>
            <a:off x="571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170</a:t>
            </a:r>
          </a:p>
        </p:txBody>
      </p:sp>
      <p:sp>
        <p:nvSpPr>
          <p:cNvPr id="55" name="d36"/>
          <p:cNvSpPr/>
          <p:nvPr/>
        </p:nvSpPr>
        <p:spPr>
          <a:xfrm>
            <a:off x="658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140</a:t>
            </a:r>
          </a:p>
        </p:txBody>
      </p:sp>
      <p:sp>
        <p:nvSpPr>
          <p:cNvPr id="56" name="d37"/>
          <p:cNvSpPr/>
          <p:nvPr/>
        </p:nvSpPr>
        <p:spPr>
          <a:xfrm>
            <a:off x="7450000" y="3236976"/>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150</a:t>
            </a:r>
          </a:p>
        </p:txBody>
      </p:sp>
      <p:sp>
        <p:nvSpPr>
          <p:cNvPr id="57" name="d40"/>
          <p:cNvSpPr/>
          <p:nvPr/>
        </p:nvSpPr>
        <p:spPr>
          <a:xfrm>
            <a:off x="380000" y="3666744"/>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41〜50㎥</a:t>
            </a:r>
          </a:p>
        </p:txBody>
      </p:sp>
      <p:sp>
        <p:nvSpPr>
          <p:cNvPr id="58" name="d41"/>
          <p:cNvSpPr/>
          <p:nvPr/>
        </p:nvSpPr>
        <p:spPr>
          <a:xfrm>
            <a:off x="2280000" y="3666744"/>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130</a:t>
            </a:r>
          </a:p>
        </p:txBody>
      </p:sp>
      <p:sp>
        <p:nvSpPr>
          <p:cNvPr id="59" name="d42"/>
          <p:cNvSpPr/>
          <p:nvPr/>
        </p:nvSpPr>
        <p:spPr>
          <a:xfrm>
            <a:off x="310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140</a:t>
            </a:r>
          </a:p>
        </p:txBody>
      </p:sp>
      <p:sp>
        <p:nvSpPr>
          <p:cNvPr id="60" name="d43"/>
          <p:cNvSpPr/>
          <p:nvPr/>
        </p:nvSpPr>
        <p:spPr>
          <a:xfrm>
            <a:off x="397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150</a:t>
            </a:r>
          </a:p>
        </p:txBody>
      </p:sp>
      <p:sp>
        <p:nvSpPr>
          <p:cNvPr id="61" name="d44"/>
          <p:cNvSpPr/>
          <p:nvPr/>
        </p:nvSpPr>
        <p:spPr>
          <a:xfrm>
            <a:off x="484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150</a:t>
            </a:r>
          </a:p>
        </p:txBody>
      </p:sp>
      <p:sp>
        <p:nvSpPr>
          <p:cNvPr id="62" name="d45"/>
          <p:cNvSpPr/>
          <p:nvPr/>
        </p:nvSpPr>
        <p:spPr>
          <a:xfrm>
            <a:off x="571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170</a:t>
            </a:r>
          </a:p>
        </p:txBody>
      </p:sp>
      <p:sp>
        <p:nvSpPr>
          <p:cNvPr id="63" name="d46"/>
          <p:cNvSpPr/>
          <p:nvPr/>
        </p:nvSpPr>
        <p:spPr>
          <a:xfrm>
            <a:off x="658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145</a:t>
            </a:r>
          </a:p>
        </p:txBody>
      </p:sp>
      <p:sp>
        <p:nvSpPr>
          <p:cNvPr id="64" name="d47"/>
          <p:cNvSpPr/>
          <p:nvPr/>
        </p:nvSpPr>
        <p:spPr>
          <a:xfrm>
            <a:off x="7450000" y="3666744"/>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160</a:t>
            </a:r>
          </a:p>
        </p:txBody>
      </p:sp>
      <p:sp>
        <p:nvSpPr>
          <p:cNvPr id="65" name="d50"/>
          <p:cNvSpPr/>
          <p:nvPr/>
        </p:nvSpPr>
        <p:spPr>
          <a:xfrm>
            <a:off x="380000" y="4096511"/>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51〜70㎥</a:t>
            </a:r>
          </a:p>
        </p:txBody>
      </p:sp>
      <p:sp>
        <p:nvSpPr>
          <p:cNvPr id="66" name="d51"/>
          <p:cNvSpPr/>
          <p:nvPr/>
        </p:nvSpPr>
        <p:spPr>
          <a:xfrm>
            <a:off x="2280000" y="4096511"/>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67" name="d52"/>
          <p:cNvSpPr/>
          <p:nvPr/>
        </p:nvSpPr>
        <p:spPr>
          <a:xfrm>
            <a:off x="310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150</a:t>
            </a:r>
          </a:p>
        </p:txBody>
      </p:sp>
      <p:sp>
        <p:nvSpPr>
          <p:cNvPr id="68" name="d53"/>
          <p:cNvSpPr/>
          <p:nvPr/>
        </p:nvSpPr>
        <p:spPr>
          <a:xfrm>
            <a:off x="397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160</a:t>
            </a:r>
          </a:p>
        </p:txBody>
      </p:sp>
      <p:sp>
        <p:nvSpPr>
          <p:cNvPr id="69" name="d54"/>
          <p:cNvSpPr/>
          <p:nvPr/>
        </p:nvSpPr>
        <p:spPr>
          <a:xfrm>
            <a:off x="484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160</a:t>
            </a:r>
          </a:p>
        </p:txBody>
      </p:sp>
      <p:sp>
        <p:nvSpPr>
          <p:cNvPr id="70" name="d55"/>
          <p:cNvSpPr/>
          <p:nvPr/>
        </p:nvSpPr>
        <p:spPr>
          <a:xfrm>
            <a:off x="571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180</a:t>
            </a:r>
          </a:p>
        </p:txBody>
      </p:sp>
      <p:sp>
        <p:nvSpPr>
          <p:cNvPr id="71" name="d56"/>
          <p:cNvSpPr/>
          <p:nvPr/>
        </p:nvSpPr>
        <p:spPr>
          <a:xfrm>
            <a:off x="658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155</a:t>
            </a:r>
          </a:p>
        </p:txBody>
      </p:sp>
      <p:sp>
        <p:nvSpPr>
          <p:cNvPr id="72" name="d57"/>
          <p:cNvSpPr/>
          <p:nvPr/>
        </p:nvSpPr>
        <p:spPr>
          <a:xfrm>
            <a:off x="7450000" y="4096511"/>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170</a:t>
            </a:r>
          </a:p>
        </p:txBody>
      </p:sp>
      <p:sp>
        <p:nvSpPr>
          <p:cNvPr id="73" name="d60"/>
          <p:cNvSpPr/>
          <p:nvPr/>
        </p:nvSpPr>
        <p:spPr>
          <a:xfrm>
            <a:off x="380000" y="4526279"/>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71〜100㎥</a:t>
            </a:r>
          </a:p>
        </p:txBody>
      </p:sp>
      <p:sp>
        <p:nvSpPr>
          <p:cNvPr id="74" name="d61"/>
          <p:cNvSpPr/>
          <p:nvPr/>
        </p:nvSpPr>
        <p:spPr>
          <a:xfrm>
            <a:off x="2280000" y="4526279"/>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75" name="d62"/>
          <p:cNvSpPr/>
          <p:nvPr/>
        </p:nvSpPr>
        <p:spPr>
          <a:xfrm>
            <a:off x="310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155</a:t>
            </a:r>
          </a:p>
        </p:txBody>
      </p:sp>
      <p:sp>
        <p:nvSpPr>
          <p:cNvPr id="76" name="d63"/>
          <p:cNvSpPr/>
          <p:nvPr/>
        </p:nvSpPr>
        <p:spPr>
          <a:xfrm>
            <a:off x="397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170</a:t>
            </a:r>
          </a:p>
        </p:txBody>
      </p:sp>
      <p:sp>
        <p:nvSpPr>
          <p:cNvPr id="77" name="d64"/>
          <p:cNvSpPr/>
          <p:nvPr/>
        </p:nvSpPr>
        <p:spPr>
          <a:xfrm>
            <a:off x="484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165</a:t>
            </a:r>
          </a:p>
        </p:txBody>
      </p:sp>
      <p:sp>
        <p:nvSpPr>
          <p:cNvPr id="78" name="d65"/>
          <p:cNvSpPr/>
          <p:nvPr/>
        </p:nvSpPr>
        <p:spPr>
          <a:xfrm>
            <a:off x="571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190</a:t>
            </a:r>
          </a:p>
        </p:txBody>
      </p:sp>
      <p:sp>
        <p:nvSpPr>
          <p:cNvPr id="79" name="d66"/>
          <p:cNvSpPr/>
          <p:nvPr/>
        </p:nvSpPr>
        <p:spPr>
          <a:xfrm>
            <a:off x="658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155</a:t>
            </a:r>
          </a:p>
        </p:txBody>
      </p:sp>
      <p:sp>
        <p:nvSpPr>
          <p:cNvPr id="80" name="d67"/>
          <p:cNvSpPr/>
          <p:nvPr/>
        </p:nvSpPr>
        <p:spPr>
          <a:xfrm>
            <a:off x="7450000" y="4526279"/>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170</a:t>
            </a:r>
          </a:p>
        </p:txBody>
      </p:sp>
      <p:sp>
        <p:nvSpPr>
          <p:cNvPr id="81" name="d70"/>
          <p:cNvSpPr/>
          <p:nvPr/>
        </p:nvSpPr>
        <p:spPr>
          <a:xfrm>
            <a:off x="380000" y="4956048"/>
            <a:ext cx="190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101〜150㎥</a:t>
            </a:r>
          </a:p>
        </p:txBody>
      </p:sp>
      <p:sp>
        <p:nvSpPr>
          <p:cNvPr id="82" name="d71"/>
          <p:cNvSpPr/>
          <p:nvPr/>
        </p:nvSpPr>
        <p:spPr>
          <a:xfrm>
            <a:off x="2280000" y="4956048"/>
            <a:ext cx="82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140</a:t>
            </a:r>
          </a:p>
        </p:txBody>
      </p:sp>
      <p:sp>
        <p:nvSpPr>
          <p:cNvPr id="83" name="d72"/>
          <p:cNvSpPr/>
          <p:nvPr/>
        </p:nvSpPr>
        <p:spPr>
          <a:xfrm>
            <a:off x="310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160</a:t>
            </a:r>
          </a:p>
        </p:txBody>
      </p:sp>
      <p:sp>
        <p:nvSpPr>
          <p:cNvPr id="84" name="d73"/>
          <p:cNvSpPr/>
          <p:nvPr/>
        </p:nvSpPr>
        <p:spPr>
          <a:xfrm>
            <a:off x="397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180</a:t>
            </a:r>
          </a:p>
        </p:txBody>
      </p:sp>
      <p:sp>
        <p:nvSpPr>
          <p:cNvPr id="85" name="d74"/>
          <p:cNvSpPr/>
          <p:nvPr/>
        </p:nvSpPr>
        <p:spPr>
          <a:xfrm>
            <a:off x="484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170</a:t>
            </a:r>
          </a:p>
        </p:txBody>
      </p:sp>
      <p:sp>
        <p:nvSpPr>
          <p:cNvPr id="86" name="d75"/>
          <p:cNvSpPr/>
          <p:nvPr/>
        </p:nvSpPr>
        <p:spPr>
          <a:xfrm>
            <a:off x="571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200</a:t>
            </a:r>
          </a:p>
        </p:txBody>
      </p:sp>
      <p:sp>
        <p:nvSpPr>
          <p:cNvPr id="87" name="d76"/>
          <p:cNvSpPr/>
          <p:nvPr/>
        </p:nvSpPr>
        <p:spPr>
          <a:xfrm>
            <a:off x="658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165</a:t>
            </a:r>
          </a:p>
        </p:txBody>
      </p:sp>
      <p:sp>
        <p:nvSpPr>
          <p:cNvPr id="88" name="d77"/>
          <p:cNvSpPr/>
          <p:nvPr/>
        </p:nvSpPr>
        <p:spPr>
          <a:xfrm>
            <a:off x="7450000" y="4956048"/>
            <a:ext cx="870000" cy="402336"/>
          </a:xfrm>
          <a:custGeom>
            <a:avLst/>
            <a:gdLst/>
            <a:ahLst/>
            <a:rect l="l" t="t" r="r" b="b"/>
            <a:pathLst>
              <a:path w="21600" h="21600">
                <a:moveTo>
                  <a:pt x="0" y="0"/>
                </a:moveTo>
                <a:lnTo>
                  <a:pt x="21600" y="0"/>
                </a:lnTo>
                <a:lnTo>
                  <a:pt x="21600" y="21600"/>
                </a:lnTo>
                <a:lnTo>
                  <a:pt x="0" y="21600"/>
                </a:lnTo>
                <a:close/>
              </a:path>
            </a:pathLst>
          </a:custGeom>
          <a:solidFill>
            <a:srgbClr val="FFFF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190</a:t>
            </a:r>
          </a:p>
        </p:txBody>
      </p:sp>
      <p:sp>
        <p:nvSpPr>
          <p:cNvPr id="89" name="d80"/>
          <p:cNvSpPr/>
          <p:nvPr/>
        </p:nvSpPr>
        <p:spPr>
          <a:xfrm>
            <a:off x="380000" y="5385816"/>
            <a:ext cx="190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l"/>
            <a:r>
              <a:rPr lang="ja-JP" sz="1000" b="0" dirty="0">
                <a:solidFill>
                  <a:srgbClr val="374151"/>
                </a:solidFill>
                <a:latin typeface="Arial"/>
                <a:cs typeface="Noto Sans CJK JP"/>
              </a:rPr>
              <a:t>151㎥〜</a:t>
            </a:r>
          </a:p>
        </p:txBody>
      </p:sp>
      <p:sp>
        <p:nvSpPr>
          <p:cNvPr id="90" name="d81"/>
          <p:cNvSpPr/>
          <p:nvPr/>
        </p:nvSpPr>
        <p:spPr>
          <a:xfrm>
            <a:off x="2280000" y="5385816"/>
            <a:ext cx="82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6B7280"/>
                </a:solidFill>
                <a:latin typeface="Arial"/>
                <a:cs typeface="Noto Sans CJK JP"/>
              </a:rPr>
              <a:t>160</a:t>
            </a:r>
          </a:p>
        </p:txBody>
      </p:sp>
      <p:sp>
        <p:nvSpPr>
          <p:cNvPr id="91" name="d82"/>
          <p:cNvSpPr/>
          <p:nvPr/>
        </p:nvSpPr>
        <p:spPr>
          <a:xfrm>
            <a:off x="310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E40AF"/>
                </a:solidFill>
                <a:latin typeface="Arial"/>
                <a:cs typeface="Noto Sans CJK JP"/>
              </a:rPr>
              <a:t>180</a:t>
            </a:r>
          </a:p>
        </p:txBody>
      </p:sp>
      <p:sp>
        <p:nvSpPr>
          <p:cNvPr id="92" name="d83"/>
          <p:cNvSpPr/>
          <p:nvPr/>
        </p:nvSpPr>
        <p:spPr>
          <a:xfrm>
            <a:off x="397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E3A8A"/>
                </a:solidFill>
                <a:latin typeface="Arial"/>
                <a:cs typeface="Noto Sans CJK JP"/>
              </a:rPr>
              <a:t>200</a:t>
            </a:r>
          </a:p>
        </p:txBody>
      </p:sp>
      <p:sp>
        <p:nvSpPr>
          <p:cNvPr id="93" name="d84"/>
          <p:cNvSpPr/>
          <p:nvPr/>
        </p:nvSpPr>
        <p:spPr>
          <a:xfrm>
            <a:off x="484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166534"/>
                </a:solidFill>
                <a:latin typeface="Arial"/>
                <a:cs typeface="Noto Sans CJK JP"/>
              </a:rPr>
              <a:t>190</a:t>
            </a:r>
          </a:p>
        </p:txBody>
      </p:sp>
      <p:sp>
        <p:nvSpPr>
          <p:cNvPr id="94" name="d85"/>
          <p:cNvSpPr/>
          <p:nvPr/>
        </p:nvSpPr>
        <p:spPr>
          <a:xfrm>
            <a:off x="571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166534"/>
                </a:solidFill>
                <a:latin typeface="Arial"/>
                <a:cs typeface="Noto Sans CJK JP"/>
              </a:rPr>
              <a:t>220</a:t>
            </a:r>
          </a:p>
        </p:txBody>
      </p:sp>
      <p:sp>
        <p:nvSpPr>
          <p:cNvPr id="95" name="d86"/>
          <p:cNvSpPr/>
          <p:nvPr/>
        </p:nvSpPr>
        <p:spPr>
          <a:xfrm>
            <a:off x="658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0" dirty="0">
                <a:solidFill>
                  <a:srgbClr val="B45309"/>
                </a:solidFill>
                <a:latin typeface="Arial"/>
                <a:cs typeface="Noto Sans CJK JP"/>
              </a:rPr>
              <a:t>185</a:t>
            </a:r>
          </a:p>
        </p:txBody>
      </p:sp>
      <p:sp>
        <p:nvSpPr>
          <p:cNvPr id="96" name="d87"/>
          <p:cNvSpPr/>
          <p:nvPr/>
        </p:nvSpPr>
        <p:spPr>
          <a:xfrm>
            <a:off x="7450000" y="5385816"/>
            <a:ext cx="870000" cy="402336"/>
          </a:xfrm>
          <a:custGeom>
            <a:avLst/>
            <a:gdLst/>
            <a:ahLst/>
            <a:rect l="l" t="t" r="r" b="b"/>
            <a:pathLst>
              <a:path w="21600" h="21600">
                <a:moveTo>
                  <a:pt x="0" y="0"/>
                </a:moveTo>
                <a:lnTo>
                  <a:pt x="21600" y="0"/>
                </a:lnTo>
                <a:lnTo>
                  <a:pt x="21600" y="21600"/>
                </a:lnTo>
                <a:lnTo>
                  <a:pt x="0" y="21600"/>
                </a:lnTo>
                <a:close/>
              </a:path>
            </a:pathLst>
          </a:custGeom>
          <a:solidFill>
            <a:srgbClr val="F8FAFF"/>
          </a:solidFill>
          <a:ln w="7000">
            <a:solidFill>
              <a:srgbClr val="E2E8F0"/>
            </a:solidFill>
          </a:ln>
        </p:spPr>
        <p:style>
          <a:lnRef idx="0"/>
          <a:fillRef idx="0"/>
          <a:effectRef idx="0"/>
          <a:fontRef idx="minor"/>
        </p:style>
        <p:txBody>
          <a:bodyPr tIns="12000" bIns="12000" lIns="20000" rIns="20000" anchor="ctr">
            <a:noAutofit/>
          </a:bodyPr>
          <a:p>
            <a:pPr algn="ctr"/>
            <a:r>
              <a:rPr lang="ja-JP" sz="1000" b="1" dirty="0">
                <a:solidFill>
                  <a:srgbClr val="92400E"/>
                </a:solidFill>
                <a:latin typeface="Arial"/>
                <a:cs typeface="Noto Sans CJK JP"/>
              </a:rPr>
              <a:t>210</a:t>
            </a:r>
          </a:p>
        </p:txBody>
      </p:sp>
      <p:sp>
        <p:nvSpPr>
          <p:cNvPr id="97" name="note"/>
          <p:cNvSpPr/>
          <p:nvPr/>
        </p:nvSpPr>
        <p:spPr>
          <a:xfrm>
            <a:off x="380000" y="6120528"/>
            <a:ext cx="11431760" cy="390000"/>
          </a:xfrm>
          <a:custGeom>
            <a:avLst/>
            <a:gdLst/>
            <a:ahLst/>
            <a:rect l="l" t="t" r="r" b="b"/>
            <a:pathLst>
              <a:path w="21600" h="21600">
                <a:moveTo>
                  <a:pt x="0" y="0"/>
                </a:moveTo>
                <a:lnTo>
                  <a:pt x="21600" y="0"/>
                </a:lnTo>
                <a:lnTo>
                  <a:pt x="21600" y="21600"/>
                </a:lnTo>
                <a:lnTo>
                  <a:pt x="0" y="21600"/>
                </a:lnTo>
                <a:close/>
              </a:path>
            </a:pathLst>
          </a:custGeom>
          <a:solidFill>
            <a:srgbClr val="EFF6FF"/>
          </a:solidFill>
          <a:ln w="9525">
            <a:solidFill>
              <a:srgbClr val="BFDBFE"/>
            </a:solidFill>
          </a:ln>
        </p:spPr>
        <p:style>
          <a:lnRef idx="0"/>
          <a:fillRef idx="0"/>
          <a:effectRef idx="0"/>
          <a:fontRef idx="minor"/>
        </p:style>
        <p:txBody>
          <a:bodyPr tIns="45720" bIns="45720" lIns="182880" rIns="91440" anchor="ctr">
            <a:noAutofit/>
          </a:bodyPr>
          <a:p>
            <a:pPr algn="l"/>
            <a:r>
              <a:rPr lang="ja-JP" sz="1050" b="0" dirty="0">
                <a:solidFill>
                  <a:srgbClr val="1E40AF"/>
                </a:solidFill>
                <a:latin typeface="Arial"/>
                <a:cs typeface="Noto Sans CJK JP"/>
              </a:rPr>
              <a:t>※ R10の最終単価は2か年改定のR9最終単価と同一です（02-5参照）。3か年改定は各段階の値上げ幅が小さくなる一方、最終単価の適用がR10となるため財政目標の達成は1年遅れます。</a:t>
            </a:r>
          </a:p>
        </p:txBody>
      </p:sp>
      <p:sp>
        <p:nvSpPr>
          <p:cNvPr id="98"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02-7　改定ロードマップ案（パターン①②④共通）</a:t>
            </a:r>
          </a:p>
        </p:txBody>
      </p:sp>
      <p:sp>
        <p:nvSpPr>
          <p:cNvPr id="17" name="yr0"/>
          <p:cNvSpPr/>
          <p:nvPr/>
        </p:nvSpPr>
        <p:spPr>
          <a:xfrm>
            <a:off x="5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R7
（2025）</a:t>
            </a:r>
          </a:p>
        </p:txBody>
      </p:sp>
      <p:sp>
        <p:nvSpPr>
          <p:cNvPr id="18" name="tk0"/>
          <p:cNvSpPr/>
          <p:nvPr/>
        </p:nvSpPr>
        <p:spPr>
          <a:xfrm>
            <a:off x="5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経営戦略改定
使用料改定
必要性検証</a:t>
            </a:r>
          </a:p>
        </p:txBody>
      </p:sp>
      <p:sp>
        <p:nvSpPr>
          <p:cNvPr id="19" name="bg0"/>
          <p:cNvSpPr/>
          <p:nvPr/>
        </p:nvSpPr>
        <p:spPr>
          <a:xfrm>
            <a:off x="571680" y="3510000"/>
            <a:ext cx="2120000" cy="27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00" b="0" dirty="0">
                <a:solidFill>
                  <a:srgbClr val="78350F"/>
                </a:solidFill>
                <a:latin typeface="Noto Sans CJK JP"/>
                <a:cs typeface="Noto Sans CJK JP"/>
              </a:rPr>
              <a:t>現在</a:t>
            </a:r>
          </a:p>
        </p:txBody>
      </p:sp>
      <p:sp>
        <p:nvSpPr>
          <p:cNvPr id="20" name="yr1"/>
          <p:cNvSpPr/>
          <p:nvPr/>
        </p:nvSpPr>
        <p:spPr>
          <a:xfrm>
            <a:off x="27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R8
（2026）</a:t>
            </a:r>
          </a:p>
        </p:txBody>
      </p:sp>
      <p:sp>
        <p:nvSpPr>
          <p:cNvPr id="21" name="tk1"/>
          <p:cNvSpPr/>
          <p:nvPr/>
        </p:nvSpPr>
        <p:spPr>
          <a:xfrm>
            <a:off x="27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審議会・
住民説明会
使用料改定
第1段実施</a:t>
            </a:r>
          </a:p>
        </p:txBody>
      </p:sp>
      <p:sp>
        <p:nvSpPr>
          <p:cNvPr id="22" name="bg1"/>
          <p:cNvSpPr/>
          <p:nvPr/>
        </p:nvSpPr>
        <p:spPr>
          <a:xfrm>
            <a:off x="2771680" y="3510000"/>
            <a:ext cx="2120000" cy="270000"/>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00" b="0" dirty="0">
                <a:solidFill>
                  <a:srgbClr val="78350F"/>
                </a:solidFill>
                <a:latin typeface="Noto Sans CJK JP"/>
                <a:cs typeface="Noto Sans CJK JP"/>
              </a:rPr>
              <a:t>今回〜</a:t>
            </a:r>
          </a:p>
        </p:txBody>
      </p:sp>
      <p:sp>
        <p:nvSpPr>
          <p:cNvPr id="23" name="yr2"/>
          <p:cNvSpPr/>
          <p:nvPr/>
        </p:nvSpPr>
        <p:spPr>
          <a:xfrm>
            <a:off x="49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R9
（2027）</a:t>
            </a:r>
          </a:p>
        </p:txBody>
      </p:sp>
      <p:sp>
        <p:nvSpPr>
          <p:cNvPr id="24" name="tk2"/>
          <p:cNvSpPr/>
          <p:nvPr/>
        </p:nvSpPr>
        <p:spPr>
          <a:xfrm>
            <a:off x="49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最終単価適用
効果測定
開始</a:t>
            </a:r>
          </a:p>
        </p:txBody>
      </p:sp>
      <p:sp>
        <p:nvSpPr>
          <p:cNvPr id="25" name="yr3"/>
          <p:cNvSpPr/>
          <p:nvPr/>
        </p:nvSpPr>
        <p:spPr>
          <a:xfrm>
            <a:off x="71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R10
（2028）</a:t>
            </a:r>
          </a:p>
        </p:txBody>
      </p:sp>
      <p:sp>
        <p:nvSpPr>
          <p:cNvPr id="26" name="tk3"/>
          <p:cNvSpPr/>
          <p:nvPr/>
        </p:nvSpPr>
        <p:spPr>
          <a:xfrm>
            <a:off x="71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経費回収率</a:t>
            </a:r>
          </a:p>
          <a:p>
            <a:pPr algn="l"/>
            <a:r>
              <a:rPr lang="ja-JP" sz="1100" b="0" dirty="0">
                <a:solidFill>
                  <a:srgbClr val="475569"/>
                </a:solidFill>
                <a:latin typeface="Noto Sans CJK JP"/>
                <a:cs typeface="Noto Sans CJK JP"/>
              </a:rPr>
              <a:t>目標達成確認</a:t>
            </a:r>
          </a:p>
          <a:p>
            <a:pPr algn="l"/>
            <a:r>
              <a:rPr lang="ja-JP" sz="1100" b="0" dirty="0">
                <a:solidFill>
                  <a:srgbClr val="475569"/>
                </a:solidFill>
                <a:latin typeface="Noto Sans CJK JP"/>
                <a:cs typeface="Noto Sans CJK JP"/>
              </a:rPr>
              <a:t>効果検証</a:t>
            </a:r>
          </a:p>
        </p:txBody>
      </p:sp>
      <p:sp>
        <p:nvSpPr>
          <p:cNvPr id="27" name="yr4"/>
          <p:cNvSpPr/>
          <p:nvPr/>
        </p:nvSpPr>
        <p:spPr>
          <a:xfrm>
            <a:off x="9371680" y="1620000"/>
            <a:ext cx="2120000" cy="350000"/>
          </a:xfrm>
          <a:custGeom>
            <a:avLst/>
            <a:gdLst/>
            <a:ahLst/>
            <a:cxnLst/>
            <a:rect l="l" t="t" r="r" b="b"/>
            <a:pathLst>
              <a:path w="21600" h="21600">
                <a:moveTo>
                  <a:pt x="0" y="0"/>
                </a:moveTo>
                <a:lnTo>
                  <a:pt x="21600" y="0"/>
                </a:lnTo>
                <a:lnTo>
                  <a:pt x="21600" y="21600"/>
                </a:lnTo>
                <a:lnTo>
                  <a:pt x="0" y="21600"/>
                </a:lnTo>
                <a:close/>
              </a:path>
            </a:pathLst>
          </a:custGeom>
          <a:solidFill>
            <a:srgbClr val="64748B"/>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100" b="0" dirty="0">
                <a:solidFill>
                  <a:srgbClr val="FFFFFF"/>
                </a:solidFill>
                <a:latin typeface="Noto Sans CJK JP"/>
                <a:cs typeface="Noto Sans CJK JP"/>
              </a:rPr>
              <a:t>R12
（2030）</a:t>
            </a:r>
          </a:p>
        </p:txBody>
      </p:sp>
      <p:sp>
        <p:nvSpPr>
          <p:cNvPr id="28" name="tk4"/>
          <p:cNvSpPr/>
          <p:nvPr/>
        </p:nvSpPr>
        <p:spPr>
          <a:xfrm>
            <a:off x="9371680" y="2010000"/>
            <a:ext cx="2120000" cy="145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l"/>
            <a:r>
              <a:rPr lang="ja-JP" sz="1100" b="0" dirty="0">
                <a:solidFill>
                  <a:srgbClr val="475569"/>
                </a:solidFill>
                <a:latin typeface="Noto Sans CJK JP"/>
                <a:cs typeface="Noto Sans CJK JP"/>
              </a:rPr>
              <a:t>経営戦略改定</a:t>
            </a:r>
          </a:p>
          <a:p>
            <a:pPr algn="l"/>
            <a:r>
              <a:rPr lang="ja-JP" sz="1100" b="0" dirty="0">
                <a:solidFill>
                  <a:srgbClr val="475569"/>
                </a:solidFill>
                <a:latin typeface="Noto Sans CJK JP"/>
                <a:cs typeface="Noto Sans CJK JP"/>
              </a:rPr>
              <a:t>次回改定の</a:t>
            </a:r>
          </a:p>
          <a:p>
            <a:pPr algn="l"/>
            <a:r>
              <a:rPr lang="ja-JP" sz="1100" b="0" dirty="0">
                <a:solidFill>
                  <a:srgbClr val="475569"/>
                </a:solidFill>
                <a:latin typeface="Noto Sans CJK JP"/>
                <a:cs typeface="Noto Sans CJK JP"/>
              </a:rPr>
              <a:t>必要性検証</a:t>
            </a:r>
          </a:p>
        </p:txBody>
      </p:sp>
      <p:sp>
        <p:nvSpPr>
          <p:cNvPr id="29" name="ghdr"/>
          <p:cNvSpPr/>
          <p:nvPr/>
        </p:nvSpPr>
        <p:spPr>
          <a:xfrm>
            <a:off x="571680" y="3900000"/>
            <a:ext cx="11048400" cy="29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l"/>
            <a:r>
              <a:rPr lang="ja-JP" sz="1200" b="0" dirty="0">
                <a:solidFill>
                  <a:srgbClr val="FFFFFF"/>
                </a:solidFill>
                <a:latin typeface="Noto Sans CJK JP"/>
                <a:cs typeface="Noto Sans CJK JP"/>
              </a:rPr>
              <a:t>  社会資本整備総合交付金　交付要件チェック</a:t>
            </a:r>
          </a:p>
        </p:txBody>
      </p:sp>
      <p:sp>
        <p:nvSpPr>
          <p:cNvPr id="30" name="ck0"/>
          <p:cNvSpPr/>
          <p:nvPr/>
        </p:nvSpPr>
        <p:spPr>
          <a:xfrm>
            <a:off x="5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166534"/>
                </a:solidFill>
                <a:latin typeface="Noto Sans CJK JP"/>
                <a:cs typeface="Noto Sans CJK JP"/>
              </a:rPr>
              <a:t>✔ 公営企業会計の適用
R6.4移行済み
【達成済】</a:t>
            </a:r>
          </a:p>
        </p:txBody>
      </p:sp>
      <p:sp>
        <p:nvSpPr>
          <p:cNvPr id="31" name="ck1"/>
          <p:cNvSpPr/>
          <p:nvPr/>
        </p:nvSpPr>
        <p:spPr>
          <a:xfrm>
            <a:off x="34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F97316"/>
                </a:solidFill>
                <a:latin typeface="Noto Sans CJK JP"/>
                <a:cs typeface="Noto Sans CJK JP"/>
              </a:rPr>
              <a:t>✔ 使用料改定の必要性検証
R7年度（今回審議）
【対応中】</a:t>
            </a:r>
          </a:p>
        </p:txBody>
      </p:sp>
      <p:sp>
        <p:nvSpPr>
          <p:cNvPr id="32" name="ck2"/>
          <p:cNvSpPr/>
          <p:nvPr/>
        </p:nvSpPr>
        <p:spPr>
          <a:xfrm>
            <a:off x="63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F97316"/>
                </a:solidFill>
                <a:latin typeface="Noto Sans CJK JP"/>
                <a:cs typeface="Noto Sans CJK JP"/>
              </a:rPr>
              <a:t>✔ 経費回収率ロードマップ
R7年度末に策定・公表
【対応中】</a:t>
            </a:r>
          </a:p>
        </p:txBody>
      </p:sp>
      <p:sp>
        <p:nvSpPr>
          <p:cNvPr id="33" name="ck3"/>
          <p:cNvSpPr/>
          <p:nvPr/>
        </p:nvSpPr>
        <p:spPr>
          <a:xfrm>
            <a:off x="9271680" y="4240000"/>
            <a:ext cx="2750000" cy="700000"/>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FCA5A5"/>
            </a:solidFill>
          </a:ln>
        </p:spPr>
        <p:style>
          <a:lnRef idx="0">
            <a:scrgbClr r="0" g="0" b="0"/>
          </a:lnRef>
          <a:fillRef idx="0">
            <a:scrgbClr r="0" g="0" b="0"/>
          </a:fillRef>
          <a:effectRef idx="0">
            <a:scrgbClr r="0" g="0" b="0"/>
          </a:effectRef>
          <a:fontRef idx="minor"/>
        </p:style>
        <p:txBody>
          <a:bodyPr lIns="91440" tIns="60000" rIns="114300" bIns="60000" anchor="ctr">
            <a:noAutofit/>
          </a:bodyPr>
          <a:lstStyle/>
          <a:p>
            <a:pPr algn="l"/>
            <a:r>
              <a:rPr lang="ja-JP" sz="1000" b="0" dirty="0">
                <a:solidFill>
                  <a:srgbClr val="64748B"/>
                </a:solidFill>
                <a:latin typeface="Noto Sans CJK JP"/>
                <a:cs typeface="Noto Sans CJK JP"/>
              </a:rPr>
              <a:t>✔ 経費回収率向上達成
R10以降
【計画中】</a:t>
            </a:r>
          </a:p>
        </p:txBody>
      </p:sp>
      <p:sp>
        <p:nvSpPr>
          <p:cNvPr id="3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20</a:t>
            </a:r>
          </a:p>
        </p:txBody>
      </p:sp>
      <p:sp>
        <p:nvSpPr>
          <p:cNvPr id="35" name="note"/>
          <p:cNvSpPr/>
          <p:nvPr/>
        </p:nvSpPr>
        <p:spPr>
          <a:xfrm>
            <a:off x="576072" y="5074920"/>
            <a:ext cx="11045952" cy="1298448"/>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今回改定の位置付け：経費回収率を34.4%→46.1%（推奨案②・2か年・R9）へ引き上げる第1段階の適正化。目標47%以上は次期改定とあわせて段階的に達成します。</a:t>
            </a:r>
          </a:p>
          <a:p>
            <a:pPr algn="l"/>
            <a:r>
              <a:rPr lang="ja-JP" sz="1050" b="0" dirty="0">
                <a:solidFill>
                  <a:srgbClr val="78350F"/>
                </a:solidFill>
                <a:latin typeface="Arial"/>
                <a:cs typeface="Noto Sans CJK JP"/>
              </a:rPr>
              <a:t>▶ 次回の検証時期：令和12年度（経営戦略の改定期）。5年に1回の使用料改定の必要性検証（交付要件）に合わせて実施します。</a:t>
            </a:r>
          </a:p>
          <a:p>
            <a:pPr algn="l"/>
            <a:r>
              <a:rPr lang="ja-JP" sz="1050" b="0" dirty="0">
                <a:solidFill>
                  <a:srgbClr val="78350F"/>
                </a:solidFill>
                <a:latin typeface="Arial"/>
                <a:cs typeface="Noto Sans CJK JP"/>
              </a:rPr>
              <a:t>▶ 再改定の判断条件：①経費回収率がロードマップの業績目標を下回る、②有収水量が推計を超えて減少する、③維持管理費・更新投資が推計を上回る場合。</a:t>
            </a:r>
          </a:p>
          <a:p>
            <a:pPr algn="l"/>
            <a:r>
              <a:rPr lang="ja-JP" sz="1050" b="0" dirty="0">
                <a:solidFill>
                  <a:srgbClr val="78350F"/>
                </a:solidFill>
                <a:latin typeface="Arial"/>
                <a:cs typeface="Noto Sans CJK JP"/>
              </a:rPr>
              <a:t>▶ 交付金への影響：要件を満たさない場合、下水道の改築・更新に係る社会資本整備総合交付金が交付対象外となります。改定により使用料単価は127.8円/㎥（R7）→182.6円/㎥（②2か年・R9）となり、除外基準の150円/㎥を上回ります（交付金額・対象事業費は町に確認中）。</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03</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財政健全化目標との整合性</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本章では、パターン①②④それぞれの経常収支比率・経費回収率の見込みを確認し、財政健全化目標値の設定について審議いただきます。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03-1　経常収支比率の見込み（パターン①・標準型／2か年改定）</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tg0"/>
          <p:cNvSpPr/>
          <p:nvPr/>
        </p:nvSpPr>
        <p:spPr>
          <a:xfrm>
            <a:off x="5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19" name="rv00"/>
          <p:cNvSpPr/>
          <p:nvPr/>
        </p:nvSpPr>
        <p:spPr>
          <a:xfrm>
            <a:off x="5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経常収支比率：98.5%</a:t>
            </a:r>
          </a:p>
          <a:p>
            <a:pPr algn="ctr"/>
            <a:r>
              <a:rPr lang="ja-JP" sz="1200" b="0" dirty="0">
                <a:solidFill>
                  <a:srgbClr val="1E293B"/>
                </a:solidFill>
                <a:latin typeface="Noto Sans CJK JP"/>
                <a:cs typeface="Noto Sans CJK JP"/>
              </a:rPr>
              <a:t>（改定なし）</a:t>
            </a:r>
          </a:p>
        </p:txBody>
      </p:sp>
      <p:sp>
        <p:nvSpPr>
          <p:cNvPr id="20" name="rv01"/>
          <p:cNvSpPr/>
          <p:nvPr/>
        </p:nvSpPr>
        <p:spPr>
          <a:xfrm>
            <a:off x="5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経常収支比率：97.6%</a:t>
            </a:r>
          </a:p>
          <a:p>
            <a:pPr algn="ctr"/>
            <a:r>
              <a:rPr lang="ja-JP" sz="1200" b="0" dirty="0">
                <a:solidFill>
                  <a:srgbClr val="1E293B"/>
                </a:solidFill>
                <a:latin typeface="Noto Sans CJK JP"/>
                <a:cs typeface="Noto Sans CJK JP"/>
              </a:rPr>
              <a:t>（改定開始）</a:t>
            </a:r>
          </a:p>
        </p:txBody>
      </p:sp>
      <p:sp>
        <p:nvSpPr>
          <p:cNvPr id="21" name="rv02"/>
          <p:cNvSpPr/>
          <p:nvPr/>
        </p:nvSpPr>
        <p:spPr>
          <a:xfrm>
            <a:off x="5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R9（最終単価）</a:t>
            </a:r>
          </a:p>
          <a:p>
            <a:pPr algn="ctr"/>
            <a:r>
              <a:rPr lang="ja-JP" sz="1200" b="1" dirty="0">
                <a:solidFill>
                  <a:srgbClr val="1E3A8A"/>
                </a:solidFill>
                <a:latin typeface="Noto Sans CJK JP"/>
                <a:cs typeface="Noto Sans CJK JP"/>
              </a:rPr>
              <a:t>経常収支比率：100.0%</a:t>
            </a:r>
          </a:p>
          <a:p>
            <a:pPr algn="ctr"/>
            <a:r>
              <a:rPr lang="ja-JP" sz="1200" b="1" dirty="0">
                <a:solidFill>
                  <a:srgbClr val="1E3A8A"/>
                </a:solidFill>
                <a:latin typeface="Noto Sans CJK JP"/>
                <a:cs typeface="Noto Sans CJK JP"/>
              </a:rPr>
              <a:t>（改定完了）</a:t>
            </a:r>
          </a:p>
        </p:txBody>
      </p:sp>
      <p:sp>
        <p:nvSpPr>
          <p:cNvPr id="22" name="rv03"/>
          <p:cNvSpPr/>
          <p:nvPr/>
        </p:nvSpPr>
        <p:spPr>
          <a:xfrm>
            <a:off x="5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R10〜</a:t>
            </a:r>
          </a:p>
          <a:p>
            <a:pPr algn="ctr"/>
            <a:r>
              <a:rPr lang="ja-JP" sz="1200" b="1" dirty="0">
                <a:solidFill>
                  <a:srgbClr val="1E3A8A"/>
                </a:solidFill>
                <a:latin typeface="Noto Sans CJK JP"/>
                <a:cs typeface="Noto Sans CJK JP"/>
              </a:rPr>
              <a:t>経常収支比率：101.1%</a:t>
            </a:r>
          </a:p>
          <a:p>
            <a:pPr algn="ctr"/>
            <a:r>
              <a:rPr lang="ja-JP" sz="1200" b="1" dirty="0">
                <a:solidFill>
                  <a:srgbClr val="1E3A8A"/>
                </a:solidFill>
                <a:latin typeface="Noto Sans CJK JP"/>
                <a:cs typeface="Noto Sans CJK JP"/>
              </a:rPr>
              <a:t>（安定期）</a:t>
            </a:r>
          </a:p>
        </p:txBody>
      </p:sp>
      <p:sp>
        <p:nvSpPr>
          <p:cNvPr id="23"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4" name="tg1"/>
          <p:cNvSpPr/>
          <p:nvPr/>
        </p:nvSpPr>
        <p:spPr>
          <a:xfrm>
            <a:off x="62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25" name="rv10"/>
          <p:cNvSpPr/>
          <p:nvPr/>
        </p:nvSpPr>
        <p:spPr>
          <a:xfrm>
            <a:off x="62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経常収支比率：82.0%</a:t>
            </a:r>
          </a:p>
          <a:p>
            <a:pPr algn="ctr"/>
            <a:r>
              <a:rPr lang="ja-JP" sz="1200" b="0" dirty="0">
                <a:solidFill>
                  <a:srgbClr val="1E293B"/>
                </a:solidFill>
                <a:latin typeface="Noto Sans CJK JP"/>
                <a:cs typeface="Noto Sans CJK JP"/>
              </a:rPr>
              <a:t>（改定なし）</a:t>
            </a:r>
          </a:p>
        </p:txBody>
      </p:sp>
      <p:sp>
        <p:nvSpPr>
          <p:cNvPr id="26" name="rv11"/>
          <p:cNvSpPr/>
          <p:nvPr/>
        </p:nvSpPr>
        <p:spPr>
          <a:xfrm>
            <a:off x="62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経常収支比率：83.4%</a:t>
            </a:r>
          </a:p>
          <a:p>
            <a:pPr algn="ctr"/>
            <a:r>
              <a:rPr lang="ja-JP" sz="1200" b="0" dirty="0">
                <a:solidFill>
                  <a:srgbClr val="1E293B"/>
                </a:solidFill>
                <a:latin typeface="Noto Sans CJK JP"/>
                <a:cs typeface="Noto Sans CJK JP"/>
              </a:rPr>
              <a:t>（改定開始）</a:t>
            </a:r>
          </a:p>
        </p:txBody>
      </p:sp>
      <p:sp>
        <p:nvSpPr>
          <p:cNvPr id="27" name="rv12"/>
          <p:cNvSpPr/>
          <p:nvPr/>
        </p:nvSpPr>
        <p:spPr>
          <a:xfrm>
            <a:off x="62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R9（最終単価）</a:t>
            </a:r>
          </a:p>
          <a:p>
            <a:pPr algn="ctr"/>
            <a:r>
              <a:rPr lang="ja-JP" sz="1200" b="1" dirty="0">
                <a:solidFill>
                  <a:srgbClr val="166534"/>
                </a:solidFill>
                <a:latin typeface="Noto Sans CJK JP"/>
                <a:cs typeface="Noto Sans CJK JP"/>
              </a:rPr>
              <a:t>経常収支比率：84.0%</a:t>
            </a:r>
          </a:p>
          <a:p>
            <a:pPr algn="ctr"/>
            <a:r>
              <a:rPr lang="ja-JP" sz="1200" b="1" dirty="0">
                <a:solidFill>
                  <a:srgbClr val="166534"/>
                </a:solidFill>
                <a:latin typeface="Noto Sans CJK JP"/>
                <a:cs typeface="Noto Sans CJK JP"/>
              </a:rPr>
              <a:t>（改定完了）</a:t>
            </a:r>
          </a:p>
        </p:txBody>
      </p:sp>
      <p:sp>
        <p:nvSpPr>
          <p:cNvPr id="28" name="rv13"/>
          <p:cNvSpPr/>
          <p:nvPr/>
        </p:nvSpPr>
        <p:spPr>
          <a:xfrm>
            <a:off x="62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R10〜</a:t>
            </a:r>
          </a:p>
          <a:p>
            <a:pPr algn="ctr"/>
            <a:r>
              <a:rPr lang="ja-JP" sz="1200" b="1" dirty="0">
                <a:solidFill>
                  <a:srgbClr val="166534"/>
                </a:solidFill>
                <a:latin typeface="Noto Sans CJK JP"/>
                <a:cs typeface="Noto Sans CJK JP"/>
              </a:rPr>
              <a:t>経常収支比率：84.2%</a:t>
            </a:r>
          </a:p>
          <a:p>
            <a:pPr algn="ctr"/>
            <a:r>
              <a:rPr lang="ja-JP" sz="1200" b="1" dirty="0">
                <a:solidFill>
                  <a:srgbClr val="166534"/>
                </a:solidFill>
                <a:latin typeface="Noto Sans CJK JP"/>
                <a:cs typeface="Noto Sans CJK JP"/>
              </a:rPr>
              <a:t>（安定期）</a:t>
            </a:r>
          </a:p>
        </p:txBody>
      </p:sp>
      <p:sp>
        <p:nvSpPr>
          <p:cNvPr id="29" name="nt13"/>
          <p:cNvSpPr/>
          <p:nvPr/>
        </p:nvSpPr>
        <p:spPr>
          <a:xfrm>
            <a:off x="571680" y="5462016"/>
            <a:ext cx="11048400" cy="1048511"/>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 パターン①採用により、公共下水道はR9に100.0%と目標の100%以上を達成する見込みです。農業集落排水はR10で84.2%にとどまり、100%達成には他会計繰入等による補填が引き続き必要です。</a:t>
            </a:r>
          </a:p>
          <a:p>
            <a:pPr algn="l"/>
            <a:r>
              <a:rPr lang="ja-JP" sz="1200" b="0" dirty="0">
                <a:solidFill>
                  <a:srgbClr val="166534"/>
                </a:solidFill>
                <a:latin typeface="Noto Sans CJK JP"/>
                <a:cs typeface="Noto Sans CJK JP"/>
              </a:rPr>
              <a:t>※ 農業集落排水が経常収支比率100%（目標①）を単独で達成するには、R9で使用料収入 36,672千円が必要です。これはパターン①改定後（19,471千円）の約1.9倍、20㎥換算で月額税込 約6,215円に相当し、今回の改定幅で達成することは構造的に困難です（目標②の経費回収率47%は49.6%で達成見込み）。</a:t>
            </a:r>
          </a:p>
        </p:txBody>
      </p:sp>
      <p:sp>
        <p:nvSpPr>
          <p:cNvPr id="3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03-2　経常収支比率の見込み（パターン②・家庭軽減型／2か年改定）</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tg0"/>
          <p:cNvSpPr/>
          <p:nvPr/>
        </p:nvSpPr>
        <p:spPr>
          <a:xfrm>
            <a:off x="5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19" name="rv00"/>
          <p:cNvSpPr/>
          <p:nvPr/>
        </p:nvSpPr>
        <p:spPr>
          <a:xfrm>
            <a:off x="5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経常収支比率：98.5%</a:t>
            </a:r>
          </a:p>
          <a:p>
            <a:pPr algn="ctr"/>
            <a:r>
              <a:rPr lang="ja-JP" sz="1200" b="0" dirty="0">
                <a:solidFill>
                  <a:srgbClr val="1E293B"/>
                </a:solidFill>
                <a:latin typeface="Noto Sans CJK JP"/>
                <a:cs typeface="Noto Sans CJK JP"/>
              </a:rPr>
              <a:t>（改定なし）</a:t>
            </a:r>
          </a:p>
        </p:txBody>
      </p:sp>
      <p:sp>
        <p:nvSpPr>
          <p:cNvPr id="20" name="rv01"/>
          <p:cNvSpPr/>
          <p:nvPr/>
        </p:nvSpPr>
        <p:spPr>
          <a:xfrm>
            <a:off x="5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経常収支比率：98.1%</a:t>
            </a:r>
          </a:p>
          <a:p>
            <a:pPr algn="ctr"/>
            <a:r>
              <a:rPr lang="ja-JP" sz="1200" b="0" dirty="0">
                <a:solidFill>
                  <a:srgbClr val="1E293B"/>
                </a:solidFill>
                <a:latin typeface="Noto Sans CJK JP"/>
                <a:cs typeface="Noto Sans CJK JP"/>
              </a:rPr>
              <a:t>（改定開始）</a:t>
            </a:r>
          </a:p>
        </p:txBody>
      </p:sp>
      <p:sp>
        <p:nvSpPr>
          <p:cNvPr id="21" name="rv02"/>
          <p:cNvSpPr/>
          <p:nvPr/>
        </p:nvSpPr>
        <p:spPr>
          <a:xfrm>
            <a:off x="5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R9（最終単価）</a:t>
            </a:r>
          </a:p>
          <a:p>
            <a:pPr algn="ctr"/>
            <a:r>
              <a:rPr lang="ja-JP" sz="1200" b="1" dirty="0">
                <a:solidFill>
                  <a:srgbClr val="1E3A8A"/>
                </a:solidFill>
                <a:latin typeface="Noto Sans CJK JP"/>
                <a:cs typeface="Noto Sans CJK JP"/>
              </a:rPr>
              <a:t>経常収支比率：101.1%</a:t>
            </a:r>
          </a:p>
          <a:p>
            <a:pPr algn="ctr"/>
            <a:r>
              <a:rPr lang="ja-JP" sz="1200" b="1" dirty="0">
                <a:solidFill>
                  <a:srgbClr val="1E3A8A"/>
                </a:solidFill>
                <a:latin typeface="Noto Sans CJK JP"/>
                <a:cs typeface="Noto Sans CJK JP"/>
              </a:rPr>
              <a:t>（改定完了）</a:t>
            </a:r>
          </a:p>
        </p:txBody>
      </p:sp>
      <p:sp>
        <p:nvSpPr>
          <p:cNvPr id="22" name="rv03"/>
          <p:cNvSpPr/>
          <p:nvPr/>
        </p:nvSpPr>
        <p:spPr>
          <a:xfrm>
            <a:off x="5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R10〜</a:t>
            </a:r>
          </a:p>
          <a:p>
            <a:pPr algn="ctr"/>
            <a:r>
              <a:rPr lang="ja-JP" sz="1200" b="1" dirty="0">
                <a:solidFill>
                  <a:srgbClr val="1E3A8A"/>
                </a:solidFill>
                <a:latin typeface="Noto Sans CJK JP"/>
                <a:cs typeface="Noto Sans CJK JP"/>
              </a:rPr>
              <a:t>経常収支比率：102.4%</a:t>
            </a:r>
          </a:p>
          <a:p>
            <a:pPr algn="ctr"/>
            <a:r>
              <a:rPr lang="ja-JP" sz="1200" b="1" dirty="0">
                <a:solidFill>
                  <a:srgbClr val="1E3A8A"/>
                </a:solidFill>
                <a:latin typeface="Noto Sans CJK JP"/>
                <a:cs typeface="Noto Sans CJK JP"/>
              </a:rPr>
              <a:t>（安定期）</a:t>
            </a:r>
          </a:p>
        </p:txBody>
      </p:sp>
      <p:sp>
        <p:nvSpPr>
          <p:cNvPr id="23"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4" name="tg1"/>
          <p:cNvSpPr/>
          <p:nvPr/>
        </p:nvSpPr>
        <p:spPr>
          <a:xfrm>
            <a:off x="62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25" name="rv10"/>
          <p:cNvSpPr/>
          <p:nvPr/>
        </p:nvSpPr>
        <p:spPr>
          <a:xfrm>
            <a:off x="62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経常収支比率：82.0%</a:t>
            </a:r>
          </a:p>
          <a:p>
            <a:pPr algn="ctr"/>
            <a:r>
              <a:rPr lang="ja-JP" sz="1200" b="0" dirty="0">
                <a:solidFill>
                  <a:srgbClr val="1E293B"/>
                </a:solidFill>
                <a:latin typeface="Noto Sans CJK JP"/>
                <a:cs typeface="Noto Sans CJK JP"/>
              </a:rPr>
              <a:t>（改定なし）</a:t>
            </a:r>
          </a:p>
        </p:txBody>
      </p:sp>
      <p:sp>
        <p:nvSpPr>
          <p:cNvPr id="26" name="rv11"/>
          <p:cNvSpPr/>
          <p:nvPr/>
        </p:nvSpPr>
        <p:spPr>
          <a:xfrm>
            <a:off x="62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経常収支比率：84.2%</a:t>
            </a:r>
          </a:p>
          <a:p>
            <a:pPr algn="ctr"/>
            <a:r>
              <a:rPr lang="ja-JP" sz="1200" b="0" dirty="0">
                <a:solidFill>
                  <a:srgbClr val="1E293B"/>
                </a:solidFill>
                <a:latin typeface="Noto Sans CJK JP"/>
                <a:cs typeface="Noto Sans CJK JP"/>
              </a:rPr>
              <a:t>（改定開始）</a:t>
            </a:r>
          </a:p>
        </p:txBody>
      </p:sp>
      <p:sp>
        <p:nvSpPr>
          <p:cNvPr id="27" name="rv12"/>
          <p:cNvSpPr/>
          <p:nvPr/>
        </p:nvSpPr>
        <p:spPr>
          <a:xfrm>
            <a:off x="62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R9（最終単価）</a:t>
            </a:r>
          </a:p>
          <a:p>
            <a:pPr algn="ctr"/>
            <a:r>
              <a:rPr lang="ja-JP" sz="1200" b="1" dirty="0">
                <a:solidFill>
                  <a:srgbClr val="166534"/>
                </a:solidFill>
                <a:latin typeface="Noto Sans CJK JP"/>
                <a:cs typeface="Noto Sans CJK JP"/>
              </a:rPr>
              <a:t>経常収支比率：85.8%</a:t>
            </a:r>
          </a:p>
          <a:p>
            <a:pPr algn="ctr"/>
            <a:r>
              <a:rPr lang="ja-JP" sz="1200" b="1" dirty="0">
                <a:solidFill>
                  <a:srgbClr val="166534"/>
                </a:solidFill>
                <a:latin typeface="Noto Sans CJK JP"/>
                <a:cs typeface="Noto Sans CJK JP"/>
              </a:rPr>
              <a:t>（改定完了）</a:t>
            </a:r>
          </a:p>
        </p:txBody>
      </p:sp>
      <p:sp>
        <p:nvSpPr>
          <p:cNvPr id="28" name="rv13"/>
          <p:cNvSpPr/>
          <p:nvPr/>
        </p:nvSpPr>
        <p:spPr>
          <a:xfrm>
            <a:off x="62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R10〜</a:t>
            </a:r>
          </a:p>
          <a:p>
            <a:pPr algn="ctr"/>
            <a:r>
              <a:rPr lang="ja-JP" sz="1200" b="1" dirty="0">
                <a:solidFill>
                  <a:srgbClr val="166534"/>
                </a:solidFill>
                <a:latin typeface="Noto Sans CJK JP"/>
                <a:cs typeface="Noto Sans CJK JP"/>
              </a:rPr>
              <a:t>経常収支比率：85.9%</a:t>
            </a:r>
          </a:p>
          <a:p>
            <a:pPr algn="ctr"/>
            <a:r>
              <a:rPr lang="ja-JP" sz="1200" b="1" dirty="0">
                <a:solidFill>
                  <a:srgbClr val="166534"/>
                </a:solidFill>
                <a:latin typeface="Noto Sans CJK JP"/>
                <a:cs typeface="Noto Sans CJK JP"/>
              </a:rPr>
              <a:t>（安定期）</a:t>
            </a:r>
          </a:p>
        </p:txBody>
      </p:sp>
      <p:sp>
        <p:nvSpPr>
          <p:cNvPr id="29" name="nt13"/>
          <p:cNvSpPr/>
          <p:nvPr/>
        </p:nvSpPr>
        <p:spPr>
          <a:xfrm>
            <a:off x="571680" y="5462016"/>
            <a:ext cx="11048400" cy="1048511"/>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 パターン②採用により、公共下水道はR9に101.1%と目標の100%以上を達成する見込みです。農業集落排水はR10で85.9%にとどまり、100%達成には他会計繰入等による補填が引き続き必要です。</a:t>
            </a:r>
          </a:p>
          <a:p>
            <a:pPr algn="l"/>
            <a:r>
              <a:rPr lang="ja-JP" sz="1200" b="0" dirty="0">
                <a:solidFill>
                  <a:srgbClr val="166534"/>
                </a:solidFill>
                <a:latin typeface="Noto Sans CJK JP"/>
                <a:cs typeface="Noto Sans CJK JP"/>
              </a:rPr>
              <a:t>※ 農業集落排水が経常収支比率100%（目標①）を単独で達成するには、R9で使用料収入 36,672千円が必要です。これはパターン②改定後（21,314千円）の約1.7倍、20㎥換算で月額税込 約5,678円に相当し、今回の改定幅で達成することは構造的に困難です（目標②の経費回収率47%は54.2%で達成見込み）。</a:t>
            </a:r>
          </a:p>
        </p:txBody>
      </p:sp>
      <p:sp>
        <p:nvSpPr>
          <p:cNvPr id="3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03-3　経常収支比率の見込み（パターン④・段階累進型／2か年改定）</a:t>
            </a:r>
          </a:p>
        </p:txBody>
      </p:sp>
      <p:sp>
        <p:nvSpPr>
          <p:cNvPr id="17" name="lh0"/>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公共下水道</a:t>
            </a:r>
          </a:p>
        </p:txBody>
      </p:sp>
      <p:sp>
        <p:nvSpPr>
          <p:cNvPr id="18" name="tg0"/>
          <p:cNvSpPr/>
          <p:nvPr/>
        </p:nvSpPr>
        <p:spPr>
          <a:xfrm>
            <a:off x="5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19" name="rv00"/>
          <p:cNvSpPr/>
          <p:nvPr/>
        </p:nvSpPr>
        <p:spPr>
          <a:xfrm>
            <a:off x="5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経常収支比率：98.5%</a:t>
            </a:r>
          </a:p>
          <a:p>
            <a:pPr algn="ctr"/>
            <a:r>
              <a:rPr lang="ja-JP" sz="1200" b="0" dirty="0">
                <a:solidFill>
                  <a:srgbClr val="1E293B"/>
                </a:solidFill>
                <a:latin typeface="Noto Sans CJK JP"/>
                <a:cs typeface="Noto Sans CJK JP"/>
              </a:rPr>
              <a:t>（改定なし）</a:t>
            </a:r>
          </a:p>
        </p:txBody>
      </p:sp>
      <p:sp>
        <p:nvSpPr>
          <p:cNvPr id="20" name="rv01"/>
          <p:cNvSpPr/>
          <p:nvPr/>
        </p:nvSpPr>
        <p:spPr>
          <a:xfrm>
            <a:off x="5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経常収支比率：97.8%</a:t>
            </a:r>
          </a:p>
          <a:p>
            <a:pPr algn="ctr"/>
            <a:r>
              <a:rPr lang="ja-JP" sz="1200" b="0" dirty="0">
                <a:solidFill>
                  <a:srgbClr val="1E293B"/>
                </a:solidFill>
                <a:latin typeface="Noto Sans CJK JP"/>
                <a:cs typeface="Noto Sans CJK JP"/>
              </a:rPr>
              <a:t>（改定開始）</a:t>
            </a:r>
          </a:p>
        </p:txBody>
      </p:sp>
      <p:sp>
        <p:nvSpPr>
          <p:cNvPr id="21" name="rv02"/>
          <p:cNvSpPr/>
          <p:nvPr/>
        </p:nvSpPr>
        <p:spPr>
          <a:xfrm>
            <a:off x="5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R9（最終単価）</a:t>
            </a:r>
          </a:p>
          <a:p>
            <a:pPr algn="ctr"/>
            <a:r>
              <a:rPr lang="ja-JP" sz="1200" b="1" dirty="0">
                <a:solidFill>
                  <a:srgbClr val="1E3A8A"/>
                </a:solidFill>
                <a:latin typeface="Noto Sans CJK JP"/>
                <a:cs typeface="Noto Sans CJK JP"/>
              </a:rPr>
              <a:t>経常収支比率：100.4%</a:t>
            </a:r>
          </a:p>
          <a:p>
            <a:pPr algn="ctr"/>
            <a:r>
              <a:rPr lang="ja-JP" sz="1200" b="1" dirty="0">
                <a:solidFill>
                  <a:srgbClr val="1E3A8A"/>
                </a:solidFill>
                <a:latin typeface="Noto Sans CJK JP"/>
                <a:cs typeface="Noto Sans CJK JP"/>
              </a:rPr>
              <a:t>（改定完了）</a:t>
            </a:r>
          </a:p>
        </p:txBody>
      </p:sp>
      <p:sp>
        <p:nvSpPr>
          <p:cNvPr id="22" name="rv03"/>
          <p:cNvSpPr/>
          <p:nvPr/>
        </p:nvSpPr>
        <p:spPr>
          <a:xfrm>
            <a:off x="5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E3A8A"/>
                </a:solidFill>
                <a:latin typeface="Noto Sans CJK JP"/>
                <a:cs typeface="Noto Sans CJK JP"/>
              </a:rPr>
              <a:t>R10〜</a:t>
            </a:r>
          </a:p>
          <a:p>
            <a:pPr algn="ctr"/>
            <a:r>
              <a:rPr lang="ja-JP" sz="1200" b="1" dirty="0">
                <a:solidFill>
                  <a:srgbClr val="1E3A8A"/>
                </a:solidFill>
                <a:latin typeface="Noto Sans CJK JP"/>
                <a:cs typeface="Noto Sans CJK JP"/>
              </a:rPr>
              <a:t>経常収支比率：101.6%</a:t>
            </a:r>
          </a:p>
          <a:p>
            <a:pPr algn="ctr"/>
            <a:r>
              <a:rPr lang="ja-JP" sz="1200" b="1" dirty="0">
                <a:solidFill>
                  <a:srgbClr val="1E3A8A"/>
                </a:solidFill>
                <a:latin typeface="Noto Sans CJK JP"/>
                <a:cs typeface="Noto Sans CJK JP"/>
              </a:rPr>
              <a:t>（安定期）</a:t>
            </a:r>
          </a:p>
        </p:txBody>
      </p:sp>
      <p:sp>
        <p:nvSpPr>
          <p:cNvPr id="23" name="lh1"/>
          <p:cNvSpPr/>
          <p:nvPr/>
        </p:nvSpPr>
        <p:spPr>
          <a:xfrm>
            <a:off x="62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300" b="0" dirty="0">
                <a:solidFill>
                  <a:srgbClr val="FFFFFF"/>
                </a:solidFill>
                <a:latin typeface="Noto Sans CJK JP"/>
                <a:cs typeface="Noto Sans CJK JP"/>
              </a:rPr>
              <a:t>農業集落排水</a:t>
            </a:r>
          </a:p>
        </p:txBody>
      </p:sp>
      <p:sp>
        <p:nvSpPr>
          <p:cNvPr id="24" name="tg1"/>
          <p:cNvSpPr/>
          <p:nvPr/>
        </p:nvSpPr>
        <p:spPr>
          <a:xfrm>
            <a:off x="6271680" y="1960000"/>
            <a:ext cx="5500000" cy="25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050" b="0" dirty="0">
                <a:solidFill>
                  <a:srgbClr val="1E40AF"/>
                </a:solidFill>
                <a:latin typeface="Noto Sans CJK JP"/>
                <a:cs typeface="Noto Sans CJK JP"/>
              </a:rPr>
              <a:t>目標：経常収支比率 100%以上（単年度黒字）</a:t>
            </a:r>
          </a:p>
        </p:txBody>
      </p:sp>
      <p:sp>
        <p:nvSpPr>
          <p:cNvPr id="25" name="rv10"/>
          <p:cNvSpPr/>
          <p:nvPr/>
        </p:nvSpPr>
        <p:spPr>
          <a:xfrm>
            <a:off x="6271680" y="2258568"/>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2F2"/>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R7（現行）</a:t>
            </a:r>
          </a:p>
          <a:p>
            <a:pPr algn="ctr"/>
            <a:r>
              <a:rPr lang="ja-JP" sz="1200" b="0" dirty="0">
                <a:solidFill>
                  <a:srgbClr val="1E293B"/>
                </a:solidFill>
                <a:latin typeface="Noto Sans CJK JP"/>
                <a:cs typeface="Noto Sans CJK JP"/>
              </a:rPr>
              <a:t>経常収支比率：82.0%</a:t>
            </a:r>
          </a:p>
          <a:p>
            <a:pPr algn="ctr"/>
            <a:r>
              <a:rPr lang="ja-JP" sz="1200" b="0" dirty="0">
                <a:solidFill>
                  <a:srgbClr val="1E293B"/>
                </a:solidFill>
                <a:latin typeface="Noto Sans CJK JP"/>
                <a:cs typeface="Noto Sans CJK JP"/>
              </a:rPr>
              <a:t>（改定なし）</a:t>
            </a:r>
          </a:p>
        </p:txBody>
      </p:sp>
      <p:sp>
        <p:nvSpPr>
          <p:cNvPr id="26" name="rv11"/>
          <p:cNvSpPr/>
          <p:nvPr/>
        </p:nvSpPr>
        <p:spPr>
          <a:xfrm>
            <a:off x="6271680" y="3044952"/>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0" dirty="0">
                <a:solidFill>
                  <a:srgbClr val="1E293B"/>
                </a:solidFill>
                <a:latin typeface="Noto Sans CJK JP"/>
                <a:cs typeface="Noto Sans CJK JP"/>
              </a:rPr>
              <a:t>R8（中間単価）</a:t>
            </a:r>
          </a:p>
          <a:p>
            <a:pPr algn="ctr"/>
            <a:r>
              <a:rPr lang="ja-JP" sz="1200" b="0" dirty="0">
                <a:solidFill>
                  <a:srgbClr val="1E293B"/>
                </a:solidFill>
                <a:latin typeface="Noto Sans CJK JP"/>
                <a:cs typeface="Noto Sans CJK JP"/>
              </a:rPr>
              <a:t>経常収支比率：83.7%</a:t>
            </a:r>
          </a:p>
          <a:p>
            <a:pPr algn="ctr"/>
            <a:r>
              <a:rPr lang="ja-JP" sz="1200" b="0" dirty="0">
                <a:solidFill>
                  <a:srgbClr val="1E293B"/>
                </a:solidFill>
                <a:latin typeface="Noto Sans CJK JP"/>
                <a:cs typeface="Noto Sans CJK JP"/>
              </a:rPr>
              <a:t>（改定開始）</a:t>
            </a:r>
          </a:p>
        </p:txBody>
      </p:sp>
      <p:sp>
        <p:nvSpPr>
          <p:cNvPr id="27" name="rv12"/>
          <p:cNvSpPr/>
          <p:nvPr/>
        </p:nvSpPr>
        <p:spPr>
          <a:xfrm>
            <a:off x="6271680" y="3831336"/>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DCFCE7"/>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R9（最終単価）</a:t>
            </a:r>
          </a:p>
          <a:p>
            <a:pPr algn="ctr"/>
            <a:r>
              <a:rPr lang="ja-JP" sz="1200" b="1" dirty="0">
                <a:solidFill>
                  <a:srgbClr val="166534"/>
                </a:solidFill>
                <a:latin typeface="Noto Sans CJK JP"/>
                <a:cs typeface="Noto Sans CJK JP"/>
              </a:rPr>
              <a:t>経常収支比率：84.6%</a:t>
            </a:r>
          </a:p>
          <a:p>
            <a:pPr algn="ctr"/>
            <a:r>
              <a:rPr lang="ja-JP" sz="1200" b="1" dirty="0">
                <a:solidFill>
                  <a:srgbClr val="166534"/>
                </a:solidFill>
                <a:latin typeface="Noto Sans CJK JP"/>
                <a:cs typeface="Noto Sans CJK JP"/>
              </a:rPr>
              <a:t>（改定完了）</a:t>
            </a:r>
          </a:p>
        </p:txBody>
      </p:sp>
      <p:sp>
        <p:nvSpPr>
          <p:cNvPr id="28" name="rv13"/>
          <p:cNvSpPr/>
          <p:nvPr/>
        </p:nvSpPr>
        <p:spPr>
          <a:xfrm>
            <a:off x="6271680" y="4617720"/>
            <a:ext cx="5500000" cy="749808"/>
          </a:xfrm>
          <a:custGeom>
            <a:avLst/>
            <a:gdLst/>
            <a:ahLst/>
            <a:cxnLst/>
            <a:rect l="l" t="t" r="r" b="b"/>
            <a:pathLst>
              <a:path w="21600" h="21600">
                <a:moveTo>
                  <a:pt x="0" y="0"/>
                </a:moveTo>
                <a:lnTo>
                  <a:pt x="21600" y="0"/>
                </a:lnTo>
                <a:lnTo>
                  <a:pt x="21600" y="21600"/>
                </a:lnTo>
                <a:lnTo>
                  <a:pt x="0" y="21600"/>
                </a:lnTo>
                <a:close/>
              </a:path>
            </a:pathLst>
          </a:custGeom>
          <a:solidFill>
            <a:srgbClr val="BBF7D0"/>
          </a:solidFill>
          <a:ln w="9525">
            <a:solidFill>
              <a:srgbClr val="E2E8F0"/>
            </a:solidFill>
          </a:ln>
        </p:spPr>
        <p:style>
          <a:lnRef idx="0">
            <a:scrgbClr r="0" g="0" b="0"/>
          </a:lnRef>
          <a:fillRef idx="0">
            <a:scrgbClr r="0" g="0" b="0"/>
          </a:fillRef>
          <a:effectRef idx="0">
            <a:scrgbClr r="0" g="0" b="0"/>
          </a:effectRef>
          <a:fontRef idx="minor"/>
        </p:style>
        <p:txBody>
          <a:bodyPr lIns="91440" tIns="91440" rIns="114300" bIns="91440" anchor="ctr">
            <a:noAutofit/>
          </a:bodyPr>
          <a:lstStyle/>
          <a:p>
            <a:pPr algn="ctr"/>
            <a:r>
              <a:rPr lang="ja-JP" sz="1200" b="1" dirty="0">
                <a:solidFill>
                  <a:srgbClr val="166534"/>
                </a:solidFill>
                <a:latin typeface="Noto Sans CJK JP"/>
                <a:cs typeface="Noto Sans CJK JP"/>
              </a:rPr>
              <a:t>R10〜</a:t>
            </a:r>
          </a:p>
          <a:p>
            <a:pPr algn="ctr"/>
            <a:r>
              <a:rPr lang="ja-JP" sz="1200" b="1" dirty="0">
                <a:solidFill>
                  <a:srgbClr val="166534"/>
                </a:solidFill>
                <a:latin typeface="Noto Sans CJK JP"/>
                <a:cs typeface="Noto Sans CJK JP"/>
              </a:rPr>
              <a:t>経常収支比率：84.8%</a:t>
            </a:r>
          </a:p>
          <a:p>
            <a:pPr algn="ctr"/>
            <a:r>
              <a:rPr lang="ja-JP" sz="1200" b="1" dirty="0">
                <a:solidFill>
                  <a:srgbClr val="166534"/>
                </a:solidFill>
                <a:latin typeface="Noto Sans CJK JP"/>
                <a:cs typeface="Noto Sans CJK JP"/>
              </a:rPr>
              <a:t>（安定期）</a:t>
            </a:r>
          </a:p>
        </p:txBody>
      </p:sp>
      <p:sp>
        <p:nvSpPr>
          <p:cNvPr id="29" name="nt13"/>
          <p:cNvSpPr/>
          <p:nvPr/>
        </p:nvSpPr>
        <p:spPr>
          <a:xfrm>
            <a:off x="571680" y="5462016"/>
            <a:ext cx="11048400" cy="1048511"/>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16653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200" b="0" dirty="0">
                <a:solidFill>
                  <a:srgbClr val="166534"/>
                </a:solidFill>
                <a:latin typeface="Noto Sans CJK JP"/>
                <a:cs typeface="Noto Sans CJK JP"/>
              </a:rPr>
              <a:t>✔ パターン④採用により、公共下水道はR9に100.4%と目標の100%以上を達成する見込みです。農業集落排水はR10で84.8%にとどまり、100%達成には他会計繰入等による補填が引き続き必要です。</a:t>
            </a:r>
          </a:p>
          <a:p>
            <a:pPr algn="l"/>
            <a:r>
              <a:rPr lang="ja-JP" sz="1200" b="0" dirty="0">
                <a:solidFill>
                  <a:srgbClr val="166534"/>
                </a:solidFill>
                <a:latin typeface="Noto Sans CJK JP"/>
                <a:cs typeface="Noto Sans CJK JP"/>
              </a:rPr>
              <a:t>※ 農業集落排水が経常収支比率100%（目標①）を単独で達成するには、R9で使用料収入 36,672千円が必要です。これはパターン④改定後（20,085千円）の約1.8倍、20㎥換算で月額税込 約6,025円に相当し、今回の改定幅で達成することは構造的に困難です（目標②の経費回収率47%は51.1%で達成見込み）。</a:t>
            </a:r>
          </a:p>
        </p:txBody>
      </p:sp>
      <p:sp>
        <p:nvSpPr>
          <p:cNvPr id="30"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03-4　経費回収率の見込みと目標値（案）　公共下水道・2か年改定</a:t>
            </a:r>
          </a:p>
        </p:txBody>
      </p:sp>
      <p:sp>
        <p:nvSpPr>
          <p:cNvPr id="17" name="th14"/>
          <p:cNvSpPr/>
          <p:nvPr/>
        </p:nvSpPr>
        <p:spPr>
          <a:xfrm>
            <a:off x="5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年度</a:t>
            </a:r>
          </a:p>
        </p:txBody>
      </p:sp>
      <p:sp>
        <p:nvSpPr>
          <p:cNvPr id="18" name="th14"/>
          <p:cNvSpPr/>
          <p:nvPr/>
        </p:nvSpPr>
        <p:spPr>
          <a:xfrm>
            <a:off x="22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改定なし</a:t>
            </a:r>
          </a:p>
        </p:txBody>
      </p:sp>
      <p:sp>
        <p:nvSpPr>
          <p:cNvPr id="19" name="th14"/>
          <p:cNvSpPr/>
          <p:nvPr/>
        </p:nvSpPr>
        <p:spPr>
          <a:xfrm>
            <a:off x="39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パターン①</a:t>
            </a:r>
          </a:p>
        </p:txBody>
      </p:sp>
      <p:sp>
        <p:nvSpPr>
          <p:cNvPr id="20" name="th14"/>
          <p:cNvSpPr/>
          <p:nvPr/>
        </p:nvSpPr>
        <p:spPr>
          <a:xfrm>
            <a:off x="57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パターン②</a:t>
            </a:r>
          </a:p>
        </p:txBody>
      </p:sp>
      <p:sp>
        <p:nvSpPr>
          <p:cNvPr id="21" name="th14"/>
          <p:cNvSpPr/>
          <p:nvPr/>
        </p:nvSpPr>
        <p:spPr>
          <a:xfrm>
            <a:off x="74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パターン④</a:t>
            </a:r>
          </a:p>
        </p:txBody>
      </p:sp>
      <p:sp>
        <p:nvSpPr>
          <p:cNvPr id="22" name="th14"/>
          <p:cNvSpPr/>
          <p:nvPr/>
        </p:nvSpPr>
        <p:spPr>
          <a:xfrm>
            <a:off x="9271680" y="1620000"/>
            <a:ext cx="187832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目標水準（案）</a:t>
            </a:r>
          </a:p>
        </p:txBody>
      </p:sp>
      <p:sp>
        <p:nvSpPr>
          <p:cNvPr id="23" name="d1400"/>
          <p:cNvSpPr/>
          <p:nvPr/>
        </p:nvSpPr>
        <p:spPr>
          <a:xfrm>
            <a:off x="5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R7</a:t>
            </a:r>
          </a:p>
        </p:txBody>
      </p:sp>
      <p:sp>
        <p:nvSpPr>
          <p:cNvPr id="24" name="d1401"/>
          <p:cNvSpPr/>
          <p:nvPr/>
        </p:nvSpPr>
        <p:spPr>
          <a:xfrm>
            <a:off x="22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34.4%</a:t>
            </a:r>
          </a:p>
        </p:txBody>
      </p:sp>
      <p:sp>
        <p:nvSpPr>
          <p:cNvPr id="25" name="d1402"/>
          <p:cNvSpPr/>
          <p:nvPr/>
        </p:nvSpPr>
        <p:spPr>
          <a:xfrm>
            <a:off x="39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34.4%</a:t>
            </a:r>
          </a:p>
        </p:txBody>
      </p:sp>
      <p:sp>
        <p:nvSpPr>
          <p:cNvPr id="26" name="d1403"/>
          <p:cNvSpPr/>
          <p:nvPr/>
        </p:nvSpPr>
        <p:spPr>
          <a:xfrm>
            <a:off x="57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34.4%</a:t>
            </a:r>
          </a:p>
        </p:txBody>
      </p:sp>
      <p:sp>
        <p:nvSpPr>
          <p:cNvPr id="27" name="d1404"/>
          <p:cNvSpPr/>
          <p:nvPr/>
        </p:nvSpPr>
        <p:spPr>
          <a:xfrm>
            <a:off x="74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34.4%</a:t>
            </a:r>
          </a:p>
        </p:txBody>
      </p:sp>
      <p:sp>
        <p:nvSpPr>
          <p:cNvPr id="28" name="d1405"/>
          <p:cNvSpPr/>
          <p:nvPr/>
        </p:nvSpPr>
        <p:spPr>
          <a:xfrm>
            <a:off x="9271680" y="1947672"/>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29" name="d1410"/>
          <p:cNvSpPr/>
          <p:nvPr/>
        </p:nvSpPr>
        <p:spPr>
          <a:xfrm>
            <a:off x="5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R8</a:t>
            </a:r>
          </a:p>
        </p:txBody>
      </p:sp>
      <p:sp>
        <p:nvSpPr>
          <p:cNvPr id="30" name="d1411"/>
          <p:cNvSpPr/>
          <p:nvPr/>
        </p:nvSpPr>
        <p:spPr>
          <a:xfrm>
            <a:off x="22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33.2%</a:t>
            </a:r>
          </a:p>
        </p:txBody>
      </p:sp>
      <p:sp>
        <p:nvSpPr>
          <p:cNvPr id="31" name="d1412"/>
          <p:cNvSpPr/>
          <p:nvPr/>
        </p:nvSpPr>
        <p:spPr>
          <a:xfrm>
            <a:off x="39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38.5%</a:t>
            </a:r>
          </a:p>
        </p:txBody>
      </p:sp>
      <p:sp>
        <p:nvSpPr>
          <p:cNvPr id="32" name="d1413"/>
          <p:cNvSpPr/>
          <p:nvPr/>
        </p:nvSpPr>
        <p:spPr>
          <a:xfrm>
            <a:off x="57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40.0%</a:t>
            </a:r>
          </a:p>
        </p:txBody>
      </p:sp>
      <p:sp>
        <p:nvSpPr>
          <p:cNvPr id="33" name="d1414"/>
          <p:cNvSpPr/>
          <p:nvPr/>
        </p:nvSpPr>
        <p:spPr>
          <a:xfrm>
            <a:off x="74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39.0%</a:t>
            </a:r>
          </a:p>
        </p:txBody>
      </p:sp>
      <p:sp>
        <p:nvSpPr>
          <p:cNvPr id="34" name="d1415"/>
          <p:cNvSpPr/>
          <p:nvPr/>
        </p:nvSpPr>
        <p:spPr>
          <a:xfrm>
            <a:off x="9271680" y="2468879"/>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35" name="d1420"/>
          <p:cNvSpPr/>
          <p:nvPr/>
        </p:nvSpPr>
        <p:spPr>
          <a:xfrm>
            <a:off x="5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R9</a:t>
            </a:r>
          </a:p>
        </p:txBody>
      </p:sp>
      <p:sp>
        <p:nvSpPr>
          <p:cNvPr id="36" name="d1421"/>
          <p:cNvSpPr/>
          <p:nvPr/>
        </p:nvSpPr>
        <p:spPr>
          <a:xfrm>
            <a:off x="22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32.3%</a:t>
            </a:r>
          </a:p>
        </p:txBody>
      </p:sp>
      <p:sp>
        <p:nvSpPr>
          <p:cNvPr id="37" name="d1422"/>
          <p:cNvSpPr/>
          <p:nvPr/>
        </p:nvSpPr>
        <p:spPr>
          <a:xfrm>
            <a:off x="39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43.1%</a:t>
            </a:r>
          </a:p>
        </p:txBody>
      </p:sp>
      <p:sp>
        <p:nvSpPr>
          <p:cNvPr id="38" name="d1423"/>
          <p:cNvSpPr/>
          <p:nvPr/>
        </p:nvSpPr>
        <p:spPr>
          <a:xfrm>
            <a:off x="57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46.1%</a:t>
            </a:r>
          </a:p>
        </p:txBody>
      </p:sp>
      <p:sp>
        <p:nvSpPr>
          <p:cNvPr id="39" name="d1424"/>
          <p:cNvSpPr/>
          <p:nvPr/>
        </p:nvSpPr>
        <p:spPr>
          <a:xfrm>
            <a:off x="74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44.1%</a:t>
            </a:r>
          </a:p>
        </p:txBody>
      </p:sp>
      <p:sp>
        <p:nvSpPr>
          <p:cNvPr id="40" name="d1425"/>
          <p:cNvSpPr/>
          <p:nvPr/>
        </p:nvSpPr>
        <p:spPr>
          <a:xfrm>
            <a:off x="9271680" y="2990087"/>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47%以上</a:t>
            </a:r>
          </a:p>
        </p:txBody>
      </p:sp>
      <p:sp>
        <p:nvSpPr>
          <p:cNvPr id="41" name="d1430"/>
          <p:cNvSpPr/>
          <p:nvPr/>
        </p:nvSpPr>
        <p:spPr>
          <a:xfrm>
            <a:off x="5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R10</a:t>
            </a:r>
          </a:p>
        </p:txBody>
      </p:sp>
      <p:sp>
        <p:nvSpPr>
          <p:cNvPr id="42" name="d1431"/>
          <p:cNvSpPr/>
          <p:nvPr/>
        </p:nvSpPr>
        <p:spPr>
          <a:xfrm>
            <a:off x="22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32.5%</a:t>
            </a:r>
          </a:p>
        </p:txBody>
      </p:sp>
      <p:sp>
        <p:nvSpPr>
          <p:cNvPr id="43" name="d1432"/>
          <p:cNvSpPr/>
          <p:nvPr/>
        </p:nvSpPr>
        <p:spPr>
          <a:xfrm>
            <a:off x="39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43.4%</a:t>
            </a:r>
          </a:p>
        </p:txBody>
      </p:sp>
      <p:sp>
        <p:nvSpPr>
          <p:cNvPr id="44" name="d1433"/>
          <p:cNvSpPr/>
          <p:nvPr/>
        </p:nvSpPr>
        <p:spPr>
          <a:xfrm>
            <a:off x="57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46.4%</a:t>
            </a:r>
          </a:p>
        </p:txBody>
      </p:sp>
      <p:sp>
        <p:nvSpPr>
          <p:cNvPr id="45" name="d1434"/>
          <p:cNvSpPr/>
          <p:nvPr/>
        </p:nvSpPr>
        <p:spPr>
          <a:xfrm>
            <a:off x="74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44.4%</a:t>
            </a:r>
          </a:p>
        </p:txBody>
      </p:sp>
      <p:sp>
        <p:nvSpPr>
          <p:cNvPr id="46" name="d1435"/>
          <p:cNvSpPr/>
          <p:nvPr/>
        </p:nvSpPr>
        <p:spPr>
          <a:xfrm>
            <a:off x="9271680" y="3511296"/>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50%以上</a:t>
            </a:r>
          </a:p>
        </p:txBody>
      </p:sp>
      <p:sp>
        <p:nvSpPr>
          <p:cNvPr id="47" name="d1440"/>
          <p:cNvSpPr/>
          <p:nvPr/>
        </p:nvSpPr>
        <p:spPr>
          <a:xfrm>
            <a:off x="5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R12</a:t>
            </a:r>
          </a:p>
        </p:txBody>
      </p:sp>
      <p:sp>
        <p:nvSpPr>
          <p:cNvPr id="48" name="d1441"/>
          <p:cNvSpPr/>
          <p:nvPr/>
        </p:nvSpPr>
        <p:spPr>
          <a:xfrm>
            <a:off x="22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31.4%</a:t>
            </a:r>
          </a:p>
        </p:txBody>
      </p:sp>
      <p:sp>
        <p:nvSpPr>
          <p:cNvPr id="49" name="d1442"/>
          <p:cNvSpPr/>
          <p:nvPr/>
        </p:nvSpPr>
        <p:spPr>
          <a:xfrm>
            <a:off x="39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42.0%</a:t>
            </a:r>
          </a:p>
        </p:txBody>
      </p:sp>
      <p:sp>
        <p:nvSpPr>
          <p:cNvPr id="50" name="d1443"/>
          <p:cNvSpPr/>
          <p:nvPr/>
        </p:nvSpPr>
        <p:spPr>
          <a:xfrm>
            <a:off x="57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44.9%</a:t>
            </a:r>
          </a:p>
        </p:txBody>
      </p:sp>
      <p:sp>
        <p:nvSpPr>
          <p:cNvPr id="51" name="d1444"/>
          <p:cNvSpPr/>
          <p:nvPr/>
        </p:nvSpPr>
        <p:spPr>
          <a:xfrm>
            <a:off x="74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43.0%</a:t>
            </a:r>
          </a:p>
        </p:txBody>
      </p:sp>
      <p:sp>
        <p:nvSpPr>
          <p:cNvPr id="52" name="d1445"/>
          <p:cNvSpPr/>
          <p:nvPr/>
        </p:nvSpPr>
        <p:spPr>
          <a:xfrm>
            <a:off x="9271680" y="4032504"/>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55%以上</a:t>
            </a:r>
          </a:p>
        </p:txBody>
      </p:sp>
      <p:sp>
        <p:nvSpPr>
          <p:cNvPr id="53" name="nt14"/>
          <p:cNvSpPr/>
          <p:nvPr/>
        </p:nvSpPr>
        <p:spPr>
          <a:xfrm>
            <a:off x="571680" y="4651755"/>
            <a:ext cx="11048400" cy="185877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審議事項：公共下水道は今回改定のみではR9で43〜46%にとどまり、目標水準47%に到達しません。R10以降の段階的適正化（次期改定）とあわせた目標設定について審議をお願いします。</a:t>
            </a:r>
          </a:p>
          <a:p>
            <a:pPr algn="l"/>
            <a:r>
              <a:rPr lang="ja-JP" sz="1150" b="0" dirty="0">
                <a:solidFill>
                  <a:srgbClr val="78350F"/>
                </a:solidFill>
                <a:latin typeface="Noto Sans CJK JP"/>
                <a:cs typeface="Noto Sans CJK JP"/>
              </a:rPr>
              <a:t>※ 推奨案②で目標に到達するのに必要な増収は、R9 47%まで1,647千円（＋2.0%）、R10 50%まで6,268千円（＋7.7%）、R12 55%まで17,944千円（＋22.5%）です。</a:t>
            </a:r>
          </a:p>
          <a:p>
            <a:pPr algn="l"/>
            <a:r>
              <a:rPr lang="ja-JP" sz="1150" b="0" dirty="0">
                <a:solidFill>
                  <a:srgbClr val="78350F"/>
                </a:solidFill>
                <a:latin typeface="Noto Sans CJK JP"/>
                <a:cs typeface="Noto Sans CJK JP"/>
              </a:rPr>
              <a:t>※ 経費回収率の分母＝汚水処理費（維持管理費分）＝経常費用−減価償却費−支払利息−その他営業外費用。資本費（R7 64,832千円）は分流式下水道等に要する経費でカバーされるため全額控除しています。</a:t>
            </a:r>
          </a:p>
          <a:p>
            <a:pPr algn="l"/>
            <a:r>
              <a:rPr lang="ja-JP" sz="1150" b="0" dirty="0">
                <a:solidFill>
                  <a:srgbClr val="78350F"/>
                </a:solidFill>
                <a:latin typeface="Noto Sans CJK JP"/>
                <a:cs typeface="Noto Sans CJK JP"/>
              </a:rPr>
              <a:t>※ R6決算の47.11%も同一基準（汚水処理費119,503千円）です。R7の34.4%は、維持管理費が168,331千円へ増加する見込み（＋40.9%）を織り込んだ経営戦略の推計値です。</a:t>
            </a:r>
          </a:p>
          <a:p>
            <a:pPr algn="l"/>
            <a:r>
              <a:rPr lang="ja-JP" sz="1150" b="0" dirty="0">
                <a:solidFill>
                  <a:srgbClr val="78350F"/>
                </a:solidFill>
                <a:latin typeface="Noto Sans CJK JP"/>
                <a:cs typeface="Noto Sans CJK JP"/>
              </a:rPr>
              <a:t>※ 令和7年度決算では汚水処理費125,145千円・経費回収率45.35%となり、推計していた維持管理費の増加は生じていません（別紙1・別紙2参照）。</a:t>
            </a:r>
          </a:p>
        </p:txBody>
      </p:sp>
      <p:sp>
        <p:nvSpPr>
          <p:cNvPr id="5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03-5　経費回収率の見込みと目標値（案）　公共下水道・3か年改定</a:t>
            </a:r>
          </a:p>
        </p:txBody>
      </p:sp>
      <p:sp>
        <p:nvSpPr>
          <p:cNvPr id="17" name="th14"/>
          <p:cNvSpPr/>
          <p:nvPr/>
        </p:nvSpPr>
        <p:spPr>
          <a:xfrm>
            <a:off x="5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年度</a:t>
            </a:r>
          </a:p>
        </p:txBody>
      </p:sp>
      <p:sp>
        <p:nvSpPr>
          <p:cNvPr id="18" name="th14"/>
          <p:cNvSpPr/>
          <p:nvPr/>
        </p:nvSpPr>
        <p:spPr>
          <a:xfrm>
            <a:off x="22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改定なし</a:t>
            </a:r>
          </a:p>
        </p:txBody>
      </p:sp>
      <p:sp>
        <p:nvSpPr>
          <p:cNvPr id="19" name="th14"/>
          <p:cNvSpPr/>
          <p:nvPr/>
        </p:nvSpPr>
        <p:spPr>
          <a:xfrm>
            <a:off x="39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パターン①</a:t>
            </a:r>
          </a:p>
        </p:txBody>
      </p:sp>
      <p:sp>
        <p:nvSpPr>
          <p:cNvPr id="20" name="th14"/>
          <p:cNvSpPr/>
          <p:nvPr/>
        </p:nvSpPr>
        <p:spPr>
          <a:xfrm>
            <a:off x="57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パターン②</a:t>
            </a:r>
          </a:p>
        </p:txBody>
      </p:sp>
      <p:sp>
        <p:nvSpPr>
          <p:cNvPr id="21" name="th14"/>
          <p:cNvSpPr/>
          <p:nvPr/>
        </p:nvSpPr>
        <p:spPr>
          <a:xfrm>
            <a:off x="74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パターン④</a:t>
            </a:r>
          </a:p>
        </p:txBody>
      </p:sp>
      <p:sp>
        <p:nvSpPr>
          <p:cNvPr id="22" name="th14"/>
          <p:cNvSpPr/>
          <p:nvPr/>
        </p:nvSpPr>
        <p:spPr>
          <a:xfrm>
            <a:off x="9271680" y="1620000"/>
            <a:ext cx="187832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目標水準（案）</a:t>
            </a:r>
          </a:p>
        </p:txBody>
      </p:sp>
      <p:sp>
        <p:nvSpPr>
          <p:cNvPr id="23" name="d1400"/>
          <p:cNvSpPr/>
          <p:nvPr/>
        </p:nvSpPr>
        <p:spPr>
          <a:xfrm>
            <a:off x="5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R7</a:t>
            </a:r>
          </a:p>
        </p:txBody>
      </p:sp>
      <p:sp>
        <p:nvSpPr>
          <p:cNvPr id="24" name="d1401"/>
          <p:cNvSpPr/>
          <p:nvPr/>
        </p:nvSpPr>
        <p:spPr>
          <a:xfrm>
            <a:off x="22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34.4%</a:t>
            </a:r>
          </a:p>
        </p:txBody>
      </p:sp>
      <p:sp>
        <p:nvSpPr>
          <p:cNvPr id="25" name="d1402"/>
          <p:cNvSpPr/>
          <p:nvPr/>
        </p:nvSpPr>
        <p:spPr>
          <a:xfrm>
            <a:off x="39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34.4%</a:t>
            </a:r>
          </a:p>
        </p:txBody>
      </p:sp>
      <p:sp>
        <p:nvSpPr>
          <p:cNvPr id="26" name="d1403"/>
          <p:cNvSpPr/>
          <p:nvPr/>
        </p:nvSpPr>
        <p:spPr>
          <a:xfrm>
            <a:off x="57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34.4%</a:t>
            </a:r>
          </a:p>
        </p:txBody>
      </p:sp>
      <p:sp>
        <p:nvSpPr>
          <p:cNvPr id="27" name="d1404"/>
          <p:cNvSpPr/>
          <p:nvPr/>
        </p:nvSpPr>
        <p:spPr>
          <a:xfrm>
            <a:off x="74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34.4%</a:t>
            </a:r>
          </a:p>
        </p:txBody>
      </p:sp>
      <p:sp>
        <p:nvSpPr>
          <p:cNvPr id="28" name="d1405"/>
          <p:cNvSpPr/>
          <p:nvPr/>
        </p:nvSpPr>
        <p:spPr>
          <a:xfrm>
            <a:off x="9271680" y="1947672"/>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29" name="d1410"/>
          <p:cNvSpPr/>
          <p:nvPr/>
        </p:nvSpPr>
        <p:spPr>
          <a:xfrm>
            <a:off x="5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R8</a:t>
            </a:r>
          </a:p>
        </p:txBody>
      </p:sp>
      <p:sp>
        <p:nvSpPr>
          <p:cNvPr id="30" name="d1411"/>
          <p:cNvSpPr/>
          <p:nvPr/>
        </p:nvSpPr>
        <p:spPr>
          <a:xfrm>
            <a:off x="22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33.2%</a:t>
            </a:r>
          </a:p>
        </p:txBody>
      </p:sp>
      <p:sp>
        <p:nvSpPr>
          <p:cNvPr id="31" name="d1412"/>
          <p:cNvSpPr/>
          <p:nvPr/>
        </p:nvSpPr>
        <p:spPr>
          <a:xfrm>
            <a:off x="39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36.6%</a:t>
            </a:r>
          </a:p>
        </p:txBody>
      </p:sp>
      <p:sp>
        <p:nvSpPr>
          <p:cNvPr id="32" name="d1413"/>
          <p:cNvSpPr/>
          <p:nvPr/>
        </p:nvSpPr>
        <p:spPr>
          <a:xfrm>
            <a:off x="57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37.6%</a:t>
            </a:r>
          </a:p>
        </p:txBody>
      </p:sp>
      <p:sp>
        <p:nvSpPr>
          <p:cNvPr id="33" name="d1414"/>
          <p:cNvSpPr/>
          <p:nvPr/>
        </p:nvSpPr>
        <p:spPr>
          <a:xfrm>
            <a:off x="74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36.8%</a:t>
            </a:r>
          </a:p>
        </p:txBody>
      </p:sp>
      <p:sp>
        <p:nvSpPr>
          <p:cNvPr id="34" name="d1415"/>
          <p:cNvSpPr/>
          <p:nvPr/>
        </p:nvSpPr>
        <p:spPr>
          <a:xfrm>
            <a:off x="9271680" y="2468879"/>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35" name="d1420"/>
          <p:cNvSpPr/>
          <p:nvPr/>
        </p:nvSpPr>
        <p:spPr>
          <a:xfrm>
            <a:off x="5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R9</a:t>
            </a:r>
          </a:p>
        </p:txBody>
      </p:sp>
      <p:sp>
        <p:nvSpPr>
          <p:cNvPr id="36" name="d1421"/>
          <p:cNvSpPr/>
          <p:nvPr/>
        </p:nvSpPr>
        <p:spPr>
          <a:xfrm>
            <a:off x="22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32.3%</a:t>
            </a:r>
          </a:p>
        </p:txBody>
      </p:sp>
      <p:sp>
        <p:nvSpPr>
          <p:cNvPr id="37" name="d1422"/>
          <p:cNvSpPr/>
          <p:nvPr/>
        </p:nvSpPr>
        <p:spPr>
          <a:xfrm>
            <a:off x="39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38.8%</a:t>
            </a:r>
          </a:p>
        </p:txBody>
      </p:sp>
      <p:sp>
        <p:nvSpPr>
          <p:cNvPr id="38" name="d1423"/>
          <p:cNvSpPr/>
          <p:nvPr/>
        </p:nvSpPr>
        <p:spPr>
          <a:xfrm>
            <a:off x="57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40.8%</a:t>
            </a:r>
          </a:p>
        </p:txBody>
      </p:sp>
      <p:sp>
        <p:nvSpPr>
          <p:cNvPr id="39" name="d1424"/>
          <p:cNvSpPr/>
          <p:nvPr/>
        </p:nvSpPr>
        <p:spPr>
          <a:xfrm>
            <a:off x="74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39.1%</a:t>
            </a:r>
          </a:p>
        </p:txBody>
      </p:sp>
      <p:sp>
        <p:nvSpPr>
          <p:cNvPr id="40" name="d1425"/>
          <p:cNvSpPr/>
          <p:nvPr/>
        </p:nvSpPr>
        <p:spPr>
          <a:xfrm>
            <a:off x="9271680" y="2990087"/>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47%以上</a:t>
            </a:r>
          </a:p>
        </p:txBody>
      </p:sp>
      <p:sp>
        <p:nvSpPr>
          <p:cNvPr id="41" name="d1430"/>
          <p:cNvSpPr/>
          <p:nvPr/>
        </p:nvSpPr>
        <p:spPr>
          <a:xfrm>
            <a:off x="5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R10</a:t>
            </a:r>
          </a:p>
        </p:txBody>
      </p:sp>
      <p:sp>
        <p:nvSpPr>
          <p:cNvPr id="42" name="d1431"/>
          <p:cNvSpPr/>
          <p:nvPr/>
        </p:nvSpPr>
        <p:spPr>
          <a:xfrm>
            <a:off x="22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32.5%</a:t>
            </a:r>
          </a:p>
        </p:txBody>
      </p:sp>
      <p:sp>
        <p:nvSpPr>
          <p:cNvPr id="43" name="d1432"/>
          <p:cNvSpPr/>
          <p:nvPr/>
        </p:nvSpPr>
        <p:spPr>
          <a:xfrm>
            <a:off x="39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43.4%</a:t>
            </a:r>
          </a:p>
        </p:txBody>
      </p:sp>
      <p:sp>
        <p:nvSpPr>
          <p:cNvPr id="44" name="d1433"/>
          <p:cNvSpPr/>
          <p:nvPr/>
        </p:nvSpPr>
        <p:spPr>
          <a:xfrm>
            <a:off x="57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46.4%</a:t>
            </a:r>
          </a:p>
        </p:txBody>
      </p:sp>
      <p:sp>
        <p:nvSpPr>
          <p:cNvPr id="45" name="d1434"/>
          <p:cNvSpPr/>
          <p:nvPr/>
        </p:nvSpPr>
        <p:spPr>
          <a:xfrm>
            <a:off x="74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44.4%</a:t>
            </a:r>
          </a:p>
        </p:txBody>
      </p:sp>
      <p:sp>
        <p:nvSpPr>
          <p:cNvPr id="46" name="d1435"/>
          <p:cNvSpPr/>
          <p:nvPr/>
        </p:nvSpPr>
        <p:spPr>
          <a:xfrm>
            <a:off x="9271680" y="3511296"/>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50%以上</a:t>
            </a:r>
          </a:p>
        </p:txBody>
      </p:sp>
      <p:sp>
        <p:nvSpPr>
          <p:cNvPr id="47" name="d1440"/>
          <p:cNvSpPr/>
          <p:nvPr/>
        </p:nvSpPr>
        <p:spPr>
          <a:xfrm>
            <a:off x="5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R12</a:t>
            </a:r>
          </a:p>
        </p:txBody>
      </p:sp>
      <p:sp>
        <p:nvSpPr>
          <p:cNvPr id="48" name="d1441"/>
          <p:cNvSpPr/>
          <p:nvPr/>
        </p:nvSpPr>
        <p:spPr>
          <a:xfrm>
            <a:off x="22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31.4%</a:t>
            </a:r>
          </a:p>
        </p:txBody>
      </p:sp>
      <p:sp>
        <p:nvSpPr>
          <p:cNvPr id="49" name="d1442"/>
          <p:cNvSpPr/>
          <p:nvPr/>
        </p:nvSpPr>
        <p:spPr>
          <a:xfrm>
            <a:off x="39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42.0%</a:t>
            </a:r>
          </a:p>
        </p:txBody>
      </p:sp>
      <p:sp>
        <p:nvSpPr>
          <p:cNvPr id="50" name="d1443"/>
          <p:cNvSpPr/>
          <p:nvPr/>
        </p:nvSpPr>
        <p:spPr>
          <a:xfrm>
            <a:off x="57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44.9%</a:t>
            </a:r>
          </a:p>
        </p:txBody>
      </p:sp>
      <p:sp>
        <p:nvSpPr>
          <p:cNvPr id="51" name="d1444"/>
          <p:cNvSpPr/>
          <p:nvPr/>
        </p:nvSpPr>
        <p:spPr>
          <a:xfrm>
            <a:off x="74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43.0%</a:t>
            </a:r>
          </a:p>
        </p:txBody>
      </p:sp>
      <p:sp>
        <p:nvSpPr>
          <p:cNvPr id="52" name="d1445"/>
          <p:cNvSpPr/>
          <p:nvPr/>
        </p:nvSpPr>
        <p:spPr>
          <a:xfrm>
            <a:off x="9271680" y="4032504"/>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55%以上</a:t>
            </a:r>
          </a:p>
        </p:txBody>
      </p:sp>
      <p:sp>
        <p:nvSpPr>
          <p:cNvPr id="53" name="nt14"/>
          <p:cNvSpPr/>
          <p:nvPr/>
        </p:nvSpPr>
        <p:spPr>
          <a:xfrm>
            <a:off x="571680" y="5100000"/>
            <a:ext cx="11048400" cy="1223454"/>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3か年改定では最終単価の適用がR10となるため、R9時点では38.8〜40.8%にとどまり、R10で43.4〜46.4%に達します（2か年改定はR9で43.1〜46.1%）。いずれも目標水準47%には到達しません。</a:t>
            </a:r>
          </a:p>
          <a:p>
            <a:pPr algn="l"/>
            <a:r>
              <a:rPr lang="ja-JP" sz="1150" b="0" dirty="0">
                <a:solidFill>
                  <a:srgbClr val="78350F"/>
                </a:solidFill>
                <a:latin typeface="Noto Sans CJK JP"/>
                <a:cs typeface="Noto Sans CJK JP"/>
              </a:rPr>
              <a:t>※ 経費回収率の分母＝汚水処理費（維持管理費分）＝経常費用−減価償却費−支払利息−その他営業外費用。資本費（減価償却費−長期前受金戻入＋支払利息／R7 64,832千円）は分流式下水道等に要する経費でカバーされるため全額控除しています。</a:t>
            </a:r>
          </a:p>
          <a:p>
            <a:pPr algn="l"/>
            <a:r>
              <a:rPr lang="ja-JP" sz="1150" b="0" dirty="0">
                <a:solidFill>
                  <a:srgbClr val="78350F"/>
                </a:solidFill>
                <a:latin typeface="Noto Sans CJK JP"/>
                <a:cs typeface="Noto Sans CJK JP"/>
              </a:rPr>
              <a:t>※ R10以降の水準は2か年改定と同一に収束します。</a:t>
            </a:r>
          </a:p>
        </p:txBody>
      </p:sp>
      <p:sp>
        <p:nvSpPr>
          <p:cNvPr id="5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03-6　経費回収率の見込みと目標値（案）　農業集落排水・2か年改定</a:t>
            </a:r>
          </a:p>
        </p:txBody>
      </p:sp>
      <p:sp>
        <p:nvSpPr>
          <p:cNvPr id="17" name="th14"/>
          <p:cNvSpPr/>
          <p:nvPr/>
        </p:nvSpPr>
        <p:spPr>
          <a:xfrm>
            <a:off x="5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年度</a:t>
            </a:r>
          </a:p>
        </p:txBody>
      </p:sp>
      <p:sp>
        <p:nvSpPr>
          <p:cNvPr id="18" name="th14"/>
          <p:cNvSpPr/>
          <p:nvPr/>
        </p:nvSpPr>
        <p:spPr>
          <a:xfrm>
            <a:off x="22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改定なし</a:t>
            </a:r>
          </a:p>
        </p:txBody>
      </p:sp>
      <p:sp>
        <p:nvSpPr>
          <p:cNvPr id="19" name="th14"/>
          <p:cNvSpPr/>
          <p:nvPr/>
        </p:nvSpPr>
        <p:spPr>
          <a:xfrm>
            <a:off x="39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パターン①</a:t>
            </a:r>
          </a:p>
        </p:txBody>
      </p:sp>
      <p:sp>
        <p:nvSpPr>
          <p:cNvPr id="20" name="th14"/>
          <p:cNvSpPr/>
          <p:nvPr/>
        </p:nvSpPr>
        <p:spPr>
          <a:xfrm>
            <a:off x="57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パターン②</a:t>
            </a:r>
          </a:p>
        </p:txBody>
      </p:sp>
      <p:sp>
        <p:nvSpPr>
          <p:cNvPr id="21" name="th14"/>
          <p:cNvSpPr/>
          <p:nvPr/>
        </p:nvSpPr>
        <p:spPr>
          <a:xfrm>
            <a:off x="74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パターン④</a:t>
            </a:r>
          </a:p>
        </p:txBody>
      </p:sp>
      <p:sp>
        <p:nvSpPr>
          <p:cNvPr id="22" name="th14"/>
          <p:cNvSpPr/>
          <p:nvPr/>
        </p:nvSpPr>
        <p:spPr>
          <a:xfrm>
            <a:off x="9271680" y="1620000"/>
            <a:ext cx="187832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目標水準（案）</a:t>
            </a:r>
          </a:p>
        </p:txBody>
      </p:sp>
      <p:sp>
        <p:nvSpPr>
          <p:cNvPr id="23" name="d1400"/>
          <p:cNvSpPr/>
          <p:nvPr/>
        </p:nvSpPr>
        <p:spPr>
          <a:xfrm>
            <a:off x="5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R7</a:t>
            </a:r>
          </a:p>
        </p:txBody>
      </p:sp>
      <p:sp>
        <p:nvSpPr>
          <p:cNvPr id="24" name="d1401"/>
          <p:cNvSpPr/>
          <p:nvPr/>
        </p:nvSpPr>
        <p:spPr>
          <a:xfrm>
            <a:off x="22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39.9%</a:t>
            </a:r>
          </a:p>
        </p:txBody>
      </p:sp>
      <p:sp>
        <p:nvSpPr>
          <p:cNvPr id="25" name="d1402"/>
          <p:cNvSpPr/>
          <p:nvPr/>
        </p:nvSpPr>
        <p:spPr>
          <a:xfrm>
            <a:off x="39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39.9%</a:t>
            </a:r>
          </a:p>
        </p:txBody>
      </p:sp>
      <p:sp>
        <p:nvSpPr>
          <p:cNvPr id="26" name="d1403"/>
          <p:cNvSpPr/>
          <p:nvPr/>
        </p:nvSpPr>
        <p:spPr>
          <a:xfrm>
            <a:off x="57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39.9%</a:t>
            </a:r>
          </a:p>
        </p:txBody>
      </p:sp>
      <p:sp>
        <p:nvSpPr>
          <p:cNvPr id="27" name="d1404"/>
          <p:cNvSpPr/>
          <p:nvPr/>
        </p:nvSpPr>
        <p:spPr>
          <a:xfrm>
            <a:off x="74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39.9%</a:t>
            </a:r>
          </a:p>
        </p:txBody>
      </p:sp>
      <p:sp>
        <p:nvSpPr>
          <p:cNvPr id="28" name="d1405"/>
          <p:cNvSpPr/>
          <p:nvPr/>
        </p:nvSpPr>
        <p:spPr>
          <a:xfrm>
            <a:off x="9271680" y="1947672"/>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29" name="d1410"/>
          <p:cNvSpPr/>
          <p:nvPr/>
        </p:nvSpPr>
        <p:spPr>
          <a:xfrm>
            <a:off x="5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R8</a:t>
            </a:r>
          </a:p>
        </p:txBody>
      </p:sp>
      <p:sp>
        <p:nvSpPr>
          <p:cNvPr id="30" name="d1411"/>
          <p:cNvSpPr/>
          <p:nvPr/>
        </p:nvSpPr>
        <p:spPr>
          <a:xfrm>
            <a:off x="22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39.3%</a:t>
            </a:r>
          </a:p>
        </p:txBody>
      </p:sp>
      <p:sp>
        <p:nvSpPr>
          <p:cNvPr id="31" name="d1412"/>
          <p:cNvSpPr/>
          <p:nvPr/>
        </p:nvSpPr>
        <p:spPr>
          <a:xfrm>
            <a:off x="39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45.2%</a:t>
            </a:r>
          </a:p>
        </p:txBody>
      </p:sp>
      <p:sp>
        <p:nvSpPr>
          <p:cNvPr id="32" name="d1413"/>
          <p:cNvSpPr/>
          <p:nvPr/>
        </p:nvSpPr>
        <p:spPr>
          <a:xfrm>
            <a:off x="57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47.7%</a:t>
            </a:r>
          </a:p>
        </p:txBody>
      </p:sp>
      <p:sp>
        <p:nvSpPr>
          <p:cNvPr id="33" name="d1414"/>
          <p:cNvSpPr/>
          <p:nvPr/>
        </p:nvSpPr>
        <p:spPr>
          <a:xfrm>
            <a:off x="74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46.0%</a:t>
            </a:r>
          </a:p>
        </p:txBody>
      </p:sp>
      <p:sp>
        <p:nvSpPr>
          <p:cNvPr id="34" name="d1415"/>
          <p:cNvSpPr/>
          <p:nvPr/>
        </p:nvSpPr>
        <p:spPr>
          <a:xfrm>
            <a:off x="9271680" y="2468879"/>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35" name="d1420"/>
          <p:cNvSpPr/>
          <p:nvPr/>
        </p:nvSpPr>
        <p:spPr>
          <a:xfrm>
            <a:off x="5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R9</a:t>
            </a:r>
          </a:p>
        </p:txBody>
      </p:sp>
      <p:sp>
        <p:nvSpPr>
          <p:cNvPr id="36" name="d1421"/>
          <p:cNvSpPr/>
          <p:nvPr/>
        </p:nvSpPr>
        <p:spPr>
          <a:xfrm>
            <a:off x="22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37.6%</a:t>
            </a:r>
          </a:p>
        </p:txBody>
      </p:sp>
      <p:sp>
        <p:nvSpPr>
          <p:cNvPr id="37" name="d1422"/>
          <p:cNvSpPr/>
          <p:nvPr/>
        </p:nvSpPr>
        <p:spPr>
          <a:xfrm>
            <a:off x="39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49.6%</a:t>
            </a:r>
          </a:p>
        </p:txBody>
      </p:sp>
      <p:sp>
        <p:nvSpPr>
          <p:cNvPr id="38" name="d1423"/>
          <p:cNvSpPr/>
          <p:nvPr/>
        </p:nvSpPr>
        <p:spPr>
          <a:xfrm>
            <a:off x="57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54.2%</a:t>
            </a:r>
          </a:p>
        </p:txBody>
      </p:sp>
      <p:sp>
        <p:nvSpPr>
          <p:cNvPr id="39" name="d1424"/>
          <p:cNvSpPr/>
          <p:nvPr/>
        </p:nvSpPr>
        <p:spPr>
          <a:xfrm>
            <a:off x="74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51.1%</a:t>
            </a:r>
          </a:p>
        </p:txBody>
      </p:sp>
      <p:sp>
        <p:nvSpPr>
          <p:cNvPr id="40" name="d1425"/>
          <p:cNvSpPr/>
          <p:nvPr/>
        </p:nvSpPr>
        <p:spPr>
          <a:xfrm>
            <a:off x="9271680" y="2990087"/>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47%以上</a:t>
            </a:r>
          </a:p>
        </p:txBody>
      </p:sp>
      <p:sp>
        <p:nvSpPr>
          <p:cNvPr id="41" name="d1430"/>
          <p:cNvSpPr/>
          <p:nvPr/>
        </p:nvSpPr>
        <p:spPr>
          <a:xfrm>
            <a:off x="5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R10</a:t>
            </a:r>
          </a:p>
        </p:txBody>
      </p:sp>
      <p:sp>
        <p:nvSpPr>
          <p:cNvPr id="42" name="d1431"/>
          <p:cNvSpPr/>
          <p:nvPr/>
        </p:nvSpPr>
        <p:spPr>
          <a:xfrm>
            <a:off x="22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37.9%</a:t>
            </a:r>
          </a:p>
        </p:txBody>
      </p:sp>
      <p:sp>
        <p:nvSpPr>
          <p:cNvPr id="43" name="d1432"/>
          <p:cNvSpPr/>
          <p:nvPr/>
        </p:nvSpPr>
        <p:spPr>
          <a:xfrm>
            <a:off x="39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50.0%</a:t>
            </a:r>
          </a:p>
        </p:txBody>
      </p:sp>
      <p:sp>
        <p:nvSpPr>
          <p:cNvPr id="44" name="d1433"/>
          <p:cNvSpPr/>
          <p:nvPr/>
        </p:nvSpPr>
        <p:spPr>
          <a:xfrm>
            <a:off x="57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54.7%</a:t>
            </a:r>
          </a:p>
        </p:txBody>
      </p:sp>
      <p:sp>
        <p:nvSpPr>
          <p:cNvPr id="45" name="d1434"/>
          <p:cNvSpPr/>
          <p:nvPr/>
        </p:nvSpPr>
        <p:spPr>
          <a:xfrm>
            <a:off x="74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51.5%</a:t>
            </a:r>
          </a:p>
        </p:txBody>
      </p:sp>
      <p:sp>
        <p:nvSpPr>
          <p:cNvPr id="46" name="d1435"/>
          <p:cNvSpPr/>
          <p:nvPr/>
        </p:nvSpPr>
        <p:spPr>
          <a:xfrm>
            <a:off x="9271680" y="3511296"/>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50%以上</a:t>
            </a:r>
          </a:p>
        </p:txBody>
      </p:sp>
      <p:sp>
        <p:nvSpPr>
          <p:cNvPr id="47" name="d1440"/>
          <p:cNvSpPr/>
          <p:nvPr/>
        </p:nvSpPr>
        <p:spPr>
          <a:xfrm>
            <a:off x="5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R12</a:t>
            </a:r>
          </a:p>
        </p:txBody>
      </p:sp>
      <p:sp>
        <p:nvSpPr>
          <p:cNvPr id="48" name="d1441"/>
          <p:cNvSpPr/>
          <p:nvPr/>
        </p:nvSpPr>
        <p:spPr>
          <a:xfrm>
            <a:off x="22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36.7%</a:t>
            </a:r>
          </a:p>
        </p:txBody>
      </p:sp>
      <p:sp>
        <p:nvSpPr>
          <p:cNvPr id="49" name="d1442"/>
          <p:cNvSpPr/>
          <p:nvPr/>
        </p:nvSpPr>
        <p:spPr>
          <a:xfrm>
            <a:off x="39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48.4%</a:t>
            </a:r>
          </a:p>
        </p:txBody>
      </p:sp>
      <p:sp>
        <p:nvSpPr>
          <p:cNvPr id="50" name="d1443"/>
          <p:cNvSpPr/>
          <p:nvPr/>
        </p:nvSpPr>
        <p:spPr>
          <a:xfrm>
            <a:off x="57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52.9%</a:t>
            </a:r>
          </a:p>
        </p:txBody>
      </p:sp>
      <p:sp>
        <p:nvSpPr>
          <p:cNvPr id="51" name="d1444"/>
          <p:cNvSpPr/>
          <p:nvPr/>
        </p:nvSpPr>
        <p:spPr>
          <a:xfrm>
            <a:off x="74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49.9%</a:t>
            </a:r>
          </a:p>
        </p:txBody>
      </p:sp>
      <p:sp>
        <p:nvSpPr>
          <p:cNvPr id="52" name="d1445"/>
          <p:cNvSpPr/>
          <p:nvPr/>
        </p:nvSpPr>
        <p:spPr>
          <a:xfrm>
            <a:off x="9271680" y="4032504"/>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55%以上</a:t>
            </a:r>
          </a:p>
        </p:txBody>
      </p:sp>
      <p:sp>
        <p:nvSpPr>
          <p:cNvPr id="53" name="nt14"/>
          <p:cNvSpPr/>
          <p:nvPr/>
        </p:nvSpPr>
        <p:spPr>
          <a:xfrm>
            <a:off x="571680" y="5075301"/>
            <a:ext cx="11048400" cy="1435227"/>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審議事項：農業集落排水はパターン②でR9に54.2%となり目標水準47%（目標②）を達成しますが、R11以降は有収水量の減少により低下します。次期改定（R12）での再設定を前提とした目標設定を提案します。</a:t>
            </a:r>
          </a:p>
          <a:p>
            <a:pPr algn="l"/>
            <a:r>
              <a:rPr lang="ja-JP" sz="1150" b="0" dirty="0">
                <a:solidFill>
                  <a:srgbClr val="78350F"/>
                </a:solidFill>
                <a:latin typeface="Noto Sans CJK JP"/>
                <a:cs typeface="Noto Sans CJK JP"/>
              </a:rPr>
              <a:t>※ 目標①（経常収支比率100%以上）は別の指標です。農業集落排水がこれを達成するにはR9で使用料収入36,672千円（②改定後の約1.7倍・20㎥換算で月額税込 約5,678円）が必要で、今回の改定幅では構造的に達成できません（03-2参照）。</a:t>
            </a:r>
          </a:p>
          <a:p>
            <a:pPr algn="l"/>
            <a:r>
              <a:rPr lang="ja-JP" sz="1150" b="0" dirty="0">
                <a:solidFill>
                  <a:srgbClr val="78350F"/>
                </a:solidFill>
                <a:latin typeface="Noto Sans CJK JP"/>
                <a:cs typeface="Noto Sans CJK JP"/>
              </a:rPr>
              <a:t>※ 経費回収率の分母＝汚水処理費（維持管理費分）＝経常費用−減価償却費−支払利息−その他営業外費用。資本費（減価償却費−長期前受金戻入＋支払利息／R7 17,236千円）は分流式下水道等に要する経費でカバーされるため全額控除しています。R6決算の35.99%も同一基準（汚水処理費32,870千円）です。</a:t>
            </a:r>
          </a:p>
        </p:txBody>
      </p:sp>
      <p:sp>
        <p:nvSpPr>
          <p:cNvPr id="5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03-7　経費回収率の見込みと目標値（案）　農業集落排水・3か年改定</a:t>
            </a:r>
          </a:p>
        </p:txBody>
      </p:sp>
      <p:sp>
        <p:nvSpPr>
          <p:cNvPr id="17" name="th14"/>
          <p:cNvSpPr/>
          <p:nvPr/>
        </p:nvSpPr>
        <p:spPr>
          <a:xfrm>
            <a:off x="5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年度</a:t>
            </a:r>
          </a:p>
        </p:txBody>
      </p:sp>
      <p:sp>
        <p:nvSpPr>
          <p:cNvPr id="18" name="th14"/>
          <p:cNvSpPr/>
          <p:nvPr/>
        </p:nvSpPr>
        <p:spPr>
          <a:xfrm>
            <a:off x="22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改定なし</a:t>
            </a:r>
          </a:p>
        </p:txBody>
      </p:sp>
      <p:sp>
        <p:nvSpPr>
          <p:cNvPr id="19" name="th14"/>
          <p:cNvSpPr/>
          <p:nvPr/>
        </p:nvSpPr>
        <p:spPr>
          <a:xfrm>
            <a:off x="39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パターン①</a:t>
            </a:r>
          </a:p>
        </p:txBody>
      </p:sp>
      <p:sp>
        <p:nvSpPr>
          <p:cNvPr id="20" name="th14"/>
          <p:cNvSpPr/>
          <p:nvPr/>
        </p:nvSpPr>
        <p:spPr>
          <a:xfrm>
            <a:off x="5771680" y="1620000"/>
            <a:ext cx="15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パターン②</a:t>
            </a:r>
          </a:p>
        </p:txBody>
      </p:sp>
      <p:sp>
        <p:nvSpPr>
          <p:cNvPr id="21" name="th14"/>
          <p:cNvSpPr/>
          <p:nvPr/>
        </p:nvSpPr>
        <p:spPr>
          <a:xfrm>
            <a:off x="7471680" y="1620000"/>
            <a:ext cx="160000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パターン④</a:t>
            </a:r>
          </a:p>
        </p:txBody>
      </p:sp>
      <p:sp>
        <p:nvSpPr>
          <p:cNvPr id="22" name="th14"/>
          <p:cNvSpPr/>
          <p:nvPr/>
        </p:nvSpPr>
        <p:spPr>
          <a:xfrm>
            <a:off x="9271680" y="1620000"/>
            <a:ext cx="1878320" cy="29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30000" tIns="15000" rIns="114300" bIns="15000" anchor="ctr">
            <a:noAutofit/>
          </a:bodyPr>
          <a:lstStyle/>
          <a:p>
            <a:pPr algn="ctr"/>
            <a:r>
              <a:rPr lang="ja-JP" sz="1000" b="0" dirty="0">
                <a:solidFill>
                  <a:srgbClr val="FFFFFF"/>
                </a:solidFill>
                <a:latin typeface="Noto Sans CJK JP"/>
                <a:cs typeface="Noto Sans CJK JP"/>
              </a:rPr>
              <a:t>目標水準（案）</a:t>
            </a:r>
          </a:p>
        </p:txBody>
      </p:sp>
      <p:sp>
        <p:nvSpPr>
          <p:cNvPr id="23" name="d1400"/>
          <p:cNvSpPr/>
          <p:nvPr/>
        </p:nvSpPr>
        <p:spPr>
          <a:xfrm>
            <a:off x="5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R7</a:t>
            </a:r>
          </a:p>
        </p:txBody>
      </p:sp>
      <p:sp>
        <p:nvSpPr>
          <p:cNvPr id="24" name="d1401"/>
          <p:cNvSpPr/>
          <p:nvPr/>
        </p:nvSpPr>
        <p:spPr>
          <a:xfrm>
            <a:off x="22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39.9%</a:t>
            </a:r>
          </a:p>
        </p:txBody>
      </p:sp>
      <p:sp>
        <p:nvSpPr>
          <p:cNvPr id="25" name="d1402"/>
          <p:cNvSpPr/>
          <p:nvPr/>
        </p:nvSpPr>
        <p:spPr>
          <a:xfrm>
            <a:off x="39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39.9%</a:t>
            </a:r>
          </a:p>
        </p:txBody>
      </p:sp>
      <p:sp>
        <p:nvSpPr>
          <p:cNvPr id="26" name="d1403"/>
          <p:cNvSpPr/>
          <p:nvPr/>
        </p:nvSpPr>
        <p:spPr>
          <a:xfrm>
            <a:off x="5771680" y="1947672"/>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39.9%</a:t>
            </a:r>
          </a:p>
        </p:txBody>
      </p:sp>
      <p:sp>
        <p:nvSpPr>
          <p:cNvPr id="27" name="d1404"/>
          <p:cNvSpPr/>
          <p:nvPr/>
        </p:nvSpPr>
        <p:spPr>
          <a:xfrm>
            <a:off x="7471680" y="1947672"/>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39.9%</a:t>
            </a:r>
          </a:p>
        </p:txBody>
      </p:sp>
      <p:sp>
        <p:nvSpPr>
          <p:cNvPr id="28" name="d1405"/>
          <p:cNvSpPr/>
          <p:nvPr/>
        </p:nvSpPr>
        <p:spPr>
          <a:xfrm>
            <a:off x="9271680" y="1947672"/>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29" name="d1410"/>
          <p:cNvSpPr/>
          <p:nvPr/>
        </p:nvSpPr>
        <p:spPr>
          <a:xfrm>
            <a:off x="5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R8</a:t>
            </a:r>
          </a:p>
        </p:txBody>
      </p:sp>
      <p:sp>
        <p:nvSpPr>
          <p:cNvPr id="30" name="d1411"/>
          <p:cNvSpPr/>
          <p:nvPr/>
        </p:nvSpPr>
        <p:spPr>
          <a:xfrm>
            <a:off x="22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39.3%</a:t>
            </a:r>
          </a:p>
        </p:txBody>
      </p:sp>
      <p:sp>
        <p:nvSpPr>
          <p:cNvPr id="31" name="d1412"/>
          <p:cNvSpPr/>
          <p:nvPr/>
        </p:nvSpPr>
        <p:spPr>
          <a:xfrm>
            <a:off x="39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43.1%</a:t>
            </a:r>
          </a:p>
        </p:txBody>
      </p:sp>
      <p:sp>
        <p:nvSpPr>
          <p:cNvPr id="32" name="d1413"/>
          <p:cNvSpPr/>
          <p:nvPr/>
        </p:nvSpPr>
        <p:spPr>
          <a:xfrm>
            <a:off x="5771680" y="2468879"/>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44.7%</a:t>
            </a:r>
          </a:p>
        </p:txBody>
      </p:sp>
      <p:sp>
        <p:nvSpPr>
          <p:cNvPr id="33" name="d1414"/>
          <p:cNvSpPr/>
          <p:nvPr/>
        </p:nvSpPr>
        <p:spPr>
          <a:xfrm>
            <a:off x="7471680" y="2468879"/>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43.3%</a:t>
            </a:r>
          </a:p>
        </p:txBody>
      </p:sp>
      <p:sp>
        <p:nvSpPr>
          <p:cNvPr id="34" name="d1415"/>
          <p:cNvSpPr/>
          <p:nvPr/>
        </p:nvSpPr>
        <p:spPr>
          <a:xfrm>
            <a:off x="9271680" y="2468879"/>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a:t>
            </a:r>
          </a:p>
        </p:txBody>
      </p:sp>
      <p:sp>
        <p:nvSpPr>
          <p:cNvPr id="35" name="d1420"/>
          <p:cNvSpPr/>
          <p:nvPr/>
        </p:nvSpPr>
        <p:spPr>
          <a:xfrm>
            <a:off x="5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R9</a:t>
            </a:r>
          </a:p>
        </p:txBody>
      </p:sp>
      <p:sp>
        <p:nvSpPr>
          <p:cNvPr id="36" name="d1421"/>
          <p:cNvSpPr/>
          <p:nvPr/>
        </p:nvSpPr>
        <p:spPr>
          <a:xfrm>
            <a:off x="22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37.6%</a:t>
            </a:r>
          </a:p>
        </p:txBody>
      </p:sp>
      <p:sp>
        <p:nvSpPr>
          <p:cNvPr id="37" name="d1422"/>
          <p:cNvSpPr/>
          <p:nvPr/>
        </p:nvSpPr>
        <p:spPr>
          <a:xfrm>
            <a:off x="39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44.9%</a:t>
            </a:r>
          </a:p>
        </p:txBody>
      </p:sp>
      <p:sp>
        <p:nvSpPr>
          <p:cNvPr id="38" name="d1423"/>
          <p:cNvSpPr/>
          <p:nvPr/>
        </p:nvSpPr>
        <p:spPr>
          <a:xfrm>
            <a:off x="5771680" y="2990087"/>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48.1%</a:t>
            </a:r>
          </a:p>
        </p:txBody>
      </p:sp>
      <p:sp>
        <p:nvSpPr>
          <p:cNvPr id="39" name="d1424"/>
          <p:cNvSpPr/>
          <p:nvPr/>
        </p:nvSpPr>
        <p:spPr>
          <a:xfrm>
            <a:off x="7471680" y="2990087"/>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45.2%</a:t>
            </a:r>
          </a:p>
        </p:txBody>
      </p:sp>
      <p:sp>
        <p:nvSpPr>
          <p:cNvPr id="40" name="d1425"/>
          <p:cNvSpPr/>
          <p:nvPr/>
        </p:nvSpPr>
        <p:spPr>
          <a:xfrm>
            <a:off x="9271680" y="2990087"/>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47%以上</a:t>
            </a:r>
          </a:p>
        </p:txBody>
      </p:sp>
      <p:sp>
        <p:nvSpPr>
          <p:cNvPr id="41" name="d1430"/>
          <p:cNvSpPr/>
          <p:nvPr/>
        </p:nvSpPr>
        <p:spPr>
          <a:xfrm>
            <a:off x="5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R10</a:t>
            </a:r>
          </a:p>
        </p:txBody>
      </p:sp>
      <p:sp>
        <p:nvSpPr>
          <p:cNvPr id="42" name="d1431"/>
          <p:cNvSpPr/>
          <p:nvPr/>
        </p:nvSpPr>
        <p:spPr>
          <a:xfrm>
            <a:off x="22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37.9%</a:t>
            </a:r>
          </a:p>
        </p:txBody>
      </p:sp>
      <p:sp>
        <p:nvSpPr>
          <p:cNvPr id="43" name="d1432"/>
          <p:cNvSpPr/>
          <p:nvPr/>
        </p:nvSpPr>
        <p:spPr>
          <a:xfrm>
            <a:off x="39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50.0%</a:t>
            </a:r>
          </a:p>
        </p:txBody>
      </p:sp>
      <p:sp>
        <p:nvSpPr>
          <p:cNvPr id="44" name="d1433"/>
          <p:cNvSpPr/>
          <p:nvPr/>
        </p:nvSpPr>
        <p:spPr>
          <a:xfrm>
            <a:off x="5771680" y="3511296"/>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54.7%</a:t>
            </a:r>
          </a:p>
        </p:txBody>
      </p:sp>
      <p:sp>
        <p:nvSpPr>
          <p:cNvPr id="45" name="d1434"/>
          <p:cNvSpPr/>
          <p:nvPr/>
        </p:nvSpPr>
        <p:spPr>
          <a:xfrm>
            <a:off x="7471680" y="3511296"/>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51.5%</a:t>
            </a:r>
          </a:p>
        </p:txBody>
      </p:sp>
      <p:sp>
        <p:nvSpPr>
          <p:cNvPr id="46" name="d1435"/>
          <p:cNvSpPr/>
          <p:nvPr/>
        </p:nvSpPr>
        <p:spPr>
          <a:xfrm>
            <a:off x="9271680" y="3511296"/>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50%以上</a:t>
            </a:r>
          </a:p>
        </p:txBody>
      </p:sp>
      <p:sp>
        <p:nvSpPr>
          <p:cNvPr id="47" name="d1440"/>
          <p:cNvSpPr/>
          <p:nvPr/>
        </p:nvSpPr>
        <p:spPr>
          <a:xfrm>
            <a:off x="5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475569"/>
                </a:solidFill>
                <a:latin typeface="Noto Sans CJK JP"/>
                <a:cs typeface="Noto Sans CJK JP"/>
              </a:rPr>
              <a:t>R12</a:t>
            </a:r>
          </a:p>
        </p:txBody>
      </p:sp>
      <p:sp>
        <p:nvSpPr>
          <p:cNvPr id="48" name="d1441"/>
          <p:cNvSpPr/>
          <p:nvPr/>
        </p:nvSpPr>
        <p:spPr>
          <a:xfrm>
            <a:off x="22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B91C1C"/>
                </a:solidFill>
                <a:latin typeface="Arial"/>
                <a:cs typeface="Noto Sans CJK JP"/>
              </a:rPr>
              <a:t>36.7%</a:t>
            </a:r>
          </a:p>
        </p:txBody>
      </p:sp>
      <p:sp>
        <p:nvSpPr>
          <p:cNvPr id="49" name="d1442"/>
          <p:cNvSpPr/>
          <p:nvPr/>
        </p:nvSpPr>
        <p:spPr>
          <a:xfrm>
            <a:off x="39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48.4%</a:t>
            </a:r>
          </a:p>
        </p:txBody>
      </p:sp>
      <p:sp>
        <p:nvSpPr>
          <p:cNvPr id="50" name="d1443"/>
          <p:cNvSpPr/>
          <p:nvPr/>
        </p:nvSpPr>
        <p:spPr>
          <a:xfrm>
            <a:off x="5771680" y="4032504"/>
            <a:ext cx="15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66534"/>
                </a:solidFill>
                <a:latin typeface="Arial"/>
                <a:cs typeface="Noto Sans CJK JP"/>
              </a:rPr>
              <a:t>52.9%</a:t>
            </a:r>
          </a:p>
        </p:txBody>
      </p:sp>
      <p:sp>
        <p:nvSpPr>
          <p:cNvPr id="51" name="d1444"/>
          <p:cNvSpPr/>
          <p:nvPr/>
        </p:nvSpPr>
        <p:spPr>
          <a:xfrm>
            <a:off x="7471680" y="4032504"/>
            <a:ext cx="160000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0" dirty="0">
                <a:solidFill>
                  <a:srgbClr val="334155"/>
                </a:solidFill>
                <a:latin typeface="Arial"/>
                <a:cs typeface="Noto Sans CJK JP"/>
              </a:rPr>
              <a:t>49.9%</a:t>
            </a:r>
          </a:p>
        </p:txBody>
      </p:sp>
      <p:sp>
        <p:nvSpPr>
          <p:cNvPr id="52" name="d1445"/>
          <p:cNvSpPr/>
          <p:nvPr/>
        </p:nvSpPr>
        <p:spPr>
          <a:xfrm>
            <a:off x="9271680" y="4032504"/>
            <a:ext cx="1878320" cy="493776"/>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25000" tIns="12000" rIns="114300" bIns="12000" anchor="ctr">
            <a:noAutofit/>
          </a:bodyPr>
          <a:lstStyle/>
          <a:p>
            <a:pPr algn="ctr"/>
            <a:r>
              <a:rPr lang="ja-JP" sz="1100" b="1" dirty="0">
                <a:solidFill>
                  <a:srgbClr val="1E3A8A"/>
                </a:solidFill>
                <a:latin typeface="Arial"/>
                <a:cs typeface="Noto Sans CJK JP"/>
              </a:rPr>
              <a:t>55%以上</a:t>
            </a:r>
          </a:p>
        </p:txBody>
      </p:sp>
      <p:sp>
        <p:nvSpPr>
          <p:cNvPr id="53" name="nt14"/>
          <p:cNvSpPr/>
          <p:nvPr/>
        </p:nvSpPr>
        <p:spPr>
          <a:xfrm>
            <a:off x="571680" y="5100000"/>
            <a:ext cx="11048400" cy="1223454"/>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3か年改定では最終単価の適用がR10となるため、R9時点では44.9〜48.1%となり、目標水準47%を上回るのはパターン②のみです（2か年改定は②54.2%・④51.1%・①49.6%）。</a:t>
            </a:r>
          </a:p>
          <a:p>
            <a:pPr algn="l"/>
            <a:r>
              <a:rPr lang="ja-JP" sz="1150" b="0" dirty="0">
                <a:solidFill>
                  <a:srgbClr val="78350F"/>
                </a:solidFill>
                <a:latin typeface="Noto Sans CJK JP"/>
                <a:cs typeface="Noto Sans CJK JP"/>
              </a:rPr>
              <a:t>※ 経費回収率の分母＝汚水処理費（維持管理費分）＝経常費用−減価償却費−支払利息−その他営業外費用。資本費（減価償却費−長期前受金戻入＋支払利息／R7 17,236千円）は分流式下水道等に要する経費でカバーされるため全額控除しています。</a:t>
            </a:r>
          </a:p>
          <a:p>
            <a:pPr algn="l"/>
            <a:r>
              <a:rPr lang="ja-JP" sz="1150" b="0" dirty="0">
                <a:solidFill>
                  <a:srgbClr val="78350F"/>
                </a:solidFill>
                <a:latin typeface="Noto Sans CJK JP"/>
                <a:cs typeface="Noto Sans CJK JP"/>
              </a:rPr>
              <a:t>※ R10以降の水準は2か年改定と同一に収束します。</a:t>
            </a:r>
          </a:p>
        </p:txBody>
      </p:sp>
      <p:sp>
        <p:nvSpPr>
          <p:cNvPr id="54"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200" b="0" dirty="0">
                <a:solidFill>
                  <a:srgbClr val="1E293B"/>
                </a:solidFill>
                <a:latin typeface="Arial"/>
                <a:cs typeface="Noto Sans CJK JP"/>
              </a:rPr>
              <a:t>03-8　パターン別　経常収支比率・経費回収率の見込み比較（2か年改定）</a:t>
            </a:r>
          </a:p>
        </p:txBody>
      </p:sp>
      <p:sp>
        <p:nvSpPr>
          <p:cNvPr id="14" name="hcr"/>
          <p:cNvSpPr/>
          <p:nvPr/>
        </p:nvSpPr>
        <p:spPr>
          <a:xfrm>
            <a:off x="380000" y="1380000"/>
            <a:ext cx="1143176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経常収支比率（目標：単年度100%以上）</a:t>
            </a:r>
          </a:p>
        </p:txBody>
      </p:sp>
      <p:sp>
        <p:nvSpPr>
          <p:cNvPr id="15" name="gpub"/>
          <p:cNvSpPr/>
          <p:nvPr/>
        </p:nvSpPr>
        <p:spPr>
          <a:xfrm>
            <a:off x="1280000" y="169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gagr"/>
          <p:cNvSpPr/>
          <p:nvPr/>
        </p:nvSpPr>
        <p:spPr>
          <a:xfrm>
            <a:off x="5930000" y="169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17" name="th0"/>
          <p:cNvSpPr/>
          <p:nvPr/>
        </p:nvSpPr>
        <p:spPr>
          <a:xfrm>
            <a:off x="380000" y="196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18" name="th1"/>
          <p:cNvSpPr/>
          <p:nvPr/>
        </p:nvSpPr>
        <p:spPr>
          <a:xfrm>
            <a:off x="12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19" name="th2"/>
          <p:cNvSpPr/>
          <p:nvPr/>
        </p:nvSpPr>
        <p:spPr>
          <a:xfrm>
            <a:off x="28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0" name="th3"/>
          <p:cNvSpPr/>
          <p:nvPr/>
        </p:nvSpPr>
        <p:spPr>
          <a:xfrm>
            <a:off x="43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1" name="th4"/>
          <p:cNvSpPr/>
          <p:nvPr/>
        </p:nvSpPr>
        <p:spPr>
          <a:xfrm>
            <a:off x="59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22" name="th5"/>
          <p:cNvSpPr/>
          <p:nvPr/>
        </p:nvSpPr>
        <p:spPr>
          <a:xfrm>
            <a:off x="74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3" name="th6"/>
          <p:cNvSpPr/>
          <p:nvPr/>
        </p:nvSpPr>
        <p:spPr>
          <a:xfrm>
            <a:off x="9030000" y="196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4" name="cr00"/>
          <p:cNvSpPr/>
          <p:nvPr/>
        </p:nvSpPr>
        <p:spPr>
          <a:xfrm>
            <a:off x="380000" y="228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25" name="cr01"/>
          <p:cNvSpPr/>
          <p:nvPr/>
        </p:nvSpPr>
        <p:spPr>
          <a:xfrm>
            <a:off x="12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6" name="cr02"/>
          <p:cNvSpPr/>
          <p:nvPr/>
        </p:nvSpPr>
        <p:spPr>
          <a:xfrm>
            <a:off x="28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7" name="cr03"/>
          <p:cNvSpPr/>
          <p:nvPr/>
        </p:nvSpPr>
        <p:spPr>
          <a:xfrm>
            <a:off x="43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8" name="cr04"/>
          <p:cNvSpPr/>
          <p:nvPr/>
        </p:nvSpPr>
        <p:spPr>
          <a:xfrm>
            <a:off x="59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29" name="cr05"/>
          <p:cNvSpPr/>
          <p:nvPr/>
        </p:nvSpPr>
        <p:spPr>
          <a:xfrm>
            <a:off x="74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30" name="cr06"/>
          <p:cNvSpPr/>
          <p:nvPr/>
        </p:nvSpPr>
        <p:spPr>
          <a:xfrm>
            <a:off x="9030000" y="228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31" name="cr10"/>
          <p:cNvSpPr/>
          <p:nvPr/>
        </p:nvSpPr>
        <p:spPr>
          <a:xfrm>
            <a:off x="380000" y="260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32" name="cr11"/>
          <p:cNvSpPr/>
          <p:nvPr/>
        </p:nvSpPr>
        <p:spPr>
          <a:xfrm>
            <a:off x="12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97.6%</a:t>
            </a:r>
          </a:p>
        </p:txBody>
      </p:sp>
      <p:sp>
        <p:nvSpPr>
          <p:cNvPr id="33" name="cr12"/>
          <p:cNvSpPr/>
          <p:nvPr/>
        </p:nvSpPr>
        <p:spPr>
          <a:xfrm>
            <a:off x="28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98.1%</a:t>
            </a:r>
          </a:p>
        </p:txBody>
      </p:sp>
      <p:sp>
        <p:nvSpPr>
          <p:cNvPr id="34" name="cr13"/>
          <p:cNvSpPr/>
          <p:nvPr/>
        </p:nvSpPr>
        <p:spPr>
          <a:xfrm>
            <a:off x="43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97.8%</a:t>
            </a:r>
          </a:p>
        </p:txBody>
      </p:sp>
      <p:sp>
        <p:nvSpPr>
          <p:cNvPr id="35" name="cr14"/>
          <p:cNvSpPr/>
          <p:nvPr/>
        </p:nvSpPr>
        <p:spPr>
          <a:xfrm>
            <a:off x="59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83.4%</a:t>
            </a:r>
          </a:p>
        </p:txBody>
      </p:sp>
      <p:sp>
        <p:nvSpPr>
          <p:cNvPr id="36" name="cr15"/>
          <p:cNvSpPr/>
          <p:nvPr/>
        </p:nvSpPr>
        <p:spPr>
          <a:xfrm>
            <a:off x="74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84.2%</a:t>
            </a:r>
          </a:p>
        </p:txBody>
      </p:sp>
      <p:sp>
        <p:nvSpPr>
          <p:cNvPr id="37" name="cr16"/>
          <p:cNvSpPr/>
          <p:nvPr/>
        </p:nvSpPr>
        <p:spPr>
          <a:xfrm>
            <a:off x="9030000" y="260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83.7%</a:t>
            </a:r>
          </a:p>
        </p:txBody>
      </p:sp>
      <p:sp>
        <p:nvSpPr>
          <p:cNvPr id="38" name="cr20"/>
          <p:cNvSpPr/>
          <p:nvPr/>
        </p:nvSpPr>
        <p:spPr>
          <a:xfrm>
            <a:off x="380000" y="292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39" name="cr21"/>
          <p:cNvSpPr/>
          <p:nvPr/>
        </p:nvSpPr>
        <p:spPr>
          <a:xfrm>
            <a:off x="12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100.0%</a:t>
            </a:r>
          </a:p>
        </p:txBody>
      </p:sp>
      <p:sp>
        <p:nvSpPr>
          <p:cNvPr id="40" name="cr22"/>
          <p:cNvSpPr/>
          <p:nvPr/>
        </p:nvSpPr>
        <p:spPr>
          <a:xfrm>
            <a:off x="28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101.1%</a:t>
            </a:r>
          </a:p>
        </p:txBody>
      </p:sp>
      <p:sp>
        <p:nvSpPr>
          <p:cNvPr id="41" name="cr23"/>
          <p:cNvSpPr/>
          <p:nvPr/>
        </p:nvSpPr>
        <p:spPr>
          <a:xfrm>
            <a:off x="43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100.4%</a:t>
            </a:r>
          </a:p>
        </p:txBody>
      </p:sp>
      <p:sp>
        <p:nvSpPr>
          <p:cNvPr id="42" name="cr24"/>
          <p:cNvSpPr/>
          <p:nvPr/>
        </p:nvSpPr>
        <p:spPr>
          <a:xfrm>
            <a:off x="59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84.0%</a:t>
            </a:r>
          </a:p>
        </p:txBody>
      </p:sp>
      <p:sp>
        <p:nvSpPr>
          <p:cNvPr id="43" name="cr25"/>
          <p:cNvSpPr/>
          <p:nvPr/>
        </p:nvSpPr>
        <p:spPr>
          <a:xfrm>
            <a:off x="74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85.8%</a:t>
            </a:r>
          </a:p>
        </p:txBody>
      </p:sp>
      <p:sp>
        <p:nvSpPr>
          <p:cNvPr id="44" name="cr26"/>
          <p:cNvSpPr/>
          <p:nvPr/>
        </p:nvSpPr>
        <p:spPr>
          <a:xfrm>
            <a:off x="9030000" y="292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84.6%</a:t>
            </a:r>
          </a:p>
        </p:txBody>
      </p:sp>
      <p:sp>
        <p:nvSpPr>
          <p:cNvPr id="45" name="her"/>
          <p:cNvSpPr/>
          <p:nvPr/>
        </p:nvSpPr>
        <p:spPr>
          <a:xfrm>
            <a:off x="380000" y="3330000"/>
            <a:ext cx="1143176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経費回収率（目標：47%以上）</a:t>
            </a:r>
          </a:p>
        </p:txBody>
      </p:sp>
      <p:sp>
        <p:nvSpPr>
          <p:cNvPr id="46" name="gpub2"/>
          <p:cNvSpPr/>
          <p:nvPr/>
        </p:nvSpPr>
        <p:spPr>
          <a:xfrm>
            <a:off x="1280000" y="364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7" name="gagr2"/>
          <p:cNvSpPr/>
          <p:nvPr/>
        </p:nvSpPr>
        <p:spPr>
          <a:xfrm>
            <a:off x="5930000" y="364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8" name="th20"/>
          <p:cNvSpPr/>
          <p:nvPr/>
        </p:nvSpPr>
        <p:spPr>
          <a:xfrm>
            <a:off x="380000" y="391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49" name="th21"/>
          <p:cNvSpPr/>
          <p:nvPr/>
        </p:nvSpPr>
        <p:spPr>
          <a:xfrm>
            <a:off x="12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0" name="th22"/>
          <p:cNvSpPr/>
          <p:nvPr/>
        </p:nvSpPr>
        <p:spPr>
          <a:xfrm>
            <a:off x="28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1" name="th23"/>
          <p:cNvSpPr/>
          <p:nvPr/>
        </p:nvSpPr>
        <p:spPr>
          <a:xfrm>
            <a:off x="43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2" name="th24"/>
          <p:cNvSpPr/>
          <p:nvPr/>
        </p:nvSpPr>
        <p:spPr>
          <a:xfrm>
            <a:off x="59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3" name="th25"/>
          <p:cNvSpPr/>
          <p:nvPr/>
        </p:nvSpPr>
        <p:spPr>
          <a:xfrm>
            <a:off x="74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4" name="th26"/>
          <p:cNvSpPr/>
          <p:nvPr/>
        </p:nvSpPr>
        <p:spPr>
          <a:xfrm>
            <a:off x="9030000" y="391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5" name="er00"/>
          <p:cNvSpPr/>
          <p:nvPr/>
        </p:nvSpPr>
        <p:spPr>
          <a:xfrm>
            <a:off x="380000" y="423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56" name="er01"/>
          <p:cNvSpPr/>
          <p:nvPr/>
        </p:nvSpPr>
        <p:spPr>
          <a:xfrm>
            <a:off x="12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7" name="er02"/>
          <p:cNvSpPr/>
          <p:nvPr/>
        </p:nvSpPr>
        <p:spPr>
          <a:xfrm>
            <a:off x="28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8" name="er03"/>
          <p:cNvSpPr/>
          <p:nvPr/>
        </p:nvSpPr>
        <p:spPr>
          <a:xfrm>
            <a:off x="43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9" name="er04"/>
          <p:cNvSpPr/>
          <p:nvPr/>
        </p:nvSpPr>
        <p:spPr>
          <a:xfrm>
            <a:off x="59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0" name="er05"/>
          <p:cNvSpPr/>
          <p:nvPr/>
        </p:nvSpPr>
        <p:spPr>
          <a:xfrm>
            <a:off x="74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1" name="er06"/>
          <p:cNvSpPr/>
          <p:nvPr/>
        </p:nvSpPr>
        <p:spPr>
          <a:xfrm>
            <a:off x="9030000" y="423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2" name="er10"/>
          <p:cNvSpPr/>
          <p:nvPr/>
        </p:nvSpPr>
        <p:spPr>
          <a:xfrm>
            <a:off x="380000" y="455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63" name="er11"/>
          <p:cNvSpPr/>
          <p:nvPr/>
        </p:nvSpPr>
        <p:spPr>
          <a:xfrm>
            <a:off x="12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38.5%</a:t>
            </a:r>
          </a:p>
        </p:txBody>
      </p:sp>
      <p:sp>
        <p:nvSpPr>
          <p:cNvPr id="64" name="er12"/>
          <p:cNvSpPr/>
          <p:nvPr/>
        </p:nvSpPr>
        <p:spPr>
          <a:xfrm>
            <a:off x="28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40.0%</a:t>
            </a:r>
          </a:p>
        </p:txBody>
      </p:sp>
      <p:sp>
        <p:nvSpPr>
          <p:cNvPr id="65" name="er13"/>
          <p:cNvSpPr/>
          <p:nvPr/>
        </p:nvSpPr>
        <p:spPr>
          <a:xfrm>
            <a:off x="43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39.0%</a:t>
            </a:r>
          </a:p>
        </p:txBody>
      </p:sp>
      <p:sp>
        <p:nvSpPr>
          <p:cNvPr id="66" name="er14"/>
          <p:cNvSpPr/>
          <p:nvPr/>
        </p:nvSpPr>
        <p:spPr>
          <a:xfrm>
            <a:off x="59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45.2%</a:t>
            </a:r>
          </a:p>
        </p:txBody>
      </p:sp>
      <p:sp>
        <p:nvSpPr>
          <p:cNvPr id="67" name="er15"/>
          <p:cNvSpPr/>
          <p:nvPr/>
        </p:nvSpPr>
        <p:spPr>
          <a:xfrm>
            <a:off x="74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47.7%</a:t>
            </a:r>
          </a:p>
        </p:txBody>
      </p:sp>
      <p:sp>
        <p:nvSpPr>
          <p:cNvPr id="68" name="er16"/>
          <p:cNvSpPr/>
          <p:nvPr/>
        </p:nvSpPr>
        <p:spPr>
          <a:xfrm>
            <a:off x="9030000" y="455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46.0%</a:t>
            </a:r>
          </a:p>
        </p:txBody>
      </p:sp>
      <p:sp>
        <p:nvSpPr>
          <p:cNvPr id="69" name="er20"/>
          <p:cNvSpPr/>
          <p:nvPr/>
        </p:nvSpPr>
        <p:spPr>
          <a:xfrm>
            <a:off x="380000" y="487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70" name="er21"/>
          <p:cNvSpPr/>
          <p:nvPr/>
        </p:nvSpPr>
        <p:spPr>
          <a:xfrm>
            <a:off x="12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43.1%</a:t>
            </a:r>
          </a:p>
        </p:txBody>
      </p:sp>
      <p:sp>
        <p:nvSpPr>
          <p:cNvPr id="71" name="er22"/>
          <p:cNvSpPr/>
          <p:nvPr/>
        </p:nvSpPr>
        <p:spPr>
          <a:xfrm>
            <a:off x="28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46.1%</a:t>
            </a:r>
          </a:p>
        </p:txBody>
      </p:sp>
      <p:sp>
        <p:nvSpPr>
          <p:cNvPr id="72" name="er23"/>
          <p:cNvSpPr/>
          <p:nvPr/>
        </p:nvSpPr>
        <p:spPr>
          <a:xfrm>
            <a:off x="43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44.1%</a:t>
            </a:r>
          </a:p>
        </p:txBody>
      </p:sp>
      <p:sp>
        <p:nvSpPr>
          <p:cNvPr id="73" name="er24"/>
          <p:cNvSpPr/>
          <p:nvPr/>
        </p:nvSpPr>
        <p:spPr>
          <a:xfrm>
            <a:off x="59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49.6%</a:t>
            </a:r>
          </a:p>
        </p:txBody>
      </p:sp>
      <p:sp>
        <p:nvSpPr>
          <p:cNvPr id="74" name="er25"/>
          <p:cNvSpPr/>
          <p:nvPr/>
        </p:nvSpPr>
        <p:spPr>
          <a:xfrm>
            <a:off x="74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54.2%</a:t>
            </a:r>
          </a:p>
        </p:txBody>
      </p:sp>
      <p:sp>
        <p:nvSpPr>
          <p:cNvPr id="75" name="er26"/>
          <p:cNvSpPr/>
          <p:nvPr/>
        </p:nvSpPr>
        <p:spPr>
          <a:xfrm>
            <a:off x="9030000" y="487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51.1%</a:t>
            </a:r>
          </a:p>
        </p:txBody>
      </p:sp>
      <p:sp>
        <p:nvSpPr>
          <p:cNvPr id="76" name="note"/>
          <p:cNvSpPr/>
          <p:nvPr/>
        </p:nvSpPr>
        <p:spPr>
          <a:xfrm>
            <a:off x="380000" y="5243152"/>
            <a:ext cx="11431760" cy="938022"/>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使用料収入が最も大きいパターン②が両指標とも最良（R9：公共 経常101.1%・回収46.1%／農集 回収54.2%）。④・①がこれに続きます。公共下水道は3案ともR9に経常収支比率100%以上を達成する一方、農業集落排水は3案とも100%未満にとどまります。</a:t>
            </a:r>
          </a:p>
          <a:p>
            <a:pPr algn="l"/>
            <a:r>
              <a:rPr lang="ja-JP" sz="1050" b="0" dirty="0">
                <a:solidFill>
                  <a:srgbClr val="78350F"/>
                </a:solidFill>
                <a:latin typeface="Arial"/>
                <a:cs typeface="Noto Sans CJK JP"/>
              </a:rPr>
              <a:t>▶ 審議事項：農業集落排水の目標①（経常収支比率100%以上）は、今回改定では構造的に達成できないため（R9で36,672千円＝②改定後の約1.7倍の使用料収入が必要）、長期的な達成を目指す目標として位置付けることの可否をご審議ください。</a:t>
            </a:r>
          </a:p>
        </p:txBody>
      </p:sp>
      <p:sp>
        <p:nvSpPr>
          <p:cNvPr id="77"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2376"/>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2200" b="0" dirty="0">
                <a:solidFill>
                  <a:srgbClr val="1E293B"/>
                </a:solidFill>
                <a:latin typeface="Arial"/>
                <a:cs typeface="Noto Sans CJK JP"/>
              </a:rPr>
              <a:t>03-9　パターン別　経常収支比率・経費回収率の見込み比較（3か年改定）</a:t>
            </a:r>
          </a:p>
        </p:txBody>
      </p:sp>
      <p:sp>
        <p:nvSpPr>
          <p:cNvPr id="14" name="hcr"/>
          <p:cNvSpPr/>
          <p:nvPr/>
        </p:nvSpPr>
        <p:spPr>
          <a:xfrm>
            <a:off x="380000" y="1380000"/>
            <a:ext cx="1143176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経常収支比率（目標：単年度100%以上）</a:t>
            </a:r>
          </a:p>
        </p:txBody>
      </p:sp>
      <p:sp>
        <p:nvSpPr>
          <p:cNvPr id="15" name="gpub"/>
          <p:cNvSpPr/>
          <p:nvPr/>
        </p:nvSpPr>
        <p:spPr>
          <a:xfrm>
            <a:off x="1280000" y="169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16" name="gagr"/>
          <p:cNvSpPr/>
          <p:nvPr/>
        </p:nvSpPr>
        <p:spPr>
          <a:xfrm>
            <a:off x="5930000" y="169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17" name="th0"/>
          <p:cNvSpPr/>
          <p:nvPr/>
        </p:nvSpPr>
        <p:spPr>
          <a:xfrm>
            <a:off x="380000" y="196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18" name="th1"/>
          <p:cNvSpPr/>
          <p:nvPr/>
        </p:nvSpPr>
        <p:spPr>
          <a:xfrm>
            <a:off x="12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19" name="th2"/>
          <p:cNvSpPr/>
          <p:nvPr/>
        </p:nvSpPr>
        <p:spPr>
          <a:xfrm>
            <a:off x="28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0" name="th3"/>
          <p:cNvSpPr/>
          <p:nvPr/>
        </p:nvSpPr>
        <p:spPr>
          <a:xfrm>
            <a:off x="43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1" name="th4"/>
          <p:cNvSpPr/>
          <p:nvPr/>
        </p:nvSpPr>
        <p:spPr>
          <a:xfrm>
            <a:off x="593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22" name="th5"/>
          <p:cNvSpPr/>
          <p:nvPr/>
        </p:nvSpPr>
        <p:spPr>
          <a:xfrm>
            <a:off x="7480000" y="196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23" name="th6"/>
          <p:cNvSpPr/>
          <p:nvPr/>
        </p:nvSpPr>
        <p:spPr>
          <a:xfrm>
            <a:off x="9030000" y="196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24" name="cr00"/>
          <p:cNvSpPr/>
          <p:nvPr/>
        </p:nvSpPr>
        <p:spPr>
          <a:xfrm>
            <a:off x="380000" y="228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25" name="cr01"/>
          <p:cNvSpPr/>
          <p:nvPr/>
        </p:nvSpPr>
        <p:spPr>
          <a:xfrm>
            <a:off x="12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6" name="cr02"/>
          <p:cNvSpPr/>
          <p:nvPr/>
        </p:nvSpPr>
        <p:spPr>
          <a:xfrm>
            <a:off x="28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7" name="cr03"/>
          <p:cNvSpPr/>
          <p:nvPr/>
        </p:nvSpPr>
        <p:spPr>
          <a:xfrm>
            <a:off x="43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98.5%</a:t>
            </a:r>
          </a:p>
        </p:txBody>
      </p:sp>
      <p:sp>
        <p:nvSpPr>
          <p:cNvPr id="28" name="cr04"/>
          <p:cNvSpPr/>
          <p:nvPr/>
        </p:nvSpPr>
        <p:spPr>
          <a:xfrm>
            <a:off x="593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29" name="cr05"/>
          <p:cNvSpPr/>
          <p:nvPr/>
        </p:nvSpPr>
        <p:spPr>
          <a:xfrm>
            <a:off x="7480000" y="228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30" name="cr06"/>
          <p:cNvSpPr/>
          <p:nvPr/>
        </p:nvSpPr>
        <p:spPr>
          <a:xfrm>
            <a:off x="9030000" y="228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82.0%</a:t>
            </a:r>
          </a:p>
        </p:txBody>
      </p:sp>
      <p:sp>
        <p:nvSpPr>
          <p:cNvPr id="31" name="cr10"/>
          <p:cNvSpPr/>
          <p:nvPr/>
        </p:nvSpPr>
        <p:spPr>
          <a:xfrm>
            <a:off x="380000" y="260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32" name="cr11"/>
          <p:cNvSpPr/>
          <p:nvPr/>
        </p:nvSpPr>
        <p:spPr>
          <a:xfrm>
            <a:off x="12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97.1%</a:t>
            </a:r>
          </a:p>
        </p:txBody>
      </p:sp>
      <p:sp>
        <p:nvSpPr>
          <p:cNvPr id="33" name="cr12"/>
          <p:cNvSpPr/>
          <p:nvPr/>
        </p:nvSpPr>
        <p:spPr>
          <a:xfrm>
            <a:off x="28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97.4%</a:t>
            </a:r>
          </a:p>
        </p:txBody>
      </p:sp>
      <p:sp>
        <p:nvSpPr>
          <p:cNvPr id="34" name="cr13"/>
          <p:cNvSpPr/>
          <p:nvPr/>
        </p:nvSpPr>
        <p:spPr>
          <a:xfrm>
            <a:off x="43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97.1%</a:t>
            </a:r>
          </a:p>
        </p:txBody>
      </p:sp>
      <p:sp>
        <p:nvSpPr>
          <p:cNvPr id="35" name="cr14"/>
          <p:cNvSpPr/>
          <p:nvPr/>
        </p:nvSpPr>
        <p:spPr>
          <a:xfrm>
            <a:off x="593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82.7%</a:t>
            </a:r>
          </a:p>
        </p:txBody>
      </p:sp>
      <p:sp>
        <p:nvSpPr>
          <p:cNvPr id="36" name="cr15"/>
          <p:cNvSpPr/>
          <p:nvPr/>
        </p:nvSpPr>
        <p:spPr>
          <a:xfrm>
            <a:off x="7480000" y="260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83.2%</a:t>
            </a:r>
          </a:p>
        </p:txBody>
      </p:sp>
      <p:sp>
        <p:nvSpPr>
          <p:cNvPr id="37" name="cr16"/>
          <p:cNvSpPr/>
          <p:nvPr/>
        </p:nvSpPr>
        <p:spPr>
          <a:xfrm>
            <a:off x="9030000" y="260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82.7%</a:t>
            </a:r>
          </a:p>
        </p:txBody>
      </p:sp>
      <p:sp>
        <p:nvSpPr>
          <p:cNvPr id="38" name="cr20"/>
          <p:cNvSpPr/>
          <p:nvPr/>
        </p:nvSpPr>
        <p:spPr>
          <a:xfrm>
            <a:off x="380000" y="292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39" name="cr21"/>
          <p:cNvSpPr/>
          <p:nvPr/>
        </p:nvSpPr>
        <p:spPr>
          <a:xfrm>
            <a:off x="12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98.4%</a:t>
            </a:r>
          </a:p>
        </p:txBody>
      </p:sp>
      <p:sp>
        <p:nvSpPr>
          <p:cNvPr id="40" name="cr22"/>
          <p:cNvSpPr/>
          <p:nvPr/>
        </p:nvSpPr>
        <p:spPr>
          <a:xfrm>
            <a:off x="28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99.1%</a:t>
            </a:r>
          </a:p>
        </p:txBody>
      </p:sp>
      <p:sp>
        <p:nvSpPr>
          <p:cNvPr id="41" name="cr23"/>
          <p:cNvSpPr/>
          <p:nvPr/>
        </p:nvSpPr>
        <p:spPr>
          <a:xfrm>
            <a:off x="43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98.5%</a:t>
            </a:r>
          </a:p>
        </p:txBody>
      </p:sp>
      <p:sp>
        <p:nvSpPr>
          <p:cNvPr id="42" name="cr24"/>
          <p:cNvSpPr/>
          <p:nvPr/>
        </p:nvSpPr>
        <p:spPr>
          <a:xfrm>
            <a:off x="593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82.4%</a:t>
            </a:r>
          </a:p>
        </p:txBody>
      </p:sp>
      <p:sp>
        <p:nvSpPr>
          <p:cNvPr id="43" name="cr25"/>
          <p:cNvSpPr/>
          <p:nvPr/>
        </p:nvSpPr>
        <p:spPr>
          <a:xfrm>
            <a:off x="7480000" y="292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83.5%</a:t>
            </a:r>
          </a:p>
        </p:txBody>
      </p:sp>
      <p:sp>
        <p:nvSpPr>
          <p:cNvPr id="44" name="cr26"/>
          <p:cNvSpPr/>
          <p:nvPr/>
        </p:nvSpPr>
        <p:spPr>
          <a:xfrm>
            <a:off x="9030000" y="292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82.5%</a:t>
            </a:r>
          </a:p>
        </p:txBody>
      </p:sp>
      <p:sp>
        <p:nvSpPr>
          <p:cNvPr id="45" name="her"/>
          <p:cNvSpPr/>
          <p:nvPr/>
        </p:nvSpPr>
        <p:spPr>
          <a:xfrm>
            <a:off x="380000" y="3330000"/>
            <a:ext cx="1143176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l"/>
            <a:r>
              <a:rPr lang="ja-JP" sz="1100" b="0" dirty="0">
                <a:solidFill>
                  <a:srgbClr val="FFFFFF"/>
                </a:solidFill>
                <a:latin typeface="Arial"/>
                <a:cs typeface="Noto Sans CJK JP"/>
              </a:rPr>
              <a:t>  経費回収率（目標：47%以上）</a:t>
            </a:r>
          </a:p>
        </p:txBody>
      </p:sp>
      <p:sp>
        <p:nvSpPr>
          <p:cNvPr id="46" name="gpub2"/>
          <p:cNvSpPr/>
          <p:nvPr/>
        </p:nvSpPr>
        <p:spPr>
          <a:xfrm>
            <a:off x="1280000" y="3640000"/>
            <a:ext cx="4650000" cy="24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公共下水道</a:t>
            </a:r>
          </a:p>
        </p:txBody>
      </p:sp>
      <p:sp>
        <p:nvSpPr>
          <p:cNvPr id="47" name="gagr2"/>
          <p:cNvSpPr/>
          <p:nvPr/>
        </p:nvSpPr>
        <p:spPr>
          <a:xfrm>
            <a:off x="5930000" y="3640000"/>
            <a:ext cx="4641760" cy="24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50" b="0" dirty="0">
                <a:solidFill>
                  <a:srgbClr val="FFFFFF"/>
                </a:solidFill>
                <a:latin typeface="Arial"/>
                <a:cs typeface="Noto Sans CJK JP"/>
              </a:rPr>
              <a:t>農業集落排水</a:t>
            </a:r>
          </a:p>
        </p:txBody>
      </p:sp>
      <p:sp>
        <p:nvSpPr>
          <p:cNvPr id="48" name="th20"/>
          <p:cNvSpPr/>
          <p:nvPr/>
        </p:nvSpPr>
        <p:spPr>
          <a:xfrm>
            <a:off x="380000" y="3910000"/>
            <a:ext cx="900000" cy="28000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年度</a:t>
            </a:r>
          </a:p>
        </p:txBody>
      </p:sp>
      <p:sp>
        <p:nvSpPr>
          <p:cNvPr id="49" name="th21"/>
          <p:cNvSpPr/>
          <p:nvPr/>
        </p:nvSpPr>
        <p:spPr>
          <a:xfrm>
            <a:off x="12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0" name="th22"/>
          <p:cNvSpPr/>
          <p:nvPr/>
        </p:nvSpPr>
        <p:spPr>
          <a:xfrm>
            <a:off x="28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1" name="th23"/>
          <p:cNvSpPr/>
          <p:nvPr/>
        </p:nvSpPr>
        <p:spPr>
          <a:xfrm>
            <a:off x="43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2" name="th24"/>
          <p:cNvSpPr/>
          <p:nvPr/>
        </p:nvSpPr>
        <p:spPr>
          <a:xfrm>
            <a:off x="593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①標準型</a:t>
            </a:r>
          </a:p>
        </p:txBody>
      </p:sp>
      <p:sp>
        <p:nvSpPr>
          <p:cNvPr id="53" name="th25"/>
          <p:cNvSpPr/>
          <p:nvPr/>
        </p:nvSpPr>
        <p:spPr>
          <a:xfrm>
            <a:off x="7480000" y="3910000"/>
            <a:ext cx="1550000" cy="28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②家庭軽減</a:t>
            </a:r>
          </a:p>
        </p:txBody>
      </p:sp>
      <p:sp>
        <p:nvSpPr>
          <p:cNvPr id="54" name="th26"/>
          <p:cNvSpPr/>
          <p:nvPr/>
        </p:nvSpPr>
        <p:spPr>
          <a:xfrm>
            <a:off x="9030000" y="3910000"/>
            <a:ext cx="1541760" cy="28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5000" rIns="91440" anchor="ctr">
            <a:noAutofit/>
          </a:bodyPr>
          <a:p>
            <a:pPr algn="ctr"/>
            <a:r>
              <a:rPr lang="ja-JP" sz="960" b="0" dirty="0">
                <a:solidFill>
                  <a:srgbClr val="FFFFFF"/>
                </a:solidFill>
                <a:latin typeface="Arial"/>
                <a:cs typeface="Noto Sans CJK JP"/>
              </a:rPr>
              <a:t>④段階累進</a:t>
            </a:r>
          </a:p>
        </p:txBody>
      </p:sp>
      <p:sp>
        <p:nvSpPr>
          <p:cNvPr id="55" name="er00"/>
          <p:cNvSpPr/>
          <p:nvPr/>
        </p:nvSpPr>
        <p:spPr>
          <a:xfrm>
            <a:off x="380000" y="4230000"/>
            <a:ext cx="90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R7</a:t>
            </a:r>
          </a:p>
        </p:txBody>
      </p:sp>
      <p:sp>
        <p:nvSpPr>
          <p:cNvPr id="56" name="er01"/>
          <p:cNvSpPr/>
          <p:nvPr/>
        </p:nvSpPr>
        <p:spPr>
          <a:xfrm>
            <a:off x="12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7" name="er02"/>
          <p:cNvSpPr/>
          <p:nvPr/>
        </p:nvSpPr>
        <p:spPr>
          <a:xfrm>
            <a:off x="28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8" name="er03"/>
          <p:cNvSpPr/>
          <p:nvPr/>
        </p:nvSpPr>
        <p:spPr>
          <a:xfrm>
            <a:off x="43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34.4%</a:t>
            </a:r>
          </a:p>
        </p:txBody>
      </p:sp>
      <p:sp>
        <p:nvSpPr>
          <p:cNvPr id="59" name="er04"/>
          <p:cNvSpPr/>
          <p:nvPr/>
        </p:nvSpPr>
        <p:spPr>
          <a:xfrm>
            <a:off x="593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0" name="er05"/>
          <p:cNvSpPr/>
          <p:nvPr/>
        </p:nvSpPr>
        <p:spPr>
          <a:xfrm>
            <a:off x="7480000" y="4230000"/>
            <a:ext cx="155000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1" name="er06"/>
          <p:cNvSpPr/>
          <p:nvPr/>
        </p:nvSpPr>
        <p:spPr>
          <a:xfrm>
            <a:off x="9030000" y="4230000"/>
            <a:ext cx="1541760" cy="300000"/>
          </a:xfrm>
          <a:custGeom>
            <a:avLst/>
            <a:gdLst/>
            <a:ahLst/>
            <a:rect l="l" t="t" r="r" b="b"/>
            <a:pathLst>
              <a:path w="21600" h="21600">
                <a:moveTo>
                  <a:pt x="0" y="0"/>
                </a:moveTo>
                <a:lnTo>
                  <a:pt x="21600" y="0"/>
                </a:lnTo>
                <a:lnTo>
                  <a:pt x="21600" y="21600"/>
                </a:lnTo>
                <a:lnTo>
                  <a:pt x="0" y="21600"/>
                </a:lnTo>
                <a:close/>
              </a:path>
            </a:pathLst>
          </a:custGeom>
          <a:solidFill>
            <a:srgbClr val="fef2f2"/>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39.9%</a:t>
            </a:r>
          </a:p>
        </p:txBody>
      </p:sp>
      <p:sp>
        <p:nvSpPr>
          <p:cNvPr id="62" name="er10"/>
          <p:cNvSpPr/>
          <p:nvPr/>
        </p:nvSpPr>
        <p:spPr>
          <a:xfrm>
            <a:off x="380000" y="4550000"/>
            <a:ext cx="90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R8</a:t>
            </a:r>
          </a:p>
        </p:txBody>
      </p:sp>
      <p:sp>
        <p:nvSpPr>
          <p:cNvPr id="63" name="er11"/>
          <p:cNvSpPr/>
          <p:nvPr/>
        </p:nvSpPr>
        <p:spPr>
          <a:xfrm>
            <a:off x="12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36.6%</a:t>
            </a:r>
          </a:p>
        </p:txBody>
      </p:sp>
      <p:sp>
        <p:nvSpPr>
          <p:cNvPr id="64" name="er12"/>
          <p:cNvSpPr/>
          <p:nvPr/>
        </p:nvSpPr>
        <p:spPr>
          <a:xfrm>
            <a:off x="28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37.6%</a:t>
            </a:r>
          </a:p>
        </p:txBody>
      </p:sp>
      <p:sp>
        <p:nvSpPr>
          <p:cNvPr id="65" name="er13"/>
          <p:cNvSpPr/>
          <p:nvPr/>
        </p:nvSpPr>
        <p:spPr>
          <a:xfrm>
            <a:off x="43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36.8%</a:t>
            </a:r>
          </a:p>
        </p:txBody>
      </p:sp>
      <p:sp>
        <p:nvSpPr>
          <p:cNvPr id="66" name="er14"/>
          <p:cNvSpPr/>
          <p:nvPr/>
        </p:nvSpPr>
        <p:spPr>
          <a:xfrm>
            <a:off x="593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43.1%</a:t>
            </a:r>
          </a:p>
        </p:txBody>
      </p:sp>
      <p:sp>
        <p:nvSpPr>
          <p:cNvPr id="67" name="er15"/>
          <p:cNvSpPr/>
          <p:nvPr/>
        </p:nvSpPr>
        <p:spPr>
          <a:xfrm>
            <a:off x="7480000" y="4550000"/>
            <a:ext cx="155000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44.7%</a:t>
            </a:r>
          </a:p>
        </p:txBody>
      </p:sp>
      <p:sp>
        <p:nvSpPr>
          <p:cNvPr id="68" name="er16"/>
          <p:cNvSpPr/>
          <p:nvPr/>
        </p:nvSpPr>
        <p:spPr>
          <a:xfrm>
            <a:off x="9030000" y="4550000"/>
            <a:ext cx="1541760" cy="300000"/>
          </a:xfrm>
          <a:custGeom>
            <a:avLst/>
            <a:gdLst/>
            <a:ahLst/>
            <a:rect l="l" t="t" r="r" b="b"/>
            <a:pathLst>
              <a:path w="21600" h="21600">
                <a:moveTo>
                  <a:pt x="0" y="0"/>
                </a:moveTo>
                <a:lnTo>
                  <a:pt x="21600" y="0"/>
                </a:lnTo>
                <a:lnTo>
                  <a:pt x="21600" y="21600"/>
                </a:lnTo>
                <a:lnTo>
                  <a:pt x="0" y="21600"/>
                </a:lnTo>
                <a:close/>
              </a:path>
            </a:pathLst>
          </a:custGeom>
          <a:solidFill>
            <a:srgbClr val="fef9c3"/>
          </a:solidFill>
          <a:ln w="7000">
            <a:solidFill>
              <a:srgbClr val="E2E8F0"/>
            </a:solidFill>
          </a:ln>
        </p:spPr>
        <p:style>
          <a:lnRef idx="0"/>
          <a:fillRef idx="0"/>
          <a:effectRef idx="0"/>
          <a:fontRef idx="minor"/>
        </p:style>
        <p:txBody>
          <a:bodyPr tIns="10000" bIns="10000" lIns="15000" rIns="15000" anchor="ctr">
            <a:noAutofit/>
          </a:bodyPr>
          <a:p>
            <a:pPr algn="ctr"/>
            <a:r>
              <a:rPr lang="ja-JP" sz="1050" b="0" dirty="0">
                <a:solidFill>
                  <a:srgbClr val="374151"/>
                </a:solidFill>
                <a:latin typeface="Arial"/>
                <a:cs typeface="Noto Sans CJK JP"/>
              </a:rPr>
              <a:t>43.3%</a:t>
            </a:r>
          </a:p>
        </p:txBody>
      </p:sp>
      <p:sp>
        <p:nvSpPr>
          <p:cNvPr id="69" name="er20"/>
          <p:cNvSpPr/>
          <p:nvPr/>
        </p:nvSpPr>
        <p:spPr>
          <a:xfrm>
            <a:off x="380000" y="4870000"/>
            <a:ext cx="90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R9</a:t>
            </a:r>
          </a:p>
        </p:txBody>
      </p:sp>
      <p:sp>
        <p:nvSpPr>
          <p:cNvPr id="70" name="er21"/>
          <p:cNvSpPr/>
          <p:nvPr/>
        </p:nvSpPr>
        <p:spPr>
          <a:xfrm>
            <a:off x="12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38.8%</a:t>
            </a:r>
          </a:p>
        </p:txBody>
      </p:sp>
      <p:sp>
        <p:nvSpPr>
          <p:cNvPr id="71" name="er22"/>
          <p:cNvSpPr/>
          <p:nvPr/>
        </p:nvSpPr>
        <p:spPr>
          <a:xfrm>
            <a:off x="28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40.8%</a:t>
            </a:r>
          </a:p>
        </p:txBody>
      </p:sp>
      <p:sp>
        <p:nvSpPr>
          <p:cNvPr id="72" name="er23"/>
          <p:cNvSpPr/>
          <p:nvPr/>
        </p:nvSpPr>
        <p:spPr>
          <a:xfrm>
            <a:off x="43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39.1%</a:t>
            </a:r>
          </a:p>
        </p:txBody>
      </p:sp>
      <p:sp>
        <p:nvSpPr>
          <p:cNvPr id="73" name="er24"/>
          <p:cNvSpPr/>
          <p:nvPr/>
        </p:nvSpPr>
        <p:spPr>
          <a:xfrm>
            <a:off x="593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44.9%</a:t>
            </a:r>
          </a:p>
        </p:txBody>
      </p:sp>
      <p:sp>
        <p:nvSpPr>
          <p:cNvPr id="74" name="er25"/>
          <p:cNvSpPr/>
          <p:nvPr/>
        </p:nvSpPr>
        <p:spPr>
          <a:xfrm>
            <a:off x="7480000" y="4870000"/>
            <a:ext cx="155000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48.1%</a:t>
            </a:r>
          </a:p>
        </p:txBody>
      </p:sp>
      <p:sp>
        <p:nvSpPr>
          <p:cNvPr id="75" name="er26"/>
          <p:cNvSpPr/>
          <p:nvPr/>
        </p:nvSpPr>
        <p:spPr>
          <a:xfrm>
            <a:off x="9030000" y="4870000"/>
            <a:ext cx="1541760" cy="300000"/>
          </a:xfrm>
          <a:custGeom>
            <a:avLst/>
            <a:gdLst/>
            <a:ahLst/>
            <a:rect l="l" t="t" r="r" b="b"/>
            <a:pathLst>
              <a:path w="21600" h="21600">
                <a:moveTo>
                  <a:pt x="0" y="0"/>
                </a:moveTo>
                <a:lnTo>
                  <a:pt x="21600" y="0"/>
                </a:lnTo>
                <a:lnTo>
                  <a:pt x="21600" y="21600"/>
                </a:lnTo>
                <a:lnTo>
                  <a:pt x="0" y="21600"/>
                </a:lnTo>
                <a:close/>
              </a:path>
            </a:pathLst>
          </a:custGeom>
          <a:solidFill>
            <a:srgbClr val="dcfce7"/>
          </a:solidFill>
          <a:ln w="7000">
            <a:solidFill>
              <a:srgbClr val="E2E8F0"/>
            </a:solidFill>
          </a:ln>
        </p:spPr>
        <p:style>
          <a:lnRef idx="0"/>
          <a:fillRef idx="0"/>
          <a:effectRef idx="0"/>
          <a:fontRef idx="minor"/>
        </p:style>
        <p:txBody>
          <a:bodyPr tIns="10000" bIns="10000" lIns="15000" rIns="15000" anchor="ctr">
            <a:noAutofit/>
          </a:bodyPr>
          <a:p>
            <a:pPr algn="ctr"/>
            <a:r>
              <a:rPr lang="ja-JP" sz="1050" b="1" dirty="0">
                <a:solidFill>
                  <a:srgbClr val="374151"/>
                </a:solidFill>
                <a:latin typeface="Arial"/>
                <a:cs typeface="Noto Sans CJK JP"/>
              </a:rPr>
              <a:t>45.2%</a:t>
            </a:r>
          </a:p>
        </p:txBody>
      </p:sp>
      <p:sp>
        <p:nvSpPr>
          <p:cNvPr id="76" name="note"/>
          <p:cNvSpPr/>
          <p:nvPr/>
        </p:nvSpPr>
        <p:spPr>
          <a:xfrm>
            <a:off x="380000" y="5243152"/>
            <a:ext cx="11431760" cy="74466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3か年改定では最終単価の適用がR10となるため、R9時点では公共の経常収支比率が98.4〜99.1%と100%に届かず、経費回収率も38.8〜40.8%にとどまります（2か年改定はR9で経常100.0〜101.1%・回収43.1〜46.1%）。</a:t>
            </a:r>
          </a:p>
          <a:p>
            <a:pPr algn="l"/>
            <a:r>
              <a:rPr lang="ja-JP" sz="1050" b="0" dirty="0">
                <a:solidFill>
                  <a:srgbClr val="78350F"/>
                </a:solidFill>
                <a:latin typeface="Arial"/>
                <a:cs typeface="Noto Sans CJK JP"/>
              </a:rPr>
              <a:t>▶ R10以降の水準は2か年改定と同一に収束します。パターン間の優劣（②＞④＞①）も2か年改定と同じです。</a:t>
            </a:r>
          </a:p>
        </p:txBody>
      </p:sp>
      <p:sp>
        <p:nvSpPr>
          <p:cNvPr id="77"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0" name="sec_panel"/>
          <p:cNvSpPr/>
          <p:nvPr/>
        </p:nvSpPr>
        <p:spPr>
          <a:xfrm>
            <a:off x="0" y="0"/>
            <a:ext cx="3200000" cy="6858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1" name="sec_num"/>
          <p:cNvSpPr/>
          <p:nvPr/>
        </p:nvSpPr>
        <p:spPr>
          <a:xfrm>
            <a:off x="200000" y="2000000"/>
            <a:ext cx="2800000" cy="18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0" b="0" dirty="0">
                <a:solidFill>
                  <a:srgbClr val="FFFFFF"/>
                </a:solidFill>
                <a:latin typeface="Arial"/>
                <a:cs typeface="Noto Sans CJK JP"/>
              </a:rPr>
              <a:t>04</a:t>
            </a:r>
          </a:p>
        </p:txBody>
      </p:sp>
      <p:sp>
        <p:nvSpPr>
          <p:cNvPr id="22" name="sec_lbl"/>
          <p:cNvSpPr/>
          <p:nvPr/>
        </p:nvSpPr>
        <p:spPr>
          <a:xfrm>
            <a:off x="200000" y="3850000"/>
            <a:ext cx="2800000" cy="4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800" b="0" dirty="0">
                <a:solidFill>
                  <a:srgbClr val="FFFFFF"/>
                </a:solidFill>
                <a:latin typeface="Noto Sans CJK JP"/>
                <a:cs typeface="Noto Sans CJK JP"/>
              </a:rPr>
              <a:t>SECTION</a:t>
            </a:r>
          </a:p>
        </p:txBody>
      </p:sp>
      <p:sp>
        <p:nvSpPr>
          <p:cNvPr id="23" name="right_bg"/>
          <p:cNvSpPr/>
          <p:nvPr/>
        </p:nvSpPr>
        <p:spPr>
          <a:xfrm>
            <a:off x="3200000" y="0"/>
            <a:ext cx="8991760" cy="6858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4" name="sub_lbl"/>
          <p:cNvSpPr/>
          <p:nvPr/>
        </p:nvSpPr>
        <p:spPr>
          <a:xfrm>
            <a:off x="3600000" y="1200000"/>
            <a:ext cx="3000000" cy="3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1600" b="0" dirty="0">
                <a:solidFill>
                  <a:srgbClr val="1E3A8A"/>
                </a:solidFill>
                <a:latin typeface="Noto Sans CJK JP"/>
                <a:cs typeface="Noto Sans CJK JP"/>
              </a:rPr>
              <a:t>下水道事業</a:t>
            </a:r>
          </a:p>
        </p:txBody>
      </p:sp>
      <p:sp>
        <p:nvSpPr>
          <p:cNvPr id="25" name="main_ttl"/>
          <p:cNvSpPr/>
          <p:nvPr/>
        </p:nvSpPr>
        <p:spPr>
          <a:xfrm>
            <a:off x="3600000" y="1640000"/>
            <a:ext cx="8400000" cy="12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0" anchor="ctr">
            <a:noAutofit/>
          </a:bodyPr>
          <a:lstStyle/>
          <a:p>
            <a:pPr algn="l"/>
            <a:r>
              <a:rPr lang="ja-JP" sz="4800" b="0" dirty="0">
                <a:solidFill>
                  <a:srgbClr val="1E293B"/>
                </a:solidFill>
                <a:latin typeface="Arial"/>
                <a:cs typeface="Noto Sans CJK JP"/>
              </a:rPr>
              <a:t>住民への影響・説明対応</a:t>
            </a:r>
          </a:p>
        </p:txBody>
      </p:sp>
      <p:sp>
        <p:nvSpPr>
          <p:cNvPr id="26" name="acc_line"/>
          <p:cNvSpPr/>
          <p:nvPr/>
        </p:nvSpPr>
        <p:spPr>
          <a:xfrm>
            <a:off x="3600000" y="2880000"/>
            <a:ext cx="600000" cy="38520"/>
          </a:xfrm>
          <a:custGeom>
            <a:avLst/>
            <a:gdLst/>
            <a:ahLst/>
            <a:cxnLst/>
            <a:rect l="l" t="t" r="r" b="b"/>
            <a:pathLst>
              <a:path w="21600" h="21600">
                <a:moveTo>
                  <a:pt x="0" y="0"/>
                </a:moveTo>
                <a:lnTo>
                  <a:pt x="21600" y="0"/>
                </a:lnTo>
                <a:lnTo>
                  <a:pt x="21600" y="21600"/>
                </a:lnTo>
                <a:lnTo>
                  <a:pt x="0" y="21600"/>
                </a:lnTo>
                <a:close/>
              </a:path>
            </a:pathLst>
          </a:custGeom>
          <a:solidFill>
            <a:srgbClr val="3B82F6"/>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27" name="desc"/>
          <p:cNvSpPr/>
          <p:nvPr/>
        </p:nvSpPr>
        <p:spPr>
          <a:xfrm>
            <a:off x="3600000" y="3080000"/>
            <a:ext cx="8200000" cy="240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0">
            <a:noFill/>
          </a:ln>
        </p:spPr>
        <p:style>
          <a:lnRef idx="0">
            <a:scrgbClr r="0" g="0" b="0"/>
          </a:lnRef>
          <a:fillRef idx="0">
            <a:scrgbClr r="0" g="0" b="0"/>
          </a:fillRef>
          <a:effectRef idx="0">
            <a:scrgbClr r="0" g="0" b="0"/>
          </a:effectRef>
          <a:fontRef idx="minor"/>
        </p:style>
        <p:txBody>
          <a:bodyPr lIns="0" tIns="0" rIns="114300" bIns="45720" anchor="ctr">
            <a:noAutofit/>
          </a:bodyPr>
          <a:lstStyle/>
          <a:p>
            <a:pPr algn="l"/>
            <a:r>
              <a:rPr lang="ja-JP" sz="2200" b="0" dirty="0">
                <a:solidFill>
                  <a:srgbClr val="475569"/>
                </a:solidFill>
                <a:latin typeface="Noto Sans CJK JP"/>
                <a:cs typeface="Noto Sans CJK JP"/>
              </a:rPr>
              <a:t>本章では、改定パターン採用時の住民・事業所別影響額と、
住民説明会の実施計画（案）を整理します。</a:t>
            </a:r>
          </a:p>
        </p:txBody>
      </p:sp>
      <p:sp>
        <p:nvSpPr>
          <p:cNvPr id="28" name="pgnum"/>
          <p:cNvSpPr/>
          <p:nvPr/>
        </p:nvSpPr>
        <p:spPr>
          <a:xfrm>
            <a:off x="11200000" y="657000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lIns="0" tIns="0" rIns="0" bIns="0" anchor="ctr">
            <a:noAutofit/>
          </a:bodyPr>
          <a:lstStyle/>
          <a:p>
            <a:pPr algn="ctr"/>
            <a:r>
              <a:rPr lang="ja-JP" sz="900" b="1" dirty="0">
                <a:solidFill>
                  <a:srgbClr val="FFFFFF"/>
                </a:solidFill>
                <a:latin typeface="Arial"/>
                <a:cs typeface="Noto Sans CJK JP"/>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04-1　家庭・事業所別　月額影響額（パターン①・改定完了後・税込）</a:t>
            </a:r>
          </a:p>
        </p:txBody>
      </p:sp>
      <p:sp>
        <p:nvSpPr>
          <p:cNvPr id="17" name="hh"/>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一般家庭への影響</a:t>
            </a:r>
          </a:p>
        </p:txBody>
      </p:sp>
      <p:sp>
        <p:nvSpPr>
          <p:cNvPr id="18" name="hr00"/>
          <p:cNvSpPr/>
          <p:nvPr/>
        </p:nvSpPr>
        <p:spPr>
          <a:xfrm>
            <a:off x="571680" y="197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10㎥（1〜2人世帯）</a:t>
            </a:r>
          </a:p>
        </p:txBody>
      </p:sp>
      <p:sp>
        <p:nvSpPr>
          <p:cNvPr id="19" name="hr01"/>
          <p:cNvSpPr/>
          <p:nvPr/>
        </p:nvSpPr>
        <p:spPr>
          <a:xfrm>
            <a:off x="2871680" y="197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1,100円</a:t>
            </a:r>
          </a:p>
        </p:txBody>
      </p:sp>
      <p:sp>
        <p:nvSpPr>
          <p:cNvPr id="20" name="hr02"/>
          <p:cNvSpPr/>
          <p:nvPr/>
        </p:nvSpPr>
        <p:spPr>
          <a:xfrm>
            <a:off x="39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1,650円</a:t>
            </a:r>
          </a:p>
        </p:txBody>
      </p:sp>
      <p:sp>
        <p:nvSpPr>
          <p:cNvPr id="21" name="hr03"/>
          <p:cNvSpPr/>
          <p:nvPr/>
        </p:nvSpPr>
        <p:spPr>
          <a:xfrm>
            <a:off x="5271680" y="197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＋550円</a:t>
            </a:r>
          </a:p>
        </p:txBody>
      </p:sp>
      <p:sp>
        <p:nvSpPr>
          <p:cNvPr id="22" name="hr10"/>
          <p:cNvSpPr/>
          <p:nvPr/>
        </p:nvSpPr>
        <p:spPr>
          <a:xfrm>
            <a:off x="571680" y="256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1" dirty="0">
                <a:solidFill>
                  <a:srgbClr val="1E3A8A"/>
                </a:solidFill>
                <a:latin typeface="Noto Sans CJK JP"/>
                <a:cs typeface="Noto Sans CJK JP"/>
              </a:rPr>
              <a:t>20㎥（3人世帯）　★</a:t>
            </a:r>
          </a:p>
        </p:txBody>
      </p:sp>
      <p:sp>
        <p:nvSpPr>
          <p:cNvPr id="23" name="hr11"/>
          <p:cNvSpPr/>
          <p:nvPr/>
        </p:nvSpPr>
        <p:spPr>
          <a:xfrm>
            <a:off x="2871680" y="256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2,420円</a:t>
            </a:r>
          </a:p>
        </p:txBody>
      </p:sp>
      <p:sp>
        <p:nvSpPr>
          <p:cNvPr id="24" name="hr12"/>
          <p:cNvSpPr/>
          <p:nvPr/>
        </p:nvSpPr>
        <p:spPr>
          <a:xfrm>
            <a:off x="39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3,300円</a:t>
            </a:r>
          </a:p>
        </p:txBody>
      </p:sp>
      <p:sp>
        <p:nvSpPr>
          <p:cNvPr id="25" name="hr13"/>
          <p:cNvSpPr/>
          <p:nvPr/>
        </p:nvSpPr>
        <p:spPr>
          <a:xfrm>
            <a:off x="5271680" y="256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EF4444"/>
                </a:solidFill>
                <a:latin typeface="Arial"/>
                <a:cs typeface="Noto Sans CJK JP"/>
              </a:rPr>
              <a:t>＋880円</a:t>
            </a:r>
          </a:p>
        </p:txBody>
      </p:sp>
      <p:sp>
        <p:nvSpPr>
          <p:cNvPr id="26" name="hr20"/>
          <p:cNvSpPr/>
          <p:nvPr/>
        </p:nvSpPr>
        <p:spPr>
          <a:xfrm>
            <a:off x="571680" y="315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30㎥（3〜4人世帯）</a:t>
            </a:r>
          </a:p>
        </p:txBody>
      </p:sp>
      <p:sp>
        <p:nvSpPr>
          <p:cNvPr id="27" name="hr21"/>
          <p:cNvSpPr/>
          <p:nvPr/>
        </p:nvSpPr>
        <p:spPr>
          <a:xfrm>
            <a:off x="2871680" y="315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3,740円</a:t>
            </a:r>
          </a:p>
        </p:txBody>
      </p:sp>
      <p:sp>
        <p:nvSpPr>
          <p:cNvPr id="28" name="hr22"/>
          <p:cNvSpPr/>
          <p:nvPr/>
        </p:nvSpPr>
        <p:spPr>
          <a:xfrm>
            <a:off x="39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5,005円</a:t>
            </a:r>
          </a:p>
        </p:txBody>
      </p:sp>
      <p:sp>
        <p:nvSpPr>
          <p:cNvPr id="29" name="hr23"/>
          <p:cNvSpPr/>
          <p:nvPr/>
        </p:nvSpPr>
        <p:spPr>
          <a:xfrm>
            <a:off x="5271680" y="315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＋1,265円</a:t>
            </a:r>
          </a:p>
        </p:txBody>
      </p:sp>
      <p:sp>
        <p:nvSpPr>
          <p:cNvPr id="30" name="hr30"/>
          <p:cNvSpPr/>
          <p:nvPr/>
        </p:nvSpPr>
        <p:spPr>
          <a:xfrm>
            <a:off x="571680" y="374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50㎥（4人以上）</a:t>
            </a:r>
          </a:p>
        </p:txBody>
      </p:sp>
      <p:sp>
        <p:nvSpPr>
          <p:cNvPr id="31" name="hr31"/>
          <p:cNvSpPr/>
          <p:nvPr/>
        </p:nvSpPr>
        <p:spPr>
          <a:xfrm>
            <a:off x="2871680" y="374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2" name="hr32"/>
          <p:cNvSpPr/>
          <p:nvPr/>
        </p:nvSpPr>
        <p:spPr>
          <a:xfrm>
            <a:off x="39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8,580円</a:t>
            </a:r>
          </a:p>
        </p:txBody>
      </p:sp>
      <p:sp>
        <p:nvSpPr>
          <p:cNvPr id="33" name="hr33"/>
          <p:cNvSpPr/>
          <p:nvPr/>
        </p:nvSpPr>
        <p:spPr>
          <a:xfrm>
            <a:off x="5271680" y="374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＋1,980円</a:t>
            </a:r>
          </a:p>
        </p:txBody>
      </p:sp>
      <p:sp>
        <p:nvSpPr>
          <p:cNvPr id="34" name="bh"/>
          <p:cNvSpPr/>
          <p:nvPr/>
        </p:nvSpPr>
        <p:spPr>
          <a:xfrm>
            <a:off x="6671680" y="1620000"/>
            <a:ext cx="512064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事業所等への影響</a:t>
            </a:r>
          </a:p>
        </p:txBody>
      </p:sp>
      <p:sp>
        <p:nvSpPr>
          <p:cNvPr id="35" name="br00"/>
          <p:cNvSpPr/>
          <p:nvPr/>
        </p:nvSpPr>
        <p:spPr>
          <a:xfrm>
            <a:off x="6446520" y="197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50㎥（小規模店舗・事務所）</a:t>
            </a:r>
          </a:p>
        </p:txBody>
      </p:sp>
      <p:sp>
        <p:nvSpPr>
          <p:cNvPr id="36" name="br01"/>
          <p:cNvSpPr/>
          <p:nvPr/>
        </p:nvSpPr>
        <p:spPr>
          <a:xfrm>
            <a:off x="8549640" y="197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7" name="br02"/>
          <p:cNvSpPr/>
          <p:nvPr/>
        </p:nvSpPr>
        <p:spPr>
          <a:xfrm>
            <a:off x="9601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8,580円</a:t>
            </a:r>
          </a:p>
        </p:txBody>
      </p:sp>
      <p:sp>
        <p:nvSpPr>
          <p:cNvPr id="38" name="br03"/>
          <p:cNvSpPr/>
          <p:nvPr/>
        </p:nvSpPr>
        <p:spPr>
          <a:xfrm>
            <a:off x="10744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＋1,980円</a:t>
            </a:r>
          </a:p>
        </p:txBody>
      </p:sp>
      <p:sp>
        <p:nvSpPr>
          <p:cNvPr id="39" name="br10"/>
          <p:cNvSpPr/>
          <p:nvPr/>
        </p:nvSpPr>
        <p:spPr>
          <a:xfrm>
            <a:off x="6446520" y="256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100㎥（飲食店・小売店）</a:t>
            </a:r>
          </a:p>
        </p:txBody>
      </p:sp>
      <p:sp>
        <p:nvSpPr>
          <p:cNvPr id="40" name="br11"/>
          <p:cNvSpPr/>
          <p:nvPr/>
        </p:nvSpPr>
        <p:spPr>
          <a:xfrm>
            <a:off x="8549640" y="256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14,300円</a:t>
            </a:r>
          </a:p>
        </p:txBody>
      </p:sp>
      <p:sp>
        <p:nvSpPr>
          <p:cNvPr id="41" name="br12"/>
          <p:cNvSpPr/>
          <p:nvPr/>
        </p:nvSpPr>
        <p:spPr>
          <a:xfrm>
            <a:off x="9601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18,535円</a:t>
            </a:r>
          </a:p>
        </p:txBody>
      </p:sp>
      <p:sp>
        <p:nvSpPr>
          <p:cNvPr id="42" name="br13"/>
          <p:cNvSpPr/>
          <p:nvPr/>
        </p:nvSpPr>
        <p:spPr>
          <a:xfrm>
            <a:off x="10744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＋4,235円</a:t>
            </a:r>
          </a:p>
        </p:txBody>
      </p:sp>
      <p:sp>
        <p:nvSpPr>
          <p:cNvPr id="43" name="br20"/>
          <p:cNvSpPr/>
          <p:nvPr/>
        </p:nvSpPr>
        <p:spPr>
          <a:xfrm>
            <a:off x="6446520" y="315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200㎥（宿泊施設・小規模工場）</a:t>
            </a:r>
          </a:p>
        </p:txBody>
      </p:sp>
      <p:sp>
        <p:nvSpPr>
          <p:cNvPr id="44" name="br21"/>
          <p:cNvSpPr/>
          <p:nvPr/>
        </p:nvSpPr>
        <p:spPr>
          <a:xfrm>
            <a:off x="8549640" y="315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30,800円</a:t>
            </a:r>
          </a:p>
        </p:txBody>
      </p:sp>
      <p:sp>
        <p:nvSpPr>
          <p:cNvPr id="45" name="br22"/>
          <p:cNvSpPr/>
          <p:nvPr/>
        </p:nvSpPr>
        <p:spPr>
          <a:xfrm>
            <a:off x="9601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42,185円</a:t>
            </a:r>
          </a:p>
        </p:txBody>
      </p:sp>
      <p:sp>
        <p:nvSpPr>
          <p:cNvPr id="46" name="br23"/>
          <p:cNvSpPr/>
          <p:nvPr/>
        </p:nvSpPr>
        <p:spPr>
          <a:xfrm>
            <a:off x="10744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＋11,385円</a:t>
            </a:r>
          </a:p>
        </p:txBody>
      </p:sp>
      <p:sp>
        <p:nvSpPr>
          <p:cNvPr id="47" name="br30"/>
          <p:cNvSpPr/>
          <p:nvPr/>
        </p:nvSpPr>
        <p:spPr>
          <a:xfrm>
            <a:off x="6446520" y="374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500㎥（学校・大型施設）</a:t>
            </a:r>
          </a:p>
        </p:txBody>
      </p:sp>
      <p:sp>
        <p:nvSpPr>
          <p:cNvPr id="48" name="br31"/>
          <p:cNvSpPr/>
          <p:nvPr/>
        </p:nvSpPr>
        <p:spPr>
          <a:xfrm>
            <a:off x="8549640" y="374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83,600円</a:t>
            </a:r>
          </a:p>
        </p:txBody>
      </p:sp>
      <p:sp>
        <p:nvSpPr>
          <p:cNvPr id="49" name="br32"/>
          <p:cNvSpPr/>
          <p:nvPr/>
        </p:nvSpPr>
        <p:spPr>
          <a:xfrm>
            <a:off x="9601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116,435円</a:t>
            </a:r>
          </a:p>
        </p:txBody>
      </p:sp>
      <p:sp>
        <p:nvSpPr>
          <p:cNvPr id="50" name="br33"/>
          <p:cNvSpPr/>
          <p:nvPr/>
        </p:nvSpPr>
        <p:spPr>
          <a:xfrm>
            <a:off x="10744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＋32,835円</a:t>
            </a:r>
          </a:p>
        </p:txBody>
      </p:sp>
      <p:sp>
        <p:nvSpPr>
          <p:cNvPr id="51" name="nt16"/>
          <p:cNvSpPr/>
          <p:nvPr/>
        </p:nvSpPr>
        <p:spPr>
          <a:xfrm>
            <a:off x="571680" y="5100000"/>
            <a:ext cx="11048400" cy="101168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20㎥（一般家庭の標準的な使用量）での月額は税込3,300円（税抜3,000円）。増加額は月額＋880円、年間＋10,560円、1日あたり約29円です。※各区分の単価を段階累進で積み上げて算定。</a:t>
            </a:r>
          </a:p>
          <a:p>
            <a:pPr algn="l"/>
            <a:r>
              <a:rPr lang="ja-JP" sz="1150" b="0" dirty="0">
                <a:solidFill>
                  <a:srgbClr val="78350F"/>
                </a:solidFill>
                <a:latin typeface="Noto Sans CJK JP"/>
                <a:cs typeface="Noto Sans CJK JP"/>
              </a:rPr>
              <a:t>※ 改定完了後の最終単価による月額です（2か年改定はR9〜、3か年改定はR10〜。最終単価は2か年・3か年で共通）。</a:t>
            </a:r>
          </a:p>
          <a:p>
            <a:pPr algn="l"/>
            <a:r>
              <a:rPr lang="ja-JP" sz="1150" b="0" dirty="0">
                <a:solidFill>
                  <a:srgbClr val="78350F"/>
                </a:solidFill>
                <a:latin typeface="Noto Sans CJK JP"/>
                <a:cs typeface="Noto Sans CJK JP"/>
              </a:rPr>
              <a:t>※ 世帯人数・業種は使用水量の目安として例示したものであり、実際の使用量は世帯・事業所により異なります。</a:t>
            </a:r>
          </a:p>
        </p:txBody>
      </p:sp>
      <p:sp>
        <p:nvSpPr>
          <p:cNvPr id="5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04-2　家庭・事業所別　月額影響額（パターン②・改定完了後・税込）</a:t>
            </a:r>
          </a:p>
        </p:txBody>
      </p:sp>
      <p:sp>
        <p:nvSpPr>
          <p:cNvPr id="17" name="hh"/>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一般家庭への影響</a:t>
            </a:r>
          </a:p>
        </p:txBody>
      </p:sp>
      <p:sp>
        <p:nvSpPr>
          <p:cNvPr id="18" name="hr00"/>
          <p:cNvSpPr/>
          <p:nvPr/>
        </p:nvSpPr>
        <p:spPr>
          <a:xfrm>
            <a:off x="571680" y="197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10㎥（1〜2人世帯）</a:t>
            </a:r>
          </a:p>
        </p:txBody>
      </p:sp>
      <p:sp>
        <p:nvSpPr>
          <p:cNvPr id="19" name="hr01"/>
          <p:cNvSpPr/>
          <p:nvPr/>
        </p:nvSpPr>
        <p:spPr>
          <a:xfrm>
            <a:off x="2871680" y="197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1,100円</a:t>
            </a:r>
          </a:p>
        </p:txBody>
      </p:sp>
      <p:sp>
        <p:nvSpPr>
          <p:cNvPr id="20" name="hr02"/>
          <p:cNvSpPr/>
          <p:nvPr/>
        </p:nvSpPr>
        <p:spPr>
          <a:xfrm>
            <a:off x="39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1,320円</a:t>
            </a:r>
          </a:p>
        </p:txBody>
      </p:sp>
      <p:sp>
        <p:nvSpPr>
          <p:cNvPr id="21" name="hr03"/>
          <p:cNvSpPr/>
          <p:nvPr/>
        </p:nvSpPr>
        <p:spPr>
          <a:xfrm>
            <a:off x="5271680" y="197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＋220円</a:t>
            </a:r>
          </a:p>
        </p:txBody>
      </p:sp>
      <p:sp>
        <p:nvSpPr>
          <p:cNvPr id="22" name="hr10"/>
          <p:cNvSpPr/>
          <p:nvPr/>
        </p:nvSpPr>
        <p:spPr>
          <a:xfrm>
            <a:off x="571680" y="256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1" dirty="0">
                <a:solidFill>
                  <a:srgbClr val="1E3A8A"/>
                </a:solidFill>
                <a:latin typeface="Noto Sans CJK JP"/>
                <a:cs typeface="Noto Sans CJK JP"/>
              </a:rPr>
              <a:t>20㎥（3人世帯）　★</a:t>
            </a:r>
          </a:p>
        </p:txBody>
      </p:sp>
      <p:sp>
        <p:nvSpPr>
          <p:cNvPr id="23" name="hr11"/>
          <p:cNvSpPr/>
          <p:nvPr/>
        </p:nvSpPr>
        <p:spPr>
          <a:xfrm>
            <a:off x="2871680" y="256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2,420円</a:t>
            </a:r>
          </a:p>
        </p:txBody>
      </p:sp>
      <p:sp>
        <p:nvSpPr>
          <p:cNvPr id="24" name="hr12"/>
          <p:cNvSpPr/>
          <p:nvPr/>
        </p:nvSpPr>
        <p:spPr>
          <a:xfrm>
            <a:off x="39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3,300円</a:t>
            </a:r>
          </a:p>
        </p:txBody>
      </p:sp>
      <p:sp>
        <p:nvSpPr>
          <p:cNvPr id="25" name="hr13"/>
          <p:cNvSpPr/>
          <p:nvPr/>
        </p:nvSpPr>
        <p:spPr>
          <a:xfrm>
            <a:off x="5271680" y="256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EF4444"/>
                </a:solidFill>
                <a:latin typeface="Arial"/>
                <a:cs typeface="Noto Sans CJK JP"/>
              </a:rPr>
              <a:t>＋880円</a:t>
            </a:r>
          </a:p>
        </p:txBody>
      </p:sp>
      <p:sp>
        <p:nvSpPr>
          <p:cNvPr id="26" name="hr20"/>
          <p:cNvSpPr/>
          <p:nvPr/>
        </p:nvSpPr>
        <p:spPr>
          <a:xfrm>
            <a:off x="571680" y="315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30㎥（3〜4人世帯）</a:t>
            </a:r>
          </a:p>
        </p:txBody>
      </p:sp>
      <p:sp>
        <p:nvSpPr>
          <p:cNvPr id="27" name="hr21"/>
          <p:cNvSpPr/>
          <p:nvPr/>
        </p:nvSpPr>
        <p:spPr>
          <a:xfrm>
            <a:off x="2871680" y="315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3,740円</a:t>
            </a:r>
          </a:p>
        </p:txBody>
      </p:sp>
      <p:sp>
        <p:nvSpPr>
          <p:cNvPr id="28" name="hr22"/>
          <p:cNvSpPr/>
          <p:nvPr/>
        </p:nvSpPr>
        <p:spPr>
          <a:xfrm>
            <a:off x="39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5,335円</a:t>
            </a:r>
          </a:p>
        </p:txBody>
      </p:sp>
      <p:sp>
        <p:nvSpPr>
          <p:cNvPr id="29" name="hr23"/>
          <p:cNvSpPr/>
          <p:nvPr/>
        </p:nvSpPr>
        <p:spPr>
          <a:xfrm>
            <a:off x="5271680" y="315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＋1,595円</a:t>
            </a:r>
          </a:p>
        </p:txBody>
      </p:sp>
      <p:sp>
        <p:nvSpPr>
          <p:cNvPr id="30" name="hr30"/>
          <p:cNvSpPr/>
          <p:nvPr/>
        </p:nvSpPr>
        <p:spPr>
          <a:xfrm>
            <a:off x="571680" y="374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50㎥（4人以上）</a:t>
            </a:r>
          </a:p>
        </p:txBody>
      </p:sp>
      <p:sp>
        <p:nvSpPr>
          <p:cNvPr id="31" name="hr31"/>
          <p:cNvSpPr/>
          <p:nvPr/>
        </p:nvSpPr>
        <p:spPr>
          <a:xfrm>
            <a:off x="2871680" y="374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2" name="hr32"/>
          <p:cNvSpPr/>
          <p:nvPr/>
        </p:nvSpPr>
        <p:spPr>
          <a:xfrm>
            <a:off x="39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9,570円</a:t>
            </a:r>
          </a:p>
        </p:txBody>
      </p:sp>
      <p:sp>
        <p:nvSpPr>
          <p:cNvPr id="33" name="hr33"/>
          <p:cNvSpPr/>
          <p:nvPr/>
        </p:nvSpPr>
        <p:spPr>
          <a:xfrm>
            <a:off x="5271680" y="374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＋2,970円</a:t>
            </a:r>
          </a:p>
        </p:txBody>
      </p:sp>
      <p:sp>
        <p:nvSpPr>
          <p:cNvPr id="34" name="bh"/>
          <p:cNvSpPr/>
          <p:nvPr/>
        </p:nvSpPr>
        <p:spPr>
          <a:xfrm>
            <a:off x="6671680" y="1620000"/>
            <a:ext cx="512064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事業所等への影響</a:t>
            </a:r>
          </a:p>
        </p:txBody>
      </p:sp>
      <p:sp>
        <p:nvSpPr>
          <p:cNvPr id="35" name="br00"/>
          <p:cNvSpPr/>
          <p:nvPr/>
        </p:nvSpPr>
        <p:spPr>
          <a:xfrm>
            <a:off x="6446520" y="197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50㎥（小規模店舗・事務所）</a:t>
            </a:r>
          </a:p>
        </p:txBody>
      </p:sp>
      <p:sp>
        <p:nvSpPr>
          <p:cNvPr id="36" name="br01"/>
          <p:cNvSpPr/>
          <p:nvPr/>
        </p:nvSpPr>
        <p:spPr>
          <a:xfrm>
            <a:off x="8549640" y="197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7" name="br02"/>
          <p:cNvSpPr/>
          <p:nvPr/>
        </p:nvSpPr>
        <p:spPr>
          <a:xfrm>
            <a:off x="9601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9,570円</a:t>
            </a:r>
          </a:p>
        </p:txBody>
      </p:sp>
      <p:sp>
        <p:nvSpPr>
          <p:cNvPr id="38" name="br03"/>
          <p:cNvSpPr/>
          <p:nvPr/>
        </p:nvSpPr>
        <p:spPr>
          <a:xfrm>
            <a:off x="10744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＋2,970円</a:t>
            </a:r>
          </a:p>
        </p:txBody>
      </p:sp>
      <p:sp>
        <p:nvSpPr>
          <p:cNvPr id="39" name="br10"/>
          <p:cNvSpPr/>
          <p:nvPr/>
        </p:nvSpPr>
        <p:spPr>
          <a:xfrm>
            <a:off x="6446520" y="256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100㎥（飲食店・小売店）</a:t>
            </a:r>
          </a:p>
        </p:txBody>
      </p:sp>
      <p:sp>
        <p:nvSpPr>
          <p:cNvPr id="40" name="br11"/>
          <p:cNvSpPr/>
          <p:nvPr/>
        </p:nvSpPr>
        <p:spPr>
          <a:xfrm>
            <a:off x="8549640" y="256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14,300円</a:t>
            </a:r>
          </a:p>
        </p:txBody>
      </p:sp>
      <p:sp>
        <p:nvSpPr>
          <p:cNvPr id="41" name="br12"/>
          <p:cNvSpPr/>
          <p:nvPr/>
        </p:nvSpPr>
        <p:spPr>
          <a:xfrm>
            <a:off x="9601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21,175円</a:t>
            </a:r>
          </a:p>
        </p:txBody>
      </p:sp>
      <p:sp>
        <p:nvSpPr>
          <p:cNvPr id="42" name="br13"/>
          <p:cNvSpPr/>
          <p:nvPr/>
        </p:nvSpPr>
        <p:spPr>
          <a:xfrm>
            <a:off x="10744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＋6,875円</a:t>
            </a:r>
          </a:p>
        </p:txBody>
      </p:sp>
      <p:sp>
        <p:nvSpPr>
          <p:cNvPr id="43" name="br20"/>
          <p:cNvSpPr/>
          <p:nvPr/>
        </p:nvSpPr>
        <p:spPr>
          <a:xfrm>
            <a:off x="6446520" y="315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200㎥（宿泊施設・小規模工場）</a:t>
            </a:r>
          </a:p>
        </p:txBody>
      </p:sp>
      <p:sp>
        <p:nvSpPr>
          <p:cNvPr id="44" name="br21"/>
          <p:cNvSpPr/>
          <p:nvPr/>
        </p:nvSpPr>
        <p:spPr>
          <a:xfrm>
            <a:off x="8549640" y="315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30,800円</a:t>
            </a:r>
          </a:p>
        </p:txBody>
      </p:sp>
      <p:sp>
        <p:nvSpPr>
          <p:cNvPr id="45" name="br22"/>
          <p:cNvSpPr/>
          <p:nvPr/>
        </p:nvSpPr>
        <p:spPr>
          <a:xfrm>
            <a:off x="9601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48,125円</a:t>
            </a:r>
          </a:p>
        </p:txBody>
      </p:sp>
      <p:sp>
        <p:nvSpPr>
          <p:cNvPr id="46" name="br23"/>
          <p:cNvSpPr/>
          <p:nvPr/>
        </p:nvSpPr>
        <p:spPr>
          <a:xfrm>
            <a:off x="10744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＋17,325円</a:t>
            </a:r>
          </a:p>
        </p:txBody>
      </p:sp>
      <p:sp>
        <p:nvSpPr>
          <p:cNvPr id="47" name="br30"/>
          <p:cNvSpPr/>
          <p:nvPr/>
        </p:nvSpPr>
        <p:spPr>
          <a:xfrm>
            <a:off x="6446520" y="374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500㎥（学校・大型施設）</a:t>
            </a:r>
          </a:p>
        </p:txBody>
      </p:sp>
      <p:sp>
        <p:nvSpPr>
          <p:cNvPr id="48" name="br31"/>
          <p:cNvSpPr/>
          <p:nvPr/>
        </p:nvSpPr>
        <p:spPr>
          <a:xfrm>
            <a:off x="8549640" y="374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83,600円</a:t>
            </a:r>
          </a:p>
        </p:txBody>
      </p:sp>
      <p:sp>
        <p:nvSpPr>
          <p:cNvPr id="49" name="br32"/>
          <p:cNvSpPr/>
          <p:nvPr/>
        </p:nvSpPr>
        <p:spPr>
          <a:xfrm>
            <a:off x="9601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132,275円</a:t>
            </a:r>
          </a:p>
        </p:txBody>
      </p:sp>
      <p:sp>
        <p:nvSpPr>
          <p:cNvPr id="50" name="br33"/>
          <p:cNvSpPr/>
          <p:nvPr/>
        </p:nvSpPr>
        <p:spPr>
          <a:xfrm>
            <a:off x="10744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＋48,675円</a:t>
            </a:r>
          </a:p>
        </p:txBody>
      </p:sp>
      <p:sp>
        <p:nvSpPr>
          <p:cNvPr id="51" name="nt16"/>
          <p:cNvSpPr/>
          <p:nvPr/>
        </p:nvSpPr>
        <p:spPr>
          <a:xfrm>
            <a:off x="571680" y="5100000"/>
            <a:ext cx="11048400" cy="101168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20㎥（一般家庭の標準的な使用量）での月額は税込3,300円（税抜3,000円）。増加額は月額＋880円、年間＋10,560円、1日あたり約29円です。※各区分の単価を段階累進で積み上げて算定。</a:t>
            </a:r>
          </a:p>
          <a:p>
            <a:pPr algn="l"/>
            <a:r>
              <a:rPr lang="ja-JP" sz="1150" b="0" dirty="0">
                <a:solidFill>
                  <a:srgbClr val="78350F"/>
                </a:solidFill>
                <a:latin typeface="Noto Sans CJK JP"/>
                <a:cs typeface="Noto Sans CJK JP"/>
              </a:rPr>
              <a:t>※ 改定完了後の最終単価による月額です（2か年改定はR9〜、3か年改定はR10〜。最終単価は2か年・3か年で共通）。</a:t>
            </a:r>
          </a:p>
          <a:p>
            <a:pPr algn="l"/>
            <a:r>
              <a:rPr lang="ja-JP" sz="1150" b="0" dirty="0">
                <a:solidFill>
                  <a:srgbClr val="78350F"/>
                </a:solidFill>
                <a:latin typeface="Noto Sans CJK JP"/>
                <a:cs typeface="Noto Sans CJK JP"/>
              </a:rPr>
              <a:t>※ 世帯人数・業種は使用水量の目安として例示したものであり、実際の使用量は世帯・事業所により異なります。</a:t>
            </a:r>
          </a:p>
        </p:txBody>
      </p:sp>
      <p:sp>
        <p:nvSpPr>
          <p:cNvPr id="5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04-3　家庭・事業所別　月額影響額（パターン④・改定完了後・税込）</a:t>
            </a:r>
          </a:p>
        </p:txBody>
      </p:sp>
      <p:sp>
        <p:nvSpPr>
          <p:cNvPr id="17" name="hh"/>
          <p:cNvSpPr/>
          <p:nvPr/>
        </p:nvSpPr>
        <p:spPr>
          <a:xfrm>
            <a:off x="571680" y="1620000"/>
            <a:ext cx="5500000" cy="3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一般家庭への影響</a:t>
            </a:r>
          </a:p>
        </p:txBody>
      </p:sp>
      <p:sp>
        <p:nvSpPr>
          <p:cNvPr id="18" name="hr00"/>
          <p:cNvSpPr/>
          <p:nvPr/>
        </p:nvSpPr>
        <p:spPr>
          <a:xfrm>
            <a:off x="571680" y="197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10㎥（1〜2人世帯）</a:t>
            </a:r>
          </a:p>
        </p:txBody>
      </p:sp>
      <p:sp>
        <p:nvSpPr>
          <p:cNvPr id="19" name="hr01"/>
          <p:cNvSpPr/>
          <p:nvPr/>
        </p:nvSpPr>
        <p:spPr>
          <a:xfrm>
            <a:off x="2871680" y="197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1,100円</a:t>
            </a:r>
          </a:p>
        </p:txBody>
      </p:sp>
      <p:sp>
        <p:nvSpPr>
          <p:cNvPr id="20" name="hr02"/>
          <p:cNvSpPr/>
          <p:nvPr/>
        </p:nvSpPr>
        <p:spPr>
          <a:xfrm>
            <a:off x="3971680" y="197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1,540円</a:t>
            </a:r>
          </a:p>
        </p:txBody>
      </p:sp>
      <p:sp>
        <p:nvSpPr>
          <p:cNvPr id="21" name="hr03"/>
          <p:cNvSpPr/>
          <p:nvPr/>
        </p:nvSpPr>
        <p:spPr>
          <a:xfrm>
            <a:off x="5271680" y="197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＋440円</a:t>
            </a:r>
          </a:p>
        </p:txBody>
      </p:sp>
      <p:sp>
        <p:nvSpPr>
          <p:cNvPr id="22" name="hr10"/>
          <p:cNvSpPr/>
          <p:nvPr/>
        </p:nvSpPr>
        <p:spPr>
          <a:xfrm>
            <a:off x="571680" y="256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1" dirty="0">
                <a:solidFill>
                  <a:srgbClr val="1E3A8A"/>
                </a:solidFill>
                <a:latin typeface="Noto Sans CJK JP"/>
                <a:cs typeface="Noto Sans CJK JP"/>
              </a:rPr>
              <a:t>20㎥（3人世帯）　★</a:t>
            </a:r>
          </a:p>
        </p:txBody>
      </p:sp>
      <p:sp>
        <p:nvSpPr>
          <p:cNvPr id="23" name="hr11"/>
          <p:cNvSpPr/>
          <p:nvPr/>
        </p:nvSpPr>
        <p:spPr>
          <a:xfrm>
            <a:off x="2871680" y="256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2,420円</a:t>
            </a:r>
          </a:p>
        </p:txBody>
      </p:sp>
      <p:sp>
        <p:nvSpPr>
          <p:cNvPr id="24" name="hr12"/>
          <p:cNvSpPr/>
          <p:nvPr/>
        </p:nvSpPr>
        <p:spPr>
          <a:xfrm>
            <a:off x="3971680" y="256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1E3A8A"/>
                </a:solidFill>
                <a:latin typeface="Arial"/>
                <a:cs typeface="Noto Sans CJK JP"/>
              </a:rPr>
              <a:t>3,300円</a:t>
            </a:r>
          </a:p>
        </p:txBody>
      </p:sp>
      <p:sp>
        <p:nvSpPr>
          <p:cNvPr id="25" name="hr13"/>
          <p:cNvSpPr/>
          <p:nvPr/>
        </p:nvSpPr>
        <p:spPr>
          <a:xfrm>
            <a:off x="5271680" y="256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1" dirty="0">
                <a:solidFill>
                  <a:srgbClr val="EF4444"/>
                </a:solidFill>
                <a:latin typeface="Arial"/>
                <a:cs typeface="Noto Sans CJK JP"/>
              </a:rPr>
              <a:t>＋880円</a:t>
            </a:r>
          </a:p>
        </p:txBody>
      </p:sp>
      <p:sp>
        <p:nvSpPr>
          <p:cNvPr id="26" name="hr20"/>
          <p:cNvSpPr/>
          <p:nvPr/>
        </p:nvSpPr>
        <p:spPr>
          <a:xfrm>
            <a:off x="571680" y="315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30㎥（3〜4人世帯）</a:t>
            </a:r>
          </a:p>
        </p:txBody>
      </p:sp>
      <p:sp>
        <p:nvSpPr>
          <p:cNvPr id="27" name="hr21"/>
          <p:cNvSpPr/>
          <p:nvPr/>
        </p:nvSpPr>
        <p:spPr>
          <a:xfrm>
            <a:off x="2871680" y="315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3,740円</a:t>
            </a:r>
          </a:p>
        </p:txBody>
      </p:sp>
      <p:sp>
        <p:nvSpPr>
          <p:cNvPr id="28" name="hr22"/>
          <p:cNvSpPr/>
          <p:nvPr/>
        </p:nvSpPr>
        <p:spPr>
          <a:xfrm>
            <a:off x="3971680" y="315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5,115円</a:t>
            </a:r>
          </a:p>
        </p:txBody>
      </p:sp>
      <p:sp>
        <p:nvSpPr>
          <p:cNvPr id="29" name="hr23"/>
          <p:cNvSpPr/>
          <p:nvPr/>
        </p:nvSpPr>
        <p:spPr>
          <a:xfrm>
            <a:off x="5271680" y="315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＋1,375円</a:t>
            </a:r>
          </a:p>
        </p:txBody>
      </p:sp>
      <p:sp>
        <p:nvSpPr>
          <p:cNvPr id="30" name="hr30"/>
          <p:cNvSpPr/>
          <p:nvPr/>
        </p:nvSpPr>
        <p:spPr>
          <a:xfrm>
            <a:off x="571680" y="3740000"/>
            <a:ext cx="2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50㎥（4人以上）</a:t>
            </a:r>
          </a:p>
        </p:txBody>
      </p:sp>
      <p:sp>
        <p:nvSpPr>
          <p:cNvPr id="31" name="hr31"/>
          <p:cNvSpPr/>
          <p:nvPr/>
        </p:nvSpPr>
        <p:spPr>
          <a:xfrm>
            <a:off x="2871680" y="3740000"/>
            <a:ext cx="10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2" name="hr32"/>
          <p:cNvSpPr/>
          <p:nvPr/>
        </p:nvSpPr>
        <p:spPr>
          <a:xfrm>
            <a:off x="3971680" y="3740000"/>
            <a:ext cx="12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8,910円</a:t>
            </a:r>
          </a:p>
        </p:txBody>
      </p:sp>
      <p:sp>
        <p:nvSpPr>
          <p:cNvPr id="33" name="hr33"/>
          <p:cNvSpPr/>
          <p:nvPr/>
        </p:nvSpPr>
        <p:spPr>
          <a:xfrm>
            <a:off x="5271680" y="3740000"/>
            <a:ext cx="110000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＋2,310円</a:t>
            </a:r>
          </a:p>
        </p:txBody>
      </p:sp>
      <p:sp>
        <p:nvSpPr>
          <p:cNvPr id="34" name="bh"/>
          <p:cNvSpPr/>
          <p:nvPr/>
        </p:nvSpPr>
        <p:spPr>
          <a:xfrm>
            <a:off x="6671680" y="1620000"/>
            <a:ext cx="5120640" cy="3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200" b="0" dirty="0">
                <a:solidFill>
                  <a:srgbClr val="FFFFFF"/>
                </a:solidFill>
                <a:latin typeface="Noto Sans CJK JP"/>
                <a:cs typeface="Noto Sans CJK JP"/>
              </a:rPr>
              <a:t>事業所等への影響</a:t>
            </a:r>
          </a:p>
        </p:txBody>
      </p:sp>
      <p:sp>
        <p:nvSpPr>
          <p:cNvPr id="35" name="br00"/>
          <p:cNvSpPr/>
          <p:nvPr/>
        </p:nvSpPr>
        <p:spPr>
          <a:xfrm>
            <a:off x="6446520" y="197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50㎥（小規模店舗・事務所）</a:t>
            </a:r>
          </a:p>
        </p:txBody>
      </p:sp>
      <p:sp>
        <p:nvSpPr>
          <p:cNvPr id="36" name="br01"/>
          <p:cNvSpPr/>
          <p:nvPr/>
        </p:nvSpPr>
        <p:spPr>
          <a:xfrm>
            <a:off x="8549640" y="197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6,600円</a:t>
            </a:r>
          </a:p>
        </p:txBody>
      </p:sp>
      <p:sp>
        <p:nvSpPr>
          <p:cNvPr id="37" name="br02"/>
          <p:cNvSpPr/>
          <p:nvPr/>
        </p:nvSpPr>
        <p:spPr>
          <a:xfrm>
            <a:off x="9601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8,910円</a:t>
            </a:r>
          </a:p>
        </p:txBody>
      </p:sp>
      <p:sp>
        <p:nvSpPr>
          <p:cNvPr id="38" name="br03"/>
          <p:cNvSpPr/>
          <p:nvPr/>
        </p:nvSpPr>
        <p:spPr>
          <a:xfrm>
            <a:off x="10744200" y="197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＋2,310円</a:t>
            </a:r>
          </a:p>
        </p:txBody>
      </p:sp>
      <p:sp>
        <p:nvSpPr>
          <p:cNvPr id="39" name="br10"/>
          <p:cNvSpPr/>
          <p:nvPr/>
        </p:nvSpPr>
        <p:spPr>
          <a:xfrm>
            <a:off x="6446520" y="256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100㎥（飲食店・小売店）</a:t>
            </a:r>
          </a:p>
        </p:txBody>
      </p:sp>
      <p:sp>
        <p:nvSpPr>
          <p:cNvPr id="40" name="br11"/>
          <p:cNvSpPr/>
          <p:nvPr/>
        </p:nvSpPr>
        <p:spPr>
          <a:xfrm>
            <a:off x="8549640" y="256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14,300円</a:t>
            </a:r>
          </a:p>
        </p:txBody>
      </p:sp>
      <p:sp>
        <p:nvSpPr>
          <p:cNvPr id="41" name="br12"/>
          <p:cNvSpPr/>
          <p:nvPr/>
        </p:nvSpPr>
        <p:spPr>
          <a:xfrm>
            <a:off x="9601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19,415円</a:t>
            </a:r>
          </a:p>
        </p:txBody>
      </p:sp>
      <p:sp>
        <p:nvSpPr>
          <p:cNvPr id="42" name="br13"/>
          <p:cNvSpPr/>
          <p:nvPr/>
        </p:nvSpPr>
        <p:spPr>
          <a:xfrm>
            <a:off x="10744200" y="256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＋5,115円</a:t>
            </a:r>
          </a:p>
        </p:txBody>
      </p:sp>
      <p:sp>
        <p:nvSpPr>
          <p:cNvPr id="43" name="br20"/>
          <p:cNvSpPr/>
          <p:nvPr/>
        </p:nvSpPr>
        <p:spPr>
          <a:xfrm>
            <a:off x="6446520" y="315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200㎥（宿泊施設・小規模工場）</a:t>
            </a:r>
          </a:p>
        </p:txBody>
      </p:sp>
      <p:sp>
        <p:nvSpPr>
          <p:cNvPr id="44" name="br21"/>
          <p:cNvSpPr/>
          <p:nvPr/>
        </p:nvSpPr>
        <p:spPr>
          <a:xfrm>
            <a:off x="8549640" y="315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30,800円</a:t>
            </a:r>
          </a:p>
        </p:txBody>
      </p:sp>
      <p:sp>
        <p:nvSpPr>
          <p:cNvPr id="45" name="br22"/>
          <p:cNvSpPr/>
          <p:nvPr/>
        </p:nvSpPr>
        <p:spPr>
          <a:xfrm>
            <a:off x="9601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44,165円</a:t>
            </a:r>
          </a:p>
        </p:txBody>
      </p:sp>
      <p:sp>
        <p:nvSpPr>
          <p:cNvPr id="46" name="br23"/>
          <p:cNvSpPr/>
          <p:nvPr/>
        </p:nvSpPr>
        <p:spPr>
          <a:xfrm>
            <a:off x="10744200" y="315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0FDF4"/>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＋13,365円</a:t>
            </a:r>
          </a:p>
        </p:txBody>
      </p:sp>
      <p:sp>
        <p:nvSpPr>
          <p:cNvPr id="47" name="br30"/>
          <p:cNvSpPr/>
          <p:nvPr/>
        </p:nvSpPr>
        <p:spPr>
          <a:xfrm>
            <a:off x="6446520" y="3740000"/>
            <a:ext cx="201168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l"/>
            <a:r>
              <a:rPr lang="ja-JP" sz="1100" b="0" dirty="0">
                <a:solidFill>
                  <a:srgbClr val="1E293B"/>
                </a:solidFill>
                <a:latin typeface="Noto Sans CJK JP"/>
                <a:cs typeface="Noto Sans CJK JP"/>
              </a:rPr>
              <a:t>500㎥（学校・大型施設）</a:t>
            </a:r>
          </a:p>
        </p:txBody>
      </p:sp>
      <p:sp>
        <p:nvSpPr>
          <p:cNvPr id="48" name="br31"/>
          <p:cNvSpPr/>
          <p:nvPr/>
        </p:nvSpPr>
        <p:spPr>
          <a:xfrm>
            <a:off x="8549640" y="3740000"/>
            <a:ext cx="96012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83,600円</a:t>
            </a:r>
          </a:p>
        </p:txBody>
      </p:sp>
      <p:sp>
        <p:nvSpPr>
          <p:cNvPr id="49" name="br32"/>
          <p:cNvSpPr/>
          <p:nvPr/>
        </p:nvSpPr>
        <p:spPr>
          <a:xfrm>
            <a:off x="9601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1E293B"/>
                </a:solidFill>
                <a:latin typeface="Arial"/>
                <a:cs typeface="Noto Sans CJK JP"/>
              </a:rPr>
              <a:t>121,715円</a:t>
            </a:r>
          </a:p>
        </p:txBody>
      </p:sp>
      <p:sp>
        <p:nvSpPr>
          <p:cNvPr id="50" name="br33"/>
          <p:cNvSpPr/>
          <p:nvPr/>
        </p:nvSpPr>
        <p:spPr>
          <a:xfrm>
            <a:off x="10744200" y="3740000"/>
            <a:ext cx="1051560" cy="56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20000" rIns="114300" bIns="20000" anchor="ctr">
            <a:noAutofit/>
          </a:bodyPr>
          <a:lstStyle/>
          <a:p>
            <a:pPr algn="ctr"/>
            <a:r>
              <a:rPr lang="ja-JP" sz="1100" b="0" dirty="0">
                <a:solidFill>
                  <a:srgbClr val="EF4444"/>
                </a:solidFill>
                <a:latin typeface="Arial"/>
                <a:cs typeface="Noto Sans CJK JP"/>
              </a:rPr>
              <a:t>＋38,115円</a:t>
            </a:r>
          </a:p>
        </p:txBody>
      </p:sp>
      <p:sp>
        <p:nvSpPr>
          <p:cNvPr id="51" name="nt16"/>
          <p:cNvSpPr/>
          <p:nvPr/>
        </p:nvSpPr>
        <p:spPr>
          <a:xfrm>
            <a:off x="571680" y="5100000"/>
            <a:ext cx="11048400" cy="1011682"/>
          </a:xfrm>
          <a:custGeom>
            <a:avLst/>
            <a:gdLst/>
            <a:ahLst/>
            <a:cxn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scrgbClr r="0" g="0" b="0"/>
          </a:lnRef>
          <a:fillRef idx="0">
            <a:scrgbClr r="0" g="0" b="0"/>
          </a:fillRef>
          <a:effectRef idx="0">
            <a:scrgbClr r="0" g="0" b="0"/>
          </a:effectRef>
          <a:fontRef idx="minor"/>
        </p:style>
        <p:txBody>
          <a:bodyPr lIns="182880" tIns="45720" rIns="114300" bIns="45720" anchor="ctr">
            <a:noAutofit/>
          </a:bodyPr>
          <a:lstStyle/>
          <a:p>
            <a:pPr algn="l"/>
            <a:r>
              <a:rPr lang="ja-JP" sz="1150" b="0" dirty="0">
                <a:solidFill>
                  <a:srgbClr val="78350F"/>
                </a:solidFill>
                <a:latin typeface="Noto Sans CJK JP"/>
                <a:cs typeface="Noto Sans CJK JP"/>
              </a:rPr>
              <a:t>★ 20㎥（一般家庭の標準的な使用量）での月額は税込3,300円（税抜3,000円）。増加額は月額＋880円、年間＋10,560円、1日あたり約29円です。※各区分の単価を段階累進で積み上げて算定。</a:t>
            </a:r>
          </a:p>
          <a:p>
            <a:pPr algn="l"/>
            <a:r>
              <a:rPr lang="ja-JP" sz="1150" b="0" dirty="0">
                <a:solidFill>
                  <a:srgbClr val="78350F"/>
                </a:solidFill>
                <a:latin typeface="Noto Sans CJK JP"/>
                <a:cs typeface="Noto Sans CJK JP"/>
              </a:rPr>
              <a:t>※ 改定完了後の最終単価による月額です（2か年改定はR9〜、3か年改定はR10〜。最終単価は2か年・3か年で共通）。</a:t>
            </a:r>
          </a:p>
          <a:p>
            <a:pPr algn="l"/>
            <a:r>
              <a:rPr lang="ja-JP" sz="1150" b="0" dirty="0">
                <a:solidFill>
                  <a:srgbClr val="78350F"/>
                </a:solidFill>
                <a:latin typeface="Noto Sans CJK JP"/>
                <a:cs typeface="Noto Sans CJK JP"/>
              </a:rPr>
              <a:t>※ 世帯人数・業種は使用水量の目安として例示したものであり、実際の使用量は世帯・事業所により異なります。</a:t>
            </a:r>
          </a:p>
        </p:txBody>
      </p:sp>
      <p:sp>
        <p:nvSpPr>
          <p:cNvPr id="52"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11" name="hl"/>
          <p:cNvSpPr/>
          <p:nvPr/>
        </p:nvSpPr>
        <p:spPr>
          <a:xfrm>
            <a:off x="0" y="18288"/>
            <a:ext cx="12191760" cy="19080"/>
          </a:xfrm>
          <a:custGeom>
            <a:avLst/>
            <a:gdLst/>
            <a:ahLst/>
            <a:rect l="l" t="t" r="r" b="b"/>
            <a:pathLst>
              <a:path w="21600" h="21600">
                <a:moveTo>
                  <a:pt x="0" y="0"/>
                </a:moveTo>
                <a:lnTo>
                  <a:pt x="21600" y="0"/>
                </a:lnTo>
                <a:lnTo>
                  <a:pt x="21600" y="21600"/>
                </a:lnTo>
                <a:lnTo>
                  <a:pt x="0" y="21600"/>
                </a:lnTo>
                <a:close/>
              </a:path>
            </a:pathLst>
          </a:custGeom>
          <a:solidFill>
            <a:srgbClr val="E2E8F0"/>
          </a:solidFill>
          <a:ln w="0">
            <a:noFill/>
          </a:ln>
        </p:spPr>
        <p:style>
          <a:lnRef idx="0"/>
          <a:fillRef idx="0"/>
          <a:effectRef idx="0"/>
          <a:fontRef idx="minor"/>
        </p:style>
        <p:txBody>
          <a:bodyPr tIns="45720" bIns="45720" lIns="91440" rIns="91440" anchor="ctr">
            <a:noAutofit/>
          </a:bodyPr>
          <a:p>
            <a:endParaRPr/>
          </a:p>
        </p:txBody>
      </p:sp>
      <p:sp>
        <p:nvSpPr>
          <p:cNvPr id="12" name="ha"/>
          <p:cNvSpPr/>
          <p:nvPr/>
        </p:nvSpPr>
        <p:spPr>
          <a:xfrm>
            <a:off x="0" y="18288"/>
            <a:ext cx="1904760" cy="385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45720" bIns="45720" lIns="91440" rIns="91440" anchor="ctr">
            <a:noAutofit/>
          </a:bodyPr>
          <a:p>
            <a:endParaRPr/>
          </a:p>
        </p:txBody>
      </p:sp>
      <p:sp>
        <p:nvSpPr>
          <p:cNvPr id="13" name="ttl"/>
          <p:cNvSpPr/>
          <p:nvPr/>
        </p:nvSpPr>
        <p:spPr>
          <a:xfrm>
            <a:off x="571680" y="720000"/>
            <a:ext cx="11299975" cy="520000"/>
          </a:xfrm>
          <a:custGeom>
            <a:avLst/>
            <a:gdLst/>
            <a:ahLst/>
            <a:rect l="l" t="t" r="r" b="b"/>
            <a:pathLst>
              <a:path w="21600" h="21600">
                <a:moveTo>
                  <a:pt x="0" y="0"/>
                </a:moveTo>
                <a:lnTo>
                  <a:pt x="21600" y="0"/>
                </a:lnTo>
                <a:lnTo>
                  <a:pt x="21600" y="21600"/>
                </a:lnTo>
                <a:lnTo>
                  <a:pt x="0" y="21600"/>
                </a:lnTo>
                <a:close/>
              </a:path>
            </a:pathLst>
          </a:custGeom>
          <a:solidFill>
            <a:srgbClr val="F8FAFC"/>
          </a:solidFill>
          <a:ln w="0">
            <a:noFill/>
          </a:ln>
        </p:spPr>
        <p:style>
          <a:lnRef idx="0"/>
          <a:fillRef idx="0"/>
          <a:effectRef idx="0"/>
          <a:fontRef idx="minor"/>
        </p:style>
        <p:txBody>
          <a:bodyPr tIns="45720" bIns="45720" lIns="0" rIns="91440" anchor="ctr">
            <a:noAutofit/>
          </a:bodyPr>
          <a:p>
            <a:pPr algn="l"/>
            <a:r>
              <a:rPr lang="ja-JP" sz="1950" b="0" dirty="0">
                <a:solidFill>
                  <a:srgbClr val="1E293B"/>
                </a:solidFill>
                <a:latin typeface="Arial"/>
                <a:cs typeface="Noto Sans CJK JP"/>
              </a:rPr>
              <a:t>04-4　使用水量別　月額使用料一覧（税込・改定完了後の最終単価）</a:t>
            </a:r>
          </a:p>
        </p:txBody>
      </p:sp>
      <p:sp>
        <p:nvSpPr>
          <p:cNvPr id="14" name="gl2"/>
          <p:cNvSpPr/>
          <p:nvPr/>
        </p:nvSpPr>
        <p:spPr>
          <a:xfrm>
            <a:off x="2510000" y="1316736"/>
            <a:ext cx="2710000" cy="22000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パターン①</a:t>
            </a:r>
          </a:p>
        </p:txBody>
      </p:sp>
      <p:sp>
        <p:nvSpPr>
          <p:cNvPr id="15" name="gl5"/>
          <p:cNvSpPr/>
          <p:nvPr/>
        </p:nvSpPr>
        <p:spPr>
          <a:xfrm>
            <a:off x="5220000" y="1316736"/>
            <a:ext cx="2710000" cy="22000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パターン②</a:t>
            </a:r>
          </a:p>
        </p:txBody>
      </p:sp>
      <p:sp>
        <p:nvSpPr>
          <p:cNvPr id="16" name="gl8"/>
          <p:cNvSpPr/>
          <p:nvPr/>
        </p:nvSpPr>
        <p:spPr>
          <a:xfrm>
            <a:off x="7930000" y="1316736"/>
            <a:ext cx="2710000" cy="22000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45720" bIns="45720" lIns="91440" rIns="91440" anchor="ctr">
            <a:noAutofit/>
          </a:bodyPr>
          <a:p>
            <a:pPr algn="ctr"/>
            <a:r>
              <a:rPr lang="ja-JP" sz="900" b="0" dirty="0">
                <a:solidFill>
                  <a:srgbClr val="FFFFFF"/>
                </a:solidFill>
                <a:latin typeface="Arial"/>
                <a:cs typeface="Noto Sans CJK JP"/>
              </a:rPr>
              <a:t>← パターン④</a:t>
            </a:r>
          </a:p>
        </p:txBody>
      </p:sp>
      <p:sp>
        <p:nvSpPr>
          <p:cNvPr id="17" name="th0"/>
          <p:cNvSpPr/>
          <p:nvPr/>
        </p:nvSpPr>
        <p:spPr>
          <a:xfrm>
            <a:off x="380000" y="1554480"/>
            <a:ext cx="1200000" cy="274320"/>
          </a:xfrm>
          <a:custGeom>
            <a:avLst/>
            <a:gdLst/>
            <a:ahLst/>
            <a:rect l="l" t="t" r="r" b="b"/>
            <a:pathLst>
              <a:path w="21600" h="21600">
                <a:moveTo>
                  <a:pt x="0" y="0"/>
                </a:moveTo>
                <a:lnTo>
                  <a:pt x="21600" y="0"/>
                </a:lnTo>
                <a:lnTo>
                  <a:pt x="21600" y="21600"/>
                </a:lnTo>
                <a:lnTo>
                  <a:pt x="0" y="21600"/>
                </a:lnTo>
                <a:close/>
              </a:path>
            </a:pathLst>
          </a:custGeom>
          <a:solidFill>
            <a:srgbClr val="1E3A8A"/>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水量</a:t>
            </a:r>
          </a:p>
        </p:txBody>
      </p:sp>
      <p:sp>
        <p:nvSpPr>
          <p:cNvPr id="18" name="th1"/>
          <p:cNvSpPr/>
          <p:nvPr/>
        </p:nvSpPr>
        <p:spPr>
          <a:xfrm>
            <a:off x="1580000" y="1554480"/>
            <a:ext cx="930000" cy="274320"/>
          </a:xfrm>
          <a:custGeom>
            <a:avLst/>
            <a:gdLst/>
            <a:ahLst/>
            <a:rect l="l" t="t" r="r" b="b"/>
            <a:pathLst>
              <a:path w="21600" h="21600">
                <a:moveTo>
                  <a:pt x="0" y="0"/>
                </a:moveTo>
                <a:lnTo>
                  <a:pt x="21600" y="0"/>
                </a:lnTo>
                <a:lnTo>
                  <a:pt x="21600" y="21600"/>
                </a:lnTo>
                <a:lnTo>
                  <a:pt x="0" y="21600"/>
                </a:lnTo>
                <a:close/>
              </a:path>
            </a:pathLst>
          </a:custGeom>
          <a:solidFill>
            <a:srgbClr val="47556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現行（税込）</a:t>
            </a:r>
          </a:p>
        </p:txBody>
      </p:sp>
      <p:sp>
        <p:nvSpPr>
          <p:cNvPr id="19" name="th2"/>
          <p:cNvSpPr/>
          <p:nvPr/>
        </p:nvSpPr>
        <p:spPr>
          <a:xfrm>
            <a:off x="2510000" y="1554480"/>
            <a:ext cx="930000" cy="27432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0" name="th3"/>
          <p:cNvSpPr/>
          <p:nvPr/>
        </p:nvSpPr>
        <p:spPr>
          <a:xfrm>
            <a:off x="3440000" y="1554480"/>
            <a:ext cx="950000" cy="27432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1" name="th4"/>
          <p:cNvSpPr/>
          <p:nvPr/>
        </p:nvSpPr>
        <p:spPr>
          <a:xfrm>
            <a:off x="4390000" y="1554480"/>
            <a:ext cx="830000" cy="274320"/>
          </a:xfrm>
          <a:custGeom>
            <a:avLst/>
            <a:gdLst/>
            <a:ahLst/>
            <a:rect l="l" t="t" r="r" b="b"/>
            <a:pathLst>
              <a:path w="21600" h="21600">
                <a:moveTo>
                  <a:pt x="0" y="0"/>
                </a:moveTo>
                <a:lnTo>
                  <a:pt x="21600" y="0"/>
                </a:lnTo>
                <a:lnTo>
                  <a:pt x="21600" y="21600"/>
                </a:lnTo>
                <a:lnTo>
                  <a:pt x="0" y="21600"/>
                </a:lnTo>
                <a:close/>
              </a:path>
            </a:pathLst>
          </a:custGeom>
          <a:solidFill>
            <a:srgbClr val="1E40AF"/>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2" name="th5"/>
          <p:cNvSpPr/>
          <p:nvPr/>
        </p:nvSpPr>
        <p:spPr>
          <a:xfrm>
            <a:off x="5220000" y="1554480"/>
            <a:ext cx="930000" cy="27432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3" name="th6"/>
          <p:cNvSpPr/>
          <p:nvPr/>
        </p:nvSpPr>
        <p:spPr>
          <a:xfrm>
            <a:off x="6150000" y="1554480"/>
            <a:ext cx="950000" cy="27432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4" name="th7"/>
          <p:cNvSpPr/>
          <p:nvPr/>
        </p:nvSpPr>
        <p:spPr>
          <a:xfrm>
            <a:off x="7100000" y="1554480"/>
            <a:ext cx="830000" cy="274320"/>
          </a:xfrm>
          <a:custGeom>
            <a:avLst/>
            <a:gdLst/>
            <a:ahLst/>
            <a:rect l="l" t="t" r="r" b="b"/>
            <a:pathLst>
              <a:path w="21600" h="21600">
                <a:moveTo>
                  <a:pt x="0" y="0"/>
                </a:moveTo>
                <a:lnTo>
                  <a:pt x="21600" y="0"/>
                </a:lnTo>
                <a:lnTo>
                  <a:pt x="21600" y="21600"/>
                </a:lnTo>
                <a:lnTo>
                  <a:pt x="0" y="21600"/>
                </a:lnTo>
                <a:close/>
              </a:path>
            </a:pathLst>
          </a:custGeom>
          <a:solidFill>
            <a:srgbClr val="166534"/>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5" name="th8"/>
          <p:cNvSpPr/>
          <p:nvPr/>
        </p:nvSpPr>
        <p:spPr>
          <a:xfrm>
            <a:off x="7930000" y="1554480"/>
            <a:ext cx="930000" cy="27432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税抜</a:t>
            </a:r>
          </a:p>
        </p:txBody>
      </p:sp>
      <p:sp>
        <p:nvSpPr>
          <p:cNvPr id="26" name="th9"/>
          <p:cNvSpPr/>
          <p:nvPr/>
        </p:nvSpPr>
        <p:spPr>
          <a:xfrm>
            <a:off x="8860000" y="1554480"/>
            <a:ext cx="950000" cy="27432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税込</a:t>
            </a:r>
          </a:p>
        </p:txBody>
      </p:sp>
      <p:sp>
        <p:nvSpPr>
          <p:cNvPr id="27" name="th10"/>
          <p:cNvSpPr/>
          <p:nvPr/>
        </p:nvSpPr>
        <p:spPr>
          <a:xfrm>
            <a:off x="9810000" y="1554480"/>
            <a:ext cx="830000" cy="274320"/>
          </a:xfrm>
          <a:custGeom>
            <a:avLst/>
            <a:gdLst/>
            <a:ahLst/>
            <a:rect l="l" t="t" r="r" b="b"/>
            <a:pathLst>
              <a:path w="21600" h="21600">
                <a:moveTo>
                  <a:pt x="0" y="0"/>
                </a:moveTo>
                <a:lnTo>
                  <a:pt x="21600" y="0"/>
                </a:lnTo>
                <a:lnTo>
                  <a:pt x="21600" y="21600"/>
                </a:lnTo>
                <a:lnTo>
                  <a:pt x="0" y="21600"/>
                </a:lnTo>
                <a:close/>
              </a:path>
            </a:pathLst>
          </a:custGeom>
          <a:solidFill>
            <a:srgbClr val="B45309"/>
          </a:solidFill>
          <a:ln w="0">
            <a:noFill/>
          </a:ln>
        </p:spPr>
        <p:style>
          <a:lnRef idx="0"/>
          <a:fillRef idx="0"/>
          <a:effectRef idx="0"/>
          <a:fontRef idx="minor"/>
        </p:style>
        <p:txBody>
          <a:bodyPr tIns="15000" bIns="15000" lIns="10000" rIns="10000" anchor="ctr">
            <a:noAutofit/>
          </a:bodyPr>
          <a:p>
            <a:pPr algn="ctr"/>
            <a:r>
              <a:rPr lang="ja-JP" sz="880" b="0" dirty="0">
                <a:solidFill>
                  <a:srgbClr val="FFFFFF"/>
                </a:solidFill>
                <a:latin typeface="Arial"/>
                <a:cs typeface="Noto Sans CJK JP"/>
              </a:rPr>
              <a:t>差額</a:t>
            </a:r>
          </a:p>
        </p:txBody>
      </p:sp>
      <p:sp>
        <p:nvSpPr>
          <p:cNvPr id="28" name="d00"/>
          <p:cNvSpPr/>
          <p:nvPr/>
        </p:nvSpPr>
        <p:spPr>
          <a:xfrm>
            <a:off x="380000" y="1792224"/>
            <a:ext cx="120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10㎥</a:t>
            </a:r>
          </a:p>
        </p:txBody>
      </p:sp>
      <p:sp>
        <p:nvSpPr>
          <p:cNvPr id="29" name="d01"/>
          <p:cNvSpPr/>
          <p:nvPr/>
        </p:nvSpPr>
        <p:spPr>
          <a:xfrm>
            <a:off x="1580000" y="1792224"/>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1,100円</a:t>
            </a:r>
          </a:p>
        </p:txBody>
      </p:sp>
      <p:sp>
        <p:nvSpPr>
          <p:cNvPr id="30" name="d02"/>
          <p:cNvSpPr/>
          <p:nvPr/>
        </p:nvSpPr>
        <p:spPr>
          <a:xfrm>
            <a:off x="2510000" y="1792224"/>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1,500円</a:t>
            </a:r>
          </a:p>
        </p:txBody>
      </p:sp>
      <p:sp>
        <p:nvSpPr>
          <p:cNvPr id="31" name="d03"/>
          <p:cNvSpPr/>
          <p:nvPr/>
        </p:nvSpPr>
        <p:spPr>
          <a:xfrm>
            <a:off x="3440000" y="1792224"/>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1,650円</a:t>
            </a:r>
          </a:p>
        </p:txBody>
      </p:sp>
      <p:sp>
        <p:nvSpPr>
          <p:cNvPr id="32" name="d04"/>
          <p:cNvSpPr/>
          <p:nvPr/>
        </p:nvSpPr>
        <p:spPr>
          <a:xfrm>
            <a:off x="4390000" y="1792224"/>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＋550円</a:t>
            </a:r>
          </a:p>
        </p:txBody>
      </p:sp>
      <p:sp>
        <p:nvSpPr>
          <p:cNvPr id="33" name="d05"/>
          <p:cNvSpPr/>
          <p:nvPr/>
        </p:nvSpPr>
        <p:spPr>
          <a:xfrm>
            <a:off x="5220000" y="1792224"/>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1,200円</a:t>
            </a:r>
          </a:p>
        </p:txBody>
      </p:sp>
      <p:sp>
        <p:nvSpPr>
          <p:cNvPr id="34" name="d06"/>
          <p:cNvSpPr/>
          <p:nvPr/>
        </p:nvSpPr>
        <p:spPr>
          <a:xfrm>
            <a:off x="6150000" y="1792224"/>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1,320円</a:t>
            </a:r>
          </a:p>
        </p:txBody>
      </p:sp>
      <p:sp>
        <p:nvSpPr>
          <p:cNvPr id="35" name="d07"/>
          <p:cNvSpPr/>
          <p:nvPr/>
        </p:nvSpPr>
        <p:spPr>
          <a:xfrm>
            <a:off x="7100000" y="1792224"/>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＋220円</a:t>
            </a:r>
          </a:p>
        </p:txBody>
      </p:sp>
      <p:sp>
        <p:nvSpPr>
          <p:cNvPr id="36" name="d08"/>
          <p:cNvSpPr/>
          <p:nvPr/>
        </p:nvSpPr>
        <p:spPr>
          <a:xfrm>
            <a:off x="7930000" y="1792224"/>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1,400円</a:t>
            </a:r>
          </a:p>
        </p:txBody>
      </p:sp>
      <p:sp>
        <p:nvSpPr>
          <p:cNvPr id="37" name="d09"/>
          <p:cNvSpPr/>
          <p:nvPr/>
        </p:nvSpPr>
        <p:spPr>
          <a:xfrm>
            <a:off x="8860000" y="1792224"/>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1,540円</a:t>
            </a:r>
          </a:p>
        </p:txBody>
      </p:sp>
      <p:sp>
        <p:nvSpPr>
          <p:cNvPr id="38" name="d010"/>
          <p:cNvSpPr/>
          <p:nvPr/>
        </p:nvSpPr>
        <p:spPr>
          <a:xfrm>
            <a:off x="9810000" y="1792224"/>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＋440円</a:t>
            </a:r>
          </a:p>
        </p:txBody>
      </p:sp>
      <p:sp>
        <p:nvSpPr>
          <p:cNvPr id="39" name="d10"/>
          <p:cNvSpPr/>
          <p:nvPr/>
        </p:nvSpPr>
        <p:spPr>
          <a:xfrm>
            <a:off x="380000" y="3090672"/>
            <a:ext cx="120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l"/>
            <a:r>
              <a:rPr lang="ja-JP" sz="1250" b="1" dirty="0">
                <a:solidFill>
                  <a:srgbClr val="1E293B"/>
                </a:solidFill>
                <a:latin typeface="Arial"/>
                <a:cs typeface="Noto Sans CJK JP"/>
              </a:rPr>
              <a:t>20㎥</a:t>
            </a:r>
          </a:p>
        </p:txBody>
      </p:sp>
      <p:sp>
        <p:nvSpPr>
          <p:cNvPr id="40" name="d11"/>
          <p:cNvSpPr/>
          <p:nvPr/>
        </p:nvSpPr>
        <p:spPr>
          <a:xfrm>
            <a:off x="1580000" y="3090672"/>
            <a:ext cx="9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475569"/>
                </a:solidFill>
                <a:latin typeface="Arial"/>
                <a:cs typeface="Noto Sans CJK JP"/>
              </a:rPr>
              <a:t>2,420円</a:t>
            </a:r>
          </a:p>
        </p:txBody>
      </p:sp>
      <p:sp>
        <p:nvSpPr>
          <p:cNvPr id="41" name="d12"/>
          <p:cNvSpPr/>
          <p:nvPr/>
        </p:nvSpPr>
        <p:spPr>
          <a:xfrm>
            <a:off x="2510000" y="3090672"/>
            <a:ext cx="9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E40AF"/>
                </a:solidFill>
                <a:latin typeface="Arial"/>
                <a:cs typeface="Noto Sans CJK JP"/>
              </a:rPr>
              <a:t>3,000円</a:t>
            </a:r>
          </a:p>
        </p:txBody>
      </p:sp>
      <p:sp>
        <p:nvSpPr>
          <p:cNvPr id="42" name="d13"/>
          <p:cNvSpPr/>
          <p:nvPr/>
        </p:nvSpPr>
        <p:spPr>
          <a:xfrm>
            <a:off x="3440000" y="3090672"/>
            <a:ext cx="95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E40AF"/>
                </a:solidFill>
                <a:latin typeface="Arial"/>
                <a:cs typeface="Noto Sans CJK JP"/>
              </a:rPr>
              <a:t>3,300円</a:t>
            </a:r>
          </a:p>
        </p:txBody>
      </p:sp>
      <p:sp>
        <p:nvSpPr>
          <p:cNvPr id="43" name="d14"/>
          <p:cNvSpPr/>
          <p:nvPr/>
        </p:nvSpPr>
        <p:spPr>
          <a:xfrm>
            <a:off x="4390000" y="3090672"/>
            <a:ext cx="8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44" name="d15"/>
          <p:cNvSpPr/>
          <p:nvPr/>
        </p:nvSpPr>
        <p:spPr>
          <a:xfrm>
            <a:off x="5220000" y="3090672"/>
            <a:ext cx="9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66534"/>
                </a:solidFill>
                <a:latin typeface="Arial"/>
                <a:cs typeface="Noto Sans CJK JP"/>
              </a:rPr>
              <a:t>3,000円</a:t>
            </a:r>
          </a:p>
        </p:txBody>
      </p:sp>
      <p:sp>
        <p:nvSpPr>
          <p:cNvPr id="45" name="d16"/>
          <p:cNvSpPr/>
          <p:nvPr/>
        </p:nvSpPr>
        <p:spPr>
          <a:xfrm>
            <a:off x="6150000" y="3090672"/>
            <a:ext cx="95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166534"/>
                </a:solidFill>
                <a:latin typeface="Arial"/>
                <a:cs typeface="Noto Sans CJK JP"/>
              </a:rPr>
              <a:t>3,300円</a:t>
            </a:r>
          </a:p>
        </p:txBody>
      </p:sp>
      <p:sp>
        <p:nvSpPr>
          <p:cNvPr id="46" name="d17"/>
          <p:cNvSpPr/>
          <p:nvPr/>
        </p:nvSpPr>
        <p:spPr>
          <a:xfrm>
            <a:off x="7100000" y="3090672"/>
            <a:ext cx="8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47" name="d18"/>
          <p:cNvSpPr/>
          <p:nvPr/>
        </p:nvSpPr>
        <p:spPr>
          <a:xfrm>
            <a:off x="7930000" y="3090672"/>
            <a:ext cx="9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B45309"/>
                </a:solidFill>
                <a:latin typeface="Arial"/>
                <a:cs typeface="Noto Sans CJK JP"/>
              </a:rPr>
              <a:t>3,000円</a:t>
            </a:r>
          </a:p>
        </p:txBody>
      </p:sp>
      <p:sp>
        <p:nvSpPr>
          <p:cNvPr id="48" name="d19"/>
          <p:cNvSpPr/>
          <p:nvPr/>
        </p:nvSpPr>
        <p:spPr>
          <a:xfrm>
            <a:off x="8860000" y="3090672"/>
            <a:ext cx="95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B45309"/>
                </a:solidFill>
                <a:latin typeface="Arial"/>
                <a:cs typeface="Noto Sans CJK JP"/>
              </a:rPr>
              <a:t>3,300円</a:t>
            </a:r>
          </a:p>
        </p:txBody>
      </p:sp>
      <p:sp>
        <p:nvSpPr>
          <p:cNvPr id="49" name="d110"/>
          <p:cNvSpPr/>
          <p:nvPr/>
        </p:nvSpPr>
        <p:spPr>
          <a:xfrm>
            <a:off x="9810000" y="3090672"/>
            <a:ext cx="830000" cy="594360"/>
          </a:xfrm>
          <a:custGeom>
            <a:avLst/>
            <a:gdLst/>
            <a:ahLst/>
            <a:rect l="l" t="t" r="r" b="b"/>
            <a:pathLst>
              <a:path w="21600" h="21600">
                <a:moveTo>
                  <a:pt x="0" y="0"/>
                </a:moveTo>
                <a:lnTo>
                  <a:pt x="21600" y="0"/>
                </a:lnTo>
                <a:lnTo>
                  <a:pt x="21600" y="21600"/>
                </a:lnTo>
                <a:lnTo>
                  <a:pt x="0" y="21600"/>
                </a:lnTo>
                <a:close/>
              </a:path>
            </a:pathLst>
          </a:custGeom>
          <a:solidFill>
            <a:srgbClr val="EFF6FF"/>
          </a:solidFill>
          <a:ln w="19050">
            <a:solidFill>
              <a:srgbClr val="3B82F6"/>
            </a:solidFill>
          </a:ln>
        </p:spPr>
        <p:style>
          <a:lnRef idx="0"/>
          <a:fillRef idx="0"/>
          <a:effectRef idx="0"/>
          <a:fontRef idx="minor"/>
        </p:style>
        <p:txBody>
          <a:bodyPr tIns="20000" bIns="20000" lIns="15000" rIns="15000" anchor="ctr">
            <a:noAutofit/>
          </a:bodyPr>
          <a:p>
            <a:pPr algn="ctr"/>
            <a:r>
              <a:rPr lang="ja-JP" sz="1250" b="1" dirty="0">
                <a:solidFill>
                  <a:srgbClr val="EF4444"/>
                </a:solidFill>
                <a:latin typeface="Arial"/>
                <a:cs typeface="Noto Sans CJK JP"/>
              </a:rPr>
              <a:t>＋880円</a:t>
            </a:r>
          </a:p>
        </p:txBody>
      </p:sp>
      <p:sp>
        <p:nvSpPr>
          <p:cNvPr id="50" name="d20"/>
          <p:cNvSpPr/>
          <p:nvPr/>
        </p:nvSpPr>
        <p:spPr>
          <a:xfrm>
            <a:off x="380000" y="2441448"/>
            <a:ext cx="120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15㎥</a:t>
            </a:r>
          </a:p>
        </p:txBody>
      </p:sp>
      <p:sp>
        <p:nvSpPr>
          <p:cNvPr id="51" name="d21"/>
          <p:cNvSpPr/>
          <p:nvPr/>
        </p:nvSpPr>
        <p:spPr>
          <a:xfrm>
            <a:off x="1580000" y="2441448"/>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1,760円</a:t>
            </a:r>
          </a:p>
        </p:txBody>
      </p:sp>
      <p:sp>
        <p:nvSpPr>
          <p:cNvPr id="52" name="d22"/>
          <p:cNvSpPr/>
          <p:nvPr/>
        </p:nvSpPr>
        <p:spPr>
          <a:xfrm>
            <a:off x="2510000" y="2441448"/>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2,250円</a:t>
            </a:r>
          </a:p>
        </p:txBody>
      </p:sp>
      <p:sp>
        <p:nvSpPr>
          <p:cNvPr id="53" name="d23"/>
          <p:cNvSpPr/>
          <p:nvPr/>
        </p:nvSpPr>
        <p:spPr>
          <a:xfrm>
            <a:off x="3440000" y="2441448"/>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2,475円</a:t>
            </a:r>
          </a:p>
        </p:txBody>
      </p:sp>
      <p:sp>
        <p:nvSpPr>
          <p:cNvPr id="54" name="d24"/>
          <p:cNvSpPr/>
          <p:nvPr/>
        </p:nvSpPr>
        <p:spPr>
          <a:xfrm>
            <a:off x="4390000" y="2441448"/>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＋715円</a:t>
            </a:r>
          </a:p>
        </p:txBody>
      </p:sp>
      <p:sp>
        <p:nvSpPr>
          <p:cNvPr id="55" name="d25"/>
          <p:cNvSpPr/>
          <p:nvPr/>
        </p:nvSpPr>
        <p:spPr>
          <a:xfrm>
            <a:off x="5220000" y="2441448"/>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2,100円</a:t>
            </a:r>
          </a:p>
        </p:txBody>
      </p:sp>
      <p:sp>
        <p:nvSpPr>
          <p:cNvPr id="56" name="d26"/>
          <p:cNvSpPr/>
          <p:nvPr/>
        </p:nvSpPr>
        <p:spPr>
          <a:xfrm>
            <a:off x="6150000" y="2441448"/>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2,310円</a:t>
            </a:r>
          </a:p>
        </p:txBody>
      </p:sp>
      <p:sp>
        <p:nvSpPr>
          <p:cNvPr id="57" name="d27"/>
          <p:cNvSpPr/>
          <p:nvPr/>
        </p:nvSpPr>
        <p:spPr>
          <a:xfrm>
            <a:off x="7100000" y="2441448"/>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＋550円</a:t>
            </a:r>
          </a:p>
        </p:txBody>
      </p:sp>
      <p:sp>
        <p:nvSpPr>
          <p:cNvPr id="58" name="d28"/>
          <p:cNvSpPr/>
          <p:nvPr/>
        </p:nvSpPr>
        <p:spPr>
          <a:xfrm>
            <a:off x="7930000" y="2441448"/>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2,200円</a:t>
            </a:r>
          </a:p>
        </p:txBody>
      </p:sp>
      <p:sp>
        <p:nvSpPr>
          <p:cNvPr id="59" name="d29"/>
          <p:cNvSpPr/>
          <p:nvPr/>
        </p:nvSpPr>
        <p:spPr>
          <a:xfrm>
            <a:off x="8860000" y="2441448"/>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2,420円</a:t>
            </a:r>
          </a:p>
        </p:txBody>
      </p:sp>
      <p:sp>
        <p:nvSpPr>
          <p:cNvPr id="60" name="d210"/>
          <p:cNvSpPr/>
          <p:nvPr/>
        </p:nvSpPr>
        <p:spPr>
          <a:xfrm>
            <a:off x="9810000" y="2441448"/>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＋660円</a:t>
            </a:r>
          </a:p>
        </p:txBody>
      </p:sp>
      <p:sp>
        <p:nvSpPr>
          <p:cNvPr id="61" name="d30"/>
          <p:cNvSpPr/>
          <p:nvPr/>
        </p:nvSpPr>
        <p:spPr>
          <a:xfrm>
            <a:off x="380000" y="3739896"/>
            <a:ext cx="120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30㎥</a:t>
            </a:r>
          </a:p>
        </p:txBody>
      </p:sp>
      <p:sp>
        <p:nvSpPr>
          <p:cNvPr id="62" name="d31"/>
          <p:cNvSpPr/>
          <p:nvPr/>
        </p:nvSpPr>
        <p:spPr>
          <a:xfrm>
            <a:off x="1580000" y="3739896"/>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3,740円</a:t>
            </a:r>
          </a:p>
        </p:txBody>
      </p:sp>
      <p:sp>
        <p:nvSpPr>
          <p:cNvPr id="63" name="d32"/>
          <p:cNvSpPr/>
          <p:nvPr/>
        </p:nvSpPr>
        <p:spPr>
          <a:xfrm>
            <a:off x="2510000" y="3739896"/>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4,550円</a:t>
            </a:r>
          </a:p>
        </p:txBody>
      </p:sp>
      <p:sp>
        <p:nvSpPr>
          <p:cNvPr id="64" name="d33"/>
          <p:cNvSpPr/>
          <p:nvPr/>
        </p:nvSpPr>
        <p:spPr>
          <a:xfrm>
            <a:off x="3440000" y="3739896"/>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5,005円</a:t>
            </a:r>
          </a:p>
        </p:txBody>
      </p:sp>
      <p:sp>
        <p:nvSpPr>
          <p:cNvPr id="65" name="d34"/>
          <p:cNvSpPr/>
          <p:nvPr/>
        </p:nvSpPr>
        <p:spPr>
          <a:xfrm>
            <a:off x="4390000" y="3739896"/>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＋1,265円</a:t>
            </a:r>
          </a:p>
        </p:txBody>
      </p:sp>
      <p:sp>
        <p:nvSpPr>
          <p:cNvPr id="66" name="d35"/>
          <p:cNvSpPr/>
          <p:nvPr/>
        </p:nvSpPr>
        <p:spPr>
          <a:xfrm>
            <a:off x="5220000" y="3739896"/>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4,850円</a:t>
            </a:r>
          </a:p>
        </p:txBody>
      </p:sp>
      <p:sp>
        <p:nvSpPr>
          <p:cNvPr id="67" name="d36"/>
          <p:cNvSpPr/>
          <p:nvPr/>
        </p:nvSpPr>
        <p:spPr>
          <a:xfrm>
            <a:off x="6150000" y="3739896"/>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5,335円</a:t>
            </a:r>
          </a:p>
        </p:txBody>
      </p:sp>
      <p:sp>
        <p:nvSpPr>
          <p:cNvPr id="68" name="d37"/>
          <p:cNvSpPr/>
          <p:nvPr/>
        </p:nvSpPr>
        <p:spPr>
          <a:xfrm>
            <a:off x="7100000" y="3739896"/>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＋1,595円</a:t>
            </a:r>
          </a:p>
        </p:txBody>
      </p:sp>
      <p:sp>
        <p:nvSpPr>
          <p:cNvPr id="69" name="d38"/>
          <p:cNvSpPr/>
          <p:nvPr/>
        </p:nvSpPr>
        <p:spPr>
          <a:xfrm>
            <a:off x="7930000" y="3739896"/>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4,650円</a:t>
            </a:r>
          </a:p>
        </p:txBody>
      </p:sp>
      <p:sp>
        <p:nvSpPr>
          <p:cNvPr id="70" name="d39"/>
          <p:cNvSpPr/>
          <p:nvPr/>
        </p:nvSpPr>
        <p:spPr>
          <a:xfrm>
            <a:off x="8860000" y="3739896"/>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5,115円</a:t>
            </a:r>
          </a:p>
        </p:txBody>
      </p:sp>
      <p:sp>
        <p:nvSpPr>
          <p:cNvPr id="71" name="d310"/>
          <p:cNvSpPr/>
          <p:nvPr/>
        </p:nvSpPr>
        <p:spPr>
          <a:xfrm>
            <a:off x="9810000" y="3739896"/>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＋1,375円</a:t>
            </a:r>
          </a:p>
        </p:txBody>
      </p:sp>
      <p:sp>
        <p:nvSpPr>
          <p:cNvPr id="72" name="note"/>
          <p:cNvSpPr/>
          <p:nvPr/>
        </p:nvSpPr>
        <p:spPr>
          <a:xfrm>
            <a:off x="380000" y="5765863"/>
            <a:ext cx="11431760" cy="744664"/>
          </a:xfrm>
          <a:custGeom>
            <a:avLst/>
            <a:gdLst/>
            <a:ahLst/>
            <a:rect l="l" t="t" r="r" b="b"/>
            <a:pathLst>
              <a:path w="21600" h="21600">
                <a:moveTo>
                  <a:pt x="0" y="0"/>
                </a:moveTo>
                <a:lnTo>
                  <a:pt x="21600" y="0"/>
                </a:lnTo>
                <a:lnTo>
                  <a:pt x="21600" y="21600"/>
                </a:lnTo>
                <a:lnTo>
                  <a:pt x="0" y="21600"/>
                </a:lnTo>
                <a:close/>
              </a:path>
            </a:pathLst>
          </a:custGeom>
          <a:solidFill>
            <a:srgbClr val="FEF9C3"/>
          </a:solidFill>
          <a:ln w="9525">
            <a:solidFill>
              <a:srgbClr val="FBBF24"/>
            </a:solidFill>
          </a:ln>
        </p:spPr>
        <p:style>
          <a:lnRef idx="0"/>
          <a:fillRef idx="0"/>
          <a:effectRef idx="0"/>
          <a:fontRef idx="minor"/>
        </p:style>
        <p:txBody>
          <a:bodyPr tIns="45720" bIns="45720" lIns="182880" rIns="91440" anchor="ctr">
            <a:noAutofit/>
          </a:bodyPr>
          <a:p>
            <a:pPr algn="l"/>
            <a:r>
              <a:rPr lang="ja-JP" sz="1050" b="0" dirty="0">
                <a:solidFill>
                  <a:srgbClr val="78350F"/>
                </a:solidFill>
                <a:latin typeface="Arial"/>
                <a:cs typeface="Noto Sans CJK JP"/>
              </a:rPr>
              <a:t>★ 青枠20㎥が一般家庭の標準使用量。改定後の差額はいずれのパターンも月額＋880円（年間＋10,560円）。税込・1か月あたり。</a:t>
            </a:r>
          </a:p>
          <a:p>
            <a:pPr algn="l"/>
            <a:r>
              <a:rPr lang="ja-JP" sz="1050" b="0" dirty="0">
                <a:solidFill>
                  <a:srgbClr val="78350F"/>
                </a:solidFill>
                <a:latin typeface="Arial"/>
                <a:cs typeface="Noto Sans CJK JP"/>
              </a:rPr>
              <a:t>※ 改定完了後の最終単価による月額です（2か年改定はR9〜、3か年改定はR10〜。最終単価は2か年・3か年で共通）。</a:t>
            </a:r>
          </a:p>
          <a:p>
            <a:pPr algn="l"/>
            <a:r>
              <a:rPr lang="ja-JP" sz="1050" b="0" dirty="0">
                <a:solidFill>
                  <a:srgbClr val="78350F"/>
                </a:solidFill>
                <a:latin typeface="Arial"/>
                <a:cs typeface="Noto Sans CJK JP"/>
              </a:rPr>
              <a:t>※ 使用量の目安：10㎥＝1〜2人世帯、15〜20㎥＝2〜3人世帯、30㎥＝3〜4人世帯、50㎥＝4人以上の世帯・小規模事業所、100㎥＝飲食店・小売店等（あくまで目安）。</a:t>
            </a:r>
          </a:p>
        </p:txBody>
      </p:sp>
      <p:sp>
        <p:nvSpPr>
          <p:cNvPr id="73" name="pgnum"/>
          <p:cNvSpPr/>
          <p:nvPr/>
        </p:nvSpPr>
        <p:spPr>
          <a:xfrm>
            <a:off x="286200" y="6543360"/>
            <a:ext cx="457200" cy="1728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fillRef idx="0"/>
          <a:effectRef idx="0"/>
          <a:fontRef idx="minor"/>
        </p:style>
        <p:txBody>
          <a:bodyPr lIns="0" tIns="0" rIns="0" bIns="0" anchor="ctr">
            <a:noAutofit/>
          </a:bodyPr>
          <a:lstStyle/>
          <a:p>
            <a:pPr algn="ctr"/>
            <a:r>
              <a:rPr lang="ja-JP" sz="900" b="0" dirty="0">
                <a:solidFill>
                  <a:srgbClr val="CBD5E1"/>
                </a:solidFill>
                <a:latin typeface="Arial"/>
                <a:cs typeface="Noto Sans CJK JP"/>
              </a:rPr>
              <a:t>35</a:t>
            </a:r>
          </a:p>
        </p:txBody>
      </p:sp>
      <p:sp>
        <p:nvSpPr>
          <p:cNvPr id="74" name="d40"/>
          <p:cNvSpPr/>
          <p:nvPr/>
        </p:nvSpPr>
        <p:spPr>
          <a:xfrm>
            <a:off x="380000" y="4389120"/>
            <a:ext cx="120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50㎥</a:t>
            </a:r>
          </a:p>
        </p:txBody>
      </p:sp>
      <p:sp>
        <p:nvSpPr>
          <p:cNvPr id="75" name="d41"/>
          <p:cNvSpPr/>
          <p:nvPr/>
        </p:nvSpPr>
        <p:spPr>
          <a:xfrm>
            <a:off x="1580000" y="4389120"/>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6,600円</a:t>
            </a:r>
          </a:p>
        </p:txBody>
      </p:sp>
      <p:sp>
        <p:nvSpPr>
          <p:cNvPr id="76" name="d42"/>
          <p:cNvSpPr/>
          <p:nvPr/>
        </p:nvSpPr>
        <p:spPr>
          <a:xfrm>
            <a:off x="2510000" y="4389120"/>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7,800円</a:t>
            </a:r>
          </a:p>
        </p:txBody>
      </p:sp>
      <p:sp>
        <p:nvSpPr>
          <p:cNvPr id="77" name="d43"/>
          <p:cNvSpPr/>
          <p:nvPr/>
        </p:nvSpPr>
        <p:spPr>
          <a:xfrm>
            <a:off x="3440000" y="4389120"/>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8,580円</a:t>
            </a:r>
          </a:p>
        </p:txBody>
      </p:sp>
      <p:sp>
        <p:nvSpPr>
          <p:cNvPr id="78" name="d44"/>
          <p:cNvSpPr/>
          <p:nvPr/>
        </p:nvSpPr>
        <p:spPr>
          <a:xfrm>
            <a:off x="4390000" y="4389120"/>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＋1,980円</a:t>
            </a:r>
          </a:p>
        </p:txBody>
      </p:sp>
      <p:sp>
        <p:nvSpPr>
          <p:cNvPr id="79" name="d45"/>
          <p:cNvSpPr/>
          <p:nvPr/>
        </p:nvSpPr>
        <p:spPr>
          <a:xfrm>
            <a:off x="5220000" y="4389120"/>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8,700円</a:t>
            </a:r>
          </a:p>
        </p:txBody>
      </p:sp>
      <p:sp>
        <p:nvSpPr>
          <p:cNvPr id="80" name="d46"/>
          <p:cNvSpPr/>
          <p:nvPr/>
        </p:nvSpPr>
        <p:spPr>
          <a:xfrm>
            <a:off x="6150000" y="4389120"/>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9,570円</a:t>
            </a:r>
          </a:p>
        </p:txBody>
      </p:sp>
      <p:sp>
        <p:nvSpPr>
          <p:cNvPr id="81" name="d47"/>
          <p:cNvSpPr/>
          <p:nvPr/>
        </p:nvSpPr>
        <p:spPr>
          <a:xfrm>
            <a:off x="7100000" y="4389120"/>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＋2,970円</a:t>
            </a:r>
          </a:p>
        </p:txBody>
      </p:sp>
      <p:sp>
        <p:nvSpPr>
          <p:cNvPr id="82" name="d48"/>
          <p:cNvSpPr/>
          <p:nvPr/>
        </p:nvSpPr>
        <p:spPr>
          <a:xfrm>
            <a:off x="7930000" y="4389120"/>
            <a:ext cx="9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8,100円</a:t>
            </a:r>
          </a:p>
        </p:txBody>
      </p:sp>
      <p:sp>
        <p:nvSpPr>
          <p:cNvPr id="83" name="d49"/>
          <p:cNvSpPr/>
          <p:nvPr/>
        </p:nvSpPr>
        <p:spPr>
          <a:xfrm>
            <a:off x="8860000" y="4389120"/>
            <a:ext cx="95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8,910円</a:t>
            </a:r>
          </a:p>
        </p:txBody>
      </p:sp>
      <p:sp>
        <p:nvSpPr>
          <p:cNvPr id="84" name="d410"/>
          <p:cNvSpPr/>
          <p:nvPr/>
        </p:nvSpPr>
        <p:spPr>
          <a:xfrm>
            <a:off x="9810000" y="4389120"/>
            <a:ext cx="830000" cy="594360"/>
          </a:xfrm>
          <a:custGeom>
            <a:avLst/>
            <a:gdLst/>
            <a:ahLst/>
            <a:rect l="l" t="t" r="r" b="b"/>
            <a:pathLst>
              <a:path w="21600" h="21600">
                <a:moveTo>
                  <a:pt x="0" y="0"/>
                </a:moveTo>
                <a:lnTo>
                  <a:pt x="21600" y="0"/>
                </a:lnTo>
                <a:lnTo>
                  <a:pt x="21600" y="21600"/>
                </a:lnTo>
                <a:lnTo>
                  <a:pt x="0" y="21600"/>
                </a:lnTo>
                <a:close/>
              </a:path>
            </a:pathLst>
          </a:custGeom>
          <a:solidFill>
            <a:srgbClr val="F8FA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＋2,310円</a:t>
            </a:r>
          </a:p>
        </p:txBody>
      </p:sp>
      <p:sp>
        <p:nvSpPr>
          <p:cNvPr id="85" name="d50"/>
          <p:cNvSpPr/>
          <p:nvPr/>
        </p:nvSpPr>
        <p:spPr>
          <a:xfrm>
            <a:off x="380000" y="5038344"/>
            <a:ext cx="120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l"/>
            <a:r>
              <a:rPr lang="ja-JP" sz="1150" b="0" dirty="0">
                <a:solidFill>
                  <a:srgbClr val="1E293B"/>
                </a:solidFill>
                <a:latin typeface="Arial"/>
                <a:cs typeface="Noto Sans CJK JP"/>
              </a:rPr>
              <a:t>100㎥</a:t>
            </a:r>
          </a:p>
        </p:txBody>
      </p:sp>
      <p:sp>
        <p:nvSpPr>
          <p:cNvPr id="86" name="d51"/>
          <p:cNvSpPr/>
          <p:nvPr/>
        </p:nvSpPr>
        <p:spPr>
          <a:xfrm>
            <a:off x="1580000" y="5038344"/>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475569"/>
                </a:solidFill>
                <a:latin typeface="Arial"/>
                <a:cs typeface="Noto Sans CJK JP"/>
              </a:rPr>
              <a:t>14,300円</a:t>
            </a:r>
          </a:p>
        </p:txBody>
      </p:sp>
      <p:sp>
        <p:nvSpPr>
          <p:cNvPr id="87" name="d52"/>
          <p:cNvSpPr/>
          <p:nvPr/>
        </p:nvSpPr>
        <p:spPr>
          <a:xfrm>
            <a:off x="2510000" y="5038344"/>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16,850円</a:t>
            </a:r>
          </a:p>
        </p:txBody>
      </p:sp>
      <p:sp>
        <p:nvSpPr>
          <p:cNvPr id="88" name="d53"/>
          <p:cNvSpPr/>
          <p:nvPr/>
        </p:nvSpPr>
        <p:spPr>
          <a:xfrm>
            <a:off x="3440000" y="5038344"/>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E40AF"/>
                </a:solidFill>
                <a:latin typeface="Arial"/>
                <a:cs typeface="Noto Sans CJK JP"/>
              </a:rPr>
              <a:t>18,535円</a:t>
            </a:r>
          </a:p>
        </p:txBody>
      </p:sp>
      <p:sp>
        <p:nvSpPr>
          <p:cNvPr id="89" name="d54"/>
          <p:cNvSpPr/>
          <p:nvPr/>
        </p:nvSpPr>
        <p:spPr>
          <a:xfrm>
            <a:off x="4390000" y="5038344"/>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＋4,235円</a:t>
            </a:r>
          </a:p>
        </p:txBody>
      </p:sp>
      <p:sp>
        <p:nvSpPr>
          <p:cNvPr id="90" name="d55"/>
          <p:cNvSpPr/>
          <p:nvPr/>
        </p:nvSpPr>
        <p:spPr>
          <a:xfrm>
            <a:off x="5220000" y="5038344"/>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19,250円</a:t>
            </a:r>
          </a:p>
        </p:txBody>
      </p:sp>
      <p:sp>
        <p:nvSpPr>
          <p:cNvPr id="91" name="d56"/>
          <p:cNvSpPr/>
          <p:nvPr/>
        </p:nvSpPr>
        <p:spPr>
          <a:xfrm>
            <a:off x="6150000" y="5038344"/>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166534"/>
                </a:solidFill>
                <a:latin typeface="Arial"/>
                <a:cs typeface="Noto Sans CJK JP"/>
              </a:rPr>
              <a:t>21,175円</a:t>
            </a:r>
          </a:p>
        </p:txBody>
      </p:sp>
      <p:sp>
        <p:nvSpPr>
          <p:cNvPr id="92" name="d57"/>
          <p:cNvSpPr/>
          <p:nvPr/>
        </p:nvSpPr>
        <p:spPr>
          <a:xfrm>
            <a:off x="7100000" y="5038344"/>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＋6,875円</a:t>
            </a:r>
          </a:p>
        </p:txBody>
      </p:sp>
      <p:sp>
        <p:nvSpPr>
          <p:cNvPr id="93" name="d58"/>
          <p:cNvSpPr/>
          <p:nvPr/>
        </p:nvSpPr>
        <p:spPr>
          <a:xfrm>
            <a:off x="7930000" y="5038344"/>
            <a:ext cx="9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17,650円</a:t>
            </a:r>
          </a:p>
        </p:txBody>
      </p:sp>
      <p:sp>
        <p:nvSpPr>
          <p:cNvPr id="94" name="d59"/>
          <p:cNvSpPr/>
          <p:nvPr/>
        </p:nvSpPr>
        <p:spPr>
          <a:xfrm>
            <a:off x="8860000" y="5038344"/>
            <a:ext cx="95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B45309"/>
                </a:solidFill>
                <a:latin typeface="Arial"/>
                <a:cs typeface="Noto Sans CJK JP"/>
              </a:rPr>
              <a:t>19,415円</a:t>
            </a:r>
          </a:p>
        </p:txBody>
      </p:sp>
      <p:sp>
        <p:nvSpPr>
          <p:cNvPr id="95" name="d510"/>
          <p:cNvSpPr/>
          <p:nvPr/>
        </p:nvSpPr>
        <p:spPr>
          <a:xfrm>
            <a:off x="9810000" y="5038344"/>
            <a:ext cx="830000" cy="594360"/>
          </a:xfrm>
          <a:custGeom>
            <a:avLst/>
            <a:gdLst/>
            <a:ah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fillRef idx="0"/>
          <a:effectRef idx="0"/>
          <a:fontRef idx="minor"/>
        </p:style>
        <p:txBody>
          <a:bodyPr tIns="20000" bIns="20000" lIns="15000" rIns="15000" anchor="ctr">
            <a:noAutofit/>
          </a:bodyPr>
          <a:p>
            <a:pPr algn="ctr"/>
            <a:r>
              <a:rPr lang="ja-JP" sz="1150" b="0" dirty="0">
                <a:solidFill>
                  <a:srgbClr val="EF4444"/>
                </a:solidFill>
                <a:latin typeface="Arial"/>
                <a:cs typeface="Noto Sans CJK JP"/>
              </a:rPr>
              <a:t>＋5,115円</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04-5　住民説明会　実施計画（案）</a:t>
            </a:r>
          </a:p>
        </p:txBody>
      </p:sp>
      <p:sp>
        <p:nvSpPr>
          <p:cNvPr id="17" name="py0"/>
          <p:cNvSpPr/>
          <p:nvPr/>
        </p:nvSpPr>
        <p:spPr>
          <a:xfrm>
            <a:off x="571680" y="160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R7年度
（令和7）</a:t>
            </a:r>
          </a:p>
        </p:txBody>
      </p:sp>
      <p:sp>
        <p:nvSpPr>
          <p:cNvPr id="18" name="pa0"/>
          <p:cNvSpPr/>
          <p:nvPr/>
        </p:nvSpPr>
        <p:spPr>
          <a:xfrm>
            <a:off x="2571680" y="160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審議会開催（第1〜3回）</a:t>
            </a:r>
          </a:p>
        </p:txBody>
      </p:sp>
      <p:sp>
        <p:nvSpPr>
          <p:cNvPr id="19" name="pd0"/>
          <p:cNvSpPr/>
          <p:nvPr/>
        </p:nvSpPr>
        <p:spPr>
          <a:xfrm>
            <a:off x="2571680" y="208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使用料改定の必要性検証・答申案策定を完了</a:t>
            </a:r>
          </a:p>
        </p:txBody>
      </p:sp>
      <p:sp>
        <p:nvSpPr>
          <p:cNvPr id="20" name="pb0"/>
          <p:cNvSpPr/>
          <p:nvPr/>
        </p:nvSpPr>
        <p:spPr>
          <a:xfrm>
            <a:off x="10919680" y="208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現在進行中</a:t>
            </a:r>
          </a:p>
        </p:txBody>
      </p:sp>
      <p:sp>
        <p:nvSpPr>
          <p:cNvPr id="21" name="py1"/>
          <p:cNvSpPr/>
          <p:nvPr/>
        </p:nvSpPr>
        <p:spPr>
          <a:xfrm>
            <a:off x="571680" y="285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R8年前半
（令和8・4〜8月）</a:t>
            </a:r>
          </a:p>
        </p:txBody>
      </p:sp>
      <p:sp>
        <p:nvSpPr>
          <p:cNvPr id="22" name="pa1"/>
          <p:cNvSpPr/>
          <p:nvPr/>
        </p:nvSpPr>
        <p:spPr>
          <a:xfrm>
            <a:off x="2571680" y="285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住民説明会の開催</a:t>
            </a:r>
          </a:p>
        </p:txBody>
      </p:sp>
      <p:sp>
        <p:nvSpPr>
          <p:cNvPr id="23" name="pd1"/>
          <p:cNvSpPr/>
          <p:nvPr/>
        </p:nvSpPr>
        <p:spPr>
          <a:xfrm>
            <a:off x="2571680" y="333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全地区・各集落での説明会実施（公共・農集別）</a:t>
            </a:r>
          </a:p>
        </p:txBody>
      </p:sp>
      <p:sp>
        <p:nvSpPr>
          <p:cNvPr id="24" name="pb1"/>
          <p:cNvSpPr/>
          <p:nvPr/>
        </p:nvSpPr>
        <p:spPr>
          <a:xfrm>
            <a:off x="10919680" y="333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D4ED8"/>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実施予定</a:t>
            </a:r>
          </a:p>
        </p:txBody>
      </p:sp>
      <p:sp>
        <p:nvSpPr>
          <p:cNvPr id="25" name="py2"/>
          <p:cNvSpPr/>
          <p:nvPr/>
        </p:nvSpPr>
        <p:spPr>
          <a:xfrm>
            <a:off x="571680" y="410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R8年後半
（令和8・9〜12月）</a:t>
            </a:r>
          </a:p>
        </p:txBody>
      </p:sp>
      <p:sp>
        <p:nvSpPr>
          <p:cNvPr id="26" name="pa2"/>
          <p:cNvSpPr/>
          <p:nvPr/>
        </p:nvSpPr>
        <p:spPr>
          <a:xfrm>
            <a:off x="2571680" y="410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議会への提案・条例改正</a:t>
            </a:r>
          </a:p>
        </p:txBody>
      </p:sp>
      <p:sp>
        <p:nvSpPr>
          <p:cNvPr id="27" name="pd2"/>
          <p:cNvSpPr/>
          <p:nvPr/>
        </p:nvSpPr>
        <p:spPr>
          <a:xfrm>
            <a:off x="2571680" y="458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使用料条例の改正議案を議会に提出・決議</a:t>
            </a:r>
          </a:p>
        </p:txBody>
      </p:sp>
      <p:sp>
        <p:nvSpPr>
          <p:cNvPr id="28" name="pb2"/>
          <p:cNvSpPr/>
          <p:nvPr/>
        </p:nvSpPr>
        <p:spPr>
          <a:xfrm>
            <a:off x="10919680" y="458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実施予定</a:t>
            </a:r>
          </a:p>
        </p:txBody>
      </p:sp>
      <p:sp>
        <p:nvSpPr>
          <p:cNvPr id="29" name="py3"/>
          <p:cNvSpPr/>
          <p:nvPr/>
        </p:nvSpPr>
        <p:spPr>
          <a:xfrm>
            <a:off x="571680" y="5350000"/>
            <a:ext cx="1800000" cy="120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1050" b="0" dirty="0">
                <a:solidFill>
                  <a:srgbClr val="FFFFFF"/>
                </a:solidFill>
                <a:latin typeface="Noto Sans CJK JP"/>
                <a:cs typeface="Noto Sans CJK JP"/>
              </a:rPr>
              <a:t>R9年4月〜</a:t>
            </a:r>
          </a:p>
        </p:txBody>
      </p:sp>
      <p:sp>
        <p:nvSpPr>
          <p:cNvPr id="30" name="pa3"/>
          <p:cNvSpPr/>
          <p:nvPr/>
        </p:nvSpPr>
        <p:spPr>
          <a:xfrm>
            <a:off x="2571680" y="5350000"/>
            <a:ext cx="9048000" cy="480000"/>
          </a:xfrm>
          <a:custGeom>
            <a:avLst/>
            <a:gdLst/>
            <a:ahLst/>
            <a:cxnLst/>
            <a:rect l="l" t="t" r="r" b="b"/>
            <a:pathLst>
              <a:path w="21600" h="21600">
                <a:moveTo>
                  <a:pt x="0" y="0"/>
                </a:moveTo>
                <a:lnTo>
                  <a:pt x="21600" y="0"/>
                </a:lnTo>
                <a:lnTo>
                  <a:pt x="21600" y="21600"/>
                </a:lnTo>
                <a:lnTo>
                  <a:pt x="0" y="21600"/>
                </a:lnTo>
                <a:close/>
              </a:path>
            </a:pathLst>
          </a:custGeom>
          <a:solidFill>
            <a:srgbClr val="EFF6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3A8A"/>
                </a:solidFill>
                <a:latin typeface="Noto Sans CJK JP"/>
                <a:cs typeface="Noto Sans CJK JP"/>
              </a:rPr>
              <a:t>改定単価の適用開始</a:t>
            </a:r>
          </a:p>
        </p:txBody>
      </p:sp>
      <p:sp>
        <p:nvSpPr>
          <p:cNvPr id="31" name="pd3"/>
          <p:cNvSpPr/>
          <p:nvPr/>
        </p:nvSpPr>
        <p:spPr>
          <a:xfrm>
            <a:off x="2571680" y="5830000"/>
            <a:ext cx="8248000" cy="72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新使用料体系での徴収開始・効果測定</a:t>
            </a:r>
          </a:p>
        </p:txBody>
      </p:sp>
      <p:sp>
        <p:nvSpPr>
          <p:cNvPr id="32" name="pb3"/>
          <p:cNvSpPr/>
          <p:nvPr/>
        </p:nvSpPr>
        <p:spPr>
          <a:xfrm>
            <a:off x="10919680" y="5830000"/>
            <a:ext cx="700000" cy="720000"/>
          </a:xfrm>
          <a:custGeom>
            <a:avLst/>
            <a:gdLst/>
            <a:ahLst/>
            <a:cxnLst/>
            <a:rect l="l" t="t" r="r" b="b"/>
            <a:pathLst>
              <a:path w="21600" h="21600">
                <a:moveTo>
                  <a:pt x="0" y="0"/>
                </a:moveTo>
                <a:lnTo>
                  <a:pt x="21600" y="0"/>
                </a:lnTo>
                <a:lnTo>
                  <a:pt x="21600" y="21600"/>
                </a:lnTo>
                <a:lnTo>
                  <a:pt x="0" y="21600"/>
                </a:lnTo>
                <a:close/>
              </a:path>
            </a:pathLst>
          </a:custGeom>
          <a:solidFill>
            <a:srgbClr val="EF444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900" b="0" dirty="0">
                <a:solidFill>
                  <a:srgbClr val="FFFFFF"/>
                </a:solidFill>
                <a:latin typeface="Noto Sans CJK JP"/>
                <a:cs typeface="Noto Sans CJK JP"/>
              </a:rPr>
              <a:t>目標</a:t>
            </a:r>
          </a:p>
        </p:txBody>
      </p:sp>
      <p:sp>
        <p:nvSpPr>
          <p:cNvPr id="33"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bg1"/>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8FAF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1" name="bg2"/>
          <p:cNvSpPr/>
          <p:nvPr/>
        </p:nvSpPr>
        <p:spPr>
          <a:xfrm>
            <a:off x="0" y="0"/>
            <a:ext cx="12191760" cy="6858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2" name="hdr_bg"/>
          <p:cNvSpPr/>
          <p:nvPr/>
        </p:nvSpPr>
        <p:spPr>
          <a:xfrm>
            <a:off x="0" y="0"/>
            <a:ext cx="12191760" cy="7423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3" name="hdr_line"/>
          <p:cNvSpPr/>
          <p:nvPr/>
        </p:nvSpPr>
        <p:spPr>
          <a:xfrm>
            <a:off x="0" y="19080"/>
            <a:ext cx="12191760" cy="19080"/>
          </a:xfrm>
          <a:custGeom>
            <a:avLst/>
            <a:gdLst/>
            <a:ahLst/>
            <a:cxnLst/>
            <a:rect l="l" t="t" r="r" b="b"/>
            <a:pathLst>
              <a:path w="21600" h="21600">
                <a:moveTo>
                  <a:pt x="0" y="0"/>
                </a:moveTo>
                <a:lnTo>
                  <a:pt x="21600" y="0"/>
                </a:lnTo>
                <a:lnTo>
                  <a:pt x="21600" y="21600"/>
                </a:lnTo>
                <a:lnTo>
                  <a:pt x="0" y="21600"/>
                </a:lnTo>
                <a:close/>
              </a:path>
            </a:pathLst>
          </a:custGeom>
          <a:solidFill>
            <a:srgbClr val="E2E8F0"/>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4" name="hdr_accent"/>
          <p:cNvSpPr/>
          <p:nvPr/>
        </p:nvSpPr>
        <p:spPr>
          <a:xfrm>
            <a:off x="0" y="19080"/>
            <a:ext cx="1904760" cy="38520"/>
          </a:xfrm>
          <a:custGeom>
            <a:avLst/>
            <a:gdLst/>
            <a:ahLst/>
            <a:cxnLst/>
            <a:rect l="l" t="t" r="r" b="b"/>
            <a:pathLst>
              <a:path w="21600" h="21600">
                <a:moveTo>
                  <a:pt x="0" y="0"/>
                </a:moveTo>
                <a:lnTo>
                  <a:pt x="21600" y="0"/>
                </a:lnTo>
                <a:lnTo>
                  <a:pt x="21600" y="21600"/>
                </a:lnTo>
                <a:lnTo>
                  <a:pt x="0" y="21600"/>
                </a:lnTo>
                <a:close/>
              </a:path>
            </a:pathLst>
          </a:custGeom>
          <a:solidFill>
            <a:srgbClr val="1E3A8A"/>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endParaRPr/>
          </a:p>
        </p:txBody>
      </p:sp>
      <p:sp>
        <p:nvSpPr>
          <p:cNvPr id="16" name="ttl"/>
          <p:cNvSpPr/>
          <p:nvPr/>
        </p:nvSpPr>
        <p:spPr>
          <a:xfrm>
            <a:off x="819360" y="722376"/>
            <a:ext cx="11052295" cy="70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45720" rIns="114300" bIns="45720" anchor="ctr">
            <a:noAutofit/>
          </a:bodyPr>
          <a:lstStyle/>
          <a:p>
            <a:pPr algn="l"/>
            <a:r>
              <a:rPr lang="ja-JP" sz="2700" b="0" dirty="0">
                <a:solidFill>
                  <a:srgbClr val="1E293B"/>
                </a:solidFill>
                <a:latin typeface="Arial"/>
                <a:cs typeface="Noto Sans CJK JP"/>
              </a:rPr>
              <a:t>第3回審議会　審議予定事項</a:t>
            </a:r>
          </a:p>
        </p:txBody>
      </p:sp>
      <p:sp>
        <p:nvSpPr>
          <p:cNvPr id="17" name="ni0"/>
          <p:cNvSpPr/>
          <p:nvPr/>
        </p:nvSpPr>
        <p:spPr>
          <a:xfrm>
            <a:off x="571680" y="160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1E40AF"/>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1</a:t>
            </a:r>
          </a:p>
        </p:txBody>
      </p:sp>
      <p:sp>
        <p:nvSpPr>
          <p:cNvPr id="18" name="nt0"/>
          <p:cNvSpPr/>
          <p:nvPr/>
        </p:nvSpPr>
        <p:spPr>
          <a:xfrm>
            <a:off x="1251680" y="160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E40AF"/>
                </a:solidFill>
                <a:latin typeface="Noto Sans CJK JP"/>
                <a:cs typeface="Noto Sans CJK JP"/>
              </a:rPr>
              <a:t>基本料金・従量料金のバランス検討</a:t>
            </a:r>
          </a:p>
        </p:txBody>
      </p:sp>
      <p:sp>
        <p:nvSpPr>
          <p:cNvPr id="19" name="nb0"/>
          <p:cNvSpPr/>
          <p:nvPr/>
        </p:nvSpPr>
        <p:spPr>
          <a:xfrm>
            <a:off x="1251680" y="204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基本料金と従量料金の構成比率について、低所得・少量使用世帯への配慮と財政安定性のバランスを審議します。</a:t>
            </a:r>
          </a:p>
        </p:txBody>
      </p:sp>
      <p:sp>
        <p:nvSpPr>
          <p:cNvPr id="20" name="ni1"/>
          <p:cNvSpPr/>
          <p:nvPr/>
        </p:nvSpPr>
        <p:spPr>
          <a:xfrm>
            <a:off x="571680" y="285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166534"/>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2</a:t>
            </a:r>
          </a:p>
        </p:txBody>
      </p:sp>
      <p:sp>
        <p:nvSpPr>
          <p:cNvPr id="21" name="nt1"/>
          <p:cNvSpPr/>
          <p:nvPr/>
        </p:nvSpPr>
        <p:spPr>
          <a:xfrm>
            <a:off x="1251680" y="285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166534"/>
                </a:solidFill>
                <a:latin typeface="Noto Sans CJK JP"/>
                <a:cs typeface="Noto Sans CJK JP"/>
              </a:rPr>
              <a:t>料金体系の見直し（段階数・逓増度）</a:t>
            </a:r>
          </a:p>
        </p:txBody>
      </p:sp>
      <p:sp>
        <p:nvSpPr>
          <p:cNvPr id="22" name="nb1"/>
          <p:cNvSpPr/>
          <p:nvPr/>
        </p:nvSpPr>
        <p:spPr>
          <a:xfrm>
            <a:off x="1251680" y="329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現行9区分の水量区分の見直し、逓増傾斜の適正化について検討します。51㎥以上の区分整理を中心に議論します。</a:t>
            </a:r>
          </a:p>
        </p:txBody>
      </p:sp>
      <p:sp>
        <p:nvSpPr>
          <p:cNvPr id="23" name="ni2"/>
          <p:cNvSpPr/>
          <p:nvPr/>
        </p:nvSpPr>
        <p:spPr>
          <a:xfrm>
            <a:off x="571680" y="410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C2410C"/>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3</a:t>
            </a:r>
          </a:p>
        </p:txBody>
      </p:sp>
      <p:sp>
        <p:nvSpPr>
          <p:cNvPr id="24" name="nt2"/>
          <p:cNvSpPr/>
          <p:nvPr/>
        </p:nvSpPr>
        <p:spPr>
          <a:xfrm>
            <a:off x="1251680" y="410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C2410C"/>
                </a:solidFill>
                <a:latin typeface="Noto Sans CJK JP"/>
                <a:cs typeface="Noto Sans CJK JP"/>
              </a:rPr>
              <a:t>答申案の策定・意見集約</a:t>
            </a:r>
          </a:p>
        </p:txBody>
      </p:sp>
      <p:sp>
        <p:nvSpPr>
          <p:cNvPr id="25" name="nb2"/>
          <p:cNvSpPr/>
          <p:nvPr/>
        </p:nvSpPr>
        <p:spPr>
          <a:xfrm>
            <a:off x="1251680" y="454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これまでの審議内容を踏まえ、使用料改定に関する答申案を策定します。委員全員の意見を集約し最終答申に向けた調整を行います。</a:t>
            </a:r>
          </a:p>
        </p:txBody>
      </p:sp>
      <p:sp>
        <p:nvSpPr>
          <p:cNvPr id="26" name="ni3"/>
          <p:cNvSpPr/>
          <p:nvPr/>
        </p:nvSpPr>
        <p:spPr>
          <a:xfrm>
            <a:off x="571680" y="5350000"/>
            <a:ext cx="580000" cy="1150000"/>
          </a:xfrm>
          <a:custGeom>
            <a:avLst/>
            <a:gdLst/>
            <a:ahLst/>
            <a:cxnLst/>
            <a:rect l="l" t="t" r="r" b="b"/>
            <a:pathLst>
              <a:path w="21600" h="21600">
                <a:moveTo>
                  <a:pt x="0" y="0"/>
                </a:moveTo>
                <a:lnTo>
                  <a:pt x="21600" y="0"/>
                </a:lnTo>
                <a:lnTo>
                  <a:pt x="21600" y="21600"/>
                </a:lnTo>
                <a:lnTo>
                  <a:pt x="0" y="21600"/>
                </a:lnTo>
                <a:close/>
              </a:path>
            </a:pathLst>
          </a:custGeom>
          <a:solidFill>
            <a:srgbClr val="7C3AED"/>
          </a:solidFill>
          <a:ln w="0">
            <a:noFill/>
          </a:ln>
        </p:spPr>
        <p:style>
          <a:lnRef idx="0">
            <a:scrgbClr r="0" g="0" b="0"/>
          </a:lnRef>
          <a:fillRef idx="0">
            <a:scrgbClr r="0" g="0" b="0"/>
          </a:fillRef>
          <a:effectRef idx="0">
            <a:scrgbClr r="0" g="0" b="0"/>
          </a:effectRef>
          <a:fontRef idx="minor"/>
        </p:style>
        <p:txBody>
          <a:bodyPr lIns="114300" tIns="45720" rIns="114300" bIns="45720" anchor="ctr">
            <a:noAutofit/>
          </a:bodyPr>
          <a:lstStyle/>
          <a:p>
            <a:pPr algn="ctr"/>
            <a:r>
              <a:rPr lang="ja-JP" sz="2400" b="0" dirty="0">
                <a:solidFill>
                  <a:srgbClr val="FFFFFF"/>
                </a:solidFill>
                <a:latin typeface="Arial"/>
                <a:cs typeface="Noto Sans CJK JP"/>
              </a:rPr>
              <a:t>4</a:t>
            </a:r>
          </a:p>
        </p:txBody>
      </p:sp>
      <p:sp>
        <p:nvSpPr>
          <p:cNvPr id="27" name="nt3"/>
          <p:cNvSpPr/>
          <p:nvPr/>
        </p:nvSpPr>
        <p:spPr>
          <a:xfrm>
            <a:off x="1251680" y="5350000"/>
            <a:ext cx="10568080" cy="440000"/>
          </a:xfrm>
          <a:custGeom>
            <a:avLst/>
            <a:gdLst/>
            <a:ahLst/>
            <a:cxnLst/>
            <a:rect l="l" t="t" r="r" b="b"/>
            <a:pathLst>
              <a:path w="21600" h="21600">
                <a:moveTo>
                  <a:pt x="0" y="0"/>
                </a:moveTo>
                <a:lnTo>
                  <a:pt x="21600" y="0"/>
                </a:lnTo>
                <a:lnTo>
                  <a:pt x="21600" y="21600"/>
                </a:lnTo>
                <a:lnTo>
                  <a:pt x="0" y="21600"/>
                </a:lnTo>
                <a:close/>
              </a:path>
            </a:pathLst>
          </a:custGeom>
          <a:solidFill>
            <a:srgbClr val="F1F5F9"/>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300" b="0" dirty="0">
                <a:solidFill>
                  <a:srgbClr val="7C3AED"/>
                </a:solidFill>
                <a:latin typeface="Noto Sans CJK JP"/>
                <a:cs typeface="Noto Sans CJK JP"/>
              </a:rPr>
              <a:t>住民説明会フィードバックの反映</a:t>
            </a:r>
          </a:p>
        </p:txBody>
      </p:sp>
      <p:sp>
        <p:nvSpPr>
          <p:cNvPr id="28" name="nb3"/>
          <p:cNvSpPr/>
          <p:nvPr/>
        </p:nvSpPr>
        <p:spPr>
          <a:xfrm>
            <a:off x="1251680" y="5790000"/>
            <a:ext cx="10568080" cy="71000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9525">
            <a:solidFill>
              <a:srgbClr val="E2E8F0"/>
            </a:solidFill>
          </a:ln>
        </p:spPr>
        <p:style>
          <a:lnRef idx="0">
            <a:scrgbClr r="0" g="0" b="0"/>
          </a:lnRef>
          <a:fillRef idx="0">
            <a:scrgbClr r="0" g="0" b="0"/>
          </a:fillRef>
          <a:effectRef idx="0">
            <a:scrgbClr r="0" g="0" b="0"/>
          </a:effectRef>
          <a:fontRef idx="minor"/>
        </p:style>
        <p:txBody>
          <a:bodyPr lIns="91440" tIns="45720" rIns="114300" bIns="45720" anchor="ctr">
            <a:noAutofit/>
          </a:bodyPr>
          <a:lstStyle/>
          <a:p>
            <a:pPr algn="l"/>
            <a:r>
              <a:rPr lang="ja-JP" sz="1150" b="0" dirty="0">
                <a:solidFill>
                  <a:srgbClr val="475569"/>
                </a:solidFill>
                <a:latin typeface="Noto Sans CJK JP"/>
                <a:cs typeface="Noto Sans CJK JP"/>
              </a:rPr>
              <a:t>第2回審議後の住民説明会での意見・質問を踏まえ、必要に応じて改定案の微調整を行います。</a:t>
            </a:r>
          </a:p>
        </p:txBody>
      </p:sp>
      <p:sp>
        <p:nvSpPr>
          <p:cNvPr id="29" name="pgnum"/>
          <p:cNvSpPr/>
          <p:nvPr/>
        </p:nvSpPr>
        <p:spPr>
          <a:xfrm>
            <a:off x="286200" y="6543360"/>
            <a:ext cx="219600" cy="162720"/>
          </a:xfrm>
          <a:custGeom>
            <a:avLst/>
            <a:gdLst/>
            <a:ahLst/>
            <a:cxnLst/>
            <a:rect l="l" t="t" r="r" b="b"/>
            <a:pathLst>
              <a:path w="21600" h="21600">
                <a:moveTo>
                  <a:pt x="0" y="0"/>
                </a:moveTo>
                <a:lnTo>
                  <a:pt x="21600" y="0"/>
                </a:lnTo>
                <a:lnTo>
                  <a:pt x="21600" y="21600"/>
                </a:lnTo>
                <a:lnTo>
                  <a:pt x="0" y="216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r>
              <a:rPr lang="ja-JP" sz="900" b="0" dirty="0">
                <a:solidFill>
                  <a:srgbClr val="CBD5E1"/>
                </a:solidFill>
                <a:latin typeface="Arial"/>
                <a:cs typeface="Noto Sans CJK JP"/>
              </a:rPr>
              <a:t>37</a:t>
            </a:r>
          </a:p>
        </p:txBody>
      </p:sp>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16</TotalTime>
  <Words>2181</Words>
  <Application>Microsoft Office PowerPoint</Application>
  <PresentationFormat>ワイド画面</PresentationFormat>
  <Paragraphs>390</Paragraphs>
  <Slides>18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18</vt:i4>
      </vt:variant>
    </vt:vector>
  </HeadingPairs>
  <TitlesOfParts>
    <vt:vector size="24" baseType="lpstr">
      <vt:lpstr>Noto Sans CJK JP</vt:lpstr>
      <vt:lpstr>Arial</vt:lpstr>
      <vt:lpstr>Symbol</vt:lpstr>
      <vt:lpstr>Wingdings</vt:lpstr>
      <vt:lpstr>Office</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若山諒太</dc:creator>
  <cp:lastModifiedBy>諒太 若山</cp:lastModifiedBy>
  <cp:revision>2</cp:revision>
  <dcterms:modified xsi:type="dcterms:W3CDTF">2026-06-02T08:07:21Z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大輔 松田</cp:lastModifiedBy>
  <dcterms:modified xsi:type="dcterms:W3CDTF">2026-04-07T21:33:30Z</dcterms:modified>
  <cp:revision>2</cp:revision>
  <dc:subject/>
  <dc:title/>
</cp:coreProperties>
</file>