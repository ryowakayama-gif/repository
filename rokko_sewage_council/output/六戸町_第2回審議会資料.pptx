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7"/>
    <p:sldId id="261" r:id="rId29"/>
    <p:sldId id="262" r:id="rId8"/>
    <p:sldId id="263" r:id="rId30"/>
    <p:sldId id="264" r:id="rId9"/>
    <p:sldId id="265" r:id="rId10"/>
    <p:sldId id="266" r:id="rId11"/>
    <p:sldId id="267" r:id="rId12"/>
    <p:sldId id="268" r:id="rId31"/>
    <p:sldId id="269" r:id="rId13"/>
    <p:sldId id="270" r:id="rId32"/>
    <p:sldId id="271" r:id="rId14"/>
    <p:sldId id="272" r:id="rId15"/>
    <p:sldId id="273" r:id="rId16"/>
    <p:sldId id="274" r:id="rId33"/>
    <p:sldId id="275" r:id="rId17"/>
    <p:sldId id="276" r:id="rId34"/>
    <p:sldId id="277" r:id="rId18"/>
    <p:sldId id="278" r:id="rId35"/>
    <p:sldId id="279" r:id="rId19"/>
    <p:sldId id="280" r:id="rId20"/>
    <p:sldId id="281" r:id="rId36"/>
    <p:sldId id="282" r:id="rId25"/>
    <p:sldId id="283" r:id="rId37"/>
    <p:sldId id="284" r:id="rId26"/>
    <p:sldId id="285" r:id="rId27"/>
    <p:sldId id="286"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7.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6.xml"/><Relationship Id="rId30" Type="http://schemas.openxmlformats.org/officeDocument/2006/relationships/slide" Target="slides/slide8.xml"/><Relationship Id="rId31" Type="http://schemas.openxmlformats.org/officeDocument/2006/relationships/slide" Target="slides/slide13.xml"/><Relationship Id="rId32" Type="http://schemas.openxmlformats.org/officeDocument/2006/relationships/slide" Target="slides/slide15.xml"/><Relationship Id="rId33" Type="http://schemas.openxmlformats.org/officeDocument/2006/relationships/slide" Target="slides/slide19.xml"/><Relationship Id="rId34" Type="http://schemas.openxmlformats.org/officeDocument/2006/relationships/slide" Target="slides/slide21.xml"/><Relationship Id="rId35" Type="http://schemas.openxmlformats.org/officeDocument/2006/relationships/slide" Target="slides/slide23.xml"/><Relationship Id="rId36" Type="http://schemas.openxmlformats.org/officeDocument/2006/relationships/slide" Target="slides/slide26.xml"/><Relationship Id="rId37"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使用料改定案の検討（パターン①②④の収支シミュレーション・妥当性評価）</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前回審議の振り返り（第1回）</a:t>
            </a:r>
          </a:p>
        </p:txBody>
      </p:sp>
      <p:sp>
        <p:nvSpPr>
          <p:cNvPr id="16" name="ttl"/>
          <p:cNvSpPr/>
          <p:nvPr/>
        </p:nvSpPr>
        <p:spPr>
          <a:xfrm>
            <a:off x="819360" y="870000"/>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公共の経費回収率47.11%・農集35.99%（令和6年度決算）と低水準。使用料改定が必要。経営持続のための抜本的対策を確認した。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本章では、パターン①②④それぞれの収支シミュレーション結果を示し、推奨案の選定理由と改定率の妥当性について整理します。</a:t>
            </a:r>
          </a:p>
          <a:p>
            <a:pPr algn="l"/>
            <a:r>
              <a:rPr lang="ja-JP" sz="2200" b="0" dirty="0">
                <a:solidFill>
                  <a:srgbClr val="475569"/>
                </a:solidFill>
                <a:latin typeface="Noto Sans CJK JP"/>
                <a:cs typeface="Noto Sans CJK JP"/>
              </a:rPr>
              <a:t>なお本章以降の指標は2か年改定を主軸として記載し、3か年改定は括弧書きで併記しています。改定年数は第2章でご審議いただく事項です。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01-1　推奨パターンの絞り込み</a:t>
            </a:r>
          </a:p>
        </p:txBody>
      </p:sp>
      <p:sp>
        <p:nvSpPr>
          <p:cNvPr id="16" name="ttl"/>
          <p:cNvSpPr/>
          <p:nvPr/>
        </p:nvSpPr>
        <p:spPr>
          <a:xfrm>
            <a:off x="571680" y="850000"/>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2" name="r01"/>
          <p:cNvSpPr/>
          <p:nvPr/>
        </p:nvSpPr>
        <p:spPr>
          <a:xfrm>
            <a:off x="3271680" y="23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3" name="r02"/>
          <p:cNvSpPr/>
          <p:nvPr/>
        </p:nvSpPr>
        <p:spPr>
          <a:xfrm>
            <a:off x="6071680" y="23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4" name="r03"/>
          <p:cNvSpPr/>
          <p:nvPr/>
        </p:nvSpPr>
        <p:spPr>
          <a:xfrm>
            <a:off x="9071680" y="23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5" name="r10"/>
          <p:cNvSpPr/>
          <p:nvPr/>
        </p:nvSpPr>
        <p:spPr>
          <a:xfrm>
            <a:off x="571680" y="294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26" name="r11"/>
          <p:cNvSpPr/>
          <p:nvPr/>
        </p:nvSpPr>
        <p:spPr>
          <a:xfrm>
            <a:off x="3271680" y="294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基本料+50%</a:t>
            </a:r>
          </a:p>
        </p:txBody>
      </p:sp>
      <p:sp>
        <p:nvSpPr>
          <p:cNvPr id="27" name="r12"/>
          <p:cNvSpPr/>
          <p:nvPr/>
        </p:nvSpPr>
        <p:spPr>
          <a:xfrm>
            <a:off x="6071680" y="294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基本料+20%</a:t>
            </a:r>
          </a:p>
        </p:txBody>
      </p:sp>
      <p:sp>
        <p:nvSpPr>
          <p:cNvPr id="28" name="r13"/>
          <p:cNvSpPr/>
          <p:nvPr/>
        </p:nvSpPr>
        <p:spPr>
          <a:xfrm>
            <a:off x="9071680" y="294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基本料+40%</a:t>
            </a:r>
          </a:p>
        </p:txBody>
      </p:sp>
      <p:sp>
        <p:nvSpPr>
          <p:cNvPr id="29" name="r20"/>
          <p:cNvSpPr/>
          <p:nvPr/>
        </p:nvSpPr>
        <p:spPr>
          <a:xfrm>
            <a:off x="571680" y="352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0" name="r21"/>
          <p:cNvSpPr/>
          <p:nvPr/>
        </p:nvSpPr>
        <p:spPr>
          <a:xfrm>
            <a:off x="3271680" y="352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1" name="r22"/>
          <p:cNvSpPr/>
          <p:nvPr/>
        </p:nvSpPr>
        <p:spPr>
          <a:xfrm>
            <a:off x="6071680" y="352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2" name="r23"/>
          <p:cNvSpPr/>
          <p:nvPr/>
        </p:nvSpPr>
        <p:spPr>
          <a:xfrm>
            <a:off x="9071680" y="352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緩やか</a:t>
            </a:r>
          </a:p>
        </p:txBody>
      </p:sp>
      <p:sp>
        <p:nvSpPr>
          <p:cNvPr id="33" name="r30"/>
          <p:cNvSpPr/>
          <p:nvPr/>
        </p:nvSpPr>
        <p:spPr>
          <a:xfrm>
            <a:off x="571680" y="410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4" name="r31"/>
          <p:cNvSpPr/>
          <p:nvPr/>
        </p:nvSpPr>
        <p:spPr>
          <a:xfrm>
            <a:off x="3271680" y="410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5" name="r32"/>
          <p:cNvSpPr/>
          <p:nvPr/>
        </p:nvSpPr>
        <p:spPr>
          <a:xfrm>
            <a:off x="6071680" y="410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強い</a:t>
            </a:r>
          </a:p>
        </p:txBody>
      </p:sp>
      <p:sp>
        <p:nvSpPr>
          <p:cNvPr id="36" name="r33"/>
          <p:cNvSpPr/>
          <p:nvPr/>
        </p:nvSpPr>
        <p:spPr>
          <a:xfrm>
            <a:off x="9071680" y="410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7" name="r40"/>
          <p:cNvSpPr/>
          <p:nvPr/>
        </p:nvSpPr>
        <p:spPr>
          <a:xfrm>
            <a:off x="571680" y="468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a:t>
            </a:r>
          </a:p>
        </p:txBody>
      </p:sp>
      <p:sp>
        <p:nvSpPr>
          <p:cNvPr id="38" name="r41"/>
          <p:cNvSpPr/>
          <p:nvPr/>
        </p:nvSpPr>
        <p:spPr>
          <a:xfrm>
            <a:off x="3271680" y="468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68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高い</a:t>
            </a:r>
          </a:p>
        </p:txBody>
      </p:sp>
      <p:sp>
        <p:nvSpPr>
          <p:cNvPr id="40" name="r43"/>
          <p:cNvSpPr/>
          <p:nvPr/>
        </p:nvSpPr>
        <p:spPr>
          <a:xfrm>
            <a:off x="9071680" y="468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52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52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52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52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70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少量使用者に配慮しつつ、3案中で最も使用料収入が大きく財政健全化への効果が高い。</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01-2　収支シミュレーション（パターン①採用時）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a:t>
            </a:r>
          </a:p>
          <a:p>
            <a:pPr algn="l"/>
            <a:r>
              <a:rPr lang="ja-JP" sz="1200" b="0" dirty="0">
                <a:solidFill>
                  <a:srgbClr val="166534"/>
                </a:solidFill>
                <a:latin typeface="Noto Sans CJK JP"/>
                <a:cs typeface="Noto Sans CJK JP"/>
              </a:rPr>
              <a:t>農業集落排水は経費回収率がR9 49.6%・R10 50.0%へ改善する一方、経常収支比率はR10で84.2%にとどまり、引き続き他会計繰入等による補填が必要となる見込みです。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01-3　収支シミュレーション（パターン②採用時）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a:t>
            </a:r>
          </a:p>
          <a:p>
            <a:pPr algn="l"/>
            <a:r>
              <a:rPr lang="ja-JP" sz="1200" b="0" dirty="0">
                <a:solidFill>
                  <a:srgbClr val="166534"/>
                </a:solidFill>
                <a:latin typeface="Noto Sans CJK JP"/>
                <a:cs typeface="Noto Sans CJK JP"/>
              </a:rPr>
              <a:t>農業集落排水は経費回収率がR9 54.2%・R10 54.7%へ改善する一方、経常収支比率はR10で85.9%にとどまり、引き続き他会計繰入等による補填が必要となる見込みです。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01-4　収支シミュレーション（パターン④採用時）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a:t>
            </a:r>
          </a:p>
          <a:p>
            <a:pPr algn="l"/>
            <a:r>
              <a:rPr lang="ja-JP" sz="1200" b="0" dirty="0">
                <a:solidFill>
                  <a:srgbClr val="166534"/>
                </a:solidFill>
                <a:latin typeface="Noto Sans CJK JP"/>
                <a:cs typeface="Noto Sans CJK JP"/>
              </a:rPr>
              <a:t>農業集落排水は経費回収率がR9 51.1%・R10 51.5%へ改善する一方、経常収支比率はR10で84.8%にとどまり、引き続き他会計繰入等による補填が必要となる見込みです。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使用料改定案の検討　01-5　収支見込み比較（パターン①②④・2か年改定）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パターン別　財政収支見込み比較（公共下水道・農業集落排水）　2か年改定ベース</a:t>
            </a:r>
          </a:p>
        </p:txBody>
      </p:sp>
      <p:sp>
        <p:nvSpPr>
          <p:cNvPr id="14" name="ph0"/>
          <p:cNvSpPr/>
          <p:nvPr/>
        </p:nvSpPr>
        <p:spPr>
          <a:xfrm>
            <a:off x="38000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15" name="pub0"/>
          <p:cNvSpPr/>
          <p:nvPr/>
        </p:nvSpPr>
        <p:spPr>
          <a:xfrm>
            <a:off x="38000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19" name="cpr02"/>
          <p:cNvSpPr/>
          <p:nvPr/>
        </p:nvSpPr>
        <p:spPr>
          <a:xfrm>
            <a:off x="38000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20" name="eh0"/>
          <p:cNvSpPr/>
          <p:nvPr/>
        </p:nvSpPr>
        <p:spPr>
          <a:xfrm>
            <a:off x="38000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23" name="epr02"/>
          <p:cNvSpPr/>
          <p:nvPr/>
        </p:nvSpPr>
        <p:spPr>
          <a:xfrm>
            <a:off x="38000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24" name="agr0"/>
          <p:cNvSpPr/>
          <p:nvPr/>
        </p:nvSpPr>
        <p:spPr>
          <a:xfrm>
            <a:off x="38000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28" name="ar02"/>
          <p:cNvSpPr/>
          <p:nvPr/>
        </p:nvSpPr>
        <p:spPr>
          <a:xfrm>
            <a:off x="38000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29" name="ph1"/>
          <p:cNvSpPr/>
          <p:nvPr/>
        </p:nvSpPr>
        <p:spPr>
          <a:xfrm>
            <a:off x="414696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30" name="pub1"/>
          <p:cNvSpPr/>
          <p:nvPr/>
        </p:nvSpPr>
        <p:spPr>
          <a:xfrm>
            <a:off x="414696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34" name="cpr12"/>
          <p:cNvSpPr/>
          <p:nvPr/>
        </p:nvSpPr>
        <p:spPr>
          <a:xfrm>
            <a:off x="414696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35" name="eh1"/>
          <p:cNvSpPr/>
          <p:nvPr/>
        </p:nvSpPr>
        <p:spPr>
          <a:xfrm>
            <a:off x="414696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38" name="epr12"/>
          <p:cNvSpPr/>
          <p:nvPr/>
        </p:nvSpPr>
        <p:spPr>
          <a:xfrm>
            <a:off x="414696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39" name="agr1"/>
          <p:cNvSpPr/>
          <p:nvPr/>
        </p:nvSpPr>
        <p:spPr>
          <a:xfrm>
            <a:off x="414696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43" name="ar12"/>
          <p:cNvSpPr/>
          <p:nvPr/>
        </p:nvSpPr>
        <p:spPr>
          <a:xfrm>
            <a:off x="414696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44" name="ph2"/>
          <p:cNvSpPr/>
          <p:nvPr/>
        </p:nvSpPr>
        <p:spPr>
          <a:xfrm>
            <a:off x="791392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45" name="pub2"/>
          <p:cNvSpPr/>
          <p:nvPr/>
        </p:nvSpPr>
        <p:spPr>
          <a:xfrm>
            <a:off x="791392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49" name="cpr22"/>
          <p:cNvSpPr/>
          <p:nvPr/>
        </p:nvSpPr>
        <p:spPr>
          <a:xfrm>
            <a:off x="791392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50" name="eh2"/>
          <p:cNvSpPr/>
          <p:nvPr/>
        </p:nvSpPr>
        <p:spPr>
          <a:xfrm>
            <a:off x="791392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53" name="epr22"/>
          <p:cNvSpPr/>
          <p:nvPr/>
        </p:nvSpPr>
        <p:spPr>
          <a:xfrm>
            <a:off x="791392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54" name="agr2"/>
          <p:cNvSpPr/>
          <p:nvPr/>
        </p:nvSpPr>
        <p:spPr>
          <a:xfrm>
            <a:off x="791392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58" name="ar22"/>
          <p:cNvSpPr/>
          <p:nvPr/>
        </p:nvSpPr>
        <p:spPr>
          <a:xfrm>
            <a:off x="791392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59" name="note"/>
          <p:cNvSpPr/>
          <p:nvPr/>
        </p:nvSpPr>
        <p:spPr>
          <a:xfrm>
            <a:off x="380000" y="5940806"/>
            <a:ext cx="11431760" cy="569721"/>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はR9で①43.1%・④44.1%・②46.1%。経常収支比率は3案ともR9に100%以上を達成する見込みです。農業集落排水は経費回収率が大きく改善する一方、経常収支比率は3案とも100%未満（R9で84〜86%）にとどまります。</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01-6　改定率の妥当性評価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県内平均（公共）</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3,063円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県内平均（農集）</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2,912円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改定後の水準（税込3,300円）は青森県内平均（公共3,063円・農集2,912円）と概ね同水準。1日あたりの負担増は約29円で、住民への影響は許容範囲内と評価されます。</a:t>
            </a:r>
          </a:p>
          <a:p>
            <a:pPr algn="l"/>
            <a:r>
              <a:rPr lang="ja-JP" sz="1300" b="0" dirty="0">
                <a:solidFill>
                  <a:srgbClr val="78350F"/>
                </a:solidFill>
                <a:latin typeface="Noto Sans CJK JP"/>
                <a:cs typeface="Noto Sans CJK JP"/>
              </a:rPr>
              <a:t>　　出所：第1回審議会資料「青森県内 下水道使用料比較」（令和6年3月31日現在）</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02-1　改定年数の選択（論点整理）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02-2　段階単価一覧（パターン①・税抜き・円）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02-3　段階単価一覧（パターン②・税抜き・円）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02-4　段階単価一覧（パターン④・税抜き・円）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02-5　段階単価比較（パターン①②④・2か年）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20㎥での最終月額（税抜）は3案とも3,000円で共通。R8中間単価は算定ブックの数式どおり（現行＋最終）÷2の四捨五入。</a:t>
            </a:r>
          </a:p>
          <a:p>
            <a:pPr algn="l"/>
            <a:r>
              <a:rPr lang="ja-JP" sz="1050" b="0" dirty="0">
                <a:solidFill>
                  <a:srgbClr val="1E40AF"/>
                </a:solidFill>
                <a:latin typeface="Arial"/>
                <a:cs typeface="Noto Sans CJK JP"/>
              </a:rPr>
              <a:t>　 第1回資料は切り捨てで提示しており（①71〜100㎥＝162円 等）、5区分で1円の差があります。条例上の端数処理とあわせて確定が必要です。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02-6　改定ロードマップ案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
目標達成確認
段階的適正化</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次回改定
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03-1　経常収支比率の見込み（パターン①）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03-2　経常収支比率の見込み（パターン②）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03-3　経常収支比率の見込み（パターン④）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03-4　経費回収率の見込み（公共下水道）</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経費回収率の見込みと目標値の設定（案）　公共下水道</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33.2%</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38.5%</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40.0%</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32.3%</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43.1%</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46.1%</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32.5%</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43.4%</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46.4%</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44.4%</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31.4%</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42.0%</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44.9%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43.0%</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64,832千円）は分流式下水道等に要する経費でカバーされるため全額控除しています。</a:t>
            </a:r>
          </a:p>
          <a:p>
            <a:pPr algn="l"/>
            <a:r>
              <a:rPr lang="ja-JP" sz="1150" b="0" dirty="0">
                <a:solidFill>
                  <a:srgbClr val="78350F"/>
                </a:solidFill>
                <a:latin typeface="Noto Sans CJK JP"/>
                <a:cs typeface="Noto Sans CJK JP"/>
              </a:rPr>
              <a:t>※ R6決算の47.11%も同一基準（汚水処理費119,503千円）です。R7の34.4%への低下は、維持管理費が168,331千円へ増加する見込みによるものです。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03-5　経費回収率の見込み（農業集落排水）</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経費回収率の見込みと目標値の設定（案）　農業集落排水</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39.3%</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45.2%</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47.7%</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46.0%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37.6%</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49.6%</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54.2%</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37.9%</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50.0%</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54.7%</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51.5%</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36.7%</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48.4%</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52.9%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49.9%</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審議事項：農業集落排水はパターン②でR9に54.2%となり目標水準47%を達成しますが、R11以降は有収水量の減少により低下します。次期改定（R12）での再設定を前提とした目標設定を提案します。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a:t>
            </a:r>
          </a:p>
          <a:p>
            <a:pPr algn="l"/>
            <a:r>
              <a:rPr lang="ja-JP" sz="1150" b="0" dirty="0">
                <a:solidFill>
                  <a:srgbClr val="78350F"/>
                </a:solidFill>
                <a:latin typeface="Noto Sans CJK JP"/>
                <a:cs typeface="Noto Sans CJK JP"/>
              </a:rPr>
              <a:t>※ R6決算の35.99%も同一基準（汚水処理費32,870千円）です。算定内訳はエビデンス集「汚水処理費の算定」シートに収録しています。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03-6　全パターン指標比較</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a:p>
            <a:pPr algn="l"/>
            <a:r>
              <a:rPr lang="ja-JP" sz="1050" b="0" dirty="0">
                <a:solidFill>
                  <a:srgbClr val="78350F"/>
                </a:solidFill>
                <a:latin typeface="Arial"/>
                <a:cs typeface="Noto Sans CJK JP"/>
              </a:rPr>
              <a:t>▶ 審議事項：農業集落排水の目標①（経常収支比率100%以上）は、今回改定では構造的に達成できないため、長期的な達成を目指す目標として位置付けることの可否をご審議ください。</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04-1　家庭・事業所別影響額（パターン①・税込）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月額影響額（パターン①・標準型・税込）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04-2　家庭・事業所別影響額（パターン②・税込）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月額影響額（パターン②・家庭軽減型・税込）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04-3　家庭・事業所別影響額（パターン④・税込）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月額影響額（パターン④・段階累進型・税込）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住民への影響・説明対応　04-4　使用水量別月額使用料比較</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使用水量別　月額使用料一覧（税込）　― 基本料金＋超過料金の合計 ―</a:t>
            </a:r>
          </a:p>
        </p:txBody>
      </p:sp>
      <p:sp>
        <p:nvSpPr>
          <p:cNvPr id="14" name="gl2"/>
          <p:cNvSpPr/>
          <p:nvPr/>
        </p:nvSpPr>
        <p:spPr>
          <a:xfrm>
            <a:off x="251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610000"/>
            <a:ext cx="12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960000"/>
            <a:ext cx="120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3040000"/>
            <a:ext cx="120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4120000"/>
            <a:ext cx="120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51" name="d21"/>
          <p:cNvSpPr/>
          <p:nvPr/>
        </p:nvSpPr>
        <p:spPr>
          <a:xfrm>
            <a:off x="158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52" name="d22"/>
          <p:cNvSpPr/>
          <p:nvPr/>
        </p:nvSpPr>
        <p:spPr>
          <a:xfrm>
            <a:off x="251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53" name="d23"/>
          <p:cNvSpPr/>
          <p:nvPr/>
        </p:nvSpPr>
        <p:spPr>
          <a:xfrm>
            <a:off x="344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54" name="d24"/>
          <p:cNvSpPr/>
          <p:nvPr/>
        </p:nvSpPr>
        <p:spPr>
          <a:xfrm>
            <a:off x="439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55" name="d25"/>
          <p:cNvSpPr/>
          <p:nvPr/>
        </p:nvSpPr>
        <p:spPr>
          <a:xfrm>
            <a:off x="522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56" name="d26"/>
          <p:cNvSpPr/>
          <p:nvPr/>
        </p:nvSpPr>
        <p:spPr>
          <a:xfrm>
            <a:off x="615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57" name="d27"/>
          <p:cNvSpPr/>
          <p:nvPr/>
        </p:nvSpPr>
        <p:spPr>
          <a:xfrm>
            <a:off x="710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58" name="d28"/>
          <p:cNvSpPr/>
          <p:nvPr/>
        </p:nvSpPr>
        <p:spPr>
          <a:xfrm>
            <a:off x="793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59" name="d29"/>
          <p:cNvSpPr/>
          <p:nvPr/>
        </p:nvSpPr>
        <p:spPr>
          <a:xfrm>
            <a:off x="886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60" name="d210"/>
          <p:cNvSpPr/>
          <p:nvPr/>
        </p:nvSpPr>
        <p:spPr>
          <a:xfrm>
            <a:off x="981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61" name="d30"/>
          <p:cNvSpPr/>
          <p:nvPr/>
        </p:nvSpPr>
        <p:spPr>
          <a:xfrm>
            <a:off x="380000" y="5200000"/>
            <a:ext cx="120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40㎥</a:t>
            </a:r>
          </a:p>
        </p:txBody>
      </p:sp>
      <p:sp>
        <p:nvSpPr>
          <p:cNvPr id="62" name="d31"/>
          <p:cNvSpPr/>
          <p:nvPr/>
        </p:nvSpPr>
        <p:spPr>
          <a:xfrm>
            <a:off x="158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5,170円</a:t>
            </a:r>
          </a:p>
        </p:txBody>
      </p:sp>
      <p:sp>
        <p:nvSpPr>
          <p:cNvPr id="63" name="d32"/>
          <p:cNvSpPr/>
          <p:nvPr/>
        </p:nvSpPr>
        <p:spPr>
          <a:xfrm>
            <a:off x="251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6,150円</a:t>
            </a:r>
          </a:p>
        </p:txBody>
      </p:sp>
      <p:sp>
        <p:nvSpPr>
          <p:cNvPr id="64" name="d33"/>
          <p:cNvSpPr/>
          <p:nvPr/>
        </p:nvSpPr>
        <p:spPr>
          <a:xfrm>
            <a:off x="344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6,765円</a:t>
            </a:r>
          </a:p>
        </p:txBody>
      </p:sp>
      <p:sp>
        <p:nvSpPr>
          <p:cNvPr id="65" name="d34"/>
          <p:cNvSpPr/>
          <p:nvPr/>
        </p:nvSpPr>
        <p:spPr>
          <a:xfrm>
            <a:off x="439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6" name="d35"/>
          <p:cNvSpPr/>
          <p:nvPr/>
        </p:nvSpPr>
        <p:spPr>
          <a:xfrm>
            <a:off x="522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6,750円</a:t>
            </a:r>
          </a:p>
        </p:txBody>
      </p:sp>
      <p:sp>
        <p:nvSpPr>
          <p:cNvPr id="67" name="d36"/>
          <p:cNvSpPr/>
          <p:nvPr/>
        </p:nvSpPr>
        <p:spPr>
          <a:xfrm>
            <a:off x="615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7,425円</a:t>
            </a:r>
          </a:p>
        </p:txBody>
      </p:sp>
      <p:sp>
        <p:nvSpPr>
          <p:cNvPr id="68" name="d37"/>
          <p:cNvSpPr/>
          <p:nvPr/>
        </p:nvSpPr>
        <p:spPr>
          <a:xfrm>
            <a:off x="710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＋2,255円</a:t>
            </a:r>
          </a:p>
        </p:txBody>
      </p:sp>
      <p:sp>
        <p:nvSpPr>
          <p:cNvPr id="69" name="d38"/>
          <p:cNvSpPr/>
          <p:nvPr/>
        </p:nvSpPr>
        <p:spPr>
          <a:xfrm>
            <a:off x="793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6,350円</a:t>
            </a:r>
          </a:p>
        </p:txBody>
      </p:sp>
      <p:sp>
        <p:nvSpPr>
          <p:cNvPr id="70" name="d39"/>
          <p:cNvSpPr/>
          <p:nvPr/>
        </p:nvSpPr>
        <p:spPr>
          <a:xfrm>
            <a:off x="886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6,985円</a:t>
            </a:r>
          </a:p>
        </p:txBody>
      </p:sp>
      <p:sp>
        <p:nvSpPr>
          <p:cNvPr id="71" name="d310"/>
          <p:cNvSpPr/>
          <p:nvPr/>
        </p:nvSpPr>
        <p:spPr>
          <a:xfrm>
            <a:off x="981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＋1,815円</a:t>
            </a:r>
          </a:p>
        </p:txBody>
      </p:sp>
      <p:sp>
        <p:nvSpPr>
          <p:cNvPr id="72" name="note"/>
          <p:cNvSpPr/>
          <p:nvPr/>
        </p:nvSpPr>
        <p:spPr>
          <a:xfrm>
            <a:off x="380000" y="6233152"/>
            <a:ext cx="11431760" cy="380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04-5　住民説明会の実施計画（案）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次回（第3回）予定事項</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31</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