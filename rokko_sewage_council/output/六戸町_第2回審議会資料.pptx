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7"/>
    <p:sldId id="261" r:id="rId29"/>
    <p:sldId id="262" r:id="rId8"/>
    <p:sldId id="263" r:id="rId30"/>
    <p:sldId id="264" r:id="rId9"/>
    <p:sldId id="265" r:id="rId10"/>
    <p:sldId id="266" r:id="rId11"/>
    <p:sldId id="267" r:id="rId12"/>
    <p:sldId id="268" r:id="rId31"/>
    <p:sldId id="269" r:id="rId13"/>
    <p:sldId id="270" r:id="rId32"/>
    <p:sldId id="271" r:id="rId14"/>
    <p:sldId id="272" r:id="rId38"/>
    <p:sldId id="273" r:id="rId15"/>
    <p:sldId id="274" r:id="rId16"/>
    <p:sldId id="275" r:id="rId33"/>
    <p:sldId id="276" r:id="rId17"/>
    <p:sldId id="277" r:id="rId34"/>
    <p:sldId id="278" r:id="rId18"/>
    <p:sldId id="279" r:id="rId39"/>
    <p:sldId id="280" r:id="rId35"/>
    <p:sldId id="281" r:id="rId40"/>
    <p:sldId id="282" r:id="rId19"/>
    <p:sldId id="283" r:id="rId41"/>
    <p:sldId id="284" r:id="rId20"/>
    <p:sldId id="285" r:id="rId36"/>
    <p:sldId id="286" r:id="rId25"/>
    <p:sldId id="287" r:id="rId37"/>
    <p:sldId id="288" r:id="rId26"/>
    <p:sldId id="289" r:id="rId27"/>
    <p:sldId id="290"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1.xml"/><Relationship Id="rId18" Type="http://schemas.openxmlformats.org/officeDocument/2006/relationships/slide" Target="slides/slide23.xml"/><Relationship Id="rId19" Type="http://schemas.openxmlformats.org/officeDocument/2006/relationships/slide" Target="slides/slide27.xml"/><Relationship Id="rId20" Type="http://schemas.openxmlformats.org/officeDocument/2006/relationships/slide" Target="slides/slide29.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31.xml"/><Relationship Id="rId26" Type="http://schemas.openxmlformats.org/officeDocument/2006/relationships/slide" Target="slides/slide33.xml"/><Relationship Id="rId27" Type="http://schemas.openxmlformats.org/officeDocument/2006/relationships/slide" Target="slides/slide34.xml"/><Relationship Id="rId28" Type="http://schemas.openxmlformats.org/officeDocument/2006/relationships/slide" Target="slides/slide35.xml"/><Relationship Id="rId29" Type="http://schemas.openxmlformats.org/officeDocument/2006/relationships/slide" Target="slides/slide6.xml"/><Relationship Id="rId30" Type="http://schemas.openxmlformats.org/officeDocument/2006/relationships/slide" Target="slides/slide8.xml"/><Relationship Id="rId31" Type="http://schemas.openxmlformats.org/officeDocument/2006/relationships/slide" Target="slides/slide13.xml"/><Relationship Id="rId32" Type="http://schemas.openxmlformats.org/officeDocument/2006/relationships/slide" Target="slides/slide15.xml"/><Relationship Id="rId33" Type="http://schemas.openxmlformats.org/officeDocument/2006/relationships/slide" Target="slides/slide20.xml"/><Relationship Id="rId34" Type="http://schemas.openxmlformats.org/officeDocument/2006/relationships/slide" Target="slides/slide22.xml"/><Relationship Id="rId35" Type="http://schemas.openxmlformats.org/officeDocument/2006/relationships/slide" Target="slides/slide25.xml"/><Relationship Id="rId36" Type="http://schemas.openxmlformats.org/officeDocument/2006/relationships/slide" Target="slides/slide30.xml"/><Relationship Id="rId37" Type="http://schemas.openxmlformats.org/officeDocument/2006/relationships/slide" Target="slides/slide32.xml"/><Relationship Id="rId38" Type="http://schemas.openxmlformats.org/officeDocument/2006/relationships/slide" Target="slides/slide17.xml"/><Relationship Id="rId39" Type="http://schemas.openxmlformats.org/officeDocument/2006/relationships/slide" Target="slides/slide24.xml"/><Relationship Id="rId40" Type="http://schemas.openxmlformats.org/officeDocument/2006/relationships/slide" Target="slides/slide26.xml"/><Relationship Id="rId41"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使用料改定案の検討（パターン①②④の収支シミュレーション・妥当性評価）</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2" name="r01"/>
          <p:cNvSpPr/>
          <p:nvPr/>
        </p:nvSpPr>
        <p:spPr>
          <a:xfrm>
            <a:off x="3271680" y="23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3" name="r02"/>
          <p:cNvSpPr/>
          <p:nvPr/>
        </p:nvSpPr>
        <p:spPr>
          <a:xfrm>
            <a:off x="6071680" y="23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4" name="r03"/>
          <p:cNvSpPr/>
          <p:nvPr/>
        </p:nvSpPr>
        <p:spPr>
          <a:xfrm>
            <a:off x="9071680" y="23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達成</a:t>
            </a:r>
          </a:p>
        </p:txBody>
      </p:sp>
      <p:sp>
        <p:nvSpPr>
          <p:cNvPr id="25" name="r10"/>
          <p:cNvSpPr/>
          <p:nvPr/>
        </p:nvSpPr>
        <p:spPr>
          <a:xfrm>
            <a:off x="571680" y="294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26" name="r11"/>
          <p:cNvSpPr/>
          <p:nvPr/>
        </p:nvSpPr>
        <p:spPr>
          <a:xfrm>
            <a:off x="3271680" y="294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基本料+50%</a:t>
            </a:r>
          </a:p>
        </p:txBody>
      </p:sp>
      <p:sp>
        <p:nvSpPr>
          <p:cNvPr id="27" name="r12"/>
          <p:cNvSpPr/>
          <p:nvPr/>
        </p:nvSpPr>
        <p:spPr>
          <a:xfrm>
            <a:off x="6071680" y="294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基本料+20%</a:t>
            </a:r>
          </a:p>
        </p:txBody>
      </p:sp>
      <p:sp>
        <p:nvSpPr>
          <p:cNvPr id="28" name="r13"/>
          <p:cNvSpPr/>
          <p:nvPr/>
        </p:nvSpPr>
        <p:spPr>
          <a:xfrm>
            <a:off x="9071680" y="294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基本料+40%</a:t>
            </a:r>
          </a:p>
        </p:txBody>
      </p:sp>
      <p:sp>
        <p:nvSpPr>
          <p:cNvPr id="29" name="r20"/>
          <p:cNvSpPr/>
          <p:nvPr/>
        </p:nvSpPr>
        <p:spPr>
          <a:xfrm>
            <a:off x="571680" y="352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0" name="r21"/>
          <p:cNvSpPr/>
          <p:nvPr/>
        </p:nvSpPr>
        <p:spPr>
          <a:xfrm>
            <a:off x="3271680" y="352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1" name="r22"/>
          <p:cNvSpPr/>
          <p:nvPr/>
        </p:nvSpPr>
        <p:spPr>
          <a:xfrm>
            <a:off x="6071680" y="352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2" name="r23"/>
          <p:cNvSpPr/>
          <p:nvPr/>
        </p:nvSpPr>
        <p:spPr>
          <a:xfrm>
            <a:off x="9071680" y="352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緩やか</a:t>
            </a:r>
          </a:p>
        </p:txBody>
      </p:sp>
      <p:sp>
        <p:nvSpPr>
          <p:cNvPr id="33" name="r30"/>
          <p:cNvSpPr/>
          <p:nvPr/>
        </p:nvSpPr>
        <p:spPr>
          <a:xfrm>
            <a:off x="571680" y="410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4" name="r31"/>
          <p:cNvSpPr/>
          <p:nvPr/>
        </p:nvSpPr>
        <p:spPr>
          <a:xfrm>
            <a:off x="3271680" y="410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5" name="r32"/>
          <p:cNvSpPr/>
          <p:nvPr/>
        </p:nvSpPr>
        <p:spPr>
          <a:xfrm>
            <a:off x="6071680" y="410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強い</a:t>
            </a:r>
          </a:p>
        </p:txBody>
      </p:sp>
      <p:sp>
        <p:nvSpPr>
          <p:cNvPr id="36" name="r33"/>
          <p:cNvSpPr/>
          <p:nvPr/>
        </p:nvSpPr>
        <p:spPr>
          <a:xfrm>
            <a:off x="9071680" y="410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中程度</a:t>
            </a:r>
          </a:p>
        </p:txBody>
      </p:sp>
      <p:sp>
        <p:nvSpPr>
          <p:cNvPr id="37" name="r40"/>
          <p:cNvSpPr/>
          <p:nvPr/>
        </p:nvSpPr>
        <p:spPr>
          <a:xfrm>
            <a:off x="571680" y="468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a:t>
            </a:r>
          </a:p>
        </p:txBody>
      </p:sp>
      <p:sp>
        <p:nvSpPr>
          <p:cNvPr id="38" name="r41"/>
          <p:cNvSpPr/>
          <p:nvPr/>
        </p:nvSpPr>
        <p:spPr>
          <a:xfrm>
            <a:off x="3271680" y="468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68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高い</a:t>
            </a:r>
          </a:p>
        </p:txBody>
      </p:sp>
      <p:sp>
        <p:nvSpPr>
          <p:cNvPr id="40" name="r43"/>
          <p:cNvSpPr/>
          <p:nvPr/>
        </p:nvSpPr>
        <p:spPr>
          <a:xfrm>
            <a:off x="9071680" y="468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5260000"/>
            <a:ext cx="25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5260000"/>
            <a:ext cx="26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5260000"/>
            <a:ext cx="280000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5260000"/>
            <a:ext cx="2578320" cy="5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70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少量使用者に配慮しつつ、3案中で最も使用料収入が大きく財政健全化への効果が高い。</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a:t>
            </a:r>
          </a:p>
          <a:p>
            <a:pPr algn="l"/>
            <a:r>
              <a:rPr lang="ja-JP" sz="1200" b="0" dirty="0">
                <a:solidFill>
                  <a:srgbClr val="166534"/>
                </a:solidFill>
                <a:latin typeface="Noto Sans CJK JP"/>
                <a:cs typeface="Noto Sans CJK JP"/>
              </a:rPr>
              <a:t>農業集落排水は経費回収率がR9 49.6%・R10 50.0%へ改善する一方、経常収支比率はR10で84.2%にとどまり、引き続き他会計繰入等による補填が必要となる見込みです。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a:t>
            </a:r>
          </a:p>
          <a:p>
            <a:pPr algn="l"/>
            <a:r>
              <a:rPr lang="ja-JP" sz="1200" b="0" dirty="0">
                <a:solidFill>
                  <a:srgbClr val="166534"/>
                </a:solidFill>
                <a:latin typeface="Noto Sans CJK JP"/>
                <a:cs typeface="Noto Sans CJK JP"/>
              </a:rPr>
              <a:t>農業集落排水は経費回収率がR9 54.2%・R10 54.7%へ改善する一方、経常収支比率はR10で85.9%にとどまり、引き続き他会計繰入等による補填が必要となる見込みです。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a:t>
            </a:r>
          </a:p>
          <a:p>
            <a:pPr algn="l"/>
            <a:r>
              <a:rPr lang="ja-JP" sz="1200" b="0" dirty="0">
                <a:solidFill>
                  <a:srgbClr val="166534"/>
                </a:solidFill>
                <a:latin typeface="Noto Sans CJK JP"/>
                <a:cs typeface="Noto Sans CJK JP"/>
              </a:rPr>
              <a:t>農業集落排水は経費回収率がR9 51.1%・R10 51.5%へ改善する一方、経常収支比率はR10で84.8%にとどまり、引き続き他会計繰入等による補填が必要となる見込みです。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01-5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15" name="pub0"/>
          <p:cNvSpPr/>
          <p:nvPr/>
        </p:nvSpPr>
        <p:spPr>
          <a:xfrm>
            <a:off x="38000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19" name="cpr02"/>
          <p:cNvSpPr/>
          <p:nvPr/>
        </p:nvSpPr>
        <p:spPr>
          <a:xfrm>
            <a:off x="38000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20" name="eh0"/>
          <p:cNvSpPr/>
          <p:nvPr/>
        </p:nvSpPr>
        <p:spPr>
          <a:xfrm>
            <a:off x="38000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23" name="epr02"/>
          <p:cNvSpPr/>
          <p:nvPr/>
        </p:nvSpPr>
        <p:spPr>
          <a:xfrm>
            <a:off x="38000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24" name="agr0"/>
          <p:cNvSpPr/>
          <p:nvPr/>
        </p:nvSpPr>
        <p:spPr>
          <a:xfrm>
            <a:off x="38000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28" name="ar02"/>
          <p:cNvSpPr/>
          <p:nvPr/>
        </p:nvSpPr>
        <p:spPr>
          <a:xfrm>
            <a:off x="38000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29" name="ph1"/>
          <p:cNvSpPr/>
          <p:nvPr/>
        </p:nvSpPr>
        <p:spPr>
          <a:xfrm>
            <a:off x="414696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30" name="pub1"/>
          <p:cNvSpPr/>
          <p:nvPr/>
        </p:nvSpPr>
        <p:spPr>
          <a:xfrm>
            <a:off x="414696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34" name="cpr12"/>
          <p:cNvSpPr/>
          <p:nvPr/>
        </p:nvSpPr>
        <p:spPr>
          <a:xfrm>
            <a:off x="414696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35" name="eh1"/>
          <p:cNvSpPr/>
          <p:nvPr/>
        </p:nvSpPr>
        <p:spPr>
          <a:xfrm>
            <a:off x="414696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38" name="epr12"/>
          <p:cNvSpPr/>
          <p:nvPr/>
        </p:nvSpPr>
        <p:spPr>
          <a:xfrm>
            <a:off x="414696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39" name="agr1"/>
          <p:cNvSpPr/>
          <p:nvPr/>
        </p:nvSpPr>
        <p:spPr>
          <a:xfrm>
            <a:off x="414696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43" name="ar12"/>
          <p:cNvSpPr/>
          <p:nvPr/>
        </p:nvSpPr>
        <p:spPr>
          <a:xfrm>
            <a:off x="414696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44" name="ph2"/>
          <p:cNvSpPr/>
          <p:nvPr/>
        </p:nvSpPr>
        <p:spPr>
          <a:xfrm>
            <a:off x="7913920" y="1430000"/>
            <a:ext cx="369696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45" name="pub2"/>
          <p:cNvSpPr/>
          <p:nvPr/>
        </p:nvSpPr>
        <p:spPr>
          <a:xfrm>
            <a:off x="7913920" y="1760000"/>
            <a:ext cx="369696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2030000"/>
            <a:ext cx="3696960" cy="23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2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5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49" name="cpr22"/>
          <p:cNvSpPr/>
          <p:nvPr/>
        </p:nvSpPr>
        <p:spPr>
          <a:xfrm>
            <a:off x="7913920" y="28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50" name="eh2"/>
          <p:cNvSpPr/>
          <p:nvPr/>
        </p:nvSpPr>
        <p:spPr>
          <a:xfrm>
            <a:off x="7913920" y="313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39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66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53" name="epr22"/>
          <p:cNvSpPr/>
          <p:nvPr/>
        </p:nvSpPr>
        <p:spPr>
          <a:xfrm>
            <a:off x="7913920" y="394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54" name="agr2"/>
          <p:cNvSpPr/>
          <p:nvPr/>
        </p:nvSpPr>
        <p:spPr>
          <a:xfrm>
            <a:off x="7913920" y="4230000"/>
            <a:ext cx="36969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500000"/>
            <a:ext cx="3696960" cy="230000"/>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760000"/>
            <a:ext cx="3696960" cy="255000"/>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5035000"/>
            <a:ext cx="3696960" cy="255000"/>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58" name="ar22"/>
          <p:cNvSpPr/>
          <p:nvPr/>
        </p:nvSpPr>
        <p:spPr>
          <a:xfrm>
            <a:off x="7913920" y="5310000"/>
            <a:ext cx="3696960" cy="255000"/>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59" name="note"/>
          <p:cNvSpPr/>
          <p:nvPr/>
        </p:nvSpPr>
        <p:spPr>
          <a:xfrm>
            <a:off x="380000" y="5940806"/>
            <a:ext cx="11431760" cy="569721"/>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もR9で②46.1%＞④44.1%＞①43.1%。経常収支比率は3案ともR9に100%以上を達成する見込みです。農業集落排水は経費回収率が大きく改善する一方、経常収支比率は3案とも100%未満（R9で84〜86%）にとどまります。</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01-6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02-6　段階単価比較（パターン①②④・3か年）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3か年改定：R8第1段→R9第2段→R10最終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3か年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3か年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3か年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①R8第1段</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①R9第2段</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②R8第1段</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②R9第2段</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④R8第1段</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④R9第2段</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1,150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1,300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1,050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1,100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1,200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135</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145</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150</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155</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170</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165</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160</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180</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170</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200</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165</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190</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180</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200</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190</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220</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185</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210</a:t>
            </a:r>
          </a:p>
        </p:txBody>
      </p:sp>
      <p:sp>
        <p:nvSpPr>
          <p:cNvPr id="97" name="note"/>
          <p:cNvSpPr/>
          <p:nvPr/>
        </p:nvSpPr>
        <p:spPr>
          <a:xfrm>
            <a:off x="380000" y="6120528"/>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R10の最終単価は2か年改定のR9最終単価と同一です（02-5参照）。3か年改定は各段階の値上げ幅が小さくなる一方、最終単価の適用がR10となるため財政目標の達成は1年遅れます。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02-7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
目標達成確認
段階的適正化</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次回改定
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6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13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400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870000"/>
            <a:ext cx="5500000" cy="820000"/>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800000"/>
            <a:ext cx="11048400" cy="606552"/>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38.5%</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40.0%</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43.1%</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R7の汚水処理費168,331千円の内訳は、職員給与費5,936・動力費4,975・修繕費912・材料費1,228・その他（主に委託料）155,280千円。</a:t>
            </a:r>
          </a:p>
          <a:p>
            <a:pPr algn="l"/>
            <a:r>
              <a:rPr lang="ja-JP" sz="1150" b="0" dirty="0">
                <a:solidFill>
                  <a:srgbClr val="78350F"/>
                </a:solidFill>
                <a:latin typeface="Noto Sans CJK JP"/>
                <a:cs typeface="Noto Sans CJK JP"/>
              </a:rPr>
              <a:t>※ R6決算の47.11%も同一基準（汚水処理費119,503千円）です。R7の34.4%への低下は、維持管理費が168,331千円へ増加する見込みによるものです。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経費回収率の見込み（公共下水道・3か年改定）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34.4%</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33.2%</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36.6%</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37.6%</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36.8%</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32.3%</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38.8%</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40.8%</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32.5%</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43.4%</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46.4%</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44.4%</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31.4%</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42.0%</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44.9%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43.0%</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3か年改定では最終単価の適用がR10となるため、R9時点では38.8〜40.8%にとどまり、R10で43.4〜46.4%に達します（2か年改定はR9で43.1〜46.1%）。いずれも目標水準47%には到達しません。</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03-6　経費回収率の見込み（農業集落排水・2か年改定）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45.2%</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47.7%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46.0%</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49.6%</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54.2%</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51.1%</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R6決算の35.99%も同一基準（汚水処理費32,870千円）です。算定内訳はエビデンス集「汚水処理費の算定」シートに収録しています。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03-7　経費回収率の見込み（農業集落排水・3か年改定）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5" name="d1402"/>
          <p:cNvSpPr/>
          <p:nvPr/>
        </p:nvSpPr>
        <p:spPr>
          <a:xfrm>
            <a:off x="39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6" name="d1403"/>
          <p:cNvSpPr/>
          <p:nvPr/>
        </p:nvSpPr>
        <p:spPr>
          <a:xfrm>
            <a:off x="5771680" y="195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7" name="d1404"/>
          <p:cNvSpPr/>
          <p:nvPr/>
        </p:nvSpPr>
        <p:spPr>
          <a:xfrm>
            <a:off x="7471680" y="195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39.9%</a:t>
            </a:r>
          </a:p>
        </p:txBody>
      </p:sp>
      <p:sp>
        <p:nvSpPr>
          <p:cNvPr id="28" name="d1405"/>
          <p:cNvSpPr/>
          <p:nvPr/>
        </p:nvSpPr>
        <p:spPr>
          <a:xfrm>
            <a:off x="9271680" y="195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29" name="d1410"/>
          <p:cNvSpPr/>
          <p:nvPr/>
        </p:nvSpPr>
        <p:spPr>
          <a:xfrm>
            <a:off x="5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39.3%</a:t>
            </a:r>
          </a:p>
        </p:txBody>
      </p:sp>
      <p:sp>
        <p:nvSpPr>
          <p:cNvPr id="31" name="d1412"/>
          <p:cNvSpPr/>
          <p:nvPr/>
        </p:nvSpPr>
        <p:spPr>
          <a:xfrm>
            <a:off x="39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43.1%</a:t>
            </a:r>
          </a:p>
        </p:txBody>
      </p:sp>
      <p:sp>
        <p:nvSpPr>
          <p:cNvPr id="32" name="d1413"/>
          <p:cNvSpPr/>
          <p:nvPr/>
        </p:nvSpPr>
        <p:spPr>
          <a:xfrm>
            <a:off x="5771680" y="257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44.7%</a:t>
            </a:r>
          </a:p>
        </p:txBody>
      </p:sp>
      <p:sp>
        <p:nvSpPr>
          <p:cNvPr id="33" name="d1414"/>
          <p:cNvSpPr/>
          <p:nvPr/>
        </p:nvSpPr>
        <p:spPr>
          <a:xfrm>
            <a:off x="7471680" y="257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43.3%</a:t>
            </a:r>
          </a:p>
        </p:txBody>
      </p:sp>
      <p:sp>
        <p:nvSpPr>
          <p:cNvPr id="34" name="d1415"/>
          <p:cNvSpPr/>
          <p:nvPr/>
        </p:nvSpPr>
        <p:spPr>
          <a:xfrm>
            <a:off x="9271680" y="257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Arial"/>
                <a:cs typeface="Noto Sans CJK JP"/>
              </a:rPr>
              <a:t>—</a:t>
            </a:r>
          </a:p>
        </p:txBody>
      </p:sp>
      <p:sp>
        <p:nvSpPr>
          <p:cNvPr id="35" name="d1420"/>
          <p:cNvSpPr/>
          <p:nvPr/>
        </p:nvSpPr>
        <p:spPr>
          <a:xfrm>
            <a:off x="5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37.6%</a:t>
            </a:r>
          </a:p>
        </p:txBody>
      </p:sp>
      <p:sp>
        <p:nvSpPr>
          <p:cNvPr id="37" name="d1422"/>
          <p:cNvSpPr/>
          <p:nvPr/>
        </p:nvSpPr>
        <p:spPr>
          <a:xfrm>
            <a:off x="39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38" name="d1423"/>
          <p:cNvSpPr/>
          <p:nvPr/>
        </p:nvSpPr>
        <p:spPr>
          <a:xfrm>
            <a:off x="5771680" y="319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48.1%</a:t>
            </a:r>
          </a:p>
        </p:txBody>
      </p:sp>
      <p:sp>
        <p:nvSpPr>
          <p:cNvPr id="39" name="d1424"/>
          <p:cNvSpPr/>
          <p:nvPr/>
        </p:nvSpPr>
        <p:spPr>
          <a:xfrm>
            <a:off x="7471680" y="319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45.2%</a:t>
            </a:r>
          </a:p>
        </p:txBody>
      </p:sp>
      <p:sp>
        <p:nvSpPr>
          <p:cNvPr id="40" name="d1425"/>
          <p:cNvSpPr/>
          <p:nvPr/>
        </p:nvSpPr>
        <p:spPr>
          <a:xfrm>
            <a:off x="9271680" y="319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47%以上</a:t>
            </a:r>
          </a:p>
        </p:txBody>
      </p:sp>
      <p:sp>
        <p:nvSpPr>
          <p:cNvPr id="41" name="d1430"/>
          <p:cNvSpPr/>
          <p:nvPr/>
        </p:nvSpPr>
        <p:spPr>
          <a:xfrm>
            <a:off x="5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37.9%</a:t>
            </a:r>
          </a:p>
        </p:txBody>
      </p:sp>
      <p:sp>
        <p:nvSpPr>
          <p:cNvPr id="43" name="d1432"/>
          <p:cNvSpPr/>
          <p:nvPr/>
        </p:nvSpPr>
        <p:spPr>
          <a:xfrm>
            <a:off x="39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50.0%</a:t>
            </a:r>
          </a:p>
        </p:txBody>
      </p:sp>
      <p:sp>
        <p:nvSpPr>
          <p:cNvPr id="44" name="d1433"/>
          <p:cNvSpPr/>
          <p:nvPr/>
        </p:nvSpPr>
        <p:spPr>
          <a:xfrm>
            <a:off x="5771680" y="381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54.7%</a:t>
            </a:r>
          </a:p>
        </p:txBody>
      </p:sp>
      <p:sp>
        <p:nvSpPr>
          <p:cNvPr id="45" name="d1434"/>
          <p:cNvSpPr/>
          <p:nvPr/>
        </p:nvSpPr>
        <p:spPr>
          <a:xfrm>
            <a:off x="7471680" y="381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51.5%</a:t>
            </a:r>
          </a:p>
        </p:txBody>
      </p:sp>
      <p:sp>
        <p:nvSpPr>
          <p:cNvPr id="46" name="d1435"/>
          <p:cNvSpPr/>
          <p:nvPr/>
        </p:nvSpPr>
        <p:spPr>
          <a:xfrm>
            <a:off x="9271680" y="381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50%以上</a:t>
            </a:r>
          </a:p>
        </p:txBody>
      </p:sp>
      <p:sp>
        <p:nvSpPr>
          <p:cNvPr id="47" name="d1440"/>
          <p:cNvSpPr/>
          <p:nvPr/>
        </p:nvSpPr>
        <p:spPr>
          <a:xfrm>
            <a:off x="5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36.7%</a:t>
            </a:r>
          </a:p>
        </p:txBody>
      </p:sp>
      <p:sp>
        <p:nvSpPr>
          <p:cNvPr id="49" name="d1442"/>
          <p:cNvSpPr/>
          <p:nvPr/>
        </p:nvSpPr>
        <p:spPr>
          <a:xfrm>
            <a:off x="39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48.4%</a:t>
            </a:r>
          </a:p>
        </p:txBody>
      </p:sp>
      <p:sp>
        <p:nvSpPr>
          <p:cNvPr id="50" name="d1443"/>
          <p:cNvSpPr/>
          <p:nvPr/>
        </p:nvSpPr>
        <p:spPr>
          <a:xfrm>
            <a:off x="5771680" y="4430000"/>
            <a:ext cx="15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EF4444"/>
                </a:solidFill>
                <a:latin typeface="Arial"/>
                <a:cs typeface="Noto Sans CJK JP"/>
              </a:rPr>
              <a:t>52.9%</a:t>
            </a:r>
          </a:p>
        </p:txBody>
      </p:sp>
      <p:sp>
        <p:nvSpPr>
          <p:cNvPr id="51" name="d1444"/>
          <p:cNvSpPr/>
          <p:nvPr/>
        </p:nvSpPr>
        <p:spPr>
          <a:xfrm>
            <a:off x="7471680" y="4430000"/>
            <a:ext cx="160000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49.9%</a:t>
            </a:r>
          </a:p>
        </p:txBody>
      </p:sp>
      <p:sp>
        <p:nvSpPr>
          <p:cNvPr id="52" name="d1445"/>
          <p:cNvSpPr/>
          <p:nvPr/>
        </p:nvSpPr>
        <p:spPr>
          <a:xfrm>
            <a:off x="9271680" y="4430000"/>
            <a:ext cx="1878320" cy="59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40AF"/>
                </a:solidFill>
                <a:latin typeface="Arial"/>
                <a:cs typeface="Noto Sans CJK JP"/>
              </a:rPr>
              <a:t>55%以上</a:t>
            </a:r>
          </a:p>
        </p:txBody>
      </p:sp>
      <p:sp>
        <p:nvSpPr>
          <p:cNvPr id="53" name="nt14"/>
          <p:cNvSpPr/>
          <p:nvPr/>
        </p:nvSpPr>
        <p:spPr>
          <a:xfrm>
            <a:off x="571680" y="5100000"/>
            <a:ext cx="11048400" cy="799909"/>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3か年改定では最終単価の適用がR10となるため、R9時点では44.9〜48.1%となり、目標水準47%を上回るのはパターン②のみです（2か年改定は②54.2%・④51.1%・①49.6%）。</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03-8　全パターン指標比較（2か年改定）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03-9　全パターン指標比較（3か年改定）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経常収支比率・経費回収率の見込み比較（3か年改定）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97.4%</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98.4%</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99.1%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98.5%</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82.4%</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36.6%</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37.6%</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36.8%</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43.1%</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44.7%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43.3%</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38.8%</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40.8%</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39.1%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44.9%</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48.1%</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45.2%</a:t>
            </a:r>
          </a:p>
        </p:txBody>
      </p:sp>
      <p:sp>
        <p:nvSpPr>
          <p:cNvPr id="76" name="note"/>
          <p:cNvSpPr/>
          <p:nvPr/>
        </p:nvSpPr>
        <p:spPr>
          <a:xfrm>
            <a:off x="380000" y="5243152"/>
            <a:ext cx="11431760" cy="55130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3か年改定では最終単価の適用がR10となるため、R9時点では公共の経常収支比率が98.4〜99.1%と100%に届かず、経費回収率も38.8〜40.8%にとどまります（2か年改定はR9で経常100.0〜101.1%・回収43.1〜46.1%）。</a:t>
            </a:r>
          </a:p>
          <a:p>
            <a:pPr algn="l"/>
            <a:r>
              <a:rPr lang="ja-JP" sz="1050" b="0" dirty="0">
                <a:solidFill>
                  <a:srgbClr val="78350F"/>
                </a:solidFill>
                <a:latin typeface="Arial"/>
                <a:cs typeface="Noto Sans CJK JP"/>
              </a:rPr>
              <a:t>▶ R10以降の水準は2か年改定と同一に収束します。パターン間の優劣（②＞④＞①）も2か年改定と同じです。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5120" y="197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675120" y="256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675120" y="315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675120" y="374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5120" y="197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675120" y="256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675120" y="315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675120" y="374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675120" y="197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675120" y="256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100㎥（中規模）</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675120" y="315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200㎥（大規模）</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675120" y="3740000"/>
            <a:ext cx="17830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58813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使用水量別月額使用料比較（改定完了後）</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月額使用料一覧（税込・改定完了後の最終単価）</a:t>
            </a:r>
          </a:p>
        </p:txBody>
      </p:sp>
      <p:sp>
        <p:nvSpPr>
          <p:cNvPr id="14" name="gl2"/>
          <p:cNvSpPr/>
          <p:nvPr/>
        </p:nvSpPr>
        <p:spPr>
          <a:xfrm>
            <a:off x="251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90000"/>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610000"/>
            <a:ext cx="12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610000"/>
            <a:ext cx="9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610000"/>
            <a:ext cx="95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610000"/>
            <a:ext cx="83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956816"/>
            <a:ext cx="120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956816"/>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956816"/>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956816"/>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956816"/>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956816"/>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956816"/>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956816"/>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956816"/>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956816"/>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956816"/>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2926080"/>
            <a:ext cx="120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2926080"/>
            <a:ext cx="9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2926080"/>
            <a:ext cx="9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2926080"/>
            <a:ext cx="95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2926080"/>
            <a:ext cx="8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2926080"/>
            <a:ext cx="9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2926080"/>
            <a:ext cx="95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2926080"/>
            <a:ext cx="8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2926080"/>
            <a:ext cx="9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2926080"/>
            <a:ext cx="95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2926080"/>
            <a:ext cx="830000" cy="86868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3895344"/>
            <a:ext cx="120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51" name="d21"/>
          <p:cNvSpPr/>
          <p:nvPr/>
        </p:nvSpPr>
        <p:spPr>
          <a:xfrm>
            <a:off x="1580000" y="3895344"/>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52" name="d22"/>
          <p:cNvSpPr/>
          <p:nvPr/>
        </p:nvSpPr>
        <p:spPr>
          <a:xfrm>
            <a:off x="2510000" y="3895344"/>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53" name="d23"/>
          <p:cNvSpPr/>
          <p:nvPr/>
        </p:nvSpPr>
        <p:spPr>
          <a:xfrm>
            <a:off x="3440000" y="3895344"/>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54" name="d24"/>
          <p:cNvSpPr/>
          <p:nvPr/>
        </p:nvSpPr>
        <p:spPr>
          <a:xfrm>
            <a:off x="4390000" y="3895344"/>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55" name="d25"/>
          <p:cNvSpPr/>
          <p:nvPr/>
        </p:nvSpPr>
        <p:spPr>
          <a:xfrm>
            <a:off x="5220000" y="3895344"/>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56" name="d26"/>
          <p:cNvSpPr/>
          <p:nvPr/>
        </p:nvSpPr>
        <p:spPr>
          <a:xfrm>
            <a:off x="6150000" y="3895344"/>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57" name="d27"/>
          <p:cNvSpPr/>
          <p:nvPr/>
        </p:nvSpPr>
        <p:spPr>
          <a:xfrm>
            <a:off x="7100000" y="3895344"/>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58" name="d28"/>
          <p:cNvSpPr/>
          <p:nvPr/>
        </p:nvSpPr>
        <p:spPr>
          <a:xfrm>
            <a:off x="7930000" y="3895344"/>
            <a:ext cx="9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59" name="d29"/>
          <p:cNvSpPr/>
          <p:nvPr/>
        </p:nvSpPr>
        <p:spPr>
          <a:xfrm>
            <a:off x="8860000" y="3895344"/>
            <a:ext cx="95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60" name="d210"/>
          <p:cNvSpPr/>
          <p:nvPr/>
        </p:nvSpPr>
        <p:spPr>
          <a:xfrm>
            <a:off x="9810000" y="3895344"/>
            <a:ext cx="830000" cy="86868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61" name="d30"/>
          <p:cNvSpPr/>
          <p:nvPr/>
        </p:nvSpPr>
        <p:spPr>
          <a:xfrm>
            <a:off x="380000" y="4864608"/>
            <a:ext cx="120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40㎥</a:t>
            </a:r>
          </a:p>
        </p:txBody>
      </p:sp>
      <p:sp>
        <p:nvSpPr>
          <p:cNvPr id="62" name="d31"/>
          <p:cNvSpPr/>
          <p:nvPr/>
        </p:nvSpPr>
        <p:spPr>
          <a:xfrm>
            <a:off x="1580000" y="4864608"/>
            <a:ext cx="9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5,170円</a:t>
            </a:r>
          </a:p>
        </p:txBody>
      </p:sp>
      <p:sp>
        <p:nvSpPr>
          <p:cNvPr id="63" name="d32"/>
          <p:cNvSpPr/>
          <p:nvPr/>
        </p:nvSpPr>
        <p:spPr>
          <a:xfrm>
            <a:off x="2510000" y="4864608"/>
            <a:ext cx="9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6,150円</a:t>
            </a:r>
          </a:p>
        </p:txBody>
      </p:sp>
      <p:sp>
        <p:nvSpPr>
          <p:cNvPr id="64" name="d33"/>
          <p:cNvSpPr/>
          <p:nvPr/>
        </p:nvSpPr>
        <p:spPr>
          <a:xfrm>
            <a:off x="3440000" y="4864608"/>
            <a:ext cx="95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6,765円</a:t>
            </a:r>
          </a:p>
        </p:txBody>
      </p:sp>
      <p:sp>
        <p:nvSpPr>
          <p:cNvPr id="65" name="d34"/>
          <p:cNvSpPr/>
          <p:nvPr/>
        </p:nvSpPr>
        <p:spPr>
          <a:xfrm>
            <a:off x="4390000" y="4864608"/>
            <a:ext cx="8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6" name="d35"/>
          <p:cNvSpPr/>
          <p:nvPr/>
        </p:nvSpPr>
        <p:spPr>
          <a:xfrm>
            <a:off x="5220000" y="4864608"/>
            <a:ext cx="9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6,750円</a:t>
            </a:r>
          </a:p>
        </p:txBody>
      </p:sp>
      <p:sp>
        <p:nvSpPr>
          <p:cNvPr id="67" name="d36"/>
          <p:cNvSpPr/>
          <p:nvPr/>
        </p:nvSpPr>
        <p:spPr>
          <a:xfrm>
            <a:off x="6150000" y="4864608"/>
            <a:ext cx="95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7,425円</a:t>
            </a:r>
          </a:p>
        </p:txBody>
      </p:sp>
      <p:sp>
        <p:nvSpPr>
          <p:cNvPr id="68" name="d37"/>
          <p:cNvSpPr/>
          <p:nvPr/>
        </p:nvSpPr>
        <p:spPr>
          <a:xfrm>
            <a:off x="7100000" y="4864608"/>
            <a:ext cx="8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＋2,255円</a:t>
            </a:r>
          </a:p>
        </p:txBody>
      </p:sp>
      <p:sp>
        <p:nvSpPr>
          <p:cNvPr id="69" name="d38"/>
          <p:cNvSpPr/>
          <p:nvPr/>
        </p:nvSpPr>
        <p:spPr>
          <a:xfrm>
            <a:off x="7930000" y="4864608"/>
            <a:ext cx="9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6,350円</a:t>
            </a:r>
          </a:p>
        </p:txBody>
      </p:sp>
      <p:sp>
        <p:nvSpPr>
          <p:cNvPr id="70" name="d39"/>
          <p:cNvSpPr/>
          <p:nvPr/>
        </p:nvSpPr>
        <p:spPr>
          <a:xfrm>
            <a:off x="8860000" y="4864608"/>
            <a:ext cx="95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6,985円</a:t>
            </a:r>
          </a:p>
        </p:txBody>
      </p:sp>
      <p:sp>
        <p:nvSpPr>
          <p:cNvPr id="71" name="d310"/>
          <p:cNvSpPr/>
          <p:nvPr/>
        </p:nvSpPr>
        <p:spPr>
          <a:xfrm>
            <a:off x="9810000" y="4864608"/>
            <a:ext cx="830000" cy="86868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＋1,815円</a:t>
            </a:r>
          </a:p>
        </p:txBody>
      </p:sp>
      <p:sp>
        <p:nvSpPr>
          <p:cNvPr id="72"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a:p>
            <a:pPr algn="l"/>
            <a:r>
              <a:rPr lang="ja-JP" sz="1050" b="0" dirty="0">
                <a:solidFill>
                  <a:srgbClr val="78350F"/>
                </a:solidFill>
                <a:latin typeface="Arial"/>
                <a:cs typeface="Noto Sans CJK JP"/>
              </a:rPr>
              <a:t>※ 改定完了後の最終単価による月額です（2か年改定はR9〜、3か年改定はR10〜。最終単価は2か年・3か年で共通）。</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35</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