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2.xml" ContentType="application/vnd.openxmlformats-officedocument.presentationml.slide+xml"/>
  <Override PartName="/ppt/slides/slide17.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9" r:id="rId6"/>
    <p:sldId id="267" r:id="rId14"/>
    <p:sldId id="272" r:id="rId19"/>
    <p:sldId id="265" r:id="rId12"/>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6" Type="http://schemas.openxmlformats.org/officeDocument/2006/relationships/slide" Target="slides/slide4.xml"/><Relationship Id="rId12" Type="http://schemas.openxmlformats.org/officeDocument/2006/relationships/slide" Target="slides/slide10.xml"/><Relationship Id="rId14" Type="http://schemas.openxmlformats.org/officeDocument/2006/relationships/slide" Target="slides/slide12.xml"/><Relationship Id="rId19" Type="http://schemas.openxmlformats.org/officeDocument/2006/relationships/slide" Target="slides/slide17.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別紙</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APPENDIX</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六戸町 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令和7年度決算との突合</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3000502"/>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本別紙は、令和7年度決算（合計残高試算表・貸借対照表／令和8年3月31日）と、本編の収支シミュレーションが前提としている経営戦略の推計値を突合したものです。</a:t>
            </a:r>
          </a:p>
          <a:p>
            <a:pPr algn="l"/>
            <a:r>
              <a:rPr lang="ja-JP" sz="2200" b="0" dirty="0">
                <a:solidFill>
                  <a:srgbClr val="475569"/>
                </a:solidFill>
                <a:latin typeface="Noto Sans CJK JP"/>
                <a:cs typeface="Noto Sans CJK JP"/>
              </a:rPr>
              <a:t>本編（37ページ）の数値は経営戦略の推計値のままとしています。決算実績を起点に組み直した場合の指標は、別紙2に試算として示しています。</a:t>
            </a:r>
          </a:p>
          <a:p>
            <a:pPr algn="l"/>
            <a:r>
              <a:rPr lang="ja-JP" sz="2200" b="0" dirty="0">
                <a:solidFill>
                  <a:srgbClr val="475569"/>
                </a:solidFill>
                <a:latin typeface="Noto Sans CJK JP"/>
                <a:cs typeface="Noto Sans CJK JP"/>
              </a:rPr>
              <a:t>第2回 六戸町下水道使用料審議委員会　令和8年8月19日</a:t>
            </a:r>
          </a:p>
        </p:txBody>
      </p:sp>
      <p:sp>
        <p:nvSpPr>
          <p:cNvPr id="28" name="pgnum"/>
          <p:cNvSpPr/>
          <p:nvPr/>
        </p:nvSpPr>
        <p:spPr>
          <a:xfrm>
            <a:off x="11200000" y="657000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別紙</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参考資料　別紙3　決算突合を踏まえた確認事項の整理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令和7年度決算により決着した事項と、引き続き確認が必要な事項</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決算により決着した事項</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本編の確認事項　A（維持管理費）・F（年間乗数）・M・N（基準値）</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決着した内容</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A 維持管理費の増加はR6→R7で＋4.7%（推計は＋40.9%）</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F 農集の基本使用料の年間乗数は×6（隔月請求）が正しい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M・N R7実績を起点にすればR6実績補正が不要となり解消</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決算からは判別できない点</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汚水処理費が推計を43,186千円下回った理由（繰延べか推計過大か）</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農集の一般会計繰入金が推計の約2.7倍である理由と今後の方針</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引き続き確認が必要な事項</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本編の確認事項　O（交付金）・P（三沢市）・Q（財政指標）・R（経営改善）</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決算資料から判明した事項（確認事項Q・一部解決）</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企業債残高 公共1,548,034千円・農集206,675千円（R7年度末）</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現金預金 公共156,044千円・農集28,477千円</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未処分利益剰余金 公共102,454千円・農集4,783千円</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未受領の資料</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有収水量・調定口数の実績／一般会計繰入金の繰入基準別内訳</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交付金の規模・対象事業費／更新投資計画／三沢市の使用料</a:t>
            </a:r>
          </a:p>
        </p:txBody>
      </p:sp>
      <p:sp>
        <p:nvSpPr>
          <p:cNvPr id="35" name="rec9"/>
          <p:cNvSpPr/>
          <p:nvPr/>
        </p:nvSpPr>
        <p:spPr>
          <a:xfrm>
            <a:off x="571680" y="4930000"/>
            <a:ext cx="11048400" cy="1122171"/>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本別紙の数値は令和7年度決算（合計残高試算表・貸借対照表／令和8年3月31日、出力 令和8年6月16日）に基づきます。本編（37ページ）の収支シミュレーションは経営戦略の推計値ベースのままとしており、決算実績を反映して組み直すかどうかは審議会でのご判断を踏まえて対応します。</a:t>
            </a:r>
          </a:p>
          <a:p>
            <a:pPr algn="l"/>
            <a:r>
              <a:rPr lang="ja-JP" sz="1300" b="0" dirty="0">
                <a:solidFill>
                  <a:srgbClr val="78350F"/>
                </a:solidFill>
                <a:latin typeface="Noto Sans CJK JP"/>
                <a:cs typeface="Noto Sans CJK JP"/>
              </a:rPr>
              <a:t>※ 突合の詳細は「R7決算突合.md」および成果物エビデンス集の「R7決算突合」「R7実績ベース試算」シートに収録しています。</a:t>
            </a:r>
          </a:p>
        </p:txBody>
      </p:sp>
      <p:sp>
        <p:nvSpPr>
          <p:cNvPr id="36" name="pgnum"/>
          <p:cNvSpPr/>
          <p:nvPr/>
        </p:nvSpPr>
        <p:spPr>
          <a:xfrm>
            <a:off x="286200" y="6543360"/>
            <a:ext cx="77724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別紙3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参考資料　別紙1　令和7年度決算と推計値の突合（主要科目）</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301984"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令和7年度決算と経営戦略推計値の突合　主要科目（単位：千円）</a:t>
            </a:r>
          </a:p>
        </p:txBody>
      </p:sp>
      <p:sp>
        <p:nvSpPr>
          <p:cNvPr id="14" name="gl2"/>
          <p:cNvSpPr/>
          <p:nvPr/>
        </p:nvSpPr>
        <p:spPr>
          <a:xfrm>
            <a:off x="3246120" y="1390000"/>
            <a:ext cx="406908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公共下水道事業</a:t>
            </a:r>
          </a:p>
        </p:txBody>
      </p:sp>
      <p:sp>
        <p:nvSpPr>
          <p:cNvPr id="15" name="gl4"/>
          <p:cNvSpPr/>
          <p:nvPr/>
        </p:nvSpPr>
        <p:spPr>
          <a:xfrm>
            <a:off x="7498079" y="1390000"/>
            <a:ext cx="406908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農業集落排水事業</a:t>
            </a:r>
          </a:p>
        </p:txBody>
      </p:sp>
      <p:sp>
        <p:nvSpPr>
          <p:cNvPr id="17" name="th0"/>
          <p:cNvSpPr/>
          <p:nvPr/>
        </p:nvSpPr>
        <p:spPr>
          <a:xfrm>
            <a:off x="384048" y="1610000"/>
            <a:ext cx="278892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科目</a:t>
            </a:r>
          </a:p>
        </p:txBody>
      </p:sp>
      <p:sp>
        <p:nvSpPr>
          <p:cNvPr id="18" name="th1"/>
          <p:cNvSpPr/>
          <p:nvPr/>
        </p:nvSpPr>
        <p:spPr>
          <a:xfrm>
            <a:off x="32461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R7推計</a:t>
            </a:r>
          </a:p>
        </p:txBody>
      </p:sp>
      <p:sp>
        <p:nvSpPr>
          <p:cNvPr id="19" name="th2"/>
          <p:cNvSpPr/>
          <p:nvPr/>
        </p:nvSpPr>
        <p:spPr>
          <a:xfrm>
            <a:off x="46177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R7決算</a:t>
            </a:r>
          </a:p>
        </p:txBody>
      </p:sp>
      <p:sp>
        <p:nvSpPr>
          <p:cNvPr id="20" name="th3"/>
          <p:cNvSpPr/>
          <p:nvPr/>
        </p:nvSpPr>
        <p:spPr>
          <a:xfrm>
            <a:off x="59893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乖離</a:t>
            </a:r>
          </a:p>
        </p:txBody>
      </p:sp>
      <p:sp>
        <p:nvSpPr>
          <p:cNvPr id="21" name="th4"/>
          <p:cNvSpPr/>
          <p:nvPr/>
        </p:nvSpPr>
        <p:spPr>
          <a:xfrm>
            <a:off x="7498079"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R7推計</a:t>
            </a:r>
          </a:p>
        </p:txBody>
      </p:sp>
      <p:sp>
        <p:nvSpPr>
          <p:cNvPr id="22" name="th5"/>
          <p:cNvSpPr/>
          <p:nvPr/>
        </p:nvSpPr>
        <p:spPr>
          <a:xfrm>
            <a:off x="886968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R7決算</a:t>
            </a:r>
          </a:p>
        </p:txBody>
      </p:sp>
      <p:sp>
        <p:nvSpPr>
          <p:cNvPr id="23" name="th6"/>
          <p:cNvSpPr/>
          <p:nvPr/>
        </p:nvSpPr>
        <p:spPr>
          <a:xfrm>
            <a:off x="1024128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乖離</a:t>
            </a:r>
          </a:p>
        </p:txBody>
      </p:sp>
      <p:sp>
        <p:nvSpPr>
          <p:cNvPr id="25" name="d00"/>
          <p:cNvSpPr/>
          <p:nvPr/>
        </p:nvSpPr>
        <p:spPr>
          <a:xfrm>
            <a:off x="384048" y="1920240"/>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使用料収入</a:t>
            </a:r>
          </a:p>
        </p:txBody>
      </p:sp>
      <p:sp>
        <p:nvSpPr>
          <p:cNvPr id="26" name="d01"/>
          <p:cNvSpPr/>
          <p:nvPr/>
        </p:nvSpPr>
        <p:spPr>
          <a:xfrm>
            <a:off x="32461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57,895</a:t>
            </a:r>
          </a:p>
        </p:txBody>
      </p:sp>
      <p:sp>
        <p:nvSpPr>
          <p:cNvPr id="27" name="d02"/>
          <p:cNvSpPr/>
          <p:nvPr/>
        </p:nvSpPr>
        <p:spPr>
          <a:xfrm>
            <a:off x="46177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56,752</a:t>
            </a:r>
          </a:p>
        </p:txBody>
      </p:sp>
      <p:sp>
        <p:nvSpPr>
          <p:cNvPr id="28" name="d03"/>
          <p:cNvSpPr/>
          <p:nvPr/>
        </p:nvSpPr>
        <p:spPr>
          <a:xfrm>
            <a:off x="59893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△1,143</a:t>
            </a:r>
          </a:p>
        </p:txBody>
      </p:sp>
      <p:sp>
        <p:nvSpPr>
          <p:cNvPr id="29" name="d04"/>
          <p:cNvSpPr/>
          <p:nvPr/>
        </p:nvSpPr>
        <p:spPr>
          <a:xfrm>
            <a:off x="7498079"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14,976</a:t>
            </a:r>
          </a:p>
        </p:txBody>
      </p:sp>
      <p:sp>
        <p:nvSpPr>
          <p:cNvPr id="30" name="d05"/>
          <p:cNvSpPr/>
          <p:nvPr/>
        </p:nvSpPr>
        <p:spPr>
          <a:xfrm>
            <a:off x="886968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11,604</a:t>
            </a:r>
          </a:p>
        </p:txBody>
      </p:sp>
      <p:sp>
        <p:nvSpPr>
          <p:cNvPr id="31" name="d06"/>
          <p:cNvSpPr/>
          <p:nvPr/>
        </p:nvSpPr>
        <p:spPr>
          <a:xfrm>
            <a:off x="1024128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△3,372</a:t>
            </a:r>
          </a:p>
        </p:txBody>
      </p:sp>
      <p:sp>
        <p:nvSpPr>
          <p:cNvPr id="33" name="d10"/>
          <p:cNvSpPr/>
          <p:nvPr/>
        </p:nvSpPr>
        <p:spPr>
          <a:xfrm>
            <a:off x="384048" y="2295144"/>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一般会計繰入金（補助金）</a:t>
            </a:r>
          </a:p>
        </p:txBody>
      </p:sp>
      <p:sp>
        <p:nvSpPr>
          <p:cNvPr id="34" name="d11"/>
          <p:cNvSpPr/>
          <p:nvPr/>
        </p:nvSpPr>
        <p:spPr>
          <a:xfrm>
            <a:off x="32461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151,133</a:t>
            </a:r>
          </a:p>
        </p:txBody>
      </p:sp>
      <p:sp>
        <p:nvSpPr>
          <p:cNvPr id="35" name="d12"/>
          <p:cNvSpPr/>
          <p:nvPr/>
        </p:nvSpPr>
        <p:spPr>
          <a:xfrm>
            <a:off x="46177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152,667</a:t>
            </a:r>
          </a:p>
        </p:txBody>
      </p:sp>
      <p:sp>
        <p:nvSpPr>
          <p:cNvPr id="36" name="d13"/>
          <p:cNvSpPr/>
          <p:nvPr/>
        </p:nvSpPr>
        <p:spPr>
          <a:xfrm>
            <a:off x="59893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＋1,534</a:t>
            </a:r>
          </a:p>
        </p:txBody>
      </p:sp>
      <p:sp>
        <p:nvSpPr>
          <p:cNvPr id="37" name="d14"/>
          <p:cNvSpPr/>
          <p:nvPr/>
        </p:nvSpPr>
        <p:spPr>
          <a:xfrm>
            <a:off x="7498079"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19,236</a:t>
            </a:r>
          </a:p>
        </p:txBody>
      </p:sp>
      <p:sp>
        <p:nvSpPr>
          <p:cNvPr id="38" name="d15"/>
          <p:cNvSpPr/>
          <p:nvPr/>
        </p:nvSpPr>
        <p:spPr>
          <a:xfrm>
            <a:off x="886968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51,777</a:t>
            </a:r>
          </a:p>
        </p:txBody>
      </p:sp>
      <p:sp>
        <p:nvSpPr>
          <p:cNvPr id="39" name="d16"/>
          <p:cNvSpPr/>
          <p:nvPr/>
        </p:nvSpPr>
        <p:spPr>
          <a:xfrm>
            <a:off x="1024128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＋32,541</a:t>
            </a:r>
          </a:p>
        </p:txBody>
      </p:sp>
      <p:sp>
        <p:nvSpPr>
          <p:cNvPr id="41" name="d20"/>
          <p:cNvSpPr/>
          <p:nvPr/>
        </p:nvSpPr>
        <p:spPr>
          <a:xfrm>
            <a:off x="384048" y="2670048"/>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長期前受金戻入</a:t>
            </a:r>
          </a:p>
        </p:txBody>
      </p:sp>
      <p:sp>
        <p:nvSpPr>
          <p:cNvPr id="42" name="d21"/>
          <p:cNvSpPr/>
          <p:nvPr/>
        </p:nvSpPr>
        <p:spPr>
          <a:xfrm>
            <a:off x="32461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309,898</a:t>
            </a:r>
          </a:p>
        </p:txBody>
      </p:sp>
      <p:sp>
        <p:nvSpPr>
          <p:cNvPr id="43" name="d22"/>
          <p:cNvSpPr/>
          <p:nvPr/>
        </p:nvSpPr>
        <p:spPr>
          <a:xfrm>
            <a:off x="46177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308,219</a:t>
            </a:r>
          </a:p>
        </p:txBody>
      </p:sp>
      <p:sp>
        <p:nvSpPr>
          <p:cNvPr id="44" name="d23"/>
          <p:cNvSpPr/>
          <p:nvPr/>
        </p:nvSpPr>
        <p:spPr>
          <a:xfrm>
            <a:off x="59893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△1,679</a:t>
            </a:r>
          </a:p>
        </p:txBody>
      </p:sp>
      <p:sp>
        <p:nvSpPr>
          <p:cNvPr id="45" name="d24"/>
          <p:cNvSpPr/>
          <p:nvPr/>
        </p:nvSpPr>
        <p:spPr>
          <a:xfrm>
            <a:off x="7498079"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55,286</a:t>
            </a:r>
          </a:p>
        </p:txBody>
      </p:sp>
      <p:sp>
        <p:nvSpPr>
          <p:cNvPr id="46" name="d25"/>
          <p:cNvSpPr/>
          <p:nvPr/>
        </p:nvSpPr>
        <p:spPr>
          <a:xfrm>
            <a:off x="886968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53,308</a:t>
            </a:r>
          </a:p>
        </p:txBody>
      </p:sp>
      <p:sp>
        <p:nvSpPr>
          <p:cNvPr id="47" name="d26"/>
          <p:cNvSpPr/>
          <p:nvPr/>
        </p:nvSpPr>
        <p:spPr>
          <a:xfrm>
            <a:off x="1024128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△1,978</a:t>
            </a:r>
          </a:p>
        </p:txBody>
      </p:sp>
      <p:sp>
        <p:nvSpPr>
          <p:cNvPr id="49" name="d30"/>
          <p:cNvSpPr/>
          <p:nvPr/>
        </p:nvSpPr>
        <p:spPr>
          <a:xfrm>
            <a:off x="384048" y="3044952"/>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経常収入 (C)</a:t>
            </a:r>
          </a:p>
        </p:txBody>
      </p:sp>
      <p:sp>
        <p:nvSpPr>
          <p:cNvPr id="50" name="d31"/>
          <p:cNvSpPr/>
          <p:nvPr/>
        </p:nvSpPr>
        <p:spPr>
          <a:xfrm>
            <a:off x="32461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536,642</a:t>
            </a:r>
          </a:p>
        </p:txBody>
      </p:sp>
      <p:sp>
        <p:nvSpPr>
          <p:cNvPr id="51" name="d32"/>
          <p:cNvSpPr/>
          <p:nvPr/>
        </p:nvSpPr>
        <p:spPr>
          <a:xfrm>
            <a:off x="46177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519,102</a:t>
            </a:r>
          </a:p>
        </p:txBody>
      </p:sp>
      <p:sp>
        <p:nvSpPr>
          <p:cNvPr id="52" name="d33"/>
          <p:cNvSpPr/>
          <p:nvPr/>
        </p:nvSpPr>
        <p:spPr>
          <a:xfrm>
            <a:off x="59893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△17,540</a:t>
            </a:r>
          </a:p>
        </p:txBody>
      </p:sp>
      <p:sp>
        <p:nvSpPr>
          <p:cNvPr id="53" name="d34"/>
          <p:cNvSpPr/>
          <p:nvPr/>
        </p:nvSpPr>
        <p:spPr>
          <a:xfrm>
            <a:off x="7498079"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90,339</a:t>
            </a:r>
          </a:p>
        </p:txBody>
      </p:sp>
      <p:sp>
        <p:nvSpPr>
          <p:cNvPr id="54" name="d35"/>
          <p:cNvSpPr/>
          <p:nvPr/>
        </p:nvSpPr>
        <p:spPr>
          <a:xfrm>
            <a:off x="886968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116,735</a:t>
            </a:r>
          </a:p>
        </p:txBody>
      </p:sp>
      <p:sp>
        <p:nvSpPr>
          <p:cNvPr id="55" name="d36"/>
          <p:cNvSpPr/>
          <p:nvPr/>
        </p:nvSpPr>
        <p:spPr>
          <a:xfrm>
            <a:off x="1024128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＋26,396</a:t>
            </a:r>
          </a:p>
        </p:txBody>
      </p:sp>
      <p:sp>
        <p:nvSpPr>
          <p:cNvPr id="57" name="d40"/>
          <p:cNvSpPr/>
          <p:nvPr/>
        </p:nvSpPr>
        <p:spPr>
          <a:xfrm>
            <a:off x="384048" y="3419856"/>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汚水処理費（維持管理費分）</a:t>
            </a:r>
          </a:p>
        </p:txBody>
      </p:sp>
      <p:sp>
        <p:nvSpPr>
          <p:cNvPr id="58" name="d41"/>
          <p:cNvSpPr/>
          <p:nvPr/>
        </p:nvSpPr>
        <p:spPr>
          <a:xfrm>
            <a:off x="32461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168,331</a:t>
            </a:r>
          </a:p>
        </p:txBody>
      </p:sp>
      <p:sp>
        <p:nvSpPr>
          <p:cNvPr id="59" name="d42"/>
          <p:cNvSpPr/>
          <p:nvPr/>
        </p:nvSpPr>
        <p:spPr>
          <a:xfrm>
            <a:off x="46177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125,145</a:t>
            </a:r>
          </a:p>
        </p:txBody>
      </p:sp>
      <p:sp>
        <p:nvSpPr>
          <p:cNvPr id="60" name="d43"/>
          <p:cNvSpPr/>
          <p:nvPr/>
        </p:nvSpPr>
        <p:spPr>
          <a:xfrm>
            <a:off x="59893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△43,186</a:t>
            </a:r>
          </a:p>
        </p:txBody>
      </p:sp>
      <p:sp>
        <p:nvSpPr>
          <p:cNvPr id="61" name="d44"/>
          <p:cNvSpPr/>
          <p:nvPr/>
        </p:nvSpPr>
        <p:spPr>
          <a:xfrm>
            <a:off x="7498079"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37,580</a:t>
            </a:r>
          </a:p>
        </p:txBody>
      </p:sp>
      <p:sp>
        <p:nvSpPr>
          <p:cNvPr id="62" name="d45"/>
          <p:cNvSpPr/>
          <p:nvPr/>
        </p:nvSpPr>
        <p:spPr>
          <a:xfrm>
            <a:off x="886968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31,194</a:t>
            </a:r>
          </a:p>
        </p:txBody>
      </p:sp>
      <p:sp>
        <p:nvSpPr>
          <p:cNvPr id="63" name="d46"/>
          <p:cNvSpPr/>
          <p:nvPr/>
        </p:nvSpPr>
        <p:spPr>
          <a:xfrm>
            <a:off x="1024128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△6,386</a:t>
            </a:r>
          </a:p>
        </p:txBody>
      </p:sp>
      <p:sp>
        <p:nvSpPr>
          <p:cNvPr id="65" name="d50"/>
          <p:cNvSpPr/>
          <p:nvPr/>
        </p:nvSpPr>
        <p:spPr>
          <a:xfrm>
            <a:off x="384048" y="3794760"/>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減価償却費</a:t>
            </a:r>
          </a:p>
        </p:txBody>
      </p:sp>
      <p:sp>
        <p:nvSpPr>
          <p:cNvPr id="66" name="d51"/>
          <p:cNvSpPr/>
          <p:nvPr/>
        </p:nvSpPr>
        <p:spPr>
          <a:xfrm>
            <a:off x="32461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352,541</a:t>
            </a:r>
          </a:p>
        </p:txBody>
      </p:sp>
      <p:sp>
        <p:nvSpPr>
          <p:cNvPr id="67" name="d52"/>
          <p:cNvSpPr/>
          <p:nvPr/>
        </p:nvSpPr>
        <p:spPr>
          <a:xfrm>
            <a:off x="46177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350,427</a:t>
            </a:r>
          </a:p>
        </p:txBody>
      </p:sp>
      <p:sp>
        <p:nvSpPr>
          <p:cNvPr id="68" name="d53"/>
          <p:cNvSpPr/>
          <p:nvPr/>
        </p:nvSpPr>
        <p:spPr>
          <a:xfrm>
            <a:off x="59893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△2,114</a:t>
            </a:r>
          </a:p>
        </p:txBody>
      </p:sp>
      <p:sp>
        <p:nvSpPr>
          <p:cNvPr id="69" name="d54"/>
          <p:cNvSpPr/>
          <p:nvPr/>
        </p:nvSpPr>
        <p:spPr>
          <a:xfrm>
            <a:off x="7498079"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67,729</a:t>
            </a:r>
          </a:p>
        </p:txBody>
      </p:sp>
      <p:sp>
        <p:nvSpPr>
          <p:cNvPr id="70" name="d55"/>
          <p:cNvSpPr/>
          <p:nvPr/>
        </p:nvSpPr>
        <p:spPr>
          <a:xfrm>
            <a:off x="886968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67,600</a:t>
            </a:r>
          </a:p>
        </p:txBody>
      </p:sp>
      <p:sp>
        <p:nvSpPr>
          <p:cNvPr id="71" name="d56"/>
          <p:cNvSpPr/>
          <p:nvPr/>
        </p:nvSpPr>
        <p:spPr>
          <a:xfrm>
            <a:off x="1024128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△129</a:t>
            </a:r>
          </a:p>
        </p:txBody>
      </p:sp>
      <p:sp>
        <p:nvSpPr>
          <p:cNvPr id="73" name="d60"/>
          <p:cNvSpPr/>
          <p:nvPr/>
        </p:nvSpPr>
        <p:spPr>
          <a:xfrm>
            <a:off x="384048" y="4169664"/>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支払利息</a:t>
            </a:r>
          </a:p>
        </p:txBody>
      </p:sp>
      <p:sp>
        <p:nvSpPr>
          <p:cNvPr id="74" name="d61"/>
          <p:cNvSpPr/>
          <p:nvPr/>
        </p:nvSpPr>
        <p:spPr>
          <a:xfrm>
            <a:off x="32461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22,189</a:t>
            </a:r>
          </a:p>
        </p:txBody>
      </p:sp>
      <p:sp>
        <p:nvSpPr>
          <p:cNvPr id="75" name="d62"/>
          <p:cNvSpPr/>
          <p:nvPr/>
        </p:nvSpPr>
        <p:spPr>
          <a:xfrm>
            <a:off x="46177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23,271</a:t>
            </a:r>
          </a:p>
        </p:txBody>
      </p:sp>
      <p:sp>
        <p:nvSpPr>
          <p:cNvPr id="76" name="d63"/>
          <p:cNvSpPr/>
          <p:nvPr/>
        </p:nvSpPr>
        <p:spPr>
          <a:xfrm>
            <a:off x="59893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＋1,082</a:t>
            </a:r>
          </a:p>
        </p:txBody>
      </p:sp>
      <p:sp>
        <p:nvSpPr>
          <p:cNvPr id="77" name="d64"/>
          <p:cNvSpPr/>
          <p:nvPr/>
        </p:nvSpPr>
        <p:spPr>
          <a:xfrm>
            <a:off x="7498079"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4,793</a:t>
            </a:r>
          </a:p>
        </p:txBody>
      </p:sp>
      <p:sp>
        <p:nvSpPr>
          <p:cNvPr id="78" name="d65"/>
          <p:cNvSpPr/>
          <p:nvPr/>
        </p:nvSpPr>
        <p:spPr>
          <a:xfrm>
            <a:off x="886968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4,893</a:t>
            </a:r>
          </a:p>
        </p:txBody>
      </p:sp>
      <p:sp>
        <p:nvSpPr>
          <p:cNvPr id="79" name="d66"/>
          <p:cNvSpPr/>
          <p:nvPr/>
        </p:nvSpPr>
        <p:spPr>
          <a:xfrm>
            <a:off x="1024128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＋100</a:t>
            </a:r>
          </a:p>
        </p:txBody>
      </p:sp>
      <p:sp>
        <p:nvSpPr>
          <p:cNvPr id="81" name="d70"/>
          <p:cNvSpPr/>
          <p:nvPr/>
        </p:nvSpPr>
        <p:spPr>
          <a:xfrm>
            <a:off x="384048" y="4544568"/>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経常支出 (D)</a:t>
            </a:r>
          </a:p>
        </p:txBody>
      </p:sp>
      <p:sp>
        <p:nvSpPr>
          <p:cNvPr id="82" name="d71"/>
          <p:cNvSpPr/>
          <p:nvPr/>
        </p:nvSpPr>
        <p:spPr>
          <a:xfrm>
            <a:off x="32461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545,061</a:t>
            </a:r>
          </a:p>
        </p:txBody>
      </p:sp>
      <p:sp>
        <p:nvSpPr>
          <p:cNvPr id="83" name="d72"/>
          <p:cNvSpPr/>
          <p:nvPr/>
        </p:nvSpPr>
        <p:spPr>
          <a:xfrm>
            <a:off x="46177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498,842</a:t>
            </a:r>
          </a:p>
        </p:txBody>
      </p:sp>
      <p:sp>
        <p:nvSpPr>
          <p:cNvPr id="84" name="d73"/>
          <p:cNvSpPr/>
          <p:nvPr/>
        </p:nvSpPr>
        <p:spPr>
          <a:xfrm>
            <a:off x="59893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△46,219</a:t>
            </a:r>
          </a:p>
        </p:txBody>
      </p:sp>
      <p:sp>
        <p:nvSpPr>
          <p:cNvPr id="85" name="d74"/>
          <p:cNvSpPr/>
          <p:nvPr/>
        </p:nvSpPr>
        <p:spPr>
          <a:xfrm>
            <a:off x="7498079"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110,231</a:t>
            </a:r>
          </a:p>
        </p:txBody>
      </p:sp>
      <p:sp>
        <p:nvSpPr>
          <p:cNvPr id="86" name="d75"/>
          <p:cNvSpPr/>
          <p:nvPr/>
        </p:nvSpPr>
        <p:spPr>
          <a:xfrm>
            <a:off x="886968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103,687</a:t>
            </a:r>
          </a:p>
        </p:txBody>
      </p:sp>
      <p:sp>
        <p:nvSpPr>
          <p:cNvPr id="87" name="d76"/>
          <p:cNvSpPr/>
          <p:nvPr/>
        </p:nvSpPr>
        <p:spPr>
          <a:xfrm>
            <a:off x="1024128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△6,544</a:t>
            </a:r>
          </a:p>
        </p:txBody>
      </p:sp>
      <p:sp>
        <p:nvSpPr>
          <p:cNvPr id="89" name="d80"/>
          <p:cNvSpPr/>
          <p:nvPr/>
        </p:nvSpPr>
        <p:spPr>
          <a:xfrm>
            <a:off x="384048" y="4919472"/>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経常損益 (C)-(D)</a:t>
            </a:r>
          </a:p>
        </p:txBody>
      </p:sp>
      <p:sp>
        <p:nvSpPr>
          <p:cNvPr id="90" name="d81"/>
          <p:cNvSpPr/>
          <p:nvPr/>
        </p:nvSpPr>
        <p:spPr>
          <a:xfrm>
            <a:off x="32461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△8,419</a:t>
            </a:r>
          </a:p>
        </p:txBody>
      </p:sp>
      <p:sp>
        <p:nvSpPr>
          <p:cNvPr id="91" name="d82"/>
          <p:cNvSpPr/>
          <p:nvPr/>
        </p:nvSpPr>
        <p:spPr>
          <a:xfrm>
            <a:off x="46177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20,260</a:t>
            </a:r>
          </a:p>
        </p:txBody>
      </p:sp>
      <p:sp>
        <p:nvSpPr>
          <p:cNvPr id="92" name="d83"/>
          <p:cNvSpPr/>
          <p:nvPr/>
        </p:nvSpPr>
        <p:spPr>
          <a:xfrm>
            <a:off x="59893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＋28,679</a:t>
            </a:r>
          </a:p>
        </p:txBody>
      </p:sp>
      <p:sp>
        <p:nvSpPr>
          <p:cNvPr id="93" name="d84"/>
          <p:cNvSpPr/>
          <p:nvPr/>
        </p:nvSpPr>
        <p:spPr>
          <a:xfrm>
            <a:off x="7498079"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△19,892</a:t>
            </a:r>
          </a:p>
        </p:txBody>
      </p:sp>
      <p:sp>
        <p:nvSpPr>
          <p:cNvPr id="94" name="d85"/>
          <p:cNvSpPr/>
          <p:nvPr/>
        </p:nvSpPr>
        <p:spPr>
          <a:xfrm>
            <a:off x="886968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13,048</a:t>
            </a:r>
          </a:p>
        </p:txBody>
      </p:sp>
      <p:sp>
        <p:nvSpPr>
          <p:cNvPr id="95" name="d86"/>
          <p:cNvSpPr/>
          <p:nvPr/>
        </p:nvSpPr>
        <p:spPr>
          <a:xfrm>
            <a:off x="1024128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＋32,940</a:t>
            </a:r>
          </a:p>
        </p:txBody>
      </p:sp>
      <p:sp>
        <p:nvSpPr>
          <p:cNvPr id="97" name="note"/>
          <p:cNvSpPr/>
          <p:nvPr/>
        </p:nvSpPr>
        <p:spPr>
          <a:xfrm>
            <a:off x="380000" y="5379148"/>
            <a:ext cx="11431760" cy="1131379"/>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経費回収率　公共：推計34.4% → 決算 45.3%　／　農集：推計39.9% → 決算 37.2%　　経常収支比率　公共：推計98.5% → 決算 104.1%　／　農集：推計82.0% → 決算 112.6%</a:t>
            </a:r>
          </a:p>
          <a:p>
            <a:pPr algn="l"/>
            <a:r>
              <a:rPr lang="ja-JP" sz="1050" b="0" dirty="0">
                <a:solidFill>
                  <a:srgbClr val="1E40AF"/>
                </a:solidFill>
                <a:latin typeface="Arial"/>
                <a:cs typeface="Noto Sans CJK JP"/>
              </a:rPr>
              <a:t>▶ 最大の乖離は公共の汚水処理費（維持管理費分）で、推計168,331千円に対し決算125,145千円（△25.7%）。令和6年度決算119,503千円からの増加は＋4.7%にとどまり、推計していた＋40.9%増は生じていません（差の大半は「その他（主に委託料）」／推計155,280千円→決算114,032千円）。</a:t>
            </a:r>
          </a:p>
          <a:p>
            <a:pPr algn="l"/>
            <a:r>
              <a:rPr lang="ja-JP" sz="1050" b="0" dirty="0">
                <a:solidFill>
                  <a:srgbClr val="1E40AF"/>
                </a:solidFill>
                <a:latin typeface="Arial"/>
                <a:cs typeface="Noto Sans CJK JP"/>
              </a:rPr>
              <a:t>▶ 農集は使用料収入が決算11,604千円と推計を22.5%下回る一方、一般会計繰入金が推計の約2.7倍でした。経常収支比率が112.6%となっているのはこのためです。※ 出所：R7公共／農集 合計残高試算表（令和8年3月31日）。</a:t>
            </a:r>
          </a:p>
        </p:txBody>
      </p:sp>
      <p:sp>
        <p:nvSpPr>
          <p:cNvPr id="98" name="pgnum"/>
          <p:cNvSpPr/>
          <p:nvPr/>
        </p:nvSpPr>
        <p:spPr>
          <a:xfrm>
            <a:off x="286200" y="654336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別紙1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参考資料　別紙2　決算を起点に組み直した場合の指標（試算）</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令和7年度決算を起点に組み直した場合の指標　2か年改定・試算</a:t>
            </a:r>
          </a:p>
        </p:txBody>
      </p:sp>
      <p:sp>
        <p:nvSpPr>
          <p:cNvPr id="14" name="hcr"/>
          <p:cNvSpPr/>
          <p:nvPr/>
        </p:nvSpPr>
        <p:spPr>
          <a:xfrm>
            <a:off x="380000" y="128016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経費回収率（目標：47%以上）　※（ ）内は本編の値</a:t>
            </a:r>
          </a:p>
        </p:txBody>
      </p:sp>
      <p:sp>
        <p:nvSpPr>
          <p:cNvPr id="15" name="gpub"/>
          <p:cNvSpPr/>
          <p:nvPr/>
        </p:nvSpPr>
        <p:spPr>
          <a:xfrm>
            <a:off x="1280000" y="1572768"/>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572768"/>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819656"/>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20" name="th3"/>
          <p:cNvSpPr/>
          <p:nvPr/>
        </p:nvSpPr>
        <p:spPr>
          <a:xfrm>
            <a:off x="43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21" name="th4"/>
          <p:cNvSpPr/>
          <p:nvPr/>
        </p:nvSpPr>
        <p:spPr>
          <a:xfrm>
            <a:off x="593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23" name="th6"/>
          <p:cNvSpPr/>
          <p:nvPr/>
        </p:nvSpPr>
        <p:spPr>
          <a:xfrm>
            <a:off x="9030000" y="1819656"/>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24" name="cr00"/>
          <p:cNvSpPr/>
          <p:nvPr/>
        </p:nvSpPr>
        <p:spPr>
          <a:xfrm>
            <a:off x="380000" y="2121408"/>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6" name="cr02"/>
          <p:cNvSpPr/>
          <p:nvPr/>
        </p:nvSpPr>
        <p:spPr>
          <a:xfrm>
            <a:off x="283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7" name="cr03"/>
          <p:cNvSpPr/>
          <p:nvPr/>
        </p:nvSpPr>
        <p:spPr>
          <a:xfrm>
            <a:off x="43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8" name="cr04"/>
          <p:cNvSpPr/>
          <p:nvPr/>
        </p:nvSpPr>
        <p:spPr>
          <a:xfrm>
            <a:off x="593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29" name="cr05"/>
          <p:cNvSpPr/>
          <p:nvPr/>
        </p:nvSpPr>
        <p:spPr>
          <a:xfrm>
            <a:off x="74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30" name="cr06"/>
          <p:cNvSpPr/>
          <p:nvPr/>
        </p:nvSpPr>
        <p:spPr>
          <a:xfrm>
            <a:off x="9030000" y="2121408"/>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31" name="cr10"/>
          <p:cNvSpPr/>
          <p:nvPr/>
        </p:nvSpPr>
        <p:spPr>
          <a:xfrm>
            <a:off x="380000" y="242316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R9</a:t>
            </a:r>
          </a:p>
        </p:txBody>
      </p:sp>
      <p:sp>
        <p:nvSpPr>
          <p:cNvPr id="32" name="cr11"/>
          <p:cNvSpPr/>
          <p:nvPr/>
        </p:nvSpPr>
        <p:spPr>
          <a:xfrm>
            <a:off x="12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56.7%（43.1%）</a:t>
            </a:r>
          </a:p>
        </p:txBody>
      </p:sp>
      <p:sp>
        <p:nvSpPr>
          <p:cNvPr id="33" name="cr12"/>
          <p:cNvSpPr/>
          <p:nvPr/>
        </p:nvSpPr>
        <p:spPr>
          <a:xfrm>
            <a:off x="283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60.6%（46.1%）</a:t>
            </a:r>
          </a:p>
        </p:txBody>
      </p:sp>
      <p:sp>
        <p:nvSpPr>
          <p:cNvPr id="34" name="cr13"/>
          <p:cNvSpPr/>
          <p:nvPr/>
        </p:nvSpPr>
        <p:spPr>
          <a:xfrm>
            <a:off x="43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58.0%（44.1%）</a:t>
            </a:r>
          </a:p>
        </p:txBody>
      </p:sp>
      <p:sp>
        <p:nvSpPr>
          <p:cNvPr id="35" name="cr14"/>
          <p:cNvSpPr/>
          <p:nvPr/>
        </p:nvSpPr>
        <p:spPr>
          <a:xfrm>
            <a:off x="593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46.6%（49.6%）</a:t>
            </a:r>
          </a:p>
        </p:txBody>
      </p:sp>
      <p:sp>
        <p:nvSpPr>
          <p:cNvPr id="36" name="cr15"/>
          <p:cNvSpPr/>
          <p:nvPr/>
        </p:nvSpPr>
        <p:spPr>
          <a:xfrm>
            <a:off x="74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49.8%（54.2%）</a:t>
            </a:r>
          </a:p>
        </p:txBody>
      </p:sp>
      <p:sp>
        <p:nvSpPr>
          <p:cNvPr id="37" name="cr16"/>
          <p:cNvSpPr/>
          <p:nvPr/>
        </p:nvSpPr>
        <p:spPr>
          <a:xfrm>
            <a:off x="9030000" y="242316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47.7%（51.1%）</a:t>
            </a:r>
          </a:p>
        </p:txBody>
      </p:sp>
      <p:sp>
        <p:nvSpPr>
          <p:cNvPr id="38" name="cr20"/>
          <p:cNvSpPr/>
          <p:nvPr/>
        </p:nvSpPr>
        <p:spPr>
          <a:xfrm>
            <a:off x="380000" y="2724912"/>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R12</a:t>
            </a:r>
          </a:p>
        </p:txBody>
      </p:sp>
      <p:sp>
        <p:nvSpPr>
          <p:cNvPr id="39" name="cr21"/>
          <p:cNvSpPr/>
          <p:nvPr/>
        </p:nvSpPr>
        <p:spPr>
          <a:xfrm>
            <a:off x="12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55.2%（42.0%）</a:t>
            </a:r>
          </a:p>
        </p:txBody>
      </p:sp>
      <p:sp>
        <p:nvSpPr>
          <p:cNvPr id="40" name="cr22"/>
          <p:cNvSpPr/>
          <p:nvPr/>
        </p:nvSpPr>
        <p:spPr>
          <a:xfrm>
            <a:off x="283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59.1%（44.9%）</a:t>
            </a:r>
          </a:p>
        </p:txBody>
      </p:sp>
      <p:sp>
        <p:nvSpPr>
          <p:cNvPr id="41" name="cr23"/>
          <p:cNvSpPr/>
          <p:nvPr/>
        </p:nvSpPr>
        <p:spPr>
          <a:xfrm>
            <a:off x="43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56.5%（43.0%）</a:t>
            </a:r>
          </a:p>
        </p:txBody>
      </p:sp>
      <p:sp>
        <p:nvSpPr>
          <p:cNvPr id="42" name="cr24"/>
          <p:cNvSpPr/>
          <p:nvPr/>
        </p:nvSpPr>
        <p:spPr>
          <a:xfrm>
            <a:off x="593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45.5%（48.4%）</a:t>
            </a:r>
          </a:p>
        </p:txBody>
      </p:sp>
      <p:sp>
        <p:nvSpPr>
          <p:cNvPr id="43" name="cr25"/>
          <p:cNvSpPr/>
          <p:nvPr/>
        </p:nvSpPr>
        <p:spPr>
          <a:xfrm>
            <a:off x="74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48.6%（52.9%）</a:t>
            </a:r>
          </a:p>
        </p:txBody>
      </p:sp>
      <p:sp>
        <p:nvSpPr>
          <p:cNvPr id="44" name="cr26"/>
          <p:cNvSpPr/>
          <p:nvPr/>
        </p:nvSpPr>
        <p:spPr>
          <a:xfrm>
            <a:off x="9030000" y="2724912"/>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46.6%（49.9%）</a:t>
            </a:r>
          </a:p>
        </p:txBody>
      </p:sp>
      <p:sp>
        <p:nvSpPr>
          <p:cNvPr id="45" name="her"/>
          <p:cNvSpPr/>
          <p:nvPr/>
        </p:nvSpPr>
        <p:spPr>
          <a:xfrm>
            <a:off x="380000" y="301752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経常収支比率（目標：単年度100%以上）　※（ ）内は本編の値／一般会計繰入金は経営戦略の前提（資本費相当）</a:t>
            </a:r>
          </a:p>
        </p:txBody>
      </p:sp>
      <p:sp>
        <p:nvSpPr>
          <p:cNvPr id="46" name="gpub2"/>
          <p:cNvSpPr/>
          <p:nvPr/>
        </p:nvSpPr>
        <p:spPr>
          <a:xfrm>
            <a:off x="1280000" y="329184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29184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538728"/>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51" name="th23"/>
          <p:cNvSpPr/>
          <p:nvPr/>
        </p:nvSpPr>
        <p:spPr>
          <a:xfrm>
            <a:off x="43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52" name="th24"/>
          <p:cNvSpPr/>
          <p:nvPr/>
        </p:nvSpPr>
        <p:spPr>
          <a:xfrm>
            <a:off x="593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54" name="th26"/>
          <p:cNvSpPr/>
          <p:nvPr/>
        </p:nvSpPr>
        <p:spPr>
          <a:xfrm>
            <a:off x="9030000" y="3538728"/>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55" name="er00"/>
          <p:cNvSpPr/>
          <p:nvPr/>
        </p:nvSpPr>
        <p:spPr>
          <a:xfrm>
            <a:off x="380000" y="384048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7" name="er02"/>
          <p:cNvSpPr/>
          <p:nvPr/>
        </p:nvSpPr>
        <p:spPr>
          <a:xfrm>
            <a:off x="283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8" name="er03"/>
          <p:cNvSpPr/>
          <p:nvPr/>
        </p:nvSpPr>
        <p:spPr>
          <a:xfrm>
            <a:off x="43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9" name="er04"/>
          <p:cNvSpPr/>
          <p:nvPr/>
        </p:nvSpPr>
        <p:spPr>
          <a:xfrm>
            <a:off x="593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0" name="er05"/>
          <p:cNvSpPr/>
          <p:nvPr/>
        </p:nvSpPr>
        <p:spPr>
          <a:xfrm>
            <a:off x="74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1" name="er06"/>
          <p:cNvSpPr/>
          <p:nvPr/>
        </p:nvSpPr>
        <p:spPr>
          <a:xfrm>
            <a:off x="9030000" y="384048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2" name="er10"/>
          <p:cNvSpPr/>
          <p:nvPr/>
        </p:nvSpPr>
        <p:spPr>
          <a:xfrm>
            <a:off x="380000" y="4142232"/>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R9</a:t>
            </a:r>
          </a:p>
        </p:txBody>
      </p:sp>
      <p:sp>
        <p:nvSpPr>
          <p:cNvPr id="63" name="er11"/>
          <p:cNvSpPr/>
          <p:nvPr/>
        </p:nvSpPr>
        <p:spPr>
          <a:xfrm>
            <a:off x="12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108.1%（100.0%）</a:t>
            </a:r>
          </a:p>
        </p:txBody>
      </p:sp>
      <p:sp>
        <p:nvSpPr>
          <p:cNvPr id="64" name="er12"/>
          <p:cNvSpPr/>
          <p:nvPr/>
        </p:nvSpPr>
        <p:spPr>
          <a:xfrm>
            <a:off x="283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109.3%（101.1%）</a:t>
            </a:r>
          </a:p>
        </p:txBody>
      </p:sp>
      <p:sp>
        <p:nvSpPr>
          <p:cNvPr id="65" name="er13"/>
          <p:cNvSpPr/>
          <p:nvPr/>
        </p:nvSpPr>
        <p:spPr>
          <a:xfrm>
            <a:off x="43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108.5%（100.4%）</a:t>
            </a:r>
          </a:p>
        </p:txBody>
      </p:sp>
      <p:sp>
        <p:nvSpPr>
          <p:cNvPr id="66" name="er14"/>
          <p:cNvSpPr/>
          <p:nvPr/>
        </p:nvSpPr>
        <p:spPr>
          <a:xfrm>
            <a:off x="593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82.9%（84.0%）</a:t>
            </a:r>
          </a:p>
        </p:txBody>
      </p:sp>
      <p:sp>
        <p:nvSpPr>
          <p:cNvPr id="67" name="er15"/>
          <p:cNvSpPr/>
          <p:nvPr/>
        </p:nvSpPr>
        <p:spPr>
          <a:xfrm>
            <a:off x="74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84.0%（85.8%）</a:t>
            </a:r>
          </a:p>
        </p:txBody>
      </p:sp>
      <p:sp>
        <p:nvSpPr>
          <p:cNvPr id="68" name="er16"/>
          <p:cNvSpPr/>
          <p:nvPr/>
        </p:nvSpPr>
        <p:spPr>
          <a:xfrm>
            <a:off x="9030000" y="4142232"/>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83.3%（84.6%）</a:t>
            </a:r>
          </a:p>
        </p:txBody>
      </p:sp>
      <p:sp>
        <p:nvSpPr>
          <p:cNvPr id="69" name="er20"/>
          <p:cNvSpPr/>
          <p:nvPr/>
        </p:nvSpPr>
        <p:spPr>
          <a:xfrm>
            <a:off x="380000" y="4443984"/>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R12</a:t>
            </a:r>
          </a:p>
        </p:txBody>
      </p:sp>
      <p:sp>
        <p:nvSpPr>
          <p:cNvPr id="70" name="er21"/>
          <p:cNvSpPr/>
          <p:nvPr/>
        </p:nvSpPr>
        <p:spPr>
          <a:xfrm>
            <a:off x="12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109.9%（100.2%）</a:t>
            </a:r>
          </a:p>
        </p:txBody>
      </p:sp>
      <p:sp>
        <p:nvSpPr>
          <p:cNvPr id="71" name="er22"/>
          <p:cNvSpPr/>
          <p:nvPr/>
        </p:nvSpPr>
        <p:spPr>
          <a:xfrm>
            <a:off x="283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111.4%（101.6%）</a:t>
            </a:r>
          </a:p>
        </p:txBody>
      </p:sp>
      <p:sp>
        <p:nvSpPr>
          <p:cNvPr id="72" name="er23"/>
          <p:cNvSpPr/>
          <p:nvPr/>
        </p:nvSpPr>
        <p:spPr>
          <a:xfrm>
            <a:off x="43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110.4%（100.7%）</a:t>
            </a:r>
          </a:p>
        </p:txBody>
      </p:sp>
      <p:sp>
        <p:nvSpPr>
          <p:cNvPr id="73" name="er24"/>
          <p:cNvSpPr/>
          <p:nvPr/>
        </p:nvSpPr>
        <p:spPr>
          <a:xfrm>
            <a:off x="593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82.5%（83.6%）</a:t>
            </a:r>
          </a:p>
        </p:txBody>
      </p:sp>
      <p:sp>
        <p:nvSpPr>
          <p:cNvPr id="74" name="er25"/>
          <p:cNvSpPr/>
          <p:nvPr/>
        </p:nvSpPr>
        <p:spPr>
          <a:xfrm>
            <a:off x="74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83.5%（85.2%）</a:t>
            </a:r>
          </a:p>
        </p:txBody>
      </p:sp>
      <p:sp>
        <p:nvSpPr>
          <p:cNvPr id="75" name="er26"/>
          <p:cNvSpPr/>
          <p:nvPr/>
        </p:nvSpPr>
        <p:spPr>
          <a:xfrm>
            <a:off x="9030000" y="4443984"/>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82.8%（84.1%）</a:t>
            </a:r>
          </a:p>
        </p:txBody>
      </p:sp>
      <p:sp>
        <p:nvSpPr>
          <p:cNvPr id="76" name="note"/>
          <p:cNvSpPr/>
          <p:nvPr/>
        </p:nvSpPr>
        <p:spPr>
          <a:xfrm>
            <a:off x="380000" y="5185791"/>
            <a:ext cx="11431760" cy="1324736"/>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試算の方法：使用料収入は基本使用料の年間乗数を公共・農集とも6回（隔月請求）として再計算し、R7実績÷R7算定値の補正率（公共1.005・農集1.015）を全年度に乗じています。費用・長期前受金戻入はR7実績÷R7推計の比率（汚水処理費は公共0.743・農集0.830）を全年度に乗じ、伸び率は経営戦略の想定を踏襲。R7列が決算実績を再現します。</a:t>
            </a:r>
          </a:p>
          <a:p>
            <a:pPr algn="l"/>
            <a:r>
              <a:rPr lang="ja-JP" sz="1050" b="0" dirty="0">
                <a:solidFill>
                  <a:srgbClr val="78350F"/>
                </a:solidFill>
                <a:latin typeface="Arial"/>
                <a:cs typeface="Noto Sans CJK JP"/>
              </a:rPr>
              <a:t>▶ 公共下水道は経費回収率がR9で56.7〜60.6%となり、目標47%はR8時点で達成する見込みとなります。農業集落排水は使用料収入の下方修正が費用の下方修正を上回るため、本編より低い水準（R9で46.6〜49.8%）となります。</a:t>
            </a:r>
          </a:p>
          <a:p>
            <a:pPr algn="l"/>
            <a:r>
              <a:rPr lang="ja-JP" sz="1050" b="0" dirty="0">
                <a:solidFill>
                  <a:srgbClr val="78350F"/>
                </a:solidFill>
                <a:latin typeface="Arial"/>
                <a:cs typeface="Noto Sans CJK JP"/>
              </a:rPr>
              <a:t>▶ 経常収支比率は一般会計繰入金の前提に左右されます。上表は経営戦略の前提（資本費相当）によるもので、農集の繰入金をR7実績水準（51,777千円）で置いた場合はR9で110〜111%となります。※ 有収水量・調定口数の実績が未受領のため暫定値です。</a:t>
            </a:r>
          </a:p>
        </p:txBody>
      </p:sp>
      <p:sp>
        <p:nvSpPr>
          <p:cNvPr id="77" name="pgnum"/>
          <p:cNvSpPr/>
          <p:nvPr/>
        </p:nvSpPr>
        <p:spPr>
          <a:xfrm>
            <a:off x="286200" y="654336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別紙2</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