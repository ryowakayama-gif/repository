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ore0.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sldIdLst>
    <p:sldId id="259" r:id="rId6"/>
    <p:sldId id="267" r:id="rId14"/>
    <p:sldId id="272" r:id="rId19"/>
    <p:sldId id="265" r:id="rId12"/>
  </p:sldIdLst>
  <p:sldSz cx="12192000" cy="6858000"/>
  <p:notesSz cx="6858000" cy="12192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92" y="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6" Type="http://schemas.openxmlformats.org/officeDocument/2006/relationships/slide" Target="slides/slide1.xml"/><Relationship Id="rId11" Type="http://schemas.openxmlformats.org/officeDocument/2006/relationships/notesMaster" Target="notesMasters/notesMaster1.xml"/><Relationship Id="rId12" Type="http://schemas.openxmlformats.org/officeDocument/2006/relationships/slide" Target="slides/slide4.xml"/><Relationship Id="rId14" Type="http://schemas.openxmlformats.org/officeDocument/2006/relationships/slide" Target="slides/slide2.xml"/><Relationship Id="rId19" Type="http://schemas.openxmlformats.org/officeDocument/2006/relationships/slide" Target="slides/slide3.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【18:36〜18:36／0分30秒】【別紙へ】令和7年度決算の報告</a:t>
            </a:r>
          </a:p>
          <a:p/>
          <a:p>
            <a:r>
              <a:t>ここで一度、別紙をご覧ください。</a:t>
            </a:r>
          </a:p>
          <a:p>
            <a:r>
              <a:t>本編の収支シミュレーションは、経営戦略という中期計画の推計値をもとに組み立てております。その令和7年度分について、この8月に決算が確定いたしましたので、推計と実績を突き合わせた結果を先にご報告いたします。</a:t>
            </a:r>
          </a:p>
          <a:p/>
          <a:p>
            <a:r>
              <a:t>― 進行メモ ―</a:t>
            </a:r>
          </a:p>
          <a:p>
            <a:r>
              <a:t>・★ ここを先に説明しないと、本編の34.4%と別紙の45.35%で委員が混乱する</a:t>
            </a:r>
          </a:p>
          <a:p>
            <a:r>
              <a:t>・「本編の数字は推計値、別紙が実績」と最初にはっきり言い切る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【18:36〜18:38／2分】別紙1　主要科目の突合</a:t>
            </a:r>
          </a:p>
          <a:p/>
          <a:p>
            <a:r>
              <a:t>別紙1は、令和7年度の推計値と決算実績を並べた表でございます。</a:t>
            </a:r>
          </a:p>
          <a:p>
            <a:r>
              <a:t>最も大きな差は、公共下水道の汚水処理費、つまり維持管理費でございます。推計では1億6,833万円を見込んでおりましたが、決算は1億2,514万円で、4,319万円下回りました。令和6年度決算の1億1,950万円と比べますと、増加は4.7%にとどまっております。</a:t>
            </a:r>
          </a:p>
          <a:p>
            <a:r>
              <a:t>この結果、経費回収率は推計の34.4%に対し決算では45.35%、経常収支比率は推計98.5%に対し決算104.06%と、いずれも推計より良い数字になっております。</a:t>
            </a:r>
          </a:p>
          <a:p>
            <a:r>
              <a:t>農業集落排水につきましては、使用料収入が推計を22.5%下回った一方で、一般会計からの繰入金が推計の約2.7倍となっております。これは基準外の繰入を行っているためで、経常収支比率が112.58%となっているのはこの繰入によるものでございます。</a:t>
            </a:r>
          </a:p>
          <a:p/>
          <a:p>
            <a:r>
              <a:t>― 進行メモ ―</a:t>
            </a:r>
          </a:p>
          <a:p>
            <a:r>
              <a:t>・委員が「では改定は不要では」と受け取りかねない。次のページで必ずフォローする</a:t>
            </a:r>
          </a:p>
          <a:p>
            <a:r>
              <a:t>・汚水処理費の最大費目は流域下水道管理運営費負担金6,371万円（維持管理費の51%）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【18:38〜18:40／1分30秒】別紙2　決算を起点とした試算</a:t>
            </a:r>
          </a:p>
          <a:p/>
          <a:p>
            <a:r>
              <a:t>別紙2は、決算を起点に将来を組み直すとどうなるかの試算でございます。</a:t>
            </a:r>
          </a:p>
          <a:p>
            <a:r>
              <a:t>公共下水道の経費回収率は、推奨案②で令和9年度に60.6%となり、本編でお示ししている46.1%より高くなります。目標の47%は令和8年度の時点で上回る計算です。</a:t>
            </a:r>
          </a:p>
          <a:p>
            <a:r>
              <a:t>一方、農業集落排水は逆で、令和9年度に49.8%と、本編の54.2%より低くなります。使用料収入の下方修正が費用の下方修正を上回るためでございます。</a:t>
            </a:r>
          </a:p>
          <a:p>
            <a:r>
              <a:t>ただしこの試算は、令和7年度の1年分の実績を機械的に将来へ引き延ばしたものです。維持管理費が推計を下回った理由が、一時的な繰り延べなのか恒常的なものなのかがまだ確認できておりません。そのため本編の数値は推計値のままとし、この別紙を参考としてお示しする形にしております。</a:t>
            </a:r>
          </a:p>
          <a:p/>
          <a:p>
            <a:r>
              <a:t>― 進行メモ ―</a:t>
            </a:r>
          </a:p>
          <a:p>
            <a:r>
              <a:t>・★ 最も突っ込まれやすい箇所。『どちらが正しいのか』への答えを用意しておく</a:t>
            </a:r>
          </a:p>
          <a:p>
            <a:r>
              <a:t>・答え方：「実績は実績として事実。ただし1年分では将来の前提にできない。令和8年度の見込みを確認したうえで、次回に反映するかご相談したい」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【18:40〜18:41／1分】別紙3　確認事項の整理</a:t>
            </a:r>
          </a:p>
          <a:p/>
          <a:p>
            <a:r>
              <a:t>別紙3は、決算により確認できた事項の整理でございます。</a:t>
            </a:r>
          </a:p>
          <a:p>
            <a:r>
              <a:t>維持管理費の増加は生じていないこと、農業集落排水の基本使用料の算定方法に誤りがあり訂正が必要なこと、また企業債残高が公共で15億4,800万円、農業集落排水で2億600万円であることなどが確認できました。</a:t>
            </a:r>
          </a:p>
          <a:p>
            <a:r>
              <a:t>引き続き確認が必要なのは、維持管理費が推計を下回った理由と、令和8年度以降の見込みでございます。別紙のご説明は以上です。本編にお戻りください。</a:t>
            </a:r>
          </a:p>
          <a:p/>
          <a:p>
            <a:r>
              <a:t>― 進行メモ ―</a:t>
            </a:r>
          </a:p>
          <a:p>
            <a:r>
              <a:t>・企業債残高は「今後の更新投資の重さ」を説明する材料。深追いはしない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Master1-Office-Them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1-Layout1-cust-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2556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2556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0" name="sec_panel"/>
          <p:cNvSpPr/>
          <p:nvPr/>
        </p:nvSpPr>
        <p:spPr>
          <a:xfrm>
            <a:off x="0" y="0"/>
            <a:ext cx="3200000" cy="6858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1" name="sec_num"/>
          <p:cNvSpPr/>
          <p:nvPr/>
        </p:nvSpPr>
        <p:spPr>
          <a:xfrm>
            <a:off x="200000" y="2000000"/>
            <a:ext cx="2800000" cy="18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5400" b="0" dirty="0">
                <a:solidFill>
                  <a:srgbClr val="FFFFFF"/>
                </a:solidFill>
                <a:latin typeface="Arial"/>
                <a:cs typeface="Noto Sans CJK JP"/>
              </a:rPr>
              <a:t>別紙</a:t>
            </a:r>
          </a:p>
        </p:txBody>
      </p:sp>
      <p:sp>
        <p:nvSpPr>
          <p:cNvPr id="22" name="sec_lbl"/>
          <p:cNvSpPr/>
          <p:nvPr/>
        </p:nvSpPr>
        <p:spPr>
          <a:xfrm>
            <a:off x="200000" y="3850000"/>
            <a:ext cx="2800000" cy="4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800" b="0" dirty="0">
                <a:solidFill>
                  <a:srgbClr val="FFFFFF"/>
                </a:solidFill>
                <a:latin typeface="Noto Sans CJK JP"/>
                <a:cs typeface="Noto Sans CJK JP"/>
              </a:rPr>
              <a:t>APPENDIX</a:t>
            </a:r>
          </a:p>
        </p:txBody>
      </p:sp>
      <p:sp>
        <p:nvSpPr>
          <p:cNvPr id="23" name="right_bg"/>
          <p:cNvSpPr/>
          <p:nvPr/>
        </p:nvSpPr>
        <p:spPr>
          <a:xfrm>
            <a:off x="3200000" y="0"/>
            <a:ext cx="8991760" cy="6858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4" name="sub_lbl"/>
          <p:cNvSpPr/>
          <p:nvPr/>
        </p:nvSpPr>
        <p:spPr>
          <a:xfrm>
            <a:off x="3600000" y="1200000"/>
            <a:ext cx="3000000" cy="3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1600" b="0" dirty="0">
                <a:solidFill>
                  <a:srgbClr val="1E3A8A"/>
                </a:solidFill>
                <a:latin typeface="Noto Sans CJK JP"/>
                <a:cs typeface="Noto Sans CJK JP"/>
              </a:rPr>
              <a:t>六戸町 下水道事業</a:t>
            </a:r>
          </a:p>
        </p:txBody>
      </p:sp>
      <p:sp>
        <p:nvSpPr>
          <p:cNvPr id="25" name="main_ttl"/>
          <p:cNvSpPr/>
          <p:nvPr/>
        </p:nvSpPr>
        <p:spPr>
          <a:xfrm>
            <a:off x="3600000" y="1640000"/>
            <a:ext cx="8400000" cy="120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0" anchor="ctr">
            <a:noAutofit/>
          </a:bodyPr>
          <a:lstStyle/>
          <a:p>
            <a:pPr algn="l"/>
            <a:r>
              <a:rPr lang="ja-JP" sz="4800" b="0" dirty="0">
                <a:solidFill>
                  <a:srgbClr val="1E293B"/>
                </a:solidFill>
                <a:latin typeface="Arial"/>
                <a:cs typeface="Noto Sans CJK JP"/>
              </a:rPr>
              <a:t>令和7年度決算との突合</a:t>
            </a:r>
          </a:p>
        </p:txBody>
      </p:sp>
      <p:sp>
        <p:nvSpPr>
          <p:cNvPr id="26" name="acc_line"/>
          <p:cNvSpPr/>
          <p:nvPr/>
        </p:nvSpPr>
        <p:spPr>
          <a:xfrm>
            <a:off x="3600000" y="2880000"/>
            <a:ext cx="600000" cy="38520"/>
          </a:xfrm>
          <a:custGeom>
            <a:avLst/>
            <a:gdLst/>
            <a:ahLst/>
            <a:cxnLst/>
            <a:rect l="l" t="t" r="r" b="b"/>
            <a:pathLst>
              <a:path w="21600" h="21600">
                <a:moveTo>
                  <a:pt x="0" y="0"/>
                </a:moveTo>
                <a:lnTo>
                  <a:pt x="21600" y="0"/>
                </a:lnTo>
                <a:lnTo>
                  <a:pt x="21600" y="21600"/>
                </a:lnTo>
                <a:lnTo>
                  <a:pt x="0" y="21600"/>
                </a:lnTo>
                <a:close/>
              </a:path>
            </a:pathLst>
          </a:custGeom>
          <a:solidFill>
            <a:srgbClr val="3B82F6"/>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7" name="desc"/>
          <p:cNvSpPr/>
          <p:nvPr/>
        </p:nvSpPr>
        <p:spPr>
          <a:xfrm>
            <a:off x="3600000" y="3080000"/>
            <a:ext cx="8200000" cy="3000502"/>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45720" anchor="ctr">
            <a:noAutofit/>
          </a:bodyPr>
          <a:lstStyle/>
          <a:p>
            <a:pPr algn="l"/>
            <a:r>
              <a:rPr lang="ja-JP" sz="2200" b="0" dirty="0">
                <a:solidFill>
                  <a:srgbClr val="475569"/>
                </a:solidFill>
                <a:latin typeface="Noto Sans CJK JP"/>
                <a:cs typeface="Noto Sans CJK JP"/>
              </a:rPr>
              <a:t>本別紙は、令和7年度決算（合計残高試算表・貸借対照表／令和8年3月31日）と、本編の収支シミュレーションが前提としている経営戦略の推計値を突合したものです。</a:t>
            </a:r>
          </a:p>
          <a:p>
            <a:pPr algn="l"/>
            <a:r>
              <a:rPr lang="ja-JP" sz="2200" b="0" dirty="0">
                <a:solidFill>
                  <a:srgbClr val="475569"/>
                </a:solidFill>
                <a:latin typeface="Noto Sans CJK JP"/>
                <a:cs typeface="Noto Sans CJK JP"/>
              </a:rPr>
              <a:t>本編（37ページ）の数値は経営戦略の推計値のままとしています。決算実績を起点に組み直した場合の指標は、別紙2に試算として示しています。</a:t>
            </a:r>
          </a:p>
          <a:p>
            <a:pPr algn="l"/>
            <a:r>
              <a:rPr lang="ja-JP" sz="2200" b="0" dirty="0">
                <a:solidFill>
                  <a:srgbClr val="475569"/>
                </a:solidFill>
                <a:latin typeface="Noto Sans CJK JP"/>
                <a:cs typeface="Noto Sans CJK JP"/>
              </a:rPr>
              <a:t>第2回 六戸町下水道使用料審議委員会　令和8年8月19日</a:t>
            </a:r>
          </a:p>
        </p:txBody>
      </p:sp>
      <p:sp>
        <p:nvSpPr>
          <p:cNvPr id="28" name="pgnum"/>
          <p:cNvSpPr/>
          <p:nvPr/>
        </p:nvSpPr>
        <p:spPr>
          <a:xfrm>
            <a:off x="11200000" y="6570000"/>
            <a:ext cx="777240" cy="1728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lIns="0" tIns="0" rIns="0" bIns="0" anchor="ctr">
            <a:noAutofit/>
          </a:bodyPr>
          <a:lstStyle/>
          <a:p>
            <a:pPr algn="ctr"/>
            <a:r>
              <a:rPr lang="ja-JP" sz="900" b="1" dirty="0">
                <a:solidFill>
                  <a:srgbClr val="FFFFFF"/>
                </a:solidFill>
                <a:latin typeface="Arial"/>
                <a:cs typeface="Noto Sans CJK JP"/>
              </a:rPr>
              <a:t>別紙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1" name="hl"/>
          <p:cNvSpPr/>
          <p:nvPr/>
        </p:nvSpPr>
        <p:spPr>
          <a:xfrm>
            <a:off x="0" y="18288"/>
            <a:ext cx="12191760" cy="19080"/>
          </a:xfrm>
          <a:custGeom>
            <a:avLst/>
            <a:gdLst/>
            <a:ahLst/>
            <a:rect l="l" t="t" r="r" b="b"/>
            <a:pathLst>
              <a:path w="21600" h="21600">
                <a:moveTo>
                  <a:pt x="0" y="0"/>
                </a:moveTo>
                <a:lnTo>
                  <a:pt x="21600" y="0"/>
                </a:lnTo>
                <a:lnTo>
                  <a:pt x="21600" y="21600"/>
                </a:lnTo>
                <a:lnTo>
                  <a:pt x="0" y="21600"/>
                </a:lnTo>
                <a:close/>
              </a:path>
            </a:pathLst>
          </a:custGeom>
          <a:solidFill>
            <a:srgbClr val="E2E8F0"/>
          </a:solidFill>
          <a:ln w="0">
            <a:noFill/>
          </a:ln>
        </p:spPr>
        <p:style>
          <a:lnRef idx="0"/>
          <a:fillRef idx="0"/>
          <a:effectRef idx="0"/>
          <a:fontRef idx="minor"/>
        </p:style>
        <p:txBody>
          <a:bodyPr tIns="45720" bIns="45720" lIns="91440" rIns="91440" anchor="ctr">
            <a:noAutofit/>
          </a:bodyPr>
          <a:p>
            <a:endParaRPr/>
          </a:p>
        </p:txBody>
      </p:sp>
      <p:sp>
        <p:nvSpPr>
          <p:cNvPr id="12" name="ha"/>
          <p:cNvSpPr/>
          <p:nvPr/>
        </p:nvSpPr>
        <p:spPr>
          <a:xfrm>
            <a:off x="0" y="18288"/>
            <a:ext cx="1904760" cy="3852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endParaRPr/>
          </a:p>
        </p:txBody>
      </p:sp>
      <p:sp>
        <p:nvSpPr>
          <p:cNvPr id="13" name="ttl"/>
          <p:cNvSpPr/>
          <p:nvPr/>
        </p:nvSpPr>
        <p:spPr>
          <a:xfrm>
            <a:off x="571680" y="722376"/>
            <a:ext cx="11301984" cy="520000"/>
          </a:xfrm>
          <a:custGeom>
            <a:avLst/>
            <a:gdLst/>
            <a:ahLst/>
            <a:rect l="l" t="t" r="r" b="b"/>
            <a:pathLst>
              <a:path w="21600" h="21600">
                <a:moveTo>
                  <a:pt x="0" y="0"/>
                </a:moveTo>
                <a:lnTo>
                  <a:pt x="21600" y="0"/>
                </a:lnTo>
                <a:lnTo>
                  <a:pt x="21600" y="21600"/>
                </a:lnTo>
                <a:lnTo>
                  <a:pt x="0" y="21600"/>
                </a:lnTo>
                <a:close/>
              </a:path>
            </a:pathLst>
          </a:custGeom>
          <a:solidFill>
            <a:srgbClr val="F8FAFC"/>
          </a:solidFill>
          <a:ln w="0">
            <a:noFill/>
          </a:ln>
        </p:spPr>
        <p:style>
          <a:lnRef idx="0"/>
          <a:fillRef idx="0"/>
          <a:effectRef idx="0"/>
          <a:fontRef idx="minor"/>
        </p:style>
        <p:txBody>
          <a:bodyPr tIns="45720" bIns="45720" lIns="0" rIns="91440" anchor="ctr">
            <a:noAutofit/>
          </a:bodyPr>
          <a:p>
            <a:pPr algn="l"/>
            <a:r>
              <a:rPr lang="ja-JP" sz="1900" b="0" dirty="0">
                <a:solidFill>
                  <a:srgbClr val="1E293B"/>
                </a:solidFill>
                <a:latin typeface="Arial"/>
                <a:cs typeface="Noto Sans CJK JP"/>
              </a:rPr>
              <a:t>別紙1　令和7年度決算と経営戦略推計値の突合　主要科目（単位：千円）</a:t>
            </a:r>
          </a:p>
        </p:txBody>
      </p:sp>
      <p:sp>
        <p:nvSpPr>
          <p:cNvPr id="14" name="gl2"/>
          <p:cNvSpPr/>
          <p:nvPr/>
        </p:nvSpPr>
        <p:spPr>
          <a:xfrm>
            <a:off x="3246120" y="1390000"/>
            <a:ext cx="4069080" cy="22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45720" bIns="45720" lIns="91440" rIns="91440" anchor="ctr">
            <a:noAutofit/>
          </a:bodyPr>
          <a:p>
            <a:pPr algn="ctr"/>
            <a:r>
              <a:rPr lang="ja-JP" sz="850" b="0" dirty="0">
                <a:solidFill>
                  <a:srgbClr val="FFFFFF"/>
                </a:solidFill>
                <a:latin typeface="Arial"/>
                <a:cs typeface="Noto Sans CJK JP"/>
              </a:rPr>
              <a:t>公共下水道事業</a:t>
            </a:r>
          </a:p>
        </p:txBody>
      </p:sp>
      <p:sp>
        <p:nvSpPr>
          <p:cNvPr id="15" name="gl4"/>
          <p:cNvSpPr/>
          <p:nvPr/>
        </p:nvSpPr>
        <p:spPr>
          <a:xfrm>
            <a:off x="7498079" y="1390000"/>
            <a:ext cx="4069080" cy="22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850" b="0" dirty="0">
                <a:solidFill>
                  <a:srgbClr val="FFFFFF"/>
                </a:solidFill>
                <a:latin typeface="Arial"/>
                <a:cs typeface="Noto Sans CJK JP"/>
              </a:rPr>
              <a:t>農業集落排水事業</a:t>
            </a:r>
          </a:p>
        </p:txBody>
      </p:sp>
      <p:sp>
        <p:nvSpPr>
          <p:cNvPr id="17" name="th0"/>
          <p:cNvSpPr/>
          <p:nvPr/>
        </p:nvSpPr>
        <p:spPr>
          <a:xfrm>
            <a:off x="384048" y="1610000"/>
            <a:ext cx="2788920" cy="30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科目</a:t>
            </a:r>
          </a:p>
        </p:txBody>
      </p:sp>
      <p:sp>
        <p:nvSpPr>
          <p:cNvPr id="18" name="th1"/>
          <p:cNvSpPr/>
          <p:nvPr/>
        </p:nvSpPr>
        <p:spPr>
          <a:xfrm>
            <a:off x="3246120" y="1610000"/>
            <a:ext cx="1325880" cy="300000"/>
          </a:xfrm>
          <a:custGeom>
            <a:avLst/>
            <a:gdLst/>
            <a:ahLst/>
            <a:rect l="l" t="t" r="r" b="b"/>
            <a:pathLst>
              <a:path w="21600" h="21600">
                <a:moveTo>
                  <a:pt x="0" y="0"/>
                </a:moveTo>
                <a:lnTo>
                  <a:pt x="21600" y="0"/>
                </a:lnTo>
                <a:lnTo>
                  <a:pt x="21600" y="21600"/>
                </a:lnTo>
                <a:lnTo>
                  <a:pt x="0" y="21600"/>
                </a:lnTo>
                <a:close/>
              </a:path>
            </a:pathLst>
          </a:custGeom>
          <a:solidFill>
            <a:srgbClr val="475569"/>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R7推計</a:t>
            </a:r>
          </a:p>
        </p:txBody>
      </p:sp>
      <p:sp>
        <p:nvSpPr>
          <p:cNvPr id="19" name="th2"/>
          <p:cNvSpPr/>
          <p:nvPr/>
        </p:nvSpPr>
        <p:spPr>
          <a:xfrm>
            <a:off x="4617720" y="1610000"/>
            <a:ext cx="1325880" cy="30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R7決算</a:t>
            </a:r>
          </a:p>
        </p:txBody>
      </p:sp>
      <p:sp>
        <p:nvSpPr>
          <p:cNvPr id="20" name="th3"/>
          <p:cNvSpPr/>
          <p:nvPr/>
        </p:nvSpPr>
        <p:spPr>
          <a:xfrm>
            <a:off x="5989320" y="1610000"/>
            <a:ext cx="1325880" cy="30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乖離</a:t>
            </a:r>
          </a:p>
        </p:txBody>
      </p:sp>
      <p:sp>
        <p:nvSpPr>
          <p:cNvPr id="21" name="th4"/>
          <p:cNvSpPr/>
          <p:nvPr/>
        </p:nvSpPr>
        <p:spPr>
          <a:xfrm>
            <a:off x="7498079" y="1610000"/>
            <a:ext cx="1325880" cy="30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R7推計</a:t>
            </a:r>
          </a:p>
        </p:txBody>
      </p:sp>
      <p:sp>
        <p:nvSpPr>
          <p:cNvPr id="22" name="th5"/>
          <p:cNvSpPr/>
          <p:nvPr/>
        </p:nvSpPr>
        <p:spPr>
          <a:xfrm>
            <a:off x="8869680" y="1610000"/>
            <a:ext cx="1325880" cy="30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R7決算</a:t>
            </a:r>
          </a:p>
        </p:txBody>
      </p:sp>
      <p:sp>
        <p:nvSpPr>
          <p:cNvPr id="23" name="th6"/>
          <p:cNvSpPr/>
          <p:nvPr/>
        </p:nvSpPr>
        <p:spPr>
          <a:xfrm>
            <a:off x="10241280" y="1610000"/>
            <a:ext cx="1325880" cy="30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乖離</a:t>
            </a:r>
          </a:p>
        </p:txBody>
      </p:sp>
      <p:sp>
        <p:nvSpPr>
          <p:cNvPr id="25" name="d00"/>
          <p:cNvSpPr/>
          <p:nvPr/>
        </p:nvSpPr>
        <p:spPr>
          <a:xfrm>
            <a:off x="384048" y="1920240"/>
            <a:ext cx="278892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使用料収入</a:t>
            </a:r>
          </a:p>
        </p:txBody>
      </p:sp>
      <p:sp>
        <p:nvSpPr>
          <p:cNvPr id="26" name="d01"/>
          <p:cNvSpPr/>
          <p:nvPr/>
        </p:nvSpPr>
        <p:spPr>
          <a:xfrm>
            <a:off x="3246120" y="1920240"/>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57,895</a:t>
            </a:r>
          </a:p>
        </p:txBody>
      </p:sp>
      <p:sp>
        <p:nvSpPr>
          <p:cNvPr id="27" name="d02"/>
          <p:cNvSpPr/>
          <p:nvPr/>
        </p:nvSpPr>
        <p:spPr>
          <a:xfrm>
            <a:off x="4617720" y="1920240"/>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56,752</a:t>
            </a:r>
          </a:p>
        </p:txBody>
      </p:sp>
      <p:sp>
        <p:nvSpPr>
          <p:cNvPr id="28" name="d03"/>
          <p:cNvSpPr/>
          <p:nvPr/>
        </p:nvSpPr>
        <p:spPr>
          <a:xfrm>
            <a:off x="5989320" y="1920240"/>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△1,143</a:t>
            </a:r>
          </a:p>
        </p:txBody>
      </p:sp>
      <p:sp>
        <p:nvSpPr>
          <p:cNvPr id="29" name="d04"/>
          <p:cNvSpPr/>
          <p:nvPr/>
        </p:nvSpPr>
        <p:spPr>
          <a:xfrm>
            <a:off x="7498079" y="1920240"/>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14,976</a:t>
            </a:r>
          </a:p>
        </p:txBody>
      </p:sp>
      <p:sp>
        <p:nvSpPr>
          <p:cNvPr id="30" name="d05"/>
          <p:cNvSpPr/>
          <p:nvPr/>
        </p:nvSpPr>
        <p:spPr>
          <a:xfrm>
            <a:off x="8869680" y="1920240"/>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11,604</a:t>
            </a:r>
          </a:p>
        </p:txBody>
      </p:sp>
      <p:sp>
        <p:nvSpPr>
          <p:cNvPr id="31" name="d06"/>
          <p:cNvSpPr/>
          <p:nvPr/>
        </p:nvSpPr>
        <p:spPr>
          <a:xfrm>
            <a:off x="10241280" y="1920240"/>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△3,372</a:t>
            </a:r>
          </a:p>
        </p:txBody>
      </p:sp>
      <p:sp>
        <p:nvSpPr>
          <p:cNvPr id="33" name="d10"/>
          <p:cNvSpPr/>
          <p:nvPr/>
        </p:nvSpPr>
        <p:spPr>
          <a:xfrm>
            <a:off x="384048" y="2295144"/>
            <a:ext cx="278892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一般会計繰入金（補助金）</a:t>
            </a:r>
          </a:p>
        </p:txBody>
      </p:sp>
      <p:sp>
        <p:nvSpPr>
          <p:cNvPr id="34" name="d11"/>
          <p:cNvSpPr/>
          <p:nvPr/>
        </p:nvSpPr>
        <p:spPr>
          <a:xfrm>
            <a:off x="3246120" y="2295144"/>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151,133</a:t>
            </a:r>
          </a:p>
        </p:txBody>
      </p:sp>
      <p:sp>
        <p:nvSpPr>
          <p:cNvPr id="35" name="d12"/>
          <p:cNvSpPr/>
          <p:nvPr/>
        </p:nvSpPr>
        <p:spPr>
          <a:xfrm>
            <a:off x="4617720" y="2295144"/>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152,667</a:t>
            </a:r>
          </a:p>
        </p:txBody>
      </p:sp>
      <p:sp>
        <p:nvSpPr>
          <p:cNvPr id="36" name="d13"/>
          <p:cNvSpPr/>
          <p:nvPr/>
        </p:nvSpPr>
        <p:spPr>
          <a:xfrm>
            <a:off x="5989320" y="2295144"/>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＋1,534</a:t>
            </a:r>
          </a:p>
        </p:txBody>
      </p:sp>
      <p:sp>
        <p:nvSpPr>
          <p:cNvPr id="37" name="d14"/>
          <p:cNvSpPr/>
          <p:nvPr/>
        </p:nvSpPr>
        <p:spPr>
          <a:xfrm>
            <a:off x="7498079" y="2295144"/>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19,236</a:t>
            </a:r>
          </a:p>
        </p:txBody>
      </p:sp>
      <p:sp>
        <p:nvSpPr>
          <p:cNvPr id="38" name="d15"/>
          <p:cNvSpPr/>
          <p:nvPr/>
        </p:nvSpPr>
        <p:spPr>
          <a:xfrm>
            <a:off x="8869680" y="2295144"/>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51,777</a:t>
            </a:r>
          </a:p>
        </p:txBody>
      </p:sp>
      <p:sp>
        <p:nvSpPr>
          <p:cNvPr id="39" name="d16"/>
          <p:cNvSpPr/>
          <p:nvPr/>
        </p:nvSpPr>
        <p:spPr>
          <a:xfrm>
            <a:off x="10241280" y="2295144"/>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＋32,541</a:t>
            </a:r>
          </a:p>
        </p:txBody>
      </p:sp>
      <p:sp>
        <p:nvSpPr>
          <p:cNvPr id="41" name="d20"/>
          <p:cNvSpPr/>
          <p:nvPr/>
        </p:nvSpPr>
        <p:spPr>
          <a:xfrm>
            <a:off x="384048" y="2670048"/>
            <a:ext cx="278892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長期前受金戻入</a:t>
            </a:r>
          </a:p>
        </p:txBody>
      </p:sp>
      <p:sp>
        <p:nvSpPr>
          <p:cNvPr id="42" name="d21"/>
          <p:cNvSpPr/>
          <p:nvPr/>
        </p:nvSpPr>
        <p:spPr>
          <a:xfrm>
            <a:off x="3246120" y="2670048"/>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309,898</a:t>
            </a:r>
          </a:p>
        </p:txBody>
      </p:sp>
      <p:sp>
        <p:nvSpPr>
          <p:cNvPr id="43" name="d22"/>
          <p:cNvSpPr/>
          <p:nvPr/>
        </p:nvSpPr>
        <p:spPr>
          <a:xfrm>
            <a:off x="4617720" y="2670048"/>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308,219</a:t>
            </a:r>
          </a:p>
        </p:txBody>
      </p:sp>
      <p:sp>
        <p:nvSpPr>
          <p:cNvPr id="44" name="d23"/>
          <p:cNvSpPr/>
          <p:nvPr/>
        </p:nvSpPr>
        <p:spPr>
          <a:xfrm>
            <a:off x="5989320" y="2670048"/>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△1,679</a:t>
            </a:r>
          </a:p>
        </p:txBody>
      </p:sp>
      <p:sp>
        <p:nvSpPr>
          <p:cNvPr id="45" name="d24"/>
          <p:cNvSpPr/>
          <p:nvPr/>
        </p:nvSpPr>
        <p:spPr>
          <a:xfrm>
            <a:off x="7498079" y="2670048"/>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55,286</a:t>
            </a:r>
          </a:p>
        </p:txBody>
      </p:sp>
      <p:sp>
        <p:nvSpPr>
          <p:cNvPr id="46" name="d25"/>
          <p:cNvSpPr/>
          <p:nvPr/>
        </p:nvSpPr>
        <p:spPr>
          <a:xfrm>
            <a:off x="8869680" y="2670048"/>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53,308</a:t>
            </a:r>
          </a:p>
        </p:txBody>
      </p:sp>
      <p:sp>
        <p:nvSpPr>
          <p:cNvPr id="47" name="d26"/>
          <p:cNvSpPr/>
          <p:nvPr/>
        </p:nvSpPr>
        <p:spPr>
          <a:xfrm>
            <a:off x="10241280" y="2670048"/>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△1,978</a:t>
            </a:r>
          </a:p>
        </p:txBody>
      </p:sp>
      <p:sp>
        <p:nvSpPr>
          <p:cNvPr id="49" name="d30"/>
          <p:cNvSpPr/>
          <p:nvPr/>
        </p:nvSpPr>
        <p:spPr>
          <a:xfrm>
            <a:off x="384048" y="3044952"/>
            <a:ext cx="278892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経常収入 (C)</a:t>
            </a:r>
          </a:p>
        </p:txBody>
      </p:sp>
      <p:sp>
        <p:nvSpPr>
          <p:cNvPr id="50" name="d31"/>
          <p:cNvSpPr/>
          <p:nvPr/>
        </p:nvSpPr>
        <p:spPr>
          <a:xfrm>
            <a:off x="3246120" y="3044952"/>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536,642</a:t>
            </a:r>
          </a:p>
        </p:txBody>
      </p:sp>
      <p:sp>
        <p:nvSpPr>
          <p:cNvPr id="51" name="d32"/>
          <p:cNvSpPr/>
          <p:nvPr/>
        </p:nvSpPr>
        <p:spPr>
          <a:xfrm>
            <a:off x="4617720" y="3044952"/>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519,102</a:t>
            </a:r>
          </a:p>
        </p:txBody>
      </p:sp>
      <p:sp>
        <p:nvSpPr>
          <p:cNvPr id="52" name="d33"/>
          <p:cNvSpPr/>
          <p:nvPr/>
        </p:nvSpPr>
        <p:spPr>
          <a:xfrm>
            <a:off x="5989320" y="3044952"/>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△17,540</a:t>
            </a:r>
          </a:p>
        </p:txBody>
      </p:sp>
      <p:sp>
        <p:nvSpPr>
          <p:cNvPr id="53" name="d34"/>
          <p:cNvSpPr/>
          <p:nvPr/>
        </p:nvSpPr>
        <p:spPr>
          <a:xfrm>
            <a:off x="7498079" y="3044952"/>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90,339</a:t>
            </a:r>
          </a:p>
        </p:txBody>
      </p:sp>
      <p:sp>
        <p:nvSpPr>
          <p:cNvPr id="54" name="d35"/>
          <p:cNvSpPr/>
          <p:nvPr/>
        </p:nvSpPr>
        <p:spPr>
          <a:xfrm>
            <a:off x="8869680" y="3044952"/>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116,735</a:t>
            </a:r>
          </a:p>
        </p:txBody>
      </p:sp>
      <p:sp>
        <p:nvSpPr>
          <p:cNvPr id="55" name="d36"/>
          <p:cNvSpPr/>
          <p:nvPr/>
        </p:nvSpPr>
        <p:spPr>
          <a:xfrm>
            <a:off x="10241280" y="3044952"/>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＋26,396</a:t>
            </a:r>
          </a:p>
        </p:txBody>
      </p:sp>
      <p:sp>
        <p:nvSpPr>
          <p:cNvPr id="57" name="d40"/>
          <p:cNvSpPr/>
          <p:nvPr/>
        </p:nvSpPr>
        <p:spPr>
          <a:xfrm>
            <a:off x="384048" y="3419856"/>
            <a:ext cx="278892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汚水処理費（維持管理費分）</a:t>
            </a:r>
          </a:p>
        </p:txBody>
      </p:sp>
      <p:sp>
        <p:nvSpPr>
          <p:cNvPr id="58" name="d41"/>
          <p:cNvSpPr/>
          <p:nvPr/>
        </p:nvSpPr>
        <p:spPr>
          <a:xfrm>
            <a:off x="3246120" y="3419856"/>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168,331</a:t>
            </a:r>
          </a:p>
        </p:txBody>
      </p:sp>
      <p:sp>
        <p:nvSpPr>
          <p:cNvPr id="59" name="d42"/>
          <p:cNvSpPr/>
          <p:nvPr/>
        </p:nvSpPr>
        <p:spPr>
          <a:xfrm>
            <a:off x="4617720" y="3419856"/>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125,145</a:t>
            </a:r>
          </a:p>
        </p:txBody>
      </p:sp>
      <p:sp>
        <p:nvSpPr>
          <p:cNvPr id="60" name="d43"/>
          <p:cNvSpPr/>
          <p:nvPr/>
        </p:nvSpPr>
        <p:spPr>
          <a:xfrm>
            <a:off x="5989320" y="3419856"/>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△43,186</a:t>
            </a:r>
          </a:p>
        </p:txBody>
      </p:sp>
      <p:sp>
        <p:nvSpPr>
          <p:cNvPr id="61" name="d44"/>
          <p:cNvSpPr/>
          <p:nvPr/>
        </p:nvSpPr>
        <p:spPr>
          <a:xfrm>
            <a:off x="7498079" y="3419856"/>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37,580</a:t>
            </a:r>
          </a:p>
        </p:txBody>
      </p:sp>
      <p:sp>
        <p:nvSpPr>
          <p:cNvPr id="62" name="d45"/>
          <p:cNvSpPr/>
          <p:nvPr/>
        </p:nvSpPr>
        <p:spPr>
          <a:xfrm>
            <a:off x="8869680" y="3419856"/>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31,194</a:t>
            </a:r>
          </a:p>
        </p:txBody>
      </p:sp>
      <p:sp>
        <p:nvSpPr>
          <p:cNvPr id="63" name="d46"/>
          <p:cNvSpPr/>
          <p:nvPr/>
        </p:nvSpPr>
        <p:spPr>
          <a:xfrm>
            <a:off x="10241280" y="3419856"/>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△6,386</a:t>
            </a:r>
          </a:p>
        </p:txBody>
      </p:sp>
      <p:sp>
        <p:nvSpPr>
          <p:cNvPr id="65" name="d50"/>
          <p:cNvSpPr/>
          <p:nvPr/>
        </p:nvSpPr>
        <p:spPr>
          <a:xfrm>
            <a:off x="384048" y="3794760"/>
            <a:ext cx="278892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減価償却費</a:t>
            </a:r>
          </a:p>
        </p:txBody>
      </p:sp>
      <p:sp>
        <p:nvSpPr>
          <p:cNvPr id="66" name="d51"/>
          <p:cNvSpPr/>
          <p:nvPr/>
        </p:nvSpPr>
        <p:spPr>
          <a:xfrm>
            <a:off x="3246120" y="3794760"/>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352,541</a:t>
            </a:r>
          </a:p>
        </p:txBody>
      </p:sp>
      <p:sp>
        <p:nvSpPr>
          <p:cNvPr id="67" name="d52"/>
          <p:cNvSpPr/>
          <p:nvPr/>
        </p:nvSpPr>
        <p:spPr>
          <a:xfrm>
            <a:off x="4617720" y="3794760"/>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350,427</a:t>
            </a:r>
          </a:p>
        </p:txBody>
      </p:sp>
      <p:sp>
        <p:nvSpPr>
          <p:cNvPr id="68" name="d53"/>
          <p:cNvSpPr/>
          <p:nvPr/>
        </p:nvSpPr>
        <p:spPr>
          <a:xfrm>
            <a:off x="5989320" y="3794760"/>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△2,114</a:t>
            </a:r>
          </a:p>
        </p:txBody>
      </p:sp>
      <p:sp>
        <p:nvSpPr>
          <p:cNvPr id="69" name="d54"/>
          <p:cNvSpPr/>
          <p:nvPr/>
        </p:nvSpPr>
        <p:spPr>
          <a:xfrm>
            <a:off x="7498079" y="3794760"/>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67,729</a:t>
            </a:r>
          </a:p>
        </p:txBody>
      </p:sp>
      <p:sp>
        <p:nvSpPr>
          <p:cNvPr id="70" name="d55"/>
          <p:cNvSpPr/>
          <p:nvPr/>
        </p:nvSpPr>
        <p:spPr>
          <a:xfrm>
            <a:off x="8869680" y="3794760"/>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67,600</a:t>
            </a:r>
          </a:p>
        </p:txBody>
      </p:sp>
      <p:sp>
        <p:nvSpPr>
          <p:cNvPr id="71" name="d56"/>
          <p:cNvSpPr/>
          <p:nvPr/>
        </p:nvSpPr>
        <p:spPr>
          <a:xfrm>
            <a:off x="10241280" y="3794760"/>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△129</a:t>
            </a:r>
          </a:p>
        </p:txBody>
      </p:sp>
      <p:sp>
        <p:nvSpPr>
          <p:cNvPr id="73" name="d60"/>
          <p:cNvSpPr/>
          <p:nvPr/>
        </p:nvSpPr>
        <p:spPr>
          <a:xfrm>
            <a:off x="384048" y="4169664"/>
            <a:ext cx="278892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支払利息</a:t>
            </a:r>
          </a:p>
        </p:txBody>
      </p:sp>
      <p:sp>
        <p:nvSpPr>
          <p:cNvPr id="74" name="d61"/>
          <p:cNvSpPr/>
          <p:nvPr/>
        </p:nvSpPr>
        <p:spPr>
          <a:xfrm>
            <a:off x="3246120" y="4169664"/>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22,189</a:t>
            </a:r>
          </a:p>
        </p:txBody>
      </p:sp>
      <p:sp>
        <p:nvSpPr>
          <p:cNvPr id="75" name="d62"/>
          <p:cNvSpPr/>
          <p:nvPr/>
        </p:nvSpPr>
        <p:spPr>
          <a:xfrm>
            <a:off x="4617720" y="4169664"/>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23,271</a:t>
            </a:r>
          </a:p>
        </p:txBody>
      </p:sp>
      <p:sp>
        <p:nvSpPr>
          <p:cNvPr id="76" name="d63"/>
          <p:cNvSpPr/>
          <p:nvPr/>
        </p:nvSpPr>
        <p:spPr>
          <a:xfrm>
            <a:off x="5989320" y="4169664"/>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＋1,082</a:t>
            </a:r>
          </a:p>
        </p:txBody>
      </p:sp>
      <p:sp>
        <p:nvSpPr>
          <p:cNvPr id="77" name="d64"/>
          <p:cNvSpPr/>
          <p:nvPr/>
        </p:nvSpPr>
        <p:spPr>
          <a:xfrm>
            <a:off x="7498079" y="4169664"/>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4,793</a:t>
            </a:r>
          </a:p>
        </p:txBody>
      </p:sp>
      <p:sp>
        <p:nvSpPr>
          <p:cNvPr id="78" name="d65"/>
          <p:cNvSpPr/>
          <p:nvPr/>
        </p:nvSpPr>
        <p:spPr>
          <a:xfrm>
            <a:off x="8869680" y="4169664"/>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4,893</a:t>
            </a:r>
          </a:p>
        </p:txBody>
      </p:sp>
      <p:sp>
        <p:nvSpPr>
          <p:cNvPr id="79" name="d66"/>
          <p:cNvSpPr/>
          <p:nvPr/>
        </p:nvSpPr>
        <p:spPr>
          <a:xfrm>
            <a:off x="10241280" y="4169664"/>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＋100</a:t>
            </a:r>
          </a:p>
        </p:txBody>
      </p:sp>
      <p:sp>
        <p:nvSpPr>
          <p:cNvPr id="81" name="d70"/>
          <p:cNvSpPr/>
          <p:nvPr/>
        </p:nvSpPr>
        <p:spPr>
          <a:xfrm>
            <a:off x="384048" y="4544568"/>
            <a:ext cx="278892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経常支出 (D)</a:t>
            </a:r>
          </a:p>
        </p:txBody>
      </p:sp>
      <p:sp>
        <p:nvSpPr>
          <p:cNvPr id="82" name="d71"/>
          <p:cNvSpPr/>
          <p:nvPr/>
        </p:nvSpPr>
        <p:spPr>
          <a:xfrm>
            <a:off x="3246120" y="4544568"/>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545,061</a:t>
            </a:r>
          </a:p>
        </p:txBody>
      </p:sp>
      <p:sp>
        <p:nvSpPr>
          <p:cNvPr id="83" name="d72"/>
          <p:cNvSpPr/>
          <p:nvPr/>
        </p:nvSpPr>
        <p:spPr>
          <a:xfrm>
            <a:off x="4617720" y="4544568"/>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498,842</a:t>
            </a:r>
          </a:p>
        </p:txBody>
      </p:sp>
      <p:sp>
        <p:nvSpPr>
          <p:cNvPr id="84" name="d73"/>
          <p:cNvSpPr/>
          <p:nvPr/>
        </p:nvSpPr>
        <p:spPr>
          <a:xfrm>
            <a:off x="5989320" y="4544568"/>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△46,219</a:t>
            </a:r>
          </a:p>
        </p:txBody>
      </p:sp>
      <p:sp>
        <p:nvSpPr>
          <p:cNvPr id="85" name="d74"/>
          <p:cNvSpPr/>
          <p:nvPr/>
        </p:nvSpPr>
        <p:spPr>
          <a:xfrm>
            <a:off x="7498079" y="4544568"/>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110,231</a:t>
            </a:r>
          </a:p>
        </p:txBody>
      </p:sp>
      <p:sp>
        <p:nvSpPr>
          <p:cNvPr id="86" name="d75"/>
          <p:cNvSpPr/>
          <p:nvPr/>
        </p:nvSpPr>
        <p:spPr>
          <a:xfrm>
            <a:off x="8869680" y="4544568"/>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103,687</a:t>
            </a:r>
          </a:p>
        </p:txBody>
      </p:sp>
      <p:sp>
        <p:nvSpPr>
          <p:cNvPr id="87" name="d76"/>
          <p:cNvSpPr/>
          <p:nvPr/>
        </p:nvSpPr>
        <p:spPr>
          <a:xfrm>
            <a:off x="10241280" y="4544568"/>
            <a:ext cx="1325880" cy="35661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△6,544</a:t>
            </a:r>
          </a:p>
        </p:txBody>
      </p:sp>
      <p:sp>
        <p:nvSpPr>
          <p:cNvPr id="89" name="d80"/>
          <p:cNvSpPr/>
          <p:nvPr/>
        </p:nvSpPr>
        <p:spPr>
          <a:xfrm>
            <a:off x="384048" y="4919472"/>
            <a:ext cx="278892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経常損益 (C)-(D)</a:t>
            </a:r>
          </a:p>
        </p:txBody>
      </p:sp>
      <p:sp>
        <p:nvSpPr>
          <p:cNvPr id="90" name="d81"/>
          <p:cNvSpPr/>
          <p:nvPr/>
        </p:nvSpPr>
        <p:spPr>
          <a:xfrm>
            <a:off x="3246120" y="4919472"/>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△8,419</a:t>
            </a:r>
          </a:p>
        </p:txBody>
      </p:sp>
      <p:sp>
        <p:nvSpPr>
          <p:cNvPr id="91" name="d82"/>
          <p:cNvSpPr/>
          <p:nvPr/>
        </p:nvSpPr>
        <p:spPr>
          <a:xfrm>
            <a:off x="4617720" y="4919472"/>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20,260</a:t>
            </a:r>
          </a:p>
        </p:txBody>
      </p:sp>
      <p:sp>
        <p:nvSpPr>
          <p:cNvPr id="92" name="d83"/>
          <p:cNvSpPr/>
          <p:nvPr/>
        </p:nvSpPr>
        <p:spPr>
          <a:xfrm>
            <a:off x="5989320" y="4919472"/>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＋28,679</a:t>
            </a:r>
          </a:p>
        </p:txBody>
      </p:sp>
      <p:sp>
        <p:nvSpPr>
          <p:cNvPr id="93" name="d84"/>
          <p:cNvSpPr/>
          <p:nvPr/>
        </p:nvSpPr>
        <p:spPr>
          <a:xfrm>
            <a:off x="7498079" y="4919472"/>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△19,892</a:t>
            </a:r>
          </a:p>
        </p:txBody>
      </p:sp>
      <p:sp>
        <p:nvSpPr>
          <p:cNvPr id="94" name="d85"/>
          <p:cNvSpPr/>
          <p:nvPr/>
        </p:nvSpPr>
        <p:spPr>
          <a:xfrm>
            <a:off x="8869680" y="4919472"/>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13,048</a:t>
            </a:r>
          </a:p>
        </p:txBody>
      </p:sp>
      <p:sp>
        <p:nvSpPr>
          <p:cNvPr id="95" name="d86"/>
          <p:cNvSpPr/>
          <p:nvPr/>
        </p:nvSpPr>
        <p:spPr>
          <a:xfrm>
            <a:off x="10241280" y="4919472"/>
            <a:ext cx="1325880" cy="35661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＋32,940</a:t>
            </a:r>
          </a:p>
        </p:txBody>
      </p:sp>
      <p:sp>
        <p:nvSpPr>
          <p:cNvPr id="97" name="note"/>
          <p:cNvSpPr/>
          <p:nvPr/>
        </p:nvSpPr>
        <p:spPr>
          <a:xfrm>
            <a:off x="380000" y="5379148"/>
            <a:ext cx="11431760" cy="1131379"/>
          </a:xfrm>
          <a:custGeom>
            <a:avLst/>
            <a:gdLst/>
            <a:ahLst/>
            <a:rect l="l" t="t" r="r" b="b"/>
            <a:pathLst>
              <a:path w="21600" h="21600">
                <a:moveTo>
                  <a:pt x="0" y="0"/>
                </a:moveTo>
                <a:lnTo>
                  <a:pt x="21600" y="0"/>
                </a:lnTo>
                <a:lnTo>
                  <a:pt x="21600" y="21600"/>
                </a:lnTo>
                <a:lnTo>
                  <a:pt x="0" y="21600"/>
                </a:lnTo>
                <a:close/>
              </a:path>
            </a:pathLst>
          </a:custGeom>
          <a:solidFill>
            <a:srgbClr val="EFF6FF"/>
          </a:solidFill>
          <a:ln w="9525">
            <a:solidFill>
              <a:srgbClr val="BFDBFE"/>
            </a:solidFill>
          </a:ln>
        </p:spPr>
        <p:style>
          <a:lnRef idx="0"/>
          <a:fillRef idx="0"/>
          <a:effectRef idx="0"/>
          <a:fontRef idx="minor"/>
        </p:style>
        <p:txBody>
          <a:bodyPr tIns="45720" bIns="45720" lIns="182880" rIns="91440" anchor="ctr">
            <a:noAutofit/>
          </a:bodyPr>
          <a:p>
            <a:pPr algn="l"/>
            <a:r>
              <a:rPr lang="ja-JP" sz="1050" b="0" dirty="0">
                <a:solidFill>
                  <a:srgbClr val="1E40AF"/>
                </a:solidFill>
                <a:latin typeface="Arial"/>
                <a:cs typeface="Noto Sans CJK JP"/>
              </a:rPr>
              <a:t>▶ 経費回収率　公共：推計34.4% → 決算 45.3%　／　農集：推計39.9% → 決算 37.2%　　経常収支比率　公共：推計98.5% → 決算 104.1%　／　農集：推計82.0% → 決算 112.6%</a:t>
            </a:r>
          </a:p>
          <a:p>
            <a:pPr algn="l"/>
            <a:r>
              <a:rPr lang="ja-JP" sz="1050" b="0" dirty="0">
                <a:solidFill>
                  <a:srgbClr val="1E40AF"/>
                </a:solidFill>
                <a:latin typeface="Arial"/>
                <a:cs typeface="Noto Sans CJK JP"/>
              </a:rPr>
              <a:t>▶ 最大の乖離は公共の汚水処理費（維持管理費分）で、推計168,331千円に対し決算125,145千円（△25.7%）。令和6年度決算119,503千円からの増加は＋4.7%にとどまり、推計していた＋40.9%増は生じていません（差の大半は「その他（主に委託料）」／推計155,280千円→決算114,032千円）。</a:t>
            </a:r>
          </a:p>
          <a:p>
            <a:pPr algn="l"/>
            <a:r>
              <a:rPr lang="ja-JP" sz="1050" b="0" dirty="0">
                <a:solidFill>
                  <a:srgbClr val="1E40AF"/>
                </a:solidFill>
                <a:latin typeface="Arial"/>
                <a:cs typeface="Noto Sans CJK JP"/>
              </a:rPr>
              <a:t>▶ 農集は使用料収入が決算11,604千円と推計を22.5%下回る一方、一般会計繰入金は51,777千円と推計の約2.7倍でした。これは基準外繰入金を含むためで、経常収支比率が112.6%となっているのはこの繰入によるものです。※ 出所：R7公共／農集 合計残高試算表（令和8年3月31日）。</a:t>
            </a:r>
          </a:p>
        </p:txBody>
      </p:sp>
      <p:sp>
        <p:nvSpPr>
          <p:cNvPr id="98" name="pgnum"/>
          <p:cNvSpPr/>
          <p:nvPr/>
        </p:nvSpPr>
        <p:spPr>
          <a:xfrm>
            <a:off x="286200" y="6543360"/>
            <a:ext cx="777240" cy="1728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fillRef idx="0"/>
          <a:effectRef idx="0"/>
          <a:fontRef idx="minor"/>
        </p:style>
        <p:txBody>
          <a:bodyPr lIns="0" tIns="0" rIns="0" bIns="0" anchor="ctr">
            <a:noAutofit/>
          </a:bodyPr>
          <a:lstStyle/>
          <a:p>
            <a:pPr algn="ctr"/>
            <a:r>
              <a:rPr lang="ja-JP" sz="900" b="0" dirty="0">
                <a:solidFill>
                  <a:srgbClr val="CBD5E1"/>
                </a:solidFill>
                <a:latin typeface="Arial"/>
                <a:cs typeface="Noto Sans CJK JP"/>
              </a:rPr>
              <a:t>別紙1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1" name="hl"/>
          <p:cNvSpPr/>
          <p:nvPr/>
        </p:nvSpPr>
        <p:spPr>
          <a:xfrm>
            <a:off x="0" y="18288"/>
            <a:ext cx="12191760" cy="19080"/>
          </a:xfrm>
          <a:custGeom>
            <a:avLst/>
            <a:gdLst/>
            <a:ahLst/>
            <a:rect l="l" t="t" r="r" b="b"/>
            <a:pathLst>
              <a:path w="21600" h="21600">
                <a:moveTo>
                  <a:pt x="0" y="0"/>
                </a:moveTo>
                <a:lnTo>
                  <a:pt x="21600" y="0"/>
                </a:lnTo>
                <a:lnTo>
                  <a:pt x="21600" y="21600"/>
                </a:lnTo>
                <a:lnTo>
                  <a:pt x="0" y="21600"/>
                </a:lnTo>
                <a:close/>
              </a:path>
            </a:pathLst>
          </a:custGeom>
          <a:solidFill>
            <a:srgbClr val="E2E8F0"/>
          </a:solidFill>
          <a:ln w="0">
            <a:noFill/>
          </a:ln>
        </p:spPr>
        <p:style>
          <a:lnRef idx="0"/>
          <a:fillRef idx="0"/>
          <a:effectRef idx="0"/>
          <a:fontRef idx="minor"/>
        </p:style>
        <p:txBody>
          <a:bodyPr tIns="45720" bIns="45720" lIns="91440" rIns="91440" anchor="ctr">
            <a:noAutofit/>
          </a:bodyPr>
          <a:p>
            <a:endParaRPr/>
          </a:p>
        </p:txBody>
      </p:sp>
      <p:sp>
        <p:nvSpPr>
          <p:cNvPr id="12" name="ha"/>
          <p:cNvSpPr/>
          <p:nvPr/>
        </p:nvSpPr>
        <p:spPr>
          <a:xfrm>
            <a:off x="0" y="18288"/>
            <a:ext cx="1904760" cy="3852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endParaRPr/>
          </a:p>
        </p:txBody>
      </p:sp>
      <p:sp>
        <p:nvSpPr>
          <p:cNvPr id="13" name="ttl"/>
          <p:cNvSpPr/>
          <p:nvPr/>
        </p:nvSpPr>
        <p:spPr>
          <a:xfrm>
            <a:off x="571680" y="720000"/>
            <a:ext cx="11299975" cy="520000"/>
          </a:xfrm>
          <a:custGeom>
            <a:avLst/>
            <a:gdLst/>
            <a:ahLst/>
            <a:rect l="l" t="t" r="r" b="b"/>
            <a:pathLst>
              <a:path w="21600" h="21600">
                <a:moveTo>
                  <a:pt x="0" y="0"/>
                </a:moveTo>
                <a:lnTo>
                  <a:pt x="21600" y="0"/>
                </a:lnTo>
                <a:lnTo>
                  <a:pt x="21600" y="21600"/>
                </a:lnTo>
                <a:lnTo>
                  <a:pt x="0" y="21600"/>
                </a:lnTo>
                <a:close/>
              </a:path>
            </a:pathLst>
          </a:custGeom>
          <a:solidFill>
            <a:srgbClr val="F8FAFC"/>
          </a:solidFill>
          <a:ln w="0">
            <a:noFill/>
          </a:ln>
        </p:spPr>
        <p:style>
          <a:lnRef idx="0"/>
          <a:fillRef idx="0"/>
          <a:effectRef idx="0"/>
          <a:fontRef idx="minor"/>
        </p:style>
        <p:txBody>
          <a:bodyPr tIns="45720" bIns="45720" lIns="0" rIns="91440" anchor="ctr">
            <a:noAutofit/>
          </a:bodyPr>
          <a:p>
            <a:pPr algn="l"/>
            <a:r>
              <a:rPr lang="ja-JP" sz="2200" b="0" dirty="0">
                <a:solidFill>
                  <a:srgbClr val="1E293B"/>
                </a:solidFill>
                <a:latin typeface="Arial"/>
                <a:cs typeface="Noto Sans CJK JP"/>
              </a:rPr>
              <a:t>別紙2　令和7年度決算を起点に組み直した場合の指標　2か年改定・試算</a:t>
            </a:r>
          </a:p>
        </p:txBody>
      </p:sp>
      <p:sp>
        <p:nvSpPr>
          <p:cNvPr id="14" name="hcr"/>
          <p:cNvSpPr/>
          <p:nvPr/>
        </p:nvSpPr>
        <p:spPr>
          <a:xfrm>
            <a:off x="380000" y="1280160"/>
            <a:ext cx="11431760" cy="28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l"/>
            <a:r>
              <a:rPr lang="ja-JP" sz="1100" b="0" dirty="0">
                <a:solidFill>
                  <a:srgbClr val="FFFFFF"/>
                </a:solidFill>
                <a:latin typeface="Arial"/>
                <a:cs typeface="Noto Sans CJK JP"/>
              </a:rPr>
              <a:t>経費回収率（目標：47%以上）　※（ ）内は本編の値</a:t>
            </a:r>
          </a:p>
        </p:txBody>
      </p:sp>
      <p:sp>
        <p:nvSpPr>
          <p:cNvPr id="15" name="gpub"/>
          <p:cNvSpPr/>
          <p:nvPr/>
        </p:nvSpPr>
        <p:spPr>
          <a:xfrm>
            <a:off x="1280000" y="1572768"/>
            <a:ext cx="4650000" cy="24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公共下水道</a:t>
            </a:r>
          </a:p>
        </p:txBody>
      </p:sp>
      <p:sp>
        <p:nvSpPr>
          <p:cNvPr id="16" name="gagr"/>
          <p:cNvSpPr/>
          <p:nvPr/>
        </p:nvSpPr>
        <p:spPr>
          <a:xfrm>
            <a:off x="5930000" y="1572768"/>
            <a:ext cx="4641760" cy="24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農業集落排水</a:t>
            </a:r>
          </a:p>
        </p:txBody>
      </p:sp>
      <p:sp>
        <p:nvSpPr>
          <p:cNvPr id="17" name="th0"/>
          <p:cNvSpPr/>
          <p:nvPr/>
        </p:nvSpPr>
        <p:spPr>
          <a:xfrm>
            <a:off x="380000" y="1819656"/>
            <a:ext cx="900000" cy="28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年度</a:t>
            </a:r>
          </a:p>
        </p:txBody>
      </p:sp>
      <p:sp>
        <p:nvSpPr>
          <p:cNvPr id="18" name="th1"/>
          <p:cNvSpPr/>
          <p:nvPr/>
        </p:nvSpPr>
        <p:spPr>
          <a:xfrm>
            <a:off x="1280000" y="1819656"/>
            <a:ext cx="1550000" cy="28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①標準型</a:t>
            </a:r>
          </a:p>
        </p:txBody>
      </p:sp>
      <p:sp>
        <p:nvSpPr>
          <p:cNvPr id="19" name="th2"/>
          <p:cNvSpPr/>
          <p:nvPr/>
        </p:nvSpPr>
        <p:spPr>
          <a:xfrm>
            <a:off x="2830000" y="1819656"/>
            <a:ext cx="155000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②家庭軽減型</a:t>
            </a:r>
          </a:p>
        </p:txBody>
      </p:sp>
      <p:sp>
        <p:nvSpPr>
          <p:cNvPr id="20" name="th3"/>
          <p:cNvSpPr/>
          <p:nvPr/>
        </p:nvSpPr>
        <p:spPr>
          <a:xfrm>
            <a:off x="4380000" y="1819656"/>
            <a:ext cx="1550000" cy="28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④段階累進型</a:t>
            </a:r>
          </a:p>
        </p:txBody>
      </p:sp>
      <p:sp>
        <p:nvSpPr>
          <p:cNvPr id="21" name="th4"/>
          <p:cNvSpPr/>
          <p:nvPr/>
        </p:nvSpPr>
        <p:spPr>
          <a:xfrm>
            <a:off x="5930000" y="1819656"/>
            <a:ext cx="1550000" cy="28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①標準型</a:t>
            </a:r>
          </a:p>
        </p:txBody>
      </p:sp>
      <p:sp>
        <p:nvSpPr>
          <p:cNvPr id="22" name="th5"/>
          <p:cNvSpPr/>
          <p:nvPr/>
        </p:nvSpPr>
        <p:spPr>
          <a:xfrm>
            <a:off x="7480000" y="1819656"/>
            <a:ext cx="155000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②家庭軽減型</a:t>
            </a:r>
          </a:p>
        </p:txBody>
      </p:sp>
      <p:sp>
        <p:nvSpPr>
          <p:cNvPr id="23" name="th6"/>
          <p:cNvSpPr/>
          <p:nvPr/>
        </p:nvSpPr>
        <p:spPr>
          <a:xfrm>
            <a:off x="9030000" y="1819656"/>
            <a:ext cx="1541760" cy="28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④段階累進型</a:t>
            </a:r>
          </a:p>
        </p:txBody>
      </p:sp>
      <p:sp>
        <p:nvSpPr>
          <p:cNvPr id="24" name="cr00"/>
          <p:cNvSpPr/>
          <p:nvPr/>
        </p:nvSpPr>
        <p:spPr>
          <a:xfrm>
            <a:off x="380000" y="2121408"/>
            <a:ext cx="90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R7</a:t>
            </a:r>
          </a:p>
        </p:txBody>
      </p:sp>
      <p:sp>
        <p:nvSpPr>
          <p:cNvPr id="25" name="cr01"/>
          <p:cNvSpPr/>
          <p:nvPr/>
        </p:nvSpPr>
        <p:spPr>
          <a:xfrm>
            <a:off x="1280000" y="2121408"/>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45.3%（34.4%）</a:t>
            </a:r>
          </a:p>
        </p:txBody>
      </p:sp>
      <p:sp>
        <p:nvSpPr>
          <p:cNvPr id="26" name="cr02"/>
          <p:cNvSpPr/>
          <p:nvPr/>
        </p:nvSpPr>
        <p:spPr>
          <a:xfrm>
            <a:off x="2830000" y="2121408"/>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45.3%（34.4%）</a:t>
            </a:r>
          </a:p>
        </p:txBody>
      </p:sp>
      <p:sp>
        <p:nvSpPr>
          <p:cNvPr id="27" name="cr03"/>
          <p:cNvSpPr/>
          <p:nvPr/>
        </p:nvSpPr>
        <p:spPr>
          <a:xfrm>
            <a:off x="4380000" y="2121408"/>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45.3%（34.4%）</a:t>
            </a:r>
          </a:p>
        </p:txBody>
      </p:sp>
      <p:sp>
        <p:nvSpPr>
          <p:cNvPr id="28" name="cr04"/>
          <p:cNvSpPr/>
          <p:nvPr/>
        </p:nvSpPr>
        <p:spPr>
          <a:xfrm>
            <a:off x="5930000" y="2121408"/>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37.2%（39.9%）</a:t>
            </a:r>
          </a:p>
        </p:txBody>
      </p:sp>
      <p:sp>
        <p:nvSpPr>
          <p:cNvPr id="29" name="cr05"/>
          <p:cNvSpPr/>
          <p:nvPr/>
        </p:nvSpPr>
        <p:spPr>
          <a:xfrm>
            <a:off x="7480000" y="2121408"/>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37.2%（39.9%）</a:t>
            </a:r>
          </a:p>
        </p:txBody>
      </p:sp>
      <p:sp>
        <p:nvSpPr>
          <p:cNvPr id="30" name="cr06"/>
          <p:cNvSpPr/>
          <p:nvPr/>
        </p:nvSpPr>
        <p:spPr>
          <a:xfrm>
            <a:off x="9030000" y="2121408"/>
            <a:ext cx="154176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37.2%（39.9%）</a:t>
            </a:r>
          </a:p>
        </p:txBody>
      </p:sp>
      <p:sp>
        <p:nvSpPr>
          <p:cNvPr id="31" name="cr10"/>
          <p:cNvSpPr/>
          <p:nvPr/>
        </p:nvSpPr>
        <p:spPr>
          <a:xfrm>
            <a:off x="380000" y="2423160"/>
            <a:ext cx="90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R9</a:t>
            </a:r>
          </a:p>
        </p:txBody>
      </p:sp>
      <p:sp>
        <p:nvSpPr>
          <p:cNvPr id="32" name="cr11"/>
          <p:cNvSpPr/>
          <p:nvPr/>
        </p:nvSpPr>
        <p:spPr>
          <a:xfrm>
            <a:off x="1280000" y="242316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56.7%（43.1%）</a:t>
            </a:r>
          </a:p>
        </p:txBody>
      </p:sp>
      <p:sp>
        <p:nvSpPr>
          <p:cNvPr id="33" name="cr12"/>
          <p:cNvSpPr/>
          <p:nvPr/>
        </p:nvSpPr>
        <p:spPr>
          <a:xfrm>
            <a:off x="2830000" y="242316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60.6%（46.1%）</a:t>
            </a:r>
          </a:p>
        </p:txBody>
      </p:sp>
      <p:sp>
        <p:nvSpPr>
          <p:cNvPr id="34" name="cr13"/>
          <p:cNvSpPr/>
          <p:nvPr/>
        </p:nvSpPr>
        <p:spPr>
          <a:xfrm>
            <a:off x="4380000" y="242316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58.0%（44.1%）</a:t>
            </a:r>
          </a:p>
        </p:txBody>
      </p:sp>
      <p:sp>
        <p:nvSpPr>
          <p:cNvPr id="35" name="cr14"/>
          <p:cNvSpPr/>
          <p:nvPr/>
        </p:nvSpPr>
        <p:spPr>
          <a:xfrm>
            <a:off x="5930000" y="242316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46.6%（49.6%）</a:t>
            </a:r>
          </a:p>
        </p:txBody>
      </p:sp>
      <p:sp>
        <p:nvSpPr>
          <p:cNvPr id="36" name="cr15"/>
          <p:cNvSpPr/>
          <p:nvPr/>
        </p:nvSpPr>
        <p:spPr>
          <a:xfrm>
            <a:off x="7480000" y="242316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49.8%（54.2%）</a:t>
            </a:r>
          </a:p>
        </p:txBody>
      </p:sp>
      <p:sp>
        <p:nvSpPr>
          <p:cNvPr id="37" name="cr16"/>
          <p:cNvSpPr/>
          <p:nvPr/>
        </p:nvSpPr>
        <p:spPr>
          <a:xfrm>
            <a:off x="9030000" y="2423160"/>
            <a:ext cx="154176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47.7%（51.1%）</a:t>
            </a:r>
          </a:p>
        </p:txBody>
      </p:sp>
      <p:sp>
        <p:nvSpPr>
          <p:cNvPr id="38" name="cr20"/>
          <p:cNvSpPr/>
          <p:nvPr/>
        </p:nvSpPr>
        <p:spPr>
          <a:xfrm>
            <a:off x="380000" y="2724912"/>
            <a:ext cx="90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R12</a:t>
            </a:r>
          </a:p>
        </p:txBody>
      </p:sp>
      <p:sp>
        <p:nvSpPr>
          <p:cNvPr id="39" name="cr21"/>
          <p:cNvSpPr/>
          <p:nvPr/>
        </p:nvSpPr>
        <p:spPr>
          <a:xfrm>
            <a:off x="1280000" y="2724912"/>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55.2%（42.0%）</a:t>
            </a:r>
          </a:p>
        </p:txBody>
      </p:sp>
      <p:sp>
        <p:nvSpPr>
          <p:cNvPr id="40" name="cr22"/>
          <p:cNvSpPr/>
          <p:nvPr/>
        </p:nvSpPr>
        <p:spPr>
          <a:xfrm>
            <a:off x="2830000" y="2724912"/>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59.1%（44.9%）</a:t>
            </a:r>
          </a:p>
        </p:txBody>
      </p:sp>
      <p:sp>
        <p:nvSpPr>
          <p:cNvPr id="41" name="cr23"/>
          <p:cNvSpPr/>
          <p:nvPr/>
        </p:nvSpPr>
        <p:spPr>
          <a:xfrm>
            <a:off x="4380000" y="2724912"/>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56.5%（43.0%）</a:t>
            </a:r>
          </a:p>
        </p:txBody>
      </p:sp>
      <p:sp>
        <p:nvSpPr>
          <p:cNvPr id="42" name="cr24"/>
          <p:cNvSpPr/>
          <p:nvPr/>
        </p:nvSpPr>
        <p:spPr>
          <a:xfrm>
            <a:off x="5930000" y="2724912"/>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45.5%（48.4%）</a:t>
            </a:r>
          </a:p>
        </p:txBody>
      </p:sp>
      <p:sp>
        <p:nvSpPr>
          <p:cNvPr id="43" name="cr25"/>
          <p:cNvSpPr/>
          <p:nvPr/>
        </p:nvSpPr>
        <p:spPr>
          <a:xfrm>
            <a:off x="7480000" y="2724912"/>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48.6%（52.9%）</a:t>
            </a:r>
          </a:p>
        </p:txBody>
      </p:sp>
      <p:sp>
        <p:nvSpPr>
          <p:cNvPr id="44" name="cr26"/>
          <p:cNvSpPr/>
          <p:nvPr/>
        </p:nvSpPr>
        <p:spPr>
          <a:xfrm>
            <a:off x="9030000" y="2724912"/>
            <a:ext cx="154176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46.6%（49.9%）</a:t>
            </a:r>
          </a:p>
        </p:txBody>
      </p:sp>
      <p:sp>
        <p:nvSpPr>
          <p:cNvPr id="45" name="her"/>
          <p:cNvSpPr/>
          <p:nvPr/>
        </p:nvSpPr>
        <p:spPr>
          <a:xfrm>
            <a:off x="380000" y="3017520"/>
            <a:ext cx="1143176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l"/>
            <a:r>
              <a:rPr lang="ja-JP" sz="1100" b="0" dirty="0">
                <a:solidFill>
                  <a:srgbClr val="FFFFFF"/>
                </a:solidFill>
                <a:latin typeface="Arial"/>
                <a:cs typeface="Noto Sans CJK JP"/>
              </a:rPr>
              <a:t>経常収支比率（目標：単年度100%以上）　※（ ）内は本編の値／一般会計繰入金は経営戦略の前提（基準内繰入＝資本費相当）</a:t>
            </a:r>
          </a:p>
        </p:txBody>
      </p:sp>
      <p:sp>
        <p:nvSpPr>
          <p:cNvPr id="46" name="gpub2"/>
          <p:cNvSpPr/>
          <p:nvPr/>
        </p:nvSpPr>
        <p:spPr>
          <a:xfrm>
            <a:off x="1280000" y="3291840"/>
            <a:ext cx="4650000" cy="24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公共下水道</a:t>
            </a:r>
          </a:p>
        </p:txBody>
      </p:sp>
      <p:sp>
        <p:nvSpPr>
          <p:cNvPr id="47" name="gagr2"/>
          <p:cNvSpPr/>
          <p:nvPr/>
        </p:nvSpPr>
        <p:spPr>
          <a:xfrm>
            <a:off x="5930000" y="3291840"/>
            <a:ext cx="4641760" cy="24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農業集落排水</a:t>
            </a:r>
          </a:p>
        </p:txBody>
      </p:sp>
      <p:sp>
        <p:nvSpPr>
          <p:cNvPr id="48" name="th20"/>
          <p:cNvSpPr/>
          <p:nvPr/>
        </p:nvSpPr>
        <p:spPr>
          <a:xfrm>
            <a:off x="380000" y="3538728"/>
            <a:ext cx="900000" cy="28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年度</a:t>
            </a:r>
          </a:p>
        </p:txBody>
      </p:sp>
      <p:sp>
        <p:nvSpPr>
          <p:cNvPr id="49" name="th21"/>
          <p:cNvSpPr/>
          <p:nvPr/>
        </p:nvSpPr>
        <p:spPr>
          <a:xfrm>
            <a:off x="1280000" y="3538728"/>
            <a:ext cx="1550000" cy="28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①標準型</a:t>
            </a:r>
          </a:p>
        </p:txBody>
      </p:sp>
      <p:sp>
        <p:nvSpPr>
          <p:cNvPr id="50" name="th22"/>
          <p:cNvSpPr/>
          <p:nvPr/>
        </p:nvSpPr>
        <p:spPr>
          <a:xfrm>
            <a:off x="2830000" y="3538728"/>
            <a:ext cx="155000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②家庭軽減型</a:t>
            </a:r>
          </a:p>
        </p:txBody>
      </p:sp>
      <p:sp>
        <p:nvSpPr>
          <p:cNvPr id="51" name="th23"/>
          <p:cNvSpPr/>
          <p:nvPr/>
        </p:nvSpPr>
        <p:spPr>
          <a:xfrm>
            <a:off x="4380000" y="3538728"/>
            <a:ext cx="1550000" cy="28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④段階累進型</a:t>
            </a:r>
          </a:p>
        </p:txBody>
      </p:sp>
      <p:sp>
        <p:nvSpPr>
          <p:cNvPr id="52" name="th24"/>
          <p:cNvSpPr/>
          <p:nvPr/>
        </p:nvSpPr>
        <p:spPr>
          <a:xfrm>
            <a:off x="5930000" y="3538728"/>
            <a:ext cx="1550000" cy="28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①標準型</a:t>
            </a:r>
          </a:p>
        </p:txBody>
      </p:sp>
      <p:sp>
        <p:nvSpPr>
          <p:cNvPr id="53" name="th25"/>
          <p:cNvSpPr/>
          <p:nvPr/>
        </p:nvSpPr>
        <p:spPr>
          <a:xfrm>
            <a:off x="7480000" y="3538728"/>
            <a:ext cx="155000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②家庭軽減型</a:t>
            </a:r>
          </a:p>
        </p:txBody>
      </p:sp>
      <p:sp>
        <p:nvSpPr>
          <p:cNvPr id="54" name="th26"/>
          <p:cNvSpPr/>
          <p:nvPr/>
        </p:nvSpPr>
        <p:spPr>
          <a:xfrm>
            <a:off x="9030000" y="3538728"/>
            <a:ext cx="1541760" cy="28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④段階累進型</a:t>
            </a:r>
          </a:p>
        </p:txBody>
      </p:sp>
      <p:sp>
        <p:nvSpPr>
          <p:cNvPr id="55" name="er00"/>
          <p:cNvSpPr/>
          <p:nvPr/>
        </p:nvSpPr>
        <p:spPr>
          <a:xfrm>
            <a:off x="380000" y="3840480"/>
            <a:ext cx="90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R7</a:t>
            </a:r>
          </a:p>
        </p:txBody>
      </p:sp>
      <p:sp>
        <p:nvSpPr>
          <p:cNvPr id="56" name="er01"/>
          <p:cNvSpPr/>
          <p:nvPr/>
        </p:nvSpPr>
        <p:spPr>
          <a:xfrm>
            <a:off x="1280000" y="384048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103.8%（98.5%）</a:t>
            </a:r>
          </a:p>
        </p:txBody>
      </p:sp>
      <p:sp>
        <p:nvSpPr>
          <p:cNvPr id="57" name="er02"/>
          <p:cNvSpPr/>
          <p:nvPr/>
        </p:nvSpPr>
        <p:spPr>
          <a:xfrm>
            <a:off x="2830000" y="384048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103.8%（98.5%）</a:t>
            </a:r>
          </a:p>
        </p:txBody>
      </p:sp>
      <p:sp>
        <p:nvSpPr>
          <p:cNvPr id="58" name="er03"/>
          <p:cNvSpPr/>
          <p:nvPr/>
        </p:nvSpPr>
        <p:spPr>
          <a:xfrm>
            <a:off x="4380000" y="384048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103.8%（98.5%）</a:t>
            </a:r>
          </a:p>
        </p:txBody>
      </p:sp>
      <p:sp>
        <p:nvSpPr>
          <p:cNvPr id="59" name="er04"/>
          <p:cNvSpPr/>
          <p:nvPr/>
        </p:nvSpPr>
        <p:spPr>
          <a:xfrm>
            <a:off x="5930000" y="384048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81.2%（82.0%）</a:t>
            </a:r>
          </a:p>
        </p:txBody>
      </p:sp>
      <p:sp>
        <p:nvSpPr>
          <p:cNvPr id="60" name="er05"/>
          <p:cNvSpPr/>
          <p:nvPr/>
        </p:nvSpPr>
        <p:spPr>
          <a:xfrm>
            <a:off x="7480000" y="384048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81.2%（82.0%）</a:t>
            </a:r>
          </a:p>
        </p:txBody>
      </p:sp>
      <p:sp>
        <p:nvSpPr>
          <p:cNvPr id="61" name="er06"/>
          <p:cNvSpPr/>
          <p:nvPr/>
        </p:nvSpPr>
        <p:spPr>
          <a:xfrm>
            <a:off x="9030000" y="3840480"/>
            <a:ext cx="154176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81.2%（82.0%）</a:t>
            </a:r>
          </a:p>
        </p:txBody>
      </p:sp>
      <p:sp>
        <p:nvSpPr>
          <p:cNvPr id="62" name="er10"/>
          <p:cNvSpPr/>
          <p:nvPr/>
        </p:nvSpPr>
        <p:spPr>
          <a:xfrm>
            <a:off x="380000" y="4142232"/>
            <a:ext cx="90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R9</a:t>
            </a:r>
          </a:p>
        </p:txBody>
      </p:sp>
      <p:sp>
        <p:nvSpPr>
          <p:cNvPr id="63" name="er11"/>
          <p:cNvSpPr/>
          <p:nvPr/>
        </p:nvSpPr>
        <p:spPr>
          <a:xfrm>
            <a:off x="1280000" y="4142232"/>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108.1%（100.0%）</a:t>
            </a:r>
          </a:p>
        </p:txBody>
      </p:sp>
      <p:sp>
        <p:nvSpPr>
          <p:cNvPr id="64" name="er12"/>
          <p:cNvSpPr/>
          <p:nvPr/>
        </p:nvSpPr>
        <p:spPr>
          <a:xfrm>
            <a:off x="2830000" y="4142232"/>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109.3%（101.1%）</a:t>
            </a:r>
          </a:p>
        </p:txBody>
      </p:sp>
      <p:sp>
        <p:nvSpPr>
          <p:cNvPr id="65" name="er13"/>
          <p:cNvSpPr/>
          <p:nvPr/>
        </p:nvSpPr>
        <p:spPr>
          <a:xfrm>
            <a:off x="4380000" y="4142232"/>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108.5%（100.4%）</a:t>
            </a:r>
          </a:p>
        </p:txBody>
      </p:sp>
      <p:sp>
        <p:nvSpPr>
          <p:cNvPr id="66" name="er14"/>
          <p:cNvSpPr/>
          <p:nvPr/>
        </p:nvSpPr>
        <p:spPr>
          <a:xfrm>
            <a:off x="5930000" y="4142232"/>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82.9%（84.0%）</a:t>
            </a:r>
          </a:p>
        </p:txBody>
      </p:sp>
      <p:sp>
        <p:nvSpPr>
          <p:cNvPr id="67" name="er15"/>
          <p:cNvSpPr/>
          <p:nvPr/>
        </p:nvSpPr>
        <p:spPr>
          <a:xfrm>
            <a:off x="7480000" y="4142232"/>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84.0%（85.8%）</a:t>
            </a:r>
          </a:p>
        </p:txBody>
      </p:sp>
      <p:sp>
        <p:nvSpPr>
          <p:cNvPr id="68" name="er16"/>
          <p:cNvSpPr/>
          <p:nvPr/>
        </p:nvSpPr>
        <p:spPr>
          <a:xfrm>
            <a:off x="9030000" y="4142232"/>
            <a:ext cx="154176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83.3%（84.6%）</a:t>
            </a:r>
          </a:p>
        </p:txBody>
      </p:sp>
      <p:sp>
        <p:nvSpPr>
          <p:cNvPr id="69" name="er20"/>
          <p:cNvSpPr/>
          <p:nvPr/>
        </p:nvSpPr>
        <p:spPr>
          <a:xfrm>
            <a:off x="380000" y="4443984"/>
            <a:ext cx="90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R12</a:t>
            </a:r>
          </a:p>
        </p:txBody>
      </p:sp>
      <p:sp>
        <p:nvSpPr>
          <p:cNvPr id="70" name="er21"/>
          <p:cNvSpPr/>
          <p:nvPr/>
        </p:nvSpPr>
        <p:spPr>
          <a:xfrm>
            <a:off x="1280000" y="4443984"/>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109.9%（100.2%）</a:t>
            </a:r>
          </a:p>
        </p:txBody>
      </p:sp>
      <p:sp>
        <p:nvSpPr>
          <p:cNvPr id="71" name="er22"/>
          <p:cNvSpPr/>
          <p:nvPr/>
        </p:nvSpPr>
        <p:spPr>
          <a:xfrm>
            <a:off x="2830000" y="4443984"/>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111.4%（101.6%）</a:t>
            </a:r>
          </a:p>
        </p:txBody>
      </p:sp>
      <p:sp>
        <p:nvSpPr>
          <p:cNvPr id="72" name="er23"/>
          <p:cNvSpPr/>
          <p:nvPr/>
        </p:nvSpPr>
        <p:spPr>
          <a:xfrm>
            <a:off x="4380000" y="4443984"/>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110.4%（100.7%）</a:t>
            </a:r>
          </a:p>
        </p:txBody>
      </p:sp>
      <p:sp>
        <p:nvSpPr>
          <p:cNvPr id="73" name="er24"/>
          <p:cNvSpPr/>
          <p:nvPr/>
        </p:nvSpPr>
        <p:spPr>
          <a:xfrm>
            <a:off x="5930000" y="4443984"/>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82.5%（83.6%）</a:t>
            </a:r>
          </a:p>
        </p:txBody>
      </p:sp>
      <p:sp>
        <p:nvSpPr>
          <p:cNvPr id="74" name="er25"/>
          <p:cNvSpPr/>
          <p:nvPr/>
        </p:nvSpPr>
        <p:spPr>
          <a:xfrm>
            <a:off x="7480000" y="4443984"/>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83.5%（85.2%）</a:t>
            </a:r>
          </a:p>
        </p:txBody>
      </p:sp>
      <p:sp>
        <p:nvSpPr>
          <p:cNvPr id="75" name="er26"/>
          <p:cNvSpPr/>
          <p:nvPr/>
        </p:nvSpPr>
        <p:spPr>
          <a:xfrm>
            <a:off x="9030000" y="4443984"/>
            <a:ext cx="154176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82.8%（84.1%）</a:t>
            </a:r>
          </a:p>
        </p:txBody>
      </p:sp>
      <p:sp>
        <p:nvSpPr>
          <p:cNvPr id="76" name="note"/>
          <p:cNvSpPr/>
          <p:nvPr/>
        </p:nvSpPr>
        <p:spPr>
          <a:xfrm>
            <a:off x="380000" y="5185791"/>
            <a:ext cx="11431760" cy="1324736"/>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fillRef idx="0"/>
          <a:effectRef idx="0"/>
          <a:fontRef idx="minor"/>
        </p:style>
        <p:txBody>
          <a:bodyPr tIns="45720" bIns="45720" lIns="182880" rIns="91440" anchor="ctr">
            <a:noAutofit/>
          </a:bodyPr>
          <a:p>
            <a:pPr algn="l"/>
            <a:r>
              <a:rPr lang="ja-JP" sz="1050" b="0" dirty="0">
                <a:solidFill>
                  <a:srgbClr val="78350F"/>
                </a:solidFill>
                <a:latin typeface="Arial"/>
                <a:cs typeface="Noto Sans CJK JP"/>
              </a:rPr>
              <a:t>▶ 試算の方法：使用料収入は基本使用料の年間乗数を公共・農集とも6回（隔月請求）として再計算し、R7実績÷R7算定値の補正率（公共1.005・農集1.015）を全年度に乗じています。費用・長期前受金戻入はR7実績÷R7推計の比率（汚水処理費は公共0.743・農集0.830）を全年度に乗じ、伸び率は経営戦略の想定を踏襲。R7列が決算実績を再現します。</a:t>
            </a:r>
          </a:p>
          <a:p>
            <a:pPr algn="l"/>
            <a:r>
              <a:rPr lang="ja-JP" sz="1050" b="0" dirty="0">
                <a:solidFill>
                  <a:srgbClr val="78350F"/>
                </a:solidFill>
                <a:latin typeface="Arial"/>
                <a:cs typeface="Noto Sans CJK JP"/>
              </a:rPr>
              <a:t>▶ 公共下水道は経費回収率がR9で56.7〜60.6%となり、目標47%はR8時点で達成する見込みとなります。農業集落排水は使用料収入の下方修正が費用の下方修正を上回るため、本編より低い水準（R9で46.6〜49.8%）となります。</a:t>
            </a:r>
          </a:p>
          <a:p>
            <a:pPr algn="l"/>
            <a:r>
              <a:rPr lang="ja-JP" sz="1050" b="0" dirty="0">
                <a:solidFill>
                  <a:srgbClr val="78350F"/>
                </a:solidFill>
                <a:latin typeface="Arial"/>
                <a:cs typeface="Noto Sans CJK JP"/>
              </a:rPr>
              <a:t>▶ 経常収支比率は一般会計繰入金の前提に左右されます。上表は経営戦略の前提（基準内繰入＝資本費相当）によるものです。農集のR7実績51,777千円は基準外繰入金を含むため、この水準が将来も続くと置いた場合はR9で110〜111%となります。※ 有収水量・調定口数の実績が未受領のため暫定値です。</a:t>
            </a:r>
          </a:p>
        </p:txBody>
      </p:sp>
      <p:sp>
        <p:nvSpPr>
          <p:cNvPr id="77" name="pgnum"/>
          <p:cNvSpPr/>
          <p:nvPr/>
        </p:nvSpPr>
        <p:spPr>
          <a:xfrm>
            <a:off x="286200" y="6543360"/>
            <a:ext cx="777240" cy="1728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fillRef idx="0"/>
          <a:effectRef idx="0"/>
          <a:fontRef idx="minor"/>
        </p:style>
        <p:txBody>
          <a:bodyPr lIns="0" tIns="0" rIns="0" bIns="0" anchor="ctr">
            <a:noAutofit/>
          </a:bodyPr>
          <a:lstStyle/>
          <a:p>
            <a:pPr algn="ctr"/>
            <a:r>
              <a:rPr lang="ja-JP" sz="900" b="0" dirty="0">
                <a:solidFill>
                  <a:srgbClr val="CBD5E1"/>
                </a:solidFill>
                <a:latin typeface="Arial"/>
                <a:cs typeface="Noto Sans CJK JP"/>
              </a:rPr>
              <a:t>別紙2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別紙3　令和7年度決算により決着した事項と、引き続き確認が必要な事項</a:t>
            </a:r>
          </a:p>
        </p:txBody>
      </p:sp>
      <p:sp>
        <p:nvSpPr>
          <p:cNvPr id="17" name="ch0"/>
          <p:cNvSpPr/>
          <p:nvPr/>
        </p:nvSpPr>
        <p:spPr>
          <a:xfrm>
            <a:off x="571680" y="162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500" b="0" dirty="0">
                <a:solidFill>
                  <a:srgbClr val="FFFFFF"/>
                </a:solidFill>
                <a:latin typeface="Noto Sans CJK JP"/>
                <a:cs typeface="Noto Sans CJK JP"/>
              </a:rPr>
              <a:t>決算により決着した事項</a:t>
            </a:r>
          </a:p>
        </p:txBody>
      </p:sp>
      <p:sp>
        <p:nvSpPr>
          <p:cNvPr id="18" name="cs0"/>
          <p:cNvSpPr/>
          <p:nvPr/>
        </p:nvSpPr>
        <p:spPr>
          <a:xfrm>
            <a:off x="571680" y="2000000"/>
            <a:ext cx="5500000" cy="24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ctr"/>
            <a:r>
              <a:rPr lang="ja-JP" sz="1000" b="0" dirty="0">
                <a:solidFill>
                  <a:srgbClr val="1D4ED8"/>
                </a:solidFill>
                <a:latin typeface="Noto Sans CJK JP"/>
                <a:cs typeface="Noto Sans CJK JP"/>
              </a:rPr>
              <a:t>本編の確認事項　A（維持管理費）・F（年間乗数）・M・N（基準値）</a:t>
            </a:r>
          </a:p>
        </p:txBody>
      </p:sp>
      <p:sp>
        <p:nvSpPr>
          <p:cNvPr id="19" name="ph0"/>
          <p:cNvSpPr/>
          <p:nvPr/>
        </p:nvSpPr>
        <p:spPr>
          <a:xfrm>
            <a:off x="571680" y="229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 決着した内容</a:t>
            </a:r>
          </a:p>
        </p:txBody>
      </p:sp>
      <p:sp>
        <p:nvSpPr>
          <p:cNvPr id="20" name="p00"/>
          <p:cNvSpPr/>
          <p:nvPr/>
        </p:nvSpPr>
        <p:spPr>
          <a:xfrm>
            <a:off x="571680" y="260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A 維持管理費の増加はR6→R7で＋4.7%（推計は＋40.9%）</a:t>
            </a:r>
          </a:p>
        </p:txBody>
      </p:sp>
      <p:sp>
        <p:nvSpPr>
          <p:cNvPr id="21" name="p01"/>
          <p:cNvSpPr/>
          <p:nvPr/>
        </p:nvSpPr>
        <p:spPr>
          <a:xfrm>
            <a:off x="571680" y="296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F 農集の基本使用料の年間乗数は×6（隔月請求）が正しい</a:t>
            </a:r>
          </a:p>
        </p:txBody>
      </p:sp>
      <p:sp>
        <p:nvSpPr>
          <p:cNvPr id="22" name="p02"/>
          <p:cNvSpPr/>
          <p:nvPr/>
        </p:nvSpPr>
        <p:spPr>
          <a:xfrm>
            <a:off x="571680" y="332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M・N R7実績を起点にすればR6実績補正が不要となり解消</a:t>
            </a:r>
          </a:p>
        </p:txBody>
      </p:sp>
      <p:sp>
        <p:nvSpPr>
          <p:cNvPr id="23" name="mh0"/>
          <p:cNvSpPr/>
          <p:nvPr/>
        </p:nvSpPr>
        <p:spPr>
          <a:xfrm>
            <a:off x="571680" y="370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EF4444"/>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 決算からは判別できない点</a:t>
            </a:r>
          </a:p>
        </p:txBody>
      </p:sp>
      <p:sp>
        <p:nvSpPr>
          <p:cNvPr id="24" name="m00"/>
          <p:cNvSpPr/>
          <p:nvPr/>
        </p:nvSpPr>
        <p:spPr>
          <a:xfrm>
            <a:off x="571680" y="401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EF4444"/>
                </a:solidFill>
                <a:latin typeface="Noto Sans CJK JP"/>
                <a:cs typeface="Noto Sans CJK JP"/>
              </a:rPr>
              <a:t>  • 汚水処理費が推計を43,186千円下回った理由（繰延べか推計過大か）</a:t>
            </a:r>
          </a:p>
        </p:txBody>
      </p:sp>
      <p:sp>
        <p:nvSpPr>
          <p:cNvPr id="25" name="m01"/>
          <p:cNvSpPr/>
          <p:nvPr/>
        </p:nvSpPr>
        <p:spPr>
          <a:xfrm>
            <a:off x="571680" y="437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EF4444"/>
                </a:solidFill>
                <a:latin typeface="Noto Sans CJK JP"/>
                <a:cs typeface="Noto Sans CJK JP"/>
              </a:rPr>
              <a:t>  • 令和8年度以降の維持管理費の見込み（流域下水道負担金63,707千円等）</a:t>
            </a:r>
          </a:p>
        </p:txBody>
      </p:sp>
      <p:sp>
        <p:nvSpPr>
          <p:cNvPr id="26" name="ch1"/>
          <p:cNvSpPr/>
          <p:nvPr/>
        </p:nvSpPr>
        <p:spPr>
          <a:xfrm>
            <a:off x="6271680" y="162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EA580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500" b="0" dirty="0">
                <a:solidFill>
                  <a:srgbClr val="FFFFFF"/>
                </a:solidFill>
                <a:latin typeface="Noto Sans CJK JP"/>
                <a:cs typeface="Noto Sans CJK JP"/>
              </a:rPr>
              <a:t>引き続き確認が必要な事項</a:t>
            </a:r>
          </a:p>
        </p:txBody>
      </p:sp>
      <p:sp>
        <p:nvSpPr>
          <p:cNvPr id="27" name="cs1"/>
          <p:cNvSpPr/>
          <p:nvPr/>
        </p:nvSpPr>
        <p:spPr>
          <a:xfrm>
            <a:off x="6271680" y="2000000"/>
            <a:ext cx="5500000" cy="24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ctr"/>
            <a:r>
              <a:rPr lang="ja-JP" sz="1000" b="0" dirty="0">
                <a:solidFill>
                  <a:srgbClr val="EA580C"/>
                </a:solidFill>
                <a:latin typeface="Noto Sans CJK JP"/>
                <a:cs typeface="Noto Sans CJK JP"/>
              </a:rPr>
              <a:t>本編の確認事項　O（交付金）・P（三沢市）・Q（財政指標）・R（経営改善）</a:t>
            </a:r>
          </a:p>
        </p:txBody>
      </p:sp>
      <p:sp>
        <p:nvSpPr>
          <p:cNvPr id="28" name="ph1"/>
          <p:cNvSpPr/>
          <p:nvPr/>
        </p:nvSpPr>
        <p:spPr>
          <a:xfrm>
            <a:off x="6271680" y="229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 決算資料から判明した事項（確認事項Q・一部解決）</a:t>
            </a:r>
          </a:p>
        </p:txBody>
      </p:sp>
      <p:sp>
        <p:nvSpPr>
          <p:cNvPr id="29" name="p10"/>
          <p:cNvSpPr/>
          <p:nvPr/>
        </p:nvSpPr>
        <p:spPr>
          <a:xfrm>
            <a:off x="6271680" y="260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企業債残高 公共1,548,034千円・農集206,675千円（R7年度末）</a:t>
            </a:r>
          </a:p>
        </p:txBody>
      </p:sp>
      <p:sp>
        <p:nvSpPr>
          <p:cNvPr id="30" name="p11"/>
          <p:cNvSpPr/>
          <p:nvPr/>
        </p:nvSpPr>
        <p:spPr>
          <a:xfrm>
            <a:off x="6271680" y="296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現金預金 公共156,044千円・農集28,477千円</a:t>
            </a:r>
          </a:p>
        </p:txBody>
      </p:sp>
      <p:sp>
        <p:nvSpPr>
          <p:cNvPr id="31" name="p12"/>
          <p:cNvSpPr/>
          <p:nvPr/>
        </p:nvSpPr>
        <p:spPr>
          <a:xfrm>
            <a:off x="6271680" y="332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未処分利益剰余金 公共102,454千円・農集4,783千円</a:t>
            </a:r>
          </a:p>
        </p:txBody>
      </p:sp>
      <p:sp>
        <p:nvSpPr>
          <p:cNvPr id="32" name="mh1"/>
          <p:cNvSpPr/>
          <p:nvPr/>
        </p:nvSpPr>
        <p:spPr>
          <a:xfrm>
            <a:off x="6271680" y="370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EF4444"/>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 未受領の資料</a:t>
            </a:r>
          </a:p>
        </p:txBody>
      </p:sp>
      <p:sp>
        <p:nvSpPr>
          <p:cNvPr id="33" name="m10"/>
          <p:cNvSpPr/>
          <p:nvPr/>
        </p:nvSpPr>
        <p:spPr>
          <a:xfrm>
            <a:off x="6271680" y="401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EF4444"/>
                </a:solidFill>
                <a:latin typeface="Noto Sans CJK JP"/>
                <a:cs typeface="Noto Sans CJK JP"/>
              </a:rPr>
              <a:t>  • 有収水量・調定口数の実績／企業債の元利償還見通し</a:t>
            </a:r>
          </a:p>
        </p:txBody>
      </p:sp>
      <p:sp>
        <p:nvSpPr>
          <p:cNvPr id="34" name="m11"/>
          <p:cNvSpPr/>
          <p:nvPr/>
        </p:nvSpPr>
        <p:spPr>
          <a:xfrm>
            <a:off x="6271680" y="437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EF4444"/>
                </a:solidFill>
                <a:latin typeface="Noto Sans CJK JP"/>
                <a:cs typeface="Noto Sans CJK JP"/>
              </a:rPr>
              <a:t>  • 交付金の規模・対象事業費／更新投資計画／三沢市の使用料</a:t>
            </a:r>
          </a:p>
        </p:txBody>
      </p:sp>
      <p:sp>
        <p:nvSpPr>
          <p:cNvPr id="35" name="rec9"/>
          <p:cNvSpPr/>
          <p:nvPr/>
        </p:nvSpPr>
        <p:spPr>
          <a:xfrm>
            <a:off x="571680" y="4909566"/>
            <a:ext cx="11048400" cy="1600962"/>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300" b="0" dirty="0">
                <a:solidFill>
                  <a:srgbClr val="78350F"/>
                </a:solidFill>
                <a:latin typeface="Noto Sans CJK JP"/>
                <a:cs typeface="Noto Sans CJK JP"/>
              </a:rPr>
              <a:t>▶ 本別紙の数値は令和7年度決算（合計残高試算表・貸借対照表／令和8年3月31日、出力 令和8年6月16日）に基づきます。本編（37ページ）の収支シミュレーションは経営戦略の推計値ベースのままとしており、決算実績を反映して組み直すかどうかは審議会でのご判断を踏まえて対応します。</a:t>
            </a:r>
          </a:p>
          <a:p>
            <a:pPr algn="l"/>
            <a:r>
              <a:rPr lang="ja-JP" sz="1300" b="0" dirty="0">
                <a:solidFill>
                  <a:srgbClr val="78350F"/>
                </a:solidFill>
                <a:latin typeface="Noto Sans CJK JP"/>
                <a:cs typeface="Noto Sans CJK JP"/>
              </a:rPr>
              <a:t>▶ 農集の一般会計繰入金が決算51,777千円と推計19,236千円の約2.7倍となっているのは基準外繰入金を含むためです。別紙2の試算は経営戦略の前提（基準内繰入＝資本費相当）によっています。</a:t>
            </a:r>
          </a:p>
          <a:p>
            <a:pPr algn="l"/>
            <a:r>
              <a:rPr lang="ja-JP" sz="1300" b="0" dirty="0">
                <a:solidFill>
                  <a:srgbClr val="78350F"/>
                </a:solidFill>
                <a:latin typeface="Noto Sans CJK JP"/>
                <a:cs typeface="Noto Sans CJK JP"/>
              </a:rPr>
              <a:t>※ 突合の詳細は「R7決算突合.md」および成果物エビデンス集の「R7決算突合」「R7実績ベース試算」シートに収録しています。</a:t>
            </a:r>
          </a:p>
        </p:txBody>
      </p:sp>
      <p:sp>
        <p:nvSpPr>
          <p:cNvPr id="36" name="pgnum"/>
          <p:cNvSpPr/>
          <p:nvPr/>
        </p:nvSpPr>
        <p:spPr>
          <a:xfrm>
            <a:off x="286200" y="6543360"/>
            <a:ext cx="77724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別紙3</a:t>
            </a: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16</TotalTime>
  <Words>2181</Words>
  <Application>Microsoft Office PowerPoint</Application>
  <PresentationFormat>ワイド画面</PresentationFormat>
  <Paragraphs>390</Paragraphs>
  <Slides>18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18</vt:i4>
      </vt:variant>
    </vt:vector>
  </HeadingPairs>
  <TitlesOfParts>
    <vt:vector size="24" baseType="lpstr">
      <vt:lpstr>Noto Sans CJK JP</vt:lpstr>
      <vt:lpstr>Arial</vt:lpstr>
      <vt:lpstr>Symbol</vt:lpstr>
      <vt:lpstr>Wingdings</vt:lpstr>
      <vt:lpstr>Office</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若山諒太</dc:creator>
  <cp:lastModifiedBy>諒太 若山</cp:lastModifiedBy>
  <cp:revision>2</cp:revision>
  <dcterms:modified xsi:type="dcterms:W3CDTF">2026-06-02T08:07:21Z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大輔 松田</cp:lastModifiedBy>
  <dcterms:modified xsi:type="dcterms:W3CDTF">2026-04-07T21:33:30Z</dcterms:modified>
  <cp:revision>2</cp:revision>
  <dc:subject/>
  <dc:title/>
</cp:coreProperties>
</file>